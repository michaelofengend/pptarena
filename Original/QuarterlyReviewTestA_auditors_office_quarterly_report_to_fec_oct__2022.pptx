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9">
  <p:sldMasterIdLst>
    <p:sldMasterId id="2147483864" r:id="rId1"/>
  </p:sldMasterIdLst>
  <p:notesMasterIdLst>
    <p:notesMasterId r:id="rId9"/>
  </p:notesMasterIdLst>
  <p:handoutMasterIdLst>
    <p:handoutMasterId r:id="rId10"/>
  </p:handoutMasterIdLst>
  <p:sldIdLst>
    <p:sldId id="256" r:id="rId2"/>
    <p:sldId id="270" r:id="rId3"/>
    <p:sldId id="271" r:id="rId4"/>
    <p:sldId id="274" r:id="rId5"/>
    <p:sldId id="275" r:id="rId6"/>
    <p:sldId id="273" r:id="rId7"/>
    <p:sldId id="264" r:id="rId8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3152"/>
    <a:srgbClr val="40315E"/>
    <a:srgbClr val="D2D6E5"/>
    <a:srgbClr val="660066"/>
    <a:srgbClr val="000000"/>
    <a:srgbClr val="FFE5FF"/>
    <a:srgbClr val="CCC0DA"/>
    <a:srgbClr val="00FF00"/>
    <a:srgbClr val="500050"/>
    <a:srgbClr val="B4A4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5526BA-10B2-46E8-A946-85D6BB93928B}" v="2" dt="2022-10-07T18:38:05.9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78775" autoAdjust="0"/>
  </p:normalViewPr>
  <p:slideViewPr>
    <p:cSldViewPr>
      <p:cViewPr varScale="1">
        <p:scale>
          <a:sx n="87" d="100"/>
          <a:sy n="87" d="100"/>
        </p:scale>
        <p:origin x="1512" y="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7222222222222224E-2"/>
          <c:y val="8.4180979826834645E-2"/>
          <c:w val="0.74309128025663462"/>
          <c:h val="0.70600731822155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'stack cluster'!$C$1</c:f>
              <c:strCache>
                <c:ptCount val="1"/>
                <c:pt idx="0">
                  <c:v>Not Started</c:v>
                </c:pt>
              </c:strCache>
            </c:strRef>
          </c:tx>
          <c:spPr>
            <a:solidFill>
              <a:srgbClr val="6076B4">
                <a:lumMod val="40000"/>
                <a:lumOff val="60000"/>
              </a:srgbClr>
            </a:solidFill>
            <a:ln>
              <a:solidFill>
                <a:srgbClr val="6076B4">
                  <a:lumMod val="40000"/>
                  <a:lumOff val="60000"/>
                </a:srgb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'stack cluster'!$A$2:$B$11</c:f>
              <c:multiLvlStrCache>
                <c:ptCount val="10"/>
                <c:lvl>
                  <c:pt idx="0">
                    <c:v>Open</c:v>
                  </c:pt>
                  <c:pt idx="2">
                    <c:v>Open</c:v>
                  </c:pt>
                  <c:pt idx="3">
                    <c:v>Closed</c:v>
                  </c:pt>
                  <c:pt idx="5">
                    <c:v>Open</c:v>
                  </c:pt>
                  <c:pt idx="6">
                    <c:v>Closed</c:v>
                  </c:pt>
                  <c:pt idx="8">
                    <c:v>Open</c:v>
                  </c:pt>
                  <c:pt idx="9">
                    <c:v>Closed</c:v>
                  </c:pt>
                </c:lvl>
                <c:lvl>
                  <c:pt idx="0">
                    <c:v>2022</c:v>
                  </c:pt>
                  <c:pt idx="2">
                    <c:v>2021</c:v>
                  </c:pt>
                  <c:pt idx="5">
                    <c:v>2020</c:v>
                  </c:pt>
                  <c:pt idx="8">
                    <c:v>2019</c:v>
                  </c:pt>
                </c:lvl>
              </c:multiLvlStrCache>
            </c:multiLvlStrRef>
          </c:cat>
          <c:val>
            <c:numRef>
              <c:f>'stack cluster'!$C$2:$C$11</c:f>
              <c:numCache>
                <c:formatCode>General</c:formatCode>
                <c:ptCount val="10"/>
                <c:pt idx="0">
                  <c:v>34</c:v>
                </c:pt>
                <c:pt idx="2">
                  <c:v>22</c:v>
                </c:pt>
                <c:pt idx="5">
                  <c:v>27</c:v>
                </c:pt>
                <c:pt idx="8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B1-4CD5-B665-A71E8108A0EF}"/>
            </c:ext>
          </c:extLst>
        </c:ser>
        <c:ser>
          <c:idx val="1"/>
          <c:order val="1"/>
          <c:tx>
            <c:strRef>
              <c:f>'stack cluster'!$D$1</c:f>
              <c:strCache>
                <c:ptCount val="1"/>
                <c:pt idx="0">
                  <c:v>Started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'stack cluster'!$A$2:$B$11</c:f>
              <c:multiLvlStrCache>
                <c:ptCount val="10"/>
                <c:lvl>
                  <c:pt idx="0">
                    <c:v>Open</c:v>
                  </c:pt>
                  <c:pt idx="2">
                    <c:v>Open</c:v>
                  </c:pt>
                  <c:pt idx="3">
                    <c:v>Closed</c:v>
                  </c:pt>
                  <c:pt idx="5">
                    <c:v>Open</c:v>
                  </c:pt>
                  <c:pt idx="6">
                    <c:v>Closed</c:v>
                  </c:pt>
                  <c:pt idx="8">
                    <c:v>Open</c:v>
                  </c:pt>
                  <c:pt idx="9">
                    <c:v>Closed</c:v>
                  </c:pt>
                </c:lvl>
                <c:lvl>
                  <c:pt idx="0">
                    <c:v>2022</c:v>
                  </c:pt>
                  <c:pt idx="2">
                    <c:v>2021</c:v>
                  </c:pt>
                  <c:pt idx="5">
                    <c:v>2020</c:v>
                  </c:pt>
                  <c:pt idx="8">
                    <c:v>2019</c:v>
                  </c:pt>
                </c:lvl>
              </c:multiLvlStrCache>
            </c:multiLvlStrRef>
          </c:cat>
          <c:val>
            <c:numRef>
              <c:f>'stack cluster'!$D$2:$D$11</c:f>
              <c:numCache>
                <c:formatCode>General</c:formatCode>
                <c:ptCount val="10"/>
                <c:pt idx="0">
                  <c:v>14</c:v>
                </c:pt>
                <c:pt idx="2">
                  <c:v>33</c:v>
                </c:pt>
                <c:pt idx="5">
                  <c:v>7</c:v>
                </c:pt>
                <c:pt idx="8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B1-4CD5-B665-A71E8108A0EF}"/>
            </c:ext>
          </c:extLst>
        </c:ser>
        <c:ser>
          <c:idx val="2"/>
          <c:order val="2"/>
          <c:tx>
            <c:strRef>
              <c:f>'stack cluster'!$E$1</c:f>
              <c:strCache>
                <c:ptCount val="1"/>
                <c:pt idx="0">
                  <c:v>Partly Implemented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'stack cluster'!$A$2:$B$11</c:f>
              <c:multiLvlStrCache>
                <c:ptCount val="10"/>
                <c:lvl>
                  <c:pt idx="0">
                    <c:v>Open</c:v>
                  </c:pt>
                  <c:pt idx="2">
                    <c:v>Open</c:v>
                  </c:pt>
                  <c:pt idx="3">
                    <c:v>Closed</c:v>
                  </c:pt>
                  <c:pt idx="5">
                    <c:v>Open</c:v>
                  </c:pt>
                  <c:pt idx="6">
                    <c:v>Closed</c:v>
                  </c:pt>
                  <c:pt idx="8">
                    <c:v>Open</c:v>
                  </c:pt>
                  <c:pt idx="9">
                    <c:v>Closed</c:v>
                  </c:pt>
                </c:lvl>
                <c:lvl>
                  <c:pt idx="0">
                    <c:v>2022</c:v>
                  </c:pt>
                  <c:pt idx="2">
                    <c:v>2021</c:v>
                  </c:pt>
                  <c:pt idx="5">
                    <c:v>2020</c:v>
                  </c:pt>
                  <c:pt idx="8">
                    <c:v>2019</c:v>
                  </c:pt>
                </c:lvl>
              </c:multiLvlStrCache>
            </c:multiLvlStrRef>
          </c:cat>
          <c:val>
            <c:numRef>
              <c:f>'stack cluster'!$E$2:$E$11</c:f>
              <c:numCache>
                <c:formatCode>General</c:formatCode>
                <c:ptCount val="10"/>
                <c:pt idx="0">
                  <c:v>2</c:v>
                </c:pt>
                <c:pt idx="2">
                  <c:v>4</c:v>
                </c:pt>
                <c:pt idx="5">
                  <c:v>5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B1-4CD5-B665-A71E8108A0EF}"/>
            </c:ext>
          </c:extLst>
        </c:ser>
        <c:ser>
          <c:idx val="3"/>
          <c:order val="3"/>
          <c:tx>
            <c:strRef>
              <c:f>'stack cluster'!$F$1</c:f>
              <c:strCache>
                <c:ptCount val="1"/>
                <c:pt idx="0">
                  <c:v>Implemented</c:v>
                </c:pt>
              </c:strCache>
            </c:strRef>
          </c:tx>
          <c:spPr>
            <a:solidFill>
              <a:srgbClr val="63891F">
                <a:lumMod val="75000"/>
              </a:srgbClr>
            </a:solidFill>
            <a:ln w="0">
              <a:solidFill>
                <a:srgbClr val="63891F">
                  <a:lumMod val="75000"/>
                </a:srgb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'stack cluster'!$A$2:$B$11</c:f>
              <c:multiLvlStrCache>
                <c:ptCount val="10"/>
                <c:lvl>
                  <c:pt idx="0">
                    <c:v>Open</c:v>
                  </c:pt>
                  <c:pt idx="2">
                    <c:v>Open</c:v>
                  </c:pt>
                  <c:pt idx="3">
                    <c:v>Closed</c:v>
                  </c:pt>
                  <c:pt idx="5">
                    <c:v>Open</c:v>
                  </c:pt>
                  <c:pt idx="6">
                    <c:v>Closed</c:v>
                  </c:pt>
                  <c:pt idx="8">
                    <c:v>Open</c:v>
                  </c:pt>
                  <c:pt idx="9">
                    <c:v>Closed</c:v>
                  </c:pt>
                </c:lvl>
                <c:lvl>
                  <c:pt idx="0">
                    <c:v>2022</c:v>
                  </c:pt>
                  <c:pt idx="2">
                    <c:v>2021</c:v>
                  </c:pt>
                  <c:pt idx="5">
                    <c:v>2020</c:v>
                  </c:pt>
                  <c:pt idx="8">
                    <c:v>2019</c:v>
                  </c:pt>
                </c:lvl>
              </c:multiLvlStrCache>
            </c:multiLvlStrRef>
          </c:cat>
          <c:val>
            <c:numRef>
              <c:f>'stack cluster'!$F$2:$F$11</c:f>
              <c:numCache>
                <c:formatCode>General</c:formatCode>
                <c:ptCount val="10"/>
                <c:pt idx="3">
                  <c:v>2</c:v>
                </c:pt>
                <c:pt idx="6">
                  <c:v>53</c:v>
                </c:pt>
                <c:pt idx="9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4B1-4CD5-B665-A71E8108A0EF}"/>
            </c:ext>
          </c:extLst>
        </c:ser>
        <c:ser>
          <c:idx val="4"/>
          <c:order val="4"/>
          <c:tx>
            <c:strRef>
              <c:f>'stack cluster'!$G$1</c:f>
              <c:strCache>
                <c:ptCount val="1"/>
                <c:pt idx="0">
                  <c:v>Dropped</c:v>
                </c:pt>
              </c:strCache>
            </c:strRef>
          </c:tx>
          <c:spPr>
            <a:solidFill>
              <a:srgbClr val="E4E9EF">
                <a:lumMod val="25000"/>
              </a:srgbClr>
            </a:solidFill>
            <a:ln w="3175">
              <a:solidFill>
                <a:srgbClr val="E4E9EF">
                  <a:lumMod val="25000"/>
                </a:srgb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'stack cluster'!$A$2:$B$11</c:f>
              <c:multiLvlStrCache>
                <c:ptCount val="10"/>
                <c:lvl>
                  <c:pt idx="0">
                    <c:v>Open</c:v>
                  </c:pt>
                  <c:pt idx="2">
                    <c:v>Open</c:v>
                  </c:pt>
                  <c:pt idx="3">
                    <c:v>Closed</c:v>
                  </c:pt>
                  <c:pt idx="5">
                    <c:v>Open</c:v>
                  </c:pt>
                  <c:pt idx="6">
                    <c:v>Closed</c:v>
                  </c:pt>
                  <c:pt idx="8">
                    <c:v>Open</c:v>
                  </c:pt>
                  <c:pt idx="9">
                    <c:v>Closed</c:v>
                  </c:pt>
                </c:lvl>
                <c:lvl>
                  <c:pt idx="0">
                    <c:v>2022</c:v>
                  </c:pt>
                  <c:pt idx="2">
                    <c:v>2021</c:v>
                  </c:pt>
                  <c:pt idx="5">
                    <c:v>2020</c:v>
                  </c:pt>
                  <c:pt idx="8">
                    <c:v>2019</c:v>
                  </c:pt>
                </c:lvl>
              </c:multiLvlStrCache>
            </c:multiLvlStrRef>
          </c:cat>
          <c:val>
            <c:numRef>
              <c:f>'stack cluster'!$G$2:$G$11</c:f>
              <c:numCache>
                <c:formatCode>General</c:formatCode>
                <c:ptCount val="10"/>
                <c:pt idx="3">
                  <c:v>1</c:v>
                </c:pt>
                <c:pt idx="6">
                  <c:v>18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4B1-4CD5-B665-A71E8108A0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555552767"/>
        <c:axId val="1555568159"/>
      </c:barChart>
      <c:catAx>
        <c:axId val="1555552767"/>
        <c:scaling>
          <c:orientation val="maxMin"/>
        </c:scaling>
        <c:delete val="0"/>
        <c:axPos val="b"/>
        <c:numFmt formatCode="General" sourceLinked="1"/>
        <c:majorTickMark val="none"/>
        <c:minorTickMark val="out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5568159"/>
        <c:crosses val="autoZero"/>
        <c:auto val="1"/>
        <c:lblAlgn val="ctr"/>
        <c:lblOffset val="100"/>
        <c:noMultiLvlLbl val="0"/>
      </c:catAx>
      <c:valAx>
        <c:axId val="1555568159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5552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9.0277777777777762E-2"/>
          <c:y val="6.7199842331897103E-2"/>
          <c:w val="0.17672134733158354"/>
          <c:h val="0.35544921600110296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297" tIns="46649" rIns="93297" bIns="4664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3" y="0"/>
            <a:ext cx="3043343" cy="465455"/>
          </a:xfrm>
          <a:prstGeom prst="rect">
            <a:avLst/>
          </a:prstGeom>
        </p:spPr>
        <p:txBody>
          <a:bodyPr vert="horz" lIns="93297" tIns="46649" rIns="93297" bIns="46649" rtlCol="0"/>
          <a:lstStyle>
            <a:lvl1pPr algn="r">
              <a:defRPr sz="1200"/>
            </a:lvl1pPr>
          </a:lstStyle>
          <a:p>
            <a:fld id="{F7CCA336-F38F-48AF-B7F9-B9E4E1B6716F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297" tIns="46649" rIns="93297" bIns="4664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3" y="8842029"/>
            <a:ext cx="3043343" cy="465455"/>
          </a:xfrm>
          <a:prstGeom prst="rect">
            <a:avLst/>
          </a:prstGeom>
        </p:spPr>
        <p:txBody>
          <a:bodyPr vert="horz" lIns="93297" tIns="46649" rIns="93297" bIns="46649" rtlCol="0" anchor="b"/>
          <a:lstStyle>
            <a:lvl1pPr algn="r">
              <a:defRPr sz="1200"/>
            </a:lvl1pPr>
          </a:lstStyle>
          <a:p>
            <a:fld id="{ECD3C73A-29C0-45F4-BB5C-187D0C3506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59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297" tIns="46649" rIns="93297" bIns="4664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3" y="0"/>
            <a:ext cx="3043343" cy="465455"/>
          </a:xfrm>
          <a:prstGeom prst="rect">
            <a:avLst/>
          </a:prstGeom>
        </p:spPr>
        <p:txBody>
          <a:bodyPr vert="horz" lIns="93297" tIns="46649" rIns="93297" bIns="46649" rtlCol="0"/>
          <a:lstStyle>
            <a:lvl1pPr algn="r">
              <a:defRPr sz="1200"/>
            </a:lvl1pPr>
          </a:lstStyle>
          <a:p>
            <a:fld id="{4E3F1D8E-6436-45A5-8040-394B62323B81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97" tIns="46649" rIns="93297" bIns="4664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vert="horz" lIns="93297" tIns="46649" rIns="93297" bIns="4664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297" tIns="46649" rIns="93297" bIns="4664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3" y="8842029"/>
            <a:ext cx="3043343" cy="465455"/>
          </a:xfrm>
          <a:prstGeom prst="rect">
            <a:avLst/>
          </a:prstGeom>
        </p:spPr>
        <p:txBody>
          <a:bodyPr vert="horz" lIns="93297" tIns="46649" rIns="93297" bIns="46649" rtlCol="0" anchor="b"/>
          <a:lstStyle>
            <a:lvl1pPr algn="r">
              <a:defRPr sz="1200"/>
            </a:lvl1pPr>
          </a:lstStyle>
          <a:p>
            <a:fld id="{74C00671-62EC-409E-8BF3-4318651B76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609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8500"/>
            <a:ext cx="6207125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C00671-62EC-409E-8BF3-4318651B76F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732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C00671-62EC-409E-8BF3-4318651B76F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02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4968" indent="-174968" defTabSz="933156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C00671-62EC-409E-8BF3-4318651B76F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551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C00671-62EC-409E-8BF3-4318651B76F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88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33156"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C00671-62EC-409E-8BF3-4318651B76F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200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0671-62EC-409E-8BF3-4318651B76F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691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8500"/>
            <a:ext cx="6207125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C00671-62EC-409E-8BF3-4318651B76F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931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0B8DA1-CCC7-4673-86B2-00DEA040D3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939657" y="6356351"/>
            <a:ext cx="3797300" cy="365125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9F5BB5-242C-488C-ACC0-5E807DDA99C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71601"/>
            <a:ext cx="103632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68764"/>
            <a:ext cx="103632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9944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Oval 7"/>
          <p:cNvSpPr/>
          <p:nvPr/>
        </p:nvSpPr>
        <p:spPr>
          <a:xfrm>
            <a:off x="62611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Oval 8"/>
          <p:cNvSpPr/>
          <p:nvPr/>
        </p:nvSpPr>
        <p:spPr>
          <a:xfrm>
            <a:off x="5728971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87680" y="1600200"/>
            <a:ext cx="5388864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7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1" y="1600200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8"/>
            <a:ext cx="5388864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2" y="2212849"/>
            <a:ext cx="5388864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7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0" y="273051"/>
            <a:ext cx="66611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7" y="2438401"/>
            <a:ext cx="4011084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5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0835" y="1143000"/>
            <a:ext cx="8072965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5" y="5810250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shboard.missionmark.com/ae075fd7-a40b-489c-a67a-6e1ec4566694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546204"/>
            <a:ext cx="7772400" cy="1219200"/>
          </a:xfrm>
        </p:spPr>
        <p:txBody>
          <a:bodyPr/>
          <a:lstStyle/>
          <a:p>
            <a:r>
              <a:rPr lang="en-US" sz="4000" dirty="0">
                <a:solidFill>
                  <a:srgbClr val="500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 Auditor’s Office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4876800"/>
            <a:ext cx="7391400" cy="12192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Quarterly Report to Finance/Executive Committee</a:t>
            </a:r>
          </a:p>
          <a:p>
            <a:pPr algn="l"/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October 12, 2022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9BBC2C-0FE7-457D-8AF2-7DE34C0015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66" t="45209" r="27500" b="36260"/>
          <a:stretch/>
        </p:blipFill>
        <p:spPr>
          <a:xfrm>
            <a:off x="0" y="0"/>
            <a:ext cx="121920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84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02BD3-F81F-4EC8-A058-BD7685CE1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9666"/>
            <a:ext cx="10972800" cy="1038824"/>
          </a:xfrm>
        </p:spPr>
        <p:txBody>
          <a:bodyPr/>
          <a:lstStyle/>
          <a:p>
            <a:r>
              <a:rPr lang="en-US" dirty="0">
                <a:solidFill>
                  <a:srgbClr val="4031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FY23 Summary</a:t>
            </a:r>
            <a:endParaRPr lang="en-US" dirty="0">
              <a:solidFill>
                <a:srgbClr val="40315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50FAA1-8D86-4022-B805-E9975BCE2902}"/>
              </a:ext>
            </a:extLst>
          </p:cNvPr>
          <p:cNvSpPr/>
          <p:nvPr/>
        </p:nvSpPr>
        <p:spPr>
          <a:xfrm>
            <a:off x="993554" y="1627126"/>
            <a:ext cx="2901376" cy="1447653"/>
          </a:xfrm>
          <a:prstGeom prst="rect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en-US" sz="2800" b="1" dirty="0">
              <a:latin typeface="+mj-lt"/>
            </a:endParaRPr>
          </a:p>
          <a:p>
            <a:pPr algn="ctr">
              <a:spcBef>
                <a:spcPts val="600"/>
              </a:spcBef>
            </a:pPr>
            <a:r>
              <a:rPr lang="en-US" sz="2800" b="1" dirty="0">
                <a:latin typeface="+mj-lt"/>
              </a:rPr>
              <a:t>4 Audit Reports Released</a:t>
            </a:r>
          </a:p>
          <a:p>
            <a:pPr algn="ctr">
              <a:spcBef>
                <a:spcPts val="600"/>
              </a:spcBef>
            </a:pPr>
            <a:endParaRPr lang="en-US" sz="2800" b="1" dirty="0">
              <a:latin typeface="+mj-lt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8244BEF-2EE7-4119-BF3F-DE3121E799BF}"/>
              </a:ext>
            </a:extLst>
          </p:cNvPr>
          <p:cNvCxnSpPr>
            <a:cxnSpLocks/>
          </p:cNvCxnSpPr>
          <p:nvPr/>
        </p:nvCxnSpPr>
        <p:spPr>
          <a:xfrm flipV="1">
            <a:off x="4292887" y="1551889"/>
            <a:ext cx="12893" cy="4391427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7FD77641-14EE-465A-8593-51DAA2733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709" y="3398520"/>
            <a:ext cx="640080" cy="640080"/>
          </a:xfrm>
          <a:prstGeom prst="ellipse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en-US" sz="2800" b="1" dirty="0"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9555E8-4DBE-4283-A22B-96FBB9758087}"/>
              </a:ext>
            </a:extLst>
          </p:cNvPr>
          <p:cNvSpPr/>
          <p:nvPr/>
        </p:nvSpPr>
        <p:spPr>
          <a:xfrm>
            <a:off x="1464667" y="3581496"/>
            <a:ext cx="2718064" cy="2769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Audits in Progress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0C69D2-E0BA-424F-BF8C-D2C58AD451EB}"/>
              </a:ext>
            </a:extLst>
          </p:cNvPr>
          <p:cNvSpPr txBox="1"/>
          <p:nvPr/>
        </p:nvSpPr>
        <p:spPr>
          <a:xfrm>
            <a:off x="813331" y="3531810"/>
            <a:ext cx="530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E3C9B1-A258-4A86-8E4F-F9F52804CDEF}"/>
              </a:ext>
            </a:extLst>
          </p:cNvPr>
          <p:cNvSpPr/>
          <p:nvPr/>
        </p:nvSpPr>
        <p:spPr>
          <a:xfrm>
            <a:off x="4668924" y="1627126"/>
            <a:ext cx="2718012" cy="1447653"/>
          </a:xfrm>
          <a:prstGeom prst="rect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sz="2800" b="1" dirty="0">
                <a:latin typeface="+mj-lt"/>
              </a:rPr>
              <a:t>Audit 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latin typeface="+mj-lt"/>
              </a:rPr>
              <a:t>Follow-up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5362E4-65C9-4773-A6D4-DA8801262536}"/>
              </a:ext>
            </a:extLst>
          </p:cNvPr>
          <p:cNvSpPr/>
          <p:nvPr/>
        </p:nvSpPr>
        <p:spPr>
          <a:xfrm>
            <a:off x="8196629" y="1645557"/>
            <a:ext cx="2718012" cy="1447653"/>
          </a:xfrm>
          <a:prstGeom prst="rect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+mj-lt"/>
              </a:rPr>
              <a:t>Continuous Audit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99EB0E-6325-474A-AAA5-7C47961B56D0}"/>
              </a:ext>
            </a:extLst>
          </p:cNvPr>
          <p:cNvSpPr/>
          <p:nvPr/>
        </p:nvSpPr>
        <p:spPr>
          <a:xfrm>
            <a:off x="5162766" y="3442603"/>
            <a:ext cx="2275019" cy="528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164816A-B658-459D-A394-661E0C162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8489" y="3398519"/>
            <a:ext cx="640080" cy="640080"/>
          </a:xfrm>
          <a:prstGeom prst="ellipse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4F7B41-ACED-4201-9C0D-8C99FCE42F21}"/>
              </a:ext>
            </a:extLst>
          </p:cNvPr>
          <p:cNvSpPr/>
          <p:nvPr/>
        </p:nvSpPr>
        <p:spPr>
          <a:xfrm>
            <a:off x="5265287" y="3398520"/>
            <a:ext cx="2275019" cy="528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Closed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7E5D202-2ED1-42A6-A541-1D5B781B4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06224" y="3352800"/>
            <a:ext cx="640080" cy="640080"/>
          </a:xfrm>
          <a:prstGeom prst="ellipse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b="1" dirty="0"/>
              <a:t>49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83DF5E-7419-4B83-9F2A-48D2AB666706}"/>
              </a:ext>
            </a:extLst>
          </p:cNvPr>
          <p:cNvSpPr/>
          <p:nvPr/>
        </p:nvSpPr>
        <p:spPr>
          <a:xfrm>
            <a:off x="9054299" y="3339869"/>
            <a:ext cx="2718012" cy="63094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Advanced Access Control</a:t>
            </a:r>
          </a:p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Conflict Pairs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114FBED-2EA6-4339-B3DB-FA1A2E5D9528}"/>
              </a:ext>
            </a:extLst>
          </p:cNvPr>
          <p:cNvSpPr/>
          <p:nvPr/>
        </p:nvSpPr>
        <p:spPr>
          <a:xfrm>
            <a:off x="9054299" y="5070902"/>
            <a:ext cx="2622818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Financial and HR Transactions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D808A54-8EF9-4FC8-82BE-A5CEDE1A3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06224" y="5056806"/>
            <a:ext cx="640080" cy="640080"/>
          </a:xfrm>
          <a:prstGeom prst="ellipse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b="1" dirty="0"/>
              <a:t>25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7E1BE13-BE8F-4A55-8127-224672531F1B}"/>
              </a:ext>
            </a:extLst>
          </p:cNvPr>
          <p:cNvCxnSpPr>
            <a:cxnSpLocks/>
          </p:cNvCxnSpPr>
          <p:nvPr/>
        </p:nvCxnSpPr>
        <p:spPr>
          <a:xfrm flipV="1">
            <a:off x="7785336" y="1572050"/>
            <a:ext cx="12893" cy="4391427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5DF5A935-38BE-44A6-AEEE-C9E029B61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06224" y="4265096"/>
            <a:ext cx="640080" cy="640080"/>
          </a:xfrm>
          <a:prstGeom prst="ellipse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b="1" dirty="0"/>
              <a:t>13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54B3F6-480D-4198-9C4B-B7E900A1391F}"/>
              </a:ext>
            </a:extLst>
          </p:cNvPr>
          <p:cNvSpPr txBox="1"/>
          <p:nvPr/>
        </p:nvSpPr>
        <p:spPr>
          <a:xfrm>
            <a:off x="8991600" y="4419600"/>
            <a:ext cx="2404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Sensitive Access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9C6FFB-04E8-4723-9ECC-DF153493275A}"/>
              </a:ext>
            </a:extLst>
          </p:cNvPr>
          <p:cNvSpPr txBox="1"/>
          <p:nvPr/>
        </p:nvSpPr>
        <p:spPr>
          <a:xfrm>
            <a:off x="4600831" y="3544017"/>
            <a:ext cx="60904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6C034-F4F2-41B8-BDDF-0134A2B2FE3A}"/>
              </a:ext>
            </a:extLst>
          </p:cNvPr>
          <p:cNvSpPr txBox="1"/>
          <p:nvPr/>
        </p:nvSpPr>
        <p:spPr>
          <a:xfrm>
            <a:off x="4311802" y="5771814"/>
            <a:ext cx="3505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https://dashboard.missionmark.com/ae075fd7-a40b-489c-a67a-6e1ec4566694/</a:t>
            </a:r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2C51F20-A678-433C-9B40-6097EBD7A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4915" y="5841887"/>
            <a:ext cx="640080" cy="640080"/>
          </a:xfrm>
          <a:prstGeom prst="ellipse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b="1" dirty="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DC74A-1D27-4415-A24B-F8FFE41720B2}"/>
              </a:ext>
            </a:extLst>
          </p:cNvPr>
          <p:cNvSpPr txBox="1"/>
          <p:nvPr/>
        </p:nvSpPr>
        <p:spPr>
          <a:xfrm>
            <a:off x="9054299" y="5943316"/>
            <a:ext cx="198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OTBI Reports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218E239-2D1C-4F2D-901D-EE7AC89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6425" y="4361691"/>
            <a:ext cx="640080" cy="640080"/>
          </a:xfrm>
          <a:prstGeom prst="ellipse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31C360-FDF6-4F94-ADE7-2847F20C9E5E}"/>
              </a:ext>
            </a:extLst>
          </p:cNvPr>
          <p:cNvSpPr/>
          <p:nvPr/>
        </p:nvSpPr>
        <p:spPr>
          <a:xfrm>
            <a:off x="5263223" y="4361691"/>
            <a:ext cx="2304225" cy="6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Implemented and closed (97%)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BAB7ED-0E61-421D-A8F4-E16F6B340CB0}"/>
              </a:ext>
            </a:extLst>
          </p:cNvPr>
          <p:cNvSpPr txBox="1"/>
          <p:nvPr/>
        </p:nvSpPr>
        <p:spPr>
          <a:xfrm>
            <a:off x="4598767" y="4507189"/>
            <a:ext cx="60904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29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CF0386-04D1-0A55-2481-6956D08AF715}"/>
              </a:ext>
            </a:extLst>
          </p:cNvPr>
          <p:cNvSpPr txBox="1"/>
          <p:nvPr/>
        </p:nvSpPr>
        <p:spPr>
          <a:xfrm>
            <a:off x="993554" y="4788932"/>
            <a:ext cx="2900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Audit Committee approved FY23 audit plan</a:t>
            </a:r>
          </a:p>
        </p:txBody>
      </p:sp>
    </p:spTree>
    <p:extLst>
      <p:ext uri="{BB962C8B-B14F-4D97-AF65-F5344CB8AC3E}">
        <p14:creationId xmlns:p14="http://schemas.microsoft.com/office/powerpoint/2010/main" val="3064848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7F2C-A7E0-4905-821E-28D3F96E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447800"/>
          </a:xfrm>
        </p:spPr>
        <p:txBody>
          <a:bodyPr/>
          <a:lstStyle/>
          <a:p>
            <a:r>
              <a:rPr lang="en-US" dirty="0">
                <a:solidFill>
                  <a:srgbClr val="4031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Audits Completed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3E96D3-2CA2-8956-B806-8EFACF8D5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BeltLine</a:t>
            </a:r>
            <a:r>
              <a:rPr lang="en-US" dirty="0"/>
              <a:t> Special Services District Financial Review</a:t>
            </a:r>
          </a:p>
          <a:p>
            <a:pPr lvl="1"/>
            <a:r>
              <a:rPr lang="en-US" dirty="0"/>
              <a:t>Management agreed with 4 recommendations to clarify roles, strengthen procedures, and develop a reporting framework</a:t>
            </a:r>
          </a:p>
          <a:p>
            <a:r>
              <a:rPr lang="en-US" dirty="0"/>
              <a:t>Citywide Cash Handling</a:t>
            </a:r>
          </a:p>
          <a:p>
            <a:pPr lvl="1"/>
            <a:r>
              <a:rPr lang="en-US" dirty="0"/>
              <a:t>Management agreed with 9 recommendations and partially agreed with 1 recommendation to strengthen centralized oversight of cash handling, improve inadequate policies and procedures, and mitigate risks</a:t>
            </a:r>
          </a:p>
          <a:p>
            <a:r>
              <a:rPr lang="en-US" dirty="0"/>
              <a:t>Employee Benefits</a:t>
            </a:r>
          </a:p>
          <a:p>
            <a:pPr lvl="1"/>
            <a:r>
              <a:rPr lang="en-US" dirty="0"/>
              <a:t>Management agreed with 12 recommendations to improve accuracy and more effectively administer benefit programs</a:t>
            </a:r>
          </a:p>
          <a:p>
            <a:r>
              <a:rPr lang="en-US" dirty="0"/>
              <a:t>AFRD Financial Transaction Review</a:t>
            </a:r>
          </a:p>
          <a:p>
            <a:pPr lvl="1"/>
            <a:r>
              <a:rPr lang="en-US" dirty="0"/>
              <a:t>Management agreed with 4 recommendations to develop written policies and procedures and segregate incompatible duties</a:t>
            </a:r>
          </a:p>
        </p:txBody>
      </p:sp>
    </p:spTree>
    <p:extLst>
      <p:ext uri="{BB962C8B-B14F-4D97-AF65-F5344CB8AC3E}">
        <p14:creationId xmlns:p14="http://schemas.microsoft.com/office/powerpoint/2010/main" val="3653697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7F2C-A7E0-4905-821E-28D3F96E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447800"/>
          </a:xfrm>
        </p:spPr>
        <p:txBody>
          <a:bodyPr/>
          <a:lstStyle/>
          <a:p>
            <a:r>
              <a:rPr lang="en-US" dirty="0">
                <a:solidFill>
                  <a:srgbClr val="4031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Audits In Progress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0ED937-79A3-4AA9-9C79-E3F81B4B7B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9743621"/>
              </p:ext>
            </p:extLst>
          </p:nvPr>
        </p:nvGraphicFramePr>
        <p:xfrm>
          <a:off x="886015" y="1828800"/>
          <a:ext cx="10696385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>
                  <a:extLst>
                    <a:ext uri="{9D8B030D-6E8A-4147-A177-3AD203B41FA5}">
                      <a16:colId xmlns:a16="http://schemas.microsoft.com/office/drawing/2014/main" val="2505783080"/>
                    </a:ext>
                  </a:extLst>
                </a:gridCol>
                <a:gridCol w="4981385">
                  <a:extLst>
                    <a:ext uri="{9D8B030D-6E8A-4147-A177-3AD203B41FA5}">
                      <a16:colId xmlns:a16="http://schemas.microsoft.com/office/drawing/2014/main" val="68850342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Audit</a:t>
                      </a:r>
                    </a:p>
                  </a:txBody>
                  <a:tcPr>
                    <a:solidFill>
                      <a:srgbClr val="4031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Status</a:t>
                      </a:r>
                    </a:p>
                  </a:txBody>
                  <a:tcPr>
                    <a:solidFill>
                      <a:srgbClr val="4031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3658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Oracle Time and Labor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Interim Report to Mgt; Ongoing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42824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In Rem Process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Technical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56611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Solid Waste Services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Fieldwork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24762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Municipal Market Lease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Fieldwork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8860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Plane Train Contract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Fieldwork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4598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Office of Contract Compliance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Fieldwork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75376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Grants Management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Fieldwork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58425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Business Licensing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Fieldwork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757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849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7F2C-A7E0-4905-821E-28D3F96E9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4031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Recommendation Follow-Up</a:t>
            </a:r>
          </a:p>
        </p:txBody>
      </p:sp>
      <p:graphicFrame>
        <p:nvGraphicFramePr>
          <p:cNvPr id="32" name="Content Placeholder 31">
            <a:extLst>
              <a:ext uri="{FF2B5EF4-FFF2-40B4-BE49-F238E27FC236}">
                <a16:creationId xmlns:a16="http://schemas.microsoft.com/office/drawing/2014/main" id="{5034901F-EAE4-4D9E-F18E-B228ED1F69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4440809"/>
              </p:ext>
            </p:extLst>
          </p:nvPr>
        </p:nvGraphicFramePr>
        <p:xfrm>
          <a:off x="609600" y="1600200"/>
          <a:ext cx="109728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20463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149EF-8DA6-FD82-7B50-36BF4107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4031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Organizational Chart</a:t>
            </a:r>
            <a:endParaRPr lang="en-US" dirty="0"/>
          </a:p>
        </p:txBody>
      </p:sp>
      <p:cxnSp>
        <p:nvCxnSpPr>
          <p:cNvPr id="4" name="AutoShape 10">
            <a:extLst>
              <a:ext uri="{FF2B5EF4-FFF2-40B4-BE49-F238E27FC236}">
                <a16:creationId xmlns:a16="http://schemas.microsoft.com/office/drawing/2014/main" id="{31DD2060-D520-D35C-90E7-4A056F0C3AF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133797" y="6632570"/>
            <a:ext cx="635" cy="635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100000"/>
                <a:lumOff val="0"/>
              </a:sysClr>
            </a:solidFill>
            <a:round/>
            <a:headEnd/>
            <a:tailEnd/>
          </a:ln>
          <a:extLst>
            <a:ext uri="{909E8E84-426E-40dd-AFC4-6F175D3DCCD1}">
              <a14:hiddenFill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cid="http://schemas.microsoft.com/office/word/2016/wordml/cid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<a:noFill/>
              </a14:hiddenFill>
            </a:ext>
          </a:extLst>
        </p:spPr>
      </p:cxnSp>
      <p:cxnSp>
        <p:nvCxnSpPr>
          <p:cNvPr id="5" name="AutoShape 11">
            <a:extLst>
              <a:ext uri="{FF2B5EF4-FFF2-40B4-BE49-F238E27FC236}">
                <a16:creationId xmlns:a16="http://schemas.microsoft.com/office/drawing/2014/main" id="{AB970DD0-D992-3555-115D-C26B63D8221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924208" y="6529027"/>
            <a:ext cx="2540" cy="225425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100000"/>
                <a:lumOff val="0"/>
              </a:sysClr>
            </a:solidFill>
            <a:round/>
            <a:headEnd/>
            <a:tailEnd/>
          </a:ln>
          <a:extLst>
            <a:ext uri="{909E8E84-426E-40dd-AFC4-6F175D3DCCD1}">
              <a14:hiddenFill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cid="http://schemas.microsoft.com/office/word/2016/wordml/cid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<a:noFill/>
              </a14:hiddenFill>
            </a:ext>
          </a:extLst>
        </p:spPr>
      </p:cxnSp>
      <p:sp>
        <p:nvSpPr>
          <p:cNvPr id="9" name="AutoShape 5">
            <a:extLst>
              <a:ext uri="{FF2B5EF4-FFF2-40B4-BE49-F238E27FC236}">
                <a16:creationId xmlns:a16="http://schemas.microsoft.com/office/drawing/2014/main" id="{D07B0223-BFAF-E82C-1791-01194FCA0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2053" y="5751107"/>
            <a:ext cx="827806" cy="598527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Sr. Auditor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Brandi Bell </a:t>
            </a:r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5764400C-36F6-6408-9640-F4FBD52AA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7722" y="4911486"/>
            <a:ext cx="1791702" cy="484096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Supervisor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Duane Braithwaite</a:t>
            </a:r>
          </a:p>
        </p:txBody>
      </p:sp>
      <p:sp>
        <p:nvSpPr>
          <p:cNvPr id="11" name="AutoShape 13">
            <a:extLst>
              <a:ext uri="{FF2B5EF4-FFF2-40B4-BE49-F238E27FC236}">
                <a16:creationId xmlns:a16="http://schemas.microsoft.com/office/drawing/2014/main" id="{9E9136A8-4A19-E576-AEB9-E1AEB19D2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8855" y="4919929"/>
            <a:ext cx="1842621" cy="484096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ea typeface="Calibri" panose="020F0502020204030204" pitchFamily="34" charset="0"/>
                <a:cs typeface="Arial"/>
              </a:rPr>
              <a:t>Supervisor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ea typeface="Times New Roman" panose="02020603050405020304" pitchFamily="18" charset="0"/>
              <a:cs typeface="Arial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/>
                <a:cs typeface="Arial"/>
              </a:rPr>
              <a:t>Myra Hagley</a:t>
            </a:r>
            <a:endParaRPr lang="en-US" dirty="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32B1790C-DF9E-EF21-0D7A-E2EF83619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8741" y="5749512"/>
            <a:ext cx="817035" cy="601719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ea typeface="Calibri" panose="020F0502020204030204" pitchFamily="34" charset="0"/>
                <a:cs typeface="Arial"/>
              </a:rPr>
              <a:t>Sr. Auditor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ea typeface="Calibri" panose="020F0502020204030204" pitchFamily="34" charset="0"/>
                <a:cs typeface="Arial"/>
              </a:rPr>
              <a:t>Ijeg Jones</a:t>
            </a:r>
            <a:endParaRPr lang="en-US" altLang="en-US" sz="1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/>
              <a:ea typeface="Calibri" panose="020F0502020204030204" pitchFamily="34" charset="0"/>
              <a:cs typeface="Arial"/>
            </a:endParaRPr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7BC43709-F6D1-ECAA-E29F-B636407D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733" y="5763070"/>
            <a:ext cx="825627" cy="642946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Sr. Auditor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Lindsay Kuhn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078A52A8-6E11-F106-D24D-BA23BC7E1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061" y="4921299"/>
            <a:ext cx="1580691" cy="481355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Supervisor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Rebecca Robinson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6">
            <a:extLst>
              <a:ext uri="{FF2B5EF4-FFF2-40B4-BE49-F238E27FC236}">
                <a16:creationId xmlns:a16="http://schemas.microsoft.com/office/drawing/2014/main" id="{7344C1E6-F4AE-CF4C-A6AF-A63863535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5097" y="5761821"/>
            <a:ext cx="825627" cy="601719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Auditor </a:t>
            </a:r>
            <a:r>
              <a:rPr lang="en-US" altLang="en-US" sz="10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Zöe</a:t>
            </a: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Geiger</a:t>
            </a:r>
          </a:p>
        </p:txBody>
      </p:sp>
      <p:sp>
        <p:nvSpPr>
          <p:cNvPr id="16" name="AutoShape 10">
            <a:extLst>
              <a:ext uri="{FF2B5EF4-FFF2-40B4-BE49-F238E27FC236}">
                <a16:creationId xmlns:a16="http://schemas.microsoft.com/office/drawing/2014/main" id="{9D89759B-AC89-A2D3-DA6E-256A78F25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2748" y="5766768"/>
            <a:ext cx="810524" cy="627489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Sr. Auditor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Imani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Adams </a:t>
            </a:r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34F7898B-4683-3141-CE03-B9081D219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861" y="5751503"/>
            <a:ext cx="819575" cy="601721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>
                <a:solidFill>
                  <a:srgbClr val="FFFFFF"/>
                </a:solidFill>
                <a:latin typeface="Arial"/>
                <a:ea typeface="Calibri" panose="020F0502020204030204" pitchFamily="34" charset="0"/>
                <a:cs typeface="Arial"/>
              </a:rPr>
              <a:t>Sr. Auditor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ea typeface="Calibri" panose="020F0502020204030204" pitchFamily="34" charset="0"/>
                <a:cs typeface="Arial"/>
              </a:rPr>
              <a:t>Rae Dade</a:t>
            </a:r>
            <a:endParaRPr lang="en-US" altLang="en-US" sz="1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/>
              <a:ea typeface="Calibri" panose="020F0502020204030204" pitchFamily="34" charset="0"/>
              <a:cs typeface="Arial"/>
            </a:endParaRPr>
          </a:p>
        </p:txBody>
      </p:sp>
      <p:sp>
        <p:nvSpPr>
          <p:cNvPr id="18" name="AutoShape 11">
            <a:extLst>
              <a:ext uri="{FF2B5EF4-FFF2-40B4-BE49-F238E27FC236}">
                <a16:creationId xmlns:a16="http://schemas.microsoft.com/office/drawing/2014/main" id="{89AAA41D-33BE-B6FB-CFDA-C99697D05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4260" y="5751107"/>
            <a:ext cx="811955" cy="598527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Auditor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Tiajah Sherman</a:t>
            </a:r>
            <a:endParaRPr lang="en-US" sz="1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6F02448-240A-2D64-EE98-CC31B3859D1C}"/>
              </a:ext>
            </a:extLst>
          </p:cNvPr>
          <p:cNvGrpSpPr/>
          <p:nvPr/>
        </p:nvGrpSpPr>
        <p:grpSpPr>
          <a:xfrm>
            <a:off x="2585710" y="1565848"/>
            <a:ext cx="6926944" cy="4699049"/>
            <a:chOff x="1938231" y="222250"/>
            <a:chExt cx="6926944" cy="4699049"/>
          </a:xfrm>
        </p:grpSpPr>
        <p:sp>
          <p:nvSpPr>
            <p:cNvPr id="20" name="AutoShape 8">
              <a:extLst>
                <a:ext uri="{FF2B5EF4-FFF2-40B4-BE49-F238E27FC236}">
                  <a16:creationId xmlns:a16="http://schemas.microsoft.com/office/drawing/2014/main" id="{29D2621E-8A3A-9E27-592D-EB949D318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4407" y="2536417"/>
              <a:ext cx="1780869" cy="409660"/>
            </a:xfrm>
            <a:prstGeom prst="flowChartProcess">
              <a:avLst/>
            </a:prstGeom>
            <a:solidFill>
              <a:srgbClr val="40315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/>
                  <a:ea typeface="Calibri" panose="020F0502020204030204" pitchFamily="34" charset="0"/>
                  <a:cs typeface="Arial"/>
                </a:rPr>
                <a:t>Performance Audit Team</a:t>
              </a:r>
              <a:r>
                <a:rPr lang="en-US" altLang="en-US" sz="1000" dirty="0">
                  <a:solidFill>
                    <a:srgbClr val="FFFFFF"/>
                  </a:solidFill>
                  <a:latin typeface="Arial"/>
                  <a:ea typeface="Calibri" panose="020F0502020204030204" pitchFamily="34" charset="0"/>
                  <a:cs typeface="Arial"/>
                </a:rPr>
                <a:t> 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000" dirty="0">
                  <a:solidFill>
                    <a:srgbClr val="FFFFFF"/>
                  </a:solidFill>
                  <a:latin typeface="Arial"/>
                  <a:ea typeface="Calibri" panose="020F0502020204030204" pitchFamily="34" charset="0"/>
                  <a:cs typeface="Arial"/>
                </a:rPr>
                <a:t>Micheal Jones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/>
                  <a:ea typeface="Calibri" panose="020F0502020204030204" pitchFamily="34" charset="0"/>
                  <a:cs typeface="Arial"/>
                </a:rPr>
                <a:t>, Manager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cxnSp>
          <p:nvCxnSpPr>
            <p:cNvPr id="21" name="AutoShape 6">
              <a:extLst>
                <a:ext uri="{FF2B5EF4-FFF2-40B4-BE49-F238E27FC236}">
                  <a16:creationId xmlns:a16="http://schemas.microsoft.com/office/drawing/2014/main" id="{0BCA6D04-8FC2-FB07-96AA-A31F943B16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938231" y="2237751"/>
              <a:ext cx="3753435" cy="599"/>
            </a:xfrm>
            <a:prstGeom prst="straightConnector1">
              <a:avLst/>
            </a:prstGeom>
            <a:noFill/>
            <a:ln w="9525">
              <a:solidFill>
                <a:sysClr val="window" lastClr="FFFFFF">
                  <a:lumMod val="100000"/>
                  <a:lumOff val="0"/>
                </a:sysClr>
              </a:solidFill>
              <a:round/>
              <a:headEnd/>
              <a:tailEnd/>
            </a:ln>
            <a:extLst>
              <a:ext uri="{909E8E84-426E-40dd-AFC4-6F175D3DCCD1}">
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>
                  <a:noFill/>
                </a14:hiddenFill>
              </a:ext>
            </a:extLst>
          </p:spPr>
        </p:cxnSp>
        <p:cxnSp>
          <p:nvCxnSpPr>
            <p:cNvPr id="22" name="AutoShape 24">
              <a:extLst>
                <a:ext uri="{FF2B5EF4-FFF2-40B4-BE49-F238E27FC236}">
                  <a16:creationId xmlns:a16="http://schemas.microsoft.com/office/drawing/2014/main" id="{75936E91-5A0F-D2A7-38EF-5C4B6C2181A0}"/>
                </a:ext>
              </a:extLst>
            </p:cNvPr>
            <p:cNvCxnSpPr>
              <a:cxnSpLocks noChangeShapeType="1"/>
              <a:stCxn id="14" idx="0"/>
            </p:cNvCxnSpPr>
            <p:nvPr/>
          </p:nvCxnSpPr>
          <p:spPr bwMode="auto">
            <a:xfrm flipV="1">
              <a:off x="2669407" y="4725726"/>
              <a:ext cx="3032" cy="1955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>
                  <a:noFill/>
                </a14:hiddenFill>
              </a:ext>
            </a:extLst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5CCFE1F-F702-1078-733E-F13E87CB1E21}"/>
                </a:ext>
              </a:extLst>
            </p:cNvPr>
            <p:cNvCxnSpPr>
              <a:cxnSpLocks/>
              <a:stCxn id="27" idx="2"/>
              <a:endCxn id="20" idx="0"/>
            </p:cNvCxnSpPr>
            <p:nvPr/>
          </p:nvCxnSpPr>
          <p:spPr>
            <a:xfrm flipH="1">
              <a:off x="5244842" y="2149990"/>
              <a:ext cx="4022" cy="3864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ABBE632-641E-E02D-F1E4-B459C74F67E1}"/>
                </a:ext>
              </a:extLst>
            </p:cNvPr>
            <p:cNvCxnSpPr>
              <a:cxnSpLocks/>
            </p:cNvCxnSpPr>
            <p:nvPr/>
          </p:nvCxnSpPr>
          <p:spPr>
            <a:xfrm>
              <a:off x="2019125" y="3322078"/>
              <a:ext cx="68460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26" name="AutoShape 13">
              <a:extLst>
                <a:ext uri="{FF2B5EF4-FFF2-40B4-BE49-F238E27FC236}">
                  <a16:creationId xmlns:a16="http://schemas.microsoft.com/office/drawing/2014/main" id="{8A87A72F-071D-319D-5416-273D86A24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1204" y="1253240"/>
              <a:ext cx="1819411" cy="402792"/>
            </a:xfrm>
            <a:prstGeom prst="flowChartProcess">
              <a:avLst/>
            </a:prstGeom>
            <a:solidFill>
              <a:srgbClr val="403152"/>
            </a:solidFill>
            <a:ln w="9525" cmpd="sng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>
                  <a:effectLst>
                    <a:outerShdw dist="28398" dir="3806097" algn="ctr" rotWithShape="0">
                      <a:schemeClr val="lt1">
                        <a:lumMod val="50000"/>
                        <a:lumOff val="0"/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000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Executive Assistant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000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Jackie Ragan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7" name="AutoShape 14">
              <a:extLst>
                <a:ext uri="{FF2B5EF4-FFF2-40B4-BE49-F238E27FC236}">
                  <a16:creationId xmlns:a16="http://schemas.microsoft.com/office/drawing/2014/main" id="{0677A14D-F982-AEA7-A123-E010C785B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450" y="1747735"/>
              <a:ext cx="1772828" cy="402255"/>
            </a:xfrm>
            <a:prstGeom prst="flowChartProcess">
              <a:avLst/>
            </a:prstGeom>
            <a:solidFill>
              <a:srgbClr val="403152"/>
            </a:solidFill>
            <a:ln w="9525" cmpd="sng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>
                  <a:effectLst>
                    <a:outerShdw dist="28398" dir="3806097" algn="ctr" rotWithShape="0">
                      <a:schemeClr val="lt1">
                        <a:lumMod val="50000"/>
                        <a:lumOff val="0"/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000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Deputy City Auditor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000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Stephanie Jackson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9A4554E-CA4A-1EE8-A442-7D9EA20FD6C4}"/>
                </a:ext>
              </a:extLst>
            </p:cNvPr>
            <p:cNvCxnSpPr/>
            <p:nvPr/>
          </p:nvCxnSpPr>
          <p:spPr>
            <a:xfrm>
              <a:off x="5632067" y="1439157"/>
              <a:ext cx="8723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6C737C8-51AE-81C9-E5E8-2BCB42EBC84E}"/>
                </a:ext>
              </a:extLst>
            </p:cNvPr>
            <p:cNvCxnSpPr/>
            <p:nvPr/>
          </p:nvCxnSpPr>
          <p:spPr>
            <a:xfrm flipV="1">
              <a:off x="5632067" y="1291269"/>
              <a:ext cx="0" cy="1496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8FE5FA7-FB89-1ED3-ACB0-5CD05CF617D6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flipH="1">
              <a:off x="5248864" y="1303945"/>
              <a:ext cx="1520" cy="4437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05A4010-6AE6-D5B6-F3A6-DE91FE4FE694}"/>
                </a:ext>
              </a:extLst>
            </p:cNvPr>
            <p:cNvGrpSpPr/>
            <p:nvPr/>
          </p:nvGrpSpPr>
          <p:grpSpPr>
            <a:xfrm>
              <a:off x="4356098" y="222250"/>
              <a:ext cx="1824033" cy="1080567"/>
              <a:chOff x="0" y="0"/>
              <a:chExt cx="1768512" cy="1146287"/>
            </a:xfrm>
          </p:grpSpPr>
          <p:sp>
            <p:nvSpPr>
              <p:cNvPr id="40" name="AutoShape 4">
                <a:extLst>
                  <a:ext uri="{FF2B5EF4-FFF2-40B4-BE49-F238E27FC236}">
                    <a16:creationId xmlns:a16="http://schemas.microsoft.com/office/drawing/2014/main" id="{33146C62-95D2-F99B-5FD1-7D0E010B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1764030" cy="379730"/>
              </a:xfrm>
              <a:prstGeom prst="flowChartProcess">
                <a:avLst/>
              </a:prstGeom>
              <a:solidFill>
                <a:srgbClr val="403152"/>
              </a:solidFill>
              <a:ln w="9525" cmpd="sng">
                <a:solidFill>
                  <a:sysClr val="windowText" lastClr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>
                    <a:effectLst>
                      <a:outerShdw dist="28398" dir="3806097" algn="ctr" rotWithShape="0">
                        <a:schemeClr val="lt1">
                          <a:lumMod val="50000"/>
                          <a:lumOff val="0"/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kern="1200" dirty="0">
                    <a:solidFill>
                      <a:srgbClr val="FFFFFF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Audit Committee</a:t>
                </a:r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41" name="AutoShape 5">
                <a:extLst>
                  <a:ext uri="{FF2B5EF4-FFF2-40B4-BE49-F238E27FC236}">
                    <a16:creationId xmlns:a16="http://schemas.microsoft.com/office/drawing/2014/main" id="{98334691-8E70-A9EF-0CE0-CCDD363926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2" y="699247"/>
                <a:ext cx="1764030" cy="447040"/>
              </a:xfrm>
              <a:prstGeom prst="flowChartProcess">
                <a:avLst/>
              </a:prstGeom>
              <a:solidFill>
                <a:srgbClr val="403152"/>
              </a:solidFill>
              <a:ln w="9525" cmpd="sng">
                <a:solidFill>
                  <a:sysClr val="windowText" lastClr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>
                    <a:effectLst>
                      <a:outerShdw dist="28398" dir="3806097" algn="ctr" rotWithShape="0">
                        <a:schemeClr val="lt1">
                          <a:lumMod val="50000"/>
                          <a:lumOff val="0"/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kern="1200">
                    <a:solidFill>
                      <a:srgbClr val="FFFFFF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City Auditor 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kern="1200">
                    <a:solidFill>
                      <a:srgbClr val="FFFFFF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Amanda Noble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7697F364-A4DD-3E6E-D9E2-FEC465D8A5FE}"/>
                  </a:ext>
                </a:extLst>
              </p:cNvPr>
              <p:cNvCxnSpPr/>
              <p:nvPr/>
            </p:nvCxnSpPr>
            <p:spPr>
              <a:xfrm>
                <a:off x="869577" y="385483"/>
                <a:ext cx="0" cy="33189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32" name="AutoShape 13">
              <a:extLst>
                <a:ext uri="{FF2B5EF4-FFF2-40B4-BE49-F238E27FC236}">
                  <a16:creationId xmlns:a16="http://schemas.microsoft.com/office/drawing/2014/main" id="{0A963FE6-AF6F-A386-0975-275E0800C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125" y="1331268"/>
              <a:ext cx="1819411" cy="402792"/>
            </a:xfrm>
            <a:prstGeom prst="flowChartProcess">
              <a:avLst/>
            </a:prstGeom>
            <a:solidFill>
              <a:srgbClr val="C18989"/>
            </a:solidFill>
            <a:ln w="9525" cmpd="sng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>
                  <a:effectLst>
                    <a:outerShdw dist="28398" dir="3806097" algn="ctr" rotWithShape="0">
                      <a:schemeClr val="lt1">
                        <a:lumMod val="50000"/>
                        <a:lumOff val="0"/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000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PT Project Manager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000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Matt Ervin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C44E361-514B-B339-7503-4BDBB27534CB}"/>
                </a:ext>
              </a:extLst>
            </p:cNvPr>
            <p:cNvCxnSpPr/>
            <p:nvPr/>
          </p:nvCxnSpPr>
          <p:spPr>
            <a:xfrm>
              <a:off x="3833015" y="1517416"/>
              <a:ext cx="8723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3A73A53-CC9D-948D-C4B9-A34D96E56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3718" y="1291269"/>
              <a:ext cx="0" cy="2235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35" name="AutoShape 13">
              <a:extLst>
                <a:ext uri="{FF2B5EF4-FFF2-40B4-BE49-F238E27FC236}">
                  <a16:creationId xmlns:a16="http://schemas.microsoft.com/office/drawing/2014/main" id="{1C1D5BCA-A47C-526C-4F6F-7E22C1741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7828" y="2115735"/>
              <a:ext cx="1819411" cy="402792"/>
            </a:xfrm>
            <a:prstGeom prst="flowChartProcess">
              <a:avLst/>
            </a:prstGeom>
            <a:solidFill>
              <a:srgbClr val="403152"/>
            </a:solidFill>
            <a:ln w="9525" cmpd="sng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>
                  <a:effectLst>
                    <a:outerShdw dist="28398" dir="3806097" algn="ctr" rotWithShape="0">
                      <a:schemeClr val="lt1">
                        <a:lumMod val="50000"/>
                        <a:lumOff val="0"/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 fontAlgn="base"/>
              <a:r>
                <a:rPr lang="en-US" sz="1000" dirty="0">
                  <a:solidFill>
                    <a:srgbClr val="FFFFFF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Data Analyst/Methodologist Christopher Armstead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3D7447A-90B3-74A4-FF12-DFF69BBFC8E6}"/>
                </a:ext>
              </a:extLst>
            </p:cNvPr>
            <p:cNvCxnSpPr/>
            <p:nvPr/>
          </p:nvCxnSpPr>
          <p:spPr>
            <a:xfrm>
              <a:off x="5638691" y="2301652"/>
              <a:ext cx="8723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929CB02-DF90-C5FE-35BC-C2AF9B3B24AE}"/>
                </a:ext>
              </a:extLst>
            </p:cNvPr>
            <p:cNvCxnSpPr/>
            <p:nvPr/>
          </p:nvCxnSpPr>
          <p:spPr>
            <a:xfrm flipV="1">
              <a:off x="5638691" y="2153764"/>
              <a:ext cx="0" cy="1496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9D38BA9-0B07-0FC5-9597-139EEDE35E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1155" y="2952961"/>
              <a:ext cx="1820" cy="3757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C10C8A8-1ED9-B8D4-16AE-93094CF8B9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1154" y="2952962"/>
              <a:ext cx="1820" cy="3757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43" name="AutoShape 6">
            <a:extLst>
              <a:ext uri="{FF2B5EF4-FFF2-40B4-BE49-F238E27FC236}">
                <a16:creationId xmlns:a16="http://schemas.microsoft.com/office/drawing/2014/main" id="{1D565A08-CE93-4CBD-7537-991D69731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312" y="5747477"/>
            <a:ext cx="810524" cy="598527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Auditor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Erwin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Coleman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53F27F9-353C-F5C7-9E6E-A03854AE0E79}"/>
              </a:ext>
            </a:extLst>
          </p:cNvPr>
          <p:cNvGrpSpPr/>
          <p:nvPr/>
        </p:nvGrpSpPr>
        <p:grpSpPr>
          <a:xfrm>
            <a:off x="2628915" y="5416590"/>
            <a:ext cx="934936" cy="350178"/>
            <a:chOff x="1923263" y="3993524"/>
            <a:chExt cx="934936" cy="350178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E1457D6-10BD-71F3-562F-D5D0A842F422}"/>
                </a:ext>
              </a:extLst>
            </p:cNvPr>
            <p:cNvCxnSpPr>
              <a:cxnSpLocks/>
            </p:cNvCxnSpPr>
            <p:nvPr/>
          </p:nvCxnSpPr>
          <p:spPr>
            <a:xfrm>
              <a:off x="1923263" y="3993524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F3D239E-5FFC-23E0-11BC-4FB53C9B14B1}"/>
                </a:ext>
              </a:extLst>
            </p:cNvPr>
            <p:cNvCxnSpPr>
              <a:cxnSpLocks/>
            </p:cNvCxnSpPr>
            <p:nvPr/>
          </p:nvCxnSpPr>
          <p:spPr>
            <a:xfrm>
              <a:off x="1923263" y="4171974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1E75DDE-AF98-C5F8-98E3-AD67B46502F3}"/>
                </a:ext>
              </a:extLst>
            </p:cNvPr>
            <p:cNvCxnSpPr>
              <a:cxnSpLocks/>
            </p:cNvCxnSpPr>
            <p:nvPr/>
          </p:nvCxnSpPr>
          <p:spPr>
            <a:xfrm>
              <a:off x="2858199" y="4168275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AB59367-1D9A-290A-3C65-ABF72BBB63B8}"/>
              </a:ext>
            </a:extLst>
          </p:cNvPr>
          <p:cNvGrpSpPr/>
          <p:nvPr/>
        </p:nvGrpSpPr>
        <p:grpSpPr>
          <a:xfrm>
            <a:off x="4973808" y="5403510"/>
            <a:ext cx="1744748" cy="333073"/>
            <a:chOff x="4393429" y="4006930"/>
            <a:chExt cx="1744748" cy="333073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84BFF6A2-5CFC-88E6-A716-4611E089D833}"/>
                </a:ext>
              </a:extLst>
            </p:cNvPr>
            <p:cNvGrpSpPr/>
            <p:nvPr/>
          </p:nvGrpSpPr>
          <p:grpSpPr>
            <a:xfrm>
              <a:off x="4393429" y="4006930"/>
              <a:ext cx="1744748" cy="171728"/>
              <a:chOff x="4393429" y="4006930"/>
              <a:chExt cx="1744748" cy="171728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A833EE0-526A-D265-10A7-AF22B3C371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6056" y="4006930"/>
                <a:ext cx="0" cy="1717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66C108D2-C10A-E8E9-AA2F-4B3D81AA71DE}"/>
                  </a:ext>
                </a:extLst>
              </p:cNvPr>
              <p:cNvGrpSpPr/>
              <p:nvPr/>
            </p:nvGrpSpPr>
            <p:grpSpPr>
              <a:xfrm>
                <a:off x="4393429" y="4173013"/>
                <a:ext cx="1744748" cy="647"/>
                <a:chOff x="4393429" y="4169664"/>
                <a:chExt cx="1744748" cy="647"/>
              </a:xfrm>
            </p:grpSpPr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34A76732-83DB-5DB2-DA18-272B0ADDA313}"/>
                    </a:ext>
                  </a:extLst>
                </p:cNvPr>
                <p:cNvCxnSpPr/>
                <p:nvPr/>
              </p:nvCxnSpPr>
              <p:spPr>
                <a:xfrm>
                  <a:off x="5265803" y="4170311"/>
                  <a:ext cx="87237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02CDA73D-B608-D0F4-0EB6-A26523078B75}"/>
                    </a:ext>
                  </a:extLst>
                </p:cNvPr>
                <p:cNvCxnSpPr/>
                <p:nvPr/>
              </p:nvCxnSpPr>
              <p:spPr>
                <a:xfrm>
                  <a:off x="4393429" y="4169664"/>
                  <a:ext cx="87237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</p:grpSp>
        </p:grp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776BBC2-5B6A-876D-8D3E-D20591F42B59}"/>
                </a:ext>
              </a:extLst>
            </p:cNvPr>
            <p:cNvCxnSpPr>
              <a:cxnSpLocks/>
            </p:cNvCxnSpPr>
            <p:nvPr/>
          </p:nvCxnSpPr>
          <p:spPr>
            <a:xfrm>
              <a:off x="4393429" y="4168275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E88D77A-4EEB-C8CC-B240-F98D41F61AFE}"/>
                </a:ext>
              </a:extLst>
            </p:cNvPr>
            <p:cNvCxnSpPr>
              <a:cxnSpLocks/>
            </p:cNvCxnSpPr>
            <p:nvPr/>
          </p:nvCxnSpPr>
          <p:spPr>
            <a:xfrm>
              <a:off x="5267597" y="4168275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16FADB3-29F0-6784-AE3C-38FCAB9935E6}"/>
                </a:ext>
              </a:extLst>
            </p:cNvPr>
            <p:cNvCxnSpPr>
              <a:cxnSpLocks/>
            </p:cNvCxnSpPr>
            <p:nvPr/>
          </p:nvCxnSpPr>
          <p:spPr>
            <a:xfrm>
              <a:off x="6135276" y="4168275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D8B4E6C-808A-D414-0EBF-69737A40CB26}"/>
              </a:ext>
            </a:extLst>
          </p:cNvPr>
          <p:cNvGrpSpPr/>
          <p:nvPr/>
        </p:nvGrpSpPr>
        <p:grpSpPr>
          <a:xfrm>
            <a:off x="8200043" y="5388673"/>
            <a:ext cx="1729565" cy="346479"/>
            <a:chOff x="7594081" y="3993524"/>
            <a:chExt cx="1729565" cy="346479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D4A00B80-BFD6-9CFE-D1FA-01D1D4D4C816}"/>
                </a:ext>
              </a:extLst>
            </p:cNvPr>
            <p:cNvGrpSpPr/>
            <p:nvPr/>
          </p:nvGrpSpPr>
          <p:grpSpPr>
            <a:xfrm>
              <a:off x="7594081" y="3993524"/>
              <a:ext cx="1729565" cy="177434"/>
              <a:chOff x="7594081" y="3993524"/>
              <a:chExt cx="1729565" cy="177434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A4A9D32-B2EC-1ADA-4FC9-118B15D949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6455" y="3993524"/>
                <a:ext cx="0" cy="1717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5715CEE-A192-093B-FAFF-DA5425375EEF}"/>
                  </a:ext>
                </a:extLst>
              </p:cNvPr>
              <p:cNvCxnSpPr/>
              <p:nvPr/>
            </p:nvCxnSpPr>
            <p:spPr>
              <a:xfrm>
                <a:off x="7594081" y="4170958"/>
                <a:ext cx="87237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B6776BD9-8FEB-9BCF-3B4C-F5BE6439A833}"/>
                  </a:ext>
                </a:extLst>
              </p:cNvPr>
              <p:cNvCxnSpPr/>
              <p:nvPr/>
            </p:nvCxnSpPr>
            <p:spPr>
              <a:xfrm>
                <a:off x="8451272" y="4170958"/>
                <a:ext cx="87237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3A819E8-98D3-B286-E369-CD4004C38DA3}"/>
                </a:ext>
              </a:extLst>
            </p:cNvPr>
            <p:cNvCxnSpPr>
              <a:cxnSpLocks/>
            </p:cNvCxnSpPr>
            <p:nvPr/>
          </p:nvCxnSpPr>
          <p:spPr>
            <a:xfrm>
              <a:off x="7597323" y="4168275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D253391-E906-3048-408A-568B85BC3EDB}"/>
                </a:ext>
              </a:extLst>
            </p:cNvPr>
            <p:cNvCxnSpPr>
              <a:cxnSpLocks/>
            </p:cNvCxnSpPr>
            <p:nvPr/>
          </p:nvCxnSpPr>
          <p:spPr>
            <a:xfrm>
              <a:off x="8467590" y="4168275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3544DD1-3BF5-2754-154D-9B45EE05B7A1}"/>
                </a:ext>
              </a:extLst>
            </p:cNvPr>
            <p:cNvCxnSpPr>
              <a:cxnSpLocks/>
            </p:cNvCxnSpPr>
            <p:nvPr/>
          </p:nvCxnSpPr>
          <p:spPr>
            <a:xfrm>
              <a:off x="9320404" y="4168275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68" name="AutoShape 6">
            <a:extLst>
              <a:ext uri="{FF2B5EF4-FFF2-40B4-BE49-F238E27FC236}">
                <a16:creationId xmlns:a16="http://schemas.microsoft.com/office/drawing/2014/main" id="{9DB63762-4D4A-EFF2-15EE-FF16572BE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743" y="5766769"/>
            <a:ext cx="825627" cy="626743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Auditor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Neeka Benton</a:t>
            </a:r>
            <a:endParaRPr lang="en-US" sz="1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C4CB9D5-1AAA-4001-5447-49DB39AAB4CA}"/>
              </a:ext>
            </a:extLst>
          </p:cNvPr>
          <p:cNvCxnSpPr>
            <a:cxnSpLocks/>
          </p:cNvCxnSpPr>
          <p:nvPr/>
        </p:nvCxnSpPr>
        <p:spPr>
          <a:xfrm>
            <a:off x="1737719" y="5595040"/>
            <a:ext cx="0" cy="17172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8CF4BFC-7F4D-F4D9-2A0B-EEF639346801}"/>
              </a:ext>
            </a:extLst>
          </p:cNvPr>
          <p:cNvCxnSpPr>
            <a:endCxn id="14" idx="0"/>
          </p:cNvCxnSpPr>
          <p:nvPr/>
        </p:nvCxnSpPr>
        <p:spPr>
          <a:xfrm>
            <a:off x="2666604" y="4672267"/>
            <a:ext cx="2803" cy="249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C907548-50B7-CEBF-4519-49BD07FBDE0F}"/>
              </a:ext>
            </a:extLst>
          </p:cNvPr>
          <p:cNvCxnSpPr/>
          <p:nvPr/>
        </p:nvCxnSpPr>
        <p:spPr>
          <a:xfrm>
            <a:off x="5899543" y="4672267"/>
            <a:ext cx="0" cy="2392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6EBEA50-85FA-8CC5-F07E-F692EE21970F}"/>
              </a:ext>
            </a:extLst>
          </p:cNvPr>
          <p:cNvCxnSpPr/>
          <p:nvPr/>
        </p:nvCxnSpPr>
        <p:spPr>
          <a:xfrm>
            <a:off x="1737719" y="5595040"/>
            <a:ext cx="18261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87E45B1-D6C2-EF5C-65CA-9EFF91C16A22}"/>
              </a:ext>
            </a:extLst>
          </p:cNvPr>
          <p:cNvCxnSpPr/>
          <p:nvPr/>
        </p:nvCxnSpPr>
        <p:spPr>
          <a:xfrm>
            <a:off x="9512654" y="4665676"/>
            <a:ext cx="0" cy="2542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291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905000"/>
            <a:ext cx="8229600" cy="1600200"/>
          </a:xfrm>
        </p:spPr>
        <p:txBody>
          <a:bodyPr/>
          <a:lstStyle/>
          <a:p>
            <a:r>
              <a:rPr lang="en-US" dirty="0">
                <a:solidFill>
                  <a:srgbClr val="660066"/>
                </a:solidFill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3B6318-A37A-4908-8899-51D0E38ADF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66" t="45209" r="27500" b="36260"/>
          <a:stretch/>
        </p:blipFill>
        <p:spPr>
          <a:xfrm>
            <a:off x="0" y="5181600"/>
            <a:ext cx="121920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0112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solidFill>
          <a:srgbClr val="403152"/>
        </a:solidFill>
      </a:spPr>
      <a:bodyPr/>
      <a:lstStyle/>
      <a:style>
        <a:lnRef idx="0">
          <a:schemeClr val="accent1">
            <a:tint val="60000"/>
            <a:hueOff val="0"/>
            <a:satOff val="0"/>
            <a:lumOff val="0"/>
            <a:alphaOff val="0"/>
          </a:schemeClr>
        </a:lnRef>
        <a:fillRef idx="1">
          <a:schemeClr val="accent1">
            <a:tint val="60000"/>
            <a:hueOff val="0"/>
            <a:satOff val="0"/>
            <a:lumOff val="0"/>
            <a:alphaOff val="0"/>
          </a:schemeClr>
        </a:fillRef>
        <a:effectRef idx="0">
          <a:schemeClr val="accent1">
            <a:tint val="60000"/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0</TotalTime>
  <Words>298</Words>
  <Application>Microsoft Office PowerPoint</Application>
  <PresentationFormat>Widescreen</PresentationFormat>
  <Paragraphs>101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Century Gothic</vt:lpstr>
      <vt:lpstr>Courier New</vt:lpstr>
      <vt:lpstr>Palatino Linotype</vt:lpstr>
      <vt:lpstr>Times New Roman</vt:lpstr>
      <vt:lpstr>Executive</vt:lpstr>
      <vt:lpstr>City Auditor’s Office</vt:lpstr>
      <vt:lpstr>FY23 Summary</vt:lpstr>
      <vt:lpstr>Audits Completed</vt:lpstr>
      <vt:lpstr>Audits In Progress</vt:lpstr>
      <vt:lpstr>Audit Recommendation Follow-Up</vt:lpstr>
      <vt:lpstr>Organizational Chart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2018-02-27T21:01:31Z</dcterms:created>
  <dcterms:modified xsi:type="dcterms:W3CDTF">2022-10-07T18:56:35Z</dcterms:modified>
</cp:coreProperties>
</file>
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0" r:id="rId2"/>
    <p:sldId id="256" r:id="rId3"/>
    <p:sldId id="257" r:id="rId4"/>
    <p:sldId id="258" r:id="rId5"/>
    <p:sldId id="271" r:id="rId6"/>
    <p:sldId id="272" r:id="rId7"/>
    <p:sldId id="259" r:id="rId8"/>
    <p:sldId id="260" r:id="rId9"/>
    <p:sldId id="261" r:id="rId10"/>
    <p:sldId id="262" r:id="rId11"/>
    <p:sldId id="265" r:id="rId12"/>
    <p:sldId id="263" r:id="rId13"/>
    <p:sldId id="264" r:id="rId14"/>
    <p:sldId id="266" r:id="rId15"/>
    <p:sldId id="267" r:id="rId16"/>
    <p:sldId id="268" r:id="rId17"/>
    <p:sldId id="273" r:id="rId18"/>
    <p:sldId id="269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Средний стиль 2 — акцент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Средний стиль 2 — акцент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D113A9D2-9D6B-4929-AA2D-F23B5EE8CBE7}" styleName="Стиль из темы 2 - акцент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578" autoAdjust="0"/>
    <p:restoredTop sz="94660"/>
  </p:normalViewPr>
  <p:slideViewPr>
    <p:cSldViewPr snapToGrid="0">
      <p:cViewPr varScale="1">
        <p:scale>
          <a:sx n="109" d="100"/>
          <a:sy n="109" d="100"/>
        </p:scale>
        <p:origin x="208" y="5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BA889-5AA5-4A91-9830-2777D7648142}" type="datetimeFigureOut">
              <a:rPr lang="en-US" smtClean="0"/>
              <a:t>8/12/25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7A62E2-7A0D-4906-B1C7-AB3791176D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3524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BA889-5AA5-4A91-9830-2777D7648142}" type="datetimeFigureOut">
              <a:rPr lang="en-US" smtClean="0"/>
              <a:t>8/12/25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7A62E2-7A0D-4906-B1C7-AB3791176D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34559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BA889-5AA5-4A91-9830-2777D7648142}" type="datetimeFigureOut">
              <a:rPr lang="en-US" smtClean="0"/>
              <a:t>8/12/25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7A62E2-7A0D-4906-B1C7-AB3791176D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324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BA889-5AA5-4A91-9830-2777D7648142}" type="datetimeFigureOut">
              <a:rPr lang="en-US" smtClean="0"/>
              <a:t>8/12/25</a:t>
            </a:fld>
            <a:endParaRPr lang="en-US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7A62E2-7A0D-4906-B1C7-AB3791176D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98130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BA889-5AA5-4A91-9830-2777D7648142}" type="datetimeFigureOut">
              <a:rPr lang="en-US" smtClean="0"/>
              <a:t>8/12/25</a:t>
            </a:fld>
            <a:endParaRPr lang="en-US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7A62E2-7A0D-4906-B1C7-AB3791176D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59036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BA889-5AA5-4A91-9830-2777D7648142}" type="datetimeFigureOut">
              <a:rPr lang="en-US" smtClean="0"/>
              <a:t>8/12/25</a:t>
            </a:fld>
            <a:endParaRPr lang="en-US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7A62E2-7A0D-4906-B1C7-AB3791176D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8510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BA889-5AA5-4A91-9830-2777D7648142}" type="datetimeFigureOut">
              <a:rPr lang="en-US" smtClean="0"/>
              <a:t>8/12/25</a:t>
            </a:fld>
            <a:endParaRPr lang="en-US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7A62E2-7A0D-4906-B1C7-AB3791176D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81632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BA889-5AA5-4A91-9830-2777D7648142}" type="datetimeFigureOut">
              <a:rPr lang="en-US" smtClean="0"/>
              <a:t>8/12/25</a:t>
            </a:fld>
            <a:endParaRPr lang="en-US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7A62E2-7A0D-4906-B1C7-AB3791176D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15326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BA889-5AA5-4A91-9830-2777D7648142}" type="datetimeFigureOut">
              <a:rPr lang="en-US" smtClean="0"/>
              <a:t>8/12/25</a:t>
            </a:fld>
            <a:endParaRPr lang="en-US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7A62E2-7A0D-4906-B1C7-AB3791176D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34548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BA889-5AA5-4A91-9830-2777D7648142}" type="datetimeFigureOut">
              <a:rPr lang="en-US" smtClean="0"/>
              <a:t>8/12/25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7A62E2-7A0D-4906-B1C7-AB3791176D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50441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BA889-5AA5-4A91-9830-2777D7648142}" type="datetimeFigureOut">
              <a:rPr lang="en-US" smtClean="0"/>
              <a:t>8/12/25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7A62E2-7A0D-4906-B1C7-AB3791176D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36426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5BA889-5AA5-4A91-9830-2777D7648142}" type="datetimeFigureOut">
              <a:rPr lang="en-US" smtClean="0"/>
              <a:t>8/12/25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7A62E2-7A0D-4906-B1C7-AB3791176D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84822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7" Type="http://schemas.openxmlformats.org/officeDocument/2006/relationships/image" Target="../media/image10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jpeg"/><Relationship Id="rId5" Type="http://schemas.openxmlformats.org/officeDocument/2006/relationships/image" Target="../media/image8.jpeg"/><Relationship Id="rId4" Type="http://schemas.openxmlformats.org/officeDocument/2006/relationships/image" Target="../media/image7.jpe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jpe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jpeg"/><Relationship Id="rId3" Type="http://schemas.openxmlformats.org/officeDocument/2006/relationships/image" Target="../media/image17.jpeg"/><Relationship Id="rId7" Type="http://schemas.openxmlformats.org/officeDocument/2006/relationships/image" Target="../media/image21.jpeg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jpeg"/><Relationship Id="rId5" Type="http://schemas.openxmlformats.org/officeDocument/2006/relationships/image" Target="../media/image19.jpeg"/><Relationship Id="rId4" Type="http://schemas.openxmlformats.org/officeDocument/2006/relationships/image" Target="../media/image18.jpeg"/><Relationship Id="rId9" Type="http://schemas.openxmlformats.org/officeDocument/2006/relationships/image" Target="../media/image2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4" name="Picture 4" descr="Фон для урока - фото и картинки abrakadabra.fun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099" y="0"/>
            <a:ext cx="12153901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219325" y="2312046"/>
            <a:ext cx="7257141" cy="1618117"/>
          </a:xfrm>
        </p:spPr>
        <p:txBody>
          <a:bodyPr/>
          <a:lstStyle/>
          <a:p>
            <a:r>
              <a:rPr lang="en-US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la </a:t>
            </a:r>
            <a:r>
              <a:rPr lang="en-US" i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leçon</a:t>
            </a:r>
            <a:r>
              <a:rPr lang="en-US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en-US" i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français</a:t>
            </a:r>
            <a:endParaRPr lang="en-US" i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AutoShape 2" descr="Фон для урока - фото и картинки abrakadabra.fun"/>
          <p:cNvSpPr>
            <a:spLocks noChangeAspect="1" noChangeArrowheads="1"/>
          </p:cNvSpPr>
          <p:nvPr/>
        </p:nvSpPr>
        <p:spPr bwMode="auto">
          <a:xfrm>
            <a:off x="155575" y="2598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2798534" y="3576220"/>
            <a:ext cx="3512457" cy="70788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Iklassova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Zarema</a:t>
            </a:r>
            <a:endParaRPr lang="en-US" sz="20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19-3</a:t>
            </a:r>
          </a:p>
        </p:txBody>
      </p:sp>
      <p:pic>
        <p:nvPicPr>
          <p:cNvPr id="5126" name="Picture 6" descr="ASTANA INTERNATIONAL UNIVERSITY | AIU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0375" y="392339"/>
            <a:ext cx="3517900" cy="11082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30" name="Picture 10" descr="Lego Эйфелева башня инструкция. Сборка лего 21019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69941" y="613980"/>
            <a:ext cx="3165475" cy="50142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248012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 descr="Фон для презентации детский сад - 65 фото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1599041" y="2263616"/>
            <a:ext cx="8993918" cy="2330768"/>
          </a:xfrm>
        </p:spPr>
        <p:txBody>
          <a:bodyPr>
            <a:normAutofit fontScale="90000"/>
          </a:bodyPr>
          <a:lstStyle/>
          <a:p>
            <a:pPr algn="ctr"/>
            <a:r>
              <a:rPr lang="en-US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Bonjour </a:t>
            </a:r>
            <a:r>
              <a:rPr lang="en-US" sz="3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mes</a:t>
            </a:r>
            <a:r>
              <a:rPr lang="en-US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amis</a:t>
            </a:r>
            <a:r>
              <a:rPr lang="en-US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!</a:t>
            </a:r>
            <a:br>
              <a:rPr lang="en-US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Asseyez-vous</a:t>
            </a:r>
            <a:r>
              <a:rPr lang="en-US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3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s’il</a:t>
            </a:r>
            <a:r>
              <a:rPr lang="en-US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vous</a:t>
            </a:r>
            <a:r>
              <a:rPr lang="en-US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plait. Je </a:t>
            </a:r>
            <a:r>
              <a:rPr lang="en-US" sz="3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suis</a:t>
            </a:r>
            <a:r>
              <a:rPr lang="en-US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ravi</a:t>
            </a:r>
            <a:r>
              <a:rPr lang="en-US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en-US" sz="3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vous</a:t>
            </a:r>
            <a:r>
              <a:rPr lang="en-US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voir</a:t>
            </a:r>
            <a:r>
              <a:rPr lang="en-US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!</a:t>
            </a:r>
            <a:br>
              <a:rPr lang="kk-KZ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Quelle</a:t>
            </a:r>
            <a:r>
              <a:rPr lang="en-US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date </a:t>
            </a:r>
            <a:r>
              <a:rPr lang="en-US" sz="3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somme</a:t>
            </a:r>
            <a:r>
              <a:rPr lang="en-US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-nous </a:t>
            </a:r>
            <a:r>
              <a:rPr lang="en-US" sz="3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aujourd’hui</a:t>
            </a:r>
            <a:r>
              <a:rPr lang="en-US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br>
              <a:rPr lang="en-US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Quel</a:t>
            </a:r>
            <a:r>
              <a:rPr lang="en-US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jour de la </a:t>
            </a:r>
            <a:r>
              <a:rPr lang="en-US" sz="3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semain</a:t>
            </a:r>
            <a:r>
              <a:rPr lang="en-US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est-ce</a:t>
            </a:r>
            <a:r>
              <a:rPr lang="en-US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br>
              <a:rPr lang="en-US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Bien, </a:t>
            </a:r>
            <a:r>
              <a:rPr lang="en-US" sz="3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commencons</a:t>
            </a:r>
            <a:r>
              <a:rPr lang="en-US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la </a:t>
            </a:r>
            <a:r>
              <a:rPr lang="en-US" sz="3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lecon</a:t>
            </a:r>
            <a:r>
              <a:rPr lang="en-US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20467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FLE en ESO: Les repas de la journee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0345" y="961083"/>
            <a:ext cx="3364740" cy="21660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Le repas français - Пройти онлайн тест | Online Test Pad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12571" y="1190576"/>
            <a:ext cx="3414128" cy="17070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Le français par correspondance: Эта ваша &quot;заливная рыба&quot; или Repas en France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3273" y="3712845"/>
            <a:ext cx="2513790" cy="25137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Les repas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83352" y="3712845"/>
            <a:ext cx="2747287" cy="18475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Picture 14" descr="3 astuces pour économiser sur les repas de Noël - Biba Magazine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67063" y="1470100"/>
            <a:ext cx="2389933" cy="1792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0" name="Picture 16" descr="LES ALIMENTS, LES REPAS, LE RESTAURANT – Ma Jolie Prof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69199" y="4655010"/>
            <a:ext cx="2857500" cy="1571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034906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731889" y="2476500"/>
            <a:ext cx="10970342" cy="1808675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 </a:t>
            </a:r>
            <a:r>
              <a:rPr lang="en-US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repas</a:t>
            </a:r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une</a:t>
            </a:r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alimentation </a:t>
            </a:r>
            <a:b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br>
              <a:rPr lang="ru-RU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meal</a:t>
            </a:r>
            <a:r>
              <a:rPr lang="ru-RU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diet</a:t>
            </a:r>
          </a:p>
        </p:txBody>
      </p:sp>
    </p:spTree>
    <p:extLst>
      <p:ext uri="{BB962C8B-B14F-4D97-AF65-F5344CB8AC3E}">
        <p14:creationId xmlns:p14="http://schemas.microsoft.com/office/powerpoint/2010/main" val="42698707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 descr="Фон для презентации powerpoint (65 фото)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0"/>
            <a:ext cx="12192001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181100" y="2343151"/>
            <a:ext cx="10515600" cy="2928938"/>
          </a:xfrm>
        </p:spPr>
        <p:txBody>
          <a:bodyPr>
            <a:noAutofit/>
          </a:bodyPr>
          <a:lstStyle/>
          <a:p>
            <a:r>
              <a:rPr lang="en-US" sz="3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purpose of the lesson:</a:t>
            </a:r>
            <a:br>
              <a:rPr lang="kk-KZ" sz="3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3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learn new words related to food and be able to use them. To learn new verbs related to cooking.</a:t>
            </a:r>
            <a:br>
              <a:rPr lang="kk-KZ" sz="3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kk-KZ" sz="3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sz="3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Apprendre à connaître de nouveaux mots</a:t>
            </a:r>
            <a:r>
              <a:rPr lang="en-US" sz="3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relatives </a:t>
            </a:r>
            <a:r>
              <a:rPr lang="en-US" sz="32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une</a:t>
            </a:r>
            <a:r>
              <a:rPr lang="en-US" sz="3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alimentation</a:t>
            </a:r>
            <a:r>
              <a:rPr lang="fr-FR" sz="3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Apprenez de nouveaux verbes relatives de la cuisine.</a:t>
            </a:r>
            <a:br>
              <a:rPr lang="kk-KZ" sz="4800" dirty="0"/>
            </a:br>
            <a:endParaRPr lang="en-US" sz="4800" dirty="0"/>
          </a:p>
        </p:txBody>
      </p:sp>
    </p:spTree>
    <p:extLst>
      <p:ext uri="{BB962C8B-B14F-4D97-AF65-F5344CB8AC3E}">
        <p14:creationId xmlns:p14="http://schemas.microsoft.com/office/powerpoint/2010/main" val="19046469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Фон для презентации powerpoint (65 фото)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0"/>
            <a:ext cx="12192001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199" y="2730137"/>
            <a:ext cx="10515600" cy="2856747"/>
          </a:xfrm>
        </p:spPr>
        <p:txBody>
          <a:bodyPr>
            <a:normAutofit fontScale="90000"/>
          </a:bodyPr>
          <a:lstStyle/>
          <a:p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Lesson plan:</a:t>
            </a:r>
            <a:br>
              <a:rPr lang="kk-KZ" i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kk-KZ" i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Homework check </a:t>
            </a:r>
            <a:b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New words </a:t>
            </a:r>
            <a:b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New verbs and their classification </a:t>
            </a:r>
            <a:b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Practical tasks </a:t>
            </a:r>
            <a:b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Feedback </a:t>
            </a:r>
            <a:b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Homework</a:t>
            </a:r>
            <a:br>
              <a:rPr lang="kk-KZ" i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041065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2" descr="5 idées de petits-déjeuners pour commencer la journée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2052" name="Picture 4" descr="Le repas le plus important de la journée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8964" y="590999"/>
            <a:ext cx="3707478" cy="25653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Прямоугольник 4"/>
          <p:cNvSpPr/>
          <p:nvPr/>
        </p:nvSpPr>
        <p:spPr>
          <a:xfrm>
            <a:off x="5132441" y="1504335"/>
            <a:ext cx="2384488" cy="40011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en-US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 petit-</a:t>
            </a:r>
            <a:r>
              <a:rPr lang="en-US" sz="20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déjeuner</a:t>
            </a:r>
            <a:endParaRPr lang="en-US" sz="20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Прямоугольник 5"/>
          <p:cNvSpPr/>
          <p:nvPr/>
        </p:nvSpPr>
        <p:spPr>
          <a:xfrm>
            <a:off x="9028924" y="3159384"/>
            <a:ext cx="2238844" cy="36933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en-US" b="1" i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le </a:t>
            </a:r>
            <a:r>
              <a:rPr lang="en-US" b="1" i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déjeuner</a:t>
            </a:r>
            <a:endParaRPr lang="en-US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54" name="Picture 6" descr="LE DÉJEUNER ET LE DÎNER : MANGER… COMME UN PRINCE LE MIDI ET LÉGER LE SOIR  ! - Uberti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32441" y="2104213"/>
            <a:ext cx="3585393" cy="20185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Прямоугольник 6"/>
          <p:cNvSpPr/>
          <p:nvPr/>
        </p:nvSpPr>
        <p:spPr>
          <a:xfrm>
            <a:off x="5854043" y="5430534"/>
            <a:ext cx="909223" cy="36933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none">
            <a:spAutoFit/>
          </a:bodyPr>
          <a:lstStyle/>
          <a:p>
            <a:pPr algn="ctr"/>
            <a:r>
              <a:rPr lang="en-US" b="1" i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le diner</a:t>
            </a:r>
            <a:endParaRPr lang="en-US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56" name="Picture 8" descr="Ужин по-французски: 5 простых и вкусных блюд для романтического вечера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5823" y="4353341"/>
            <a:ext cx="3856618" cy="21543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242774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Таблица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71545564"/>
              </p:ext>
            </p:extLst>
          </p:nvPr>
        </p:nvGraphicFramePr>
        <p:xfrm>
          <a:off x="561702" y="627020"/>
          <a:ext cx="5264330" cy="3237210"/>
        </p:xfrm>
        <a:graphic>
          <a:graphicData uri="http://schemas.openxmlformats.org/drawingml/2006/table">
            <a:tbl>
              <a:tblPr firstRow="1" firstCol="1" lastRow="1" lastCol="1" bandRow="1" bandCol="1">
                <a:tableStyleId>{5C22544A-7EE6-4342-B048-85BDC9FD1C3A}</a:tableStyleId>
              </a:tblPr>
              <a:tblGrid>
                <a:gridCol w="2603408">
                  <a:extLst>
                    <a:ext uri="{9D8B030D-6E8A-4147-A177-3AD203B41FA5}">
                      <a16:colId xmlns:a16="http://schemas.microsoft.com/office/drawing/2014/main" val="3176609345"/>
                    </a:ext>
                  </a:extLst>
                </a:gridCol>
                <a:gridCol w="2660922">
                  <a:extLst>
                    <a:ext uri="{9D8B030D-6E8A-4147-A177-3AD203B41FA5}">
                      <a16:colId xmlns:a16="http://schemas.microsoft.com/office/drawing/2014/main" val="2623605680"/>
                    </a:ext>
                  </a:extLst>
                </a:gridCol>
              </a:tblGrid>
              <a:tr h="35969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kk-KZ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 pain</a:t>
                      </a:r>
                      <a:endParaRPr lang="en-US" sz="2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Bread</a:t>
                      </a:r>
                      <a:endParaRPr lang="en-US" sz="2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3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5865745"/>
                  </a:ext>
                </a:extLst>
              </a:tr>
              <a:tr h="35969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kk-KZ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 sel</a:t>
                      </a:r>
                      <a:endParaRPr lang="en-US" sz="2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Salt</a:t>
                      </a:r>
                      <a:endParaRPr lang="en-US" sz="2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3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0123496"/>
                  </a:ext>
                </a:extLst>
              </a:tr>
              <a:tr h="35969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kk-KZ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 sucre</a:t>
                      </a:r>
                      <a:endParaRPr lang="en-US" sz="2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Sugar</a:t>
                      </a:r>
                      <a:r>
                        <a:rPr lang="kk-KZ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endParaRPr lang="en-US" sz="2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3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05445432"/>
                  </a:ext>
                </a:extLst>
              </a:tr>
              <a:tr h="35969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kk-KZ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 beurre</a:t>
                      </a:r>
                      <a:endParaRPr lang="en-US" sz="2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Butter</a:t>
                      </a:r>
                      <a:endParaRPr lang="en-US" sz="2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3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3813952"/>
                  </a:ext>
                </a:extLst>
              </a:tr>
              <a:tr h="35969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kk-KZ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 fromage</a:t>
                      </a:r>
                      <a:endParaRPr lang="en-US" sz="2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Cheese</a:t>
                      </a:r>
                      <a:endParaRPr lang="en-US" sz="2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3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8339509"/>
                  </a:ext>
                </a:extLst>
              </a:tr>
              <a:tr h="35969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kk-KZ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la viande</a:t>
                      </a:r>
                      <a:endParaRPr lang="en-US" sz="2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Meat</a:t>
                      </a:r>
                      <a:endParaRPr lang="en-US" sz="2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3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543672"/>
                  </a:ext>
                </a:extLst>
              </a:tr>
              <a:tr h="35969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 </a:t>
                      </a:r>
                      <a:r>
                        <a:rPr lang="en-US" sz="18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saucisson</a:t>
                      </a:r>
                      <a:endParaRPr lang="en-US" sz="2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Sausage</a:t>
                      </a:r>
                      <a:endParaRPr lang="en-US" sz="2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3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0622549"/>
                  </a:ext>
                </a:extLst>
              </a:tr>
              <a:tr h="35969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 poisson</a:t>
                      </a:r>
                      <a:endParaRPr lang="en-US" sz="2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Fish</a:t>
                      </a:r>
                      <a:endParaRPr lang="en-US" sz="2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3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801609"/>
                  </a:ext>
                </a:extLst>
              </a:tr>
              <a:tr h="35969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la farine</a:t>
                      </a:r>
                      <a:endParaRPr lang="en-US" sz="2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Flour</a:t>
                      </a:r>
                      <a:endParaRPr lang="en-US" sz="2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3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4300477"/>
                  </a:ext>
                </a:extLst>
              </a:tr>
            </a:tbl>
          </a:graphicData>
        </a:graphic>
      </p:graphicFrame>
      <p:graphicFrame>
        <p:nvGraphicFramePr>
          <p:cNvPr id="7" name="Таблица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84301063"/>
              </p:ext>
            </p:extLst>
          </p:nvPr>
        </p:nvGraphicFramePr>
        <p:xfrm>
          <a:off x="6734176" y="2099806"/>
          <a:ext cx="4051300" cy="1824612"/>
        </p:xfrm>
        <a:graphic>
          <a:graphicData uri="http://schemas.openxmlformats.org/drawingml/2006/table">
            <a:tbl>
              <a:tblPr firstRow="1" firstCol="1" lastRow="1" lastCol="1" bandRow="1" bandCol="1">
                <a:tableStyleId>{00A15C55-8517-42AA-B614-E9B94910E393}</a:tableStyleId>
              </a:tblPr>
              <a:tblGrid>
                <a:gridCol w="2025650">
                  <a:extLst>
                    <a:ext uri="{9D8B030D-6E8A-4147-A177-3AD203B41FA5}">
                      <a16:colId xmlns:a16="http://schemas.microsoft.com/office/drawing/2014/main" val="3787140689"/>
                    </a:ext>
                  </a:extLst>
                </a:gridCol>
                <a:gridCol w="2025650">
                  <a:extLst>
                    <a:ext uri="{9D8B030D-6E8A-4147-A177-3AD203B41FA5}">
                      <a16:colId xmlns:a16="http://schemas.microsoft.com/office/drawing/2014/main" val="2197312840"/>
                    </a:ext>
                  </a:extLst>
                </a:gridCol>
              </a:tblGrid>
              <a:tr h="298584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 bonbon</a:t>
                      </a:r>
                      <a:endParaRPr lang="en-US" sz="2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Candy</a:t>
                      </a:r>
                      <a:endParaRPr lang="en-US" sz="2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62479497"/>
                  </a:ext>
                </a:extLst>
              </a:tr>
              <a:tr h="298584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des </a:t>
                      </a:r>
                      <a:r>
                        <a:rPr lang="en-US" sz="20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bisquits</a:t>
                      </a:r>
                      <a:endParaRPr lang="en-US" sz="2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Cookies</a:t>
                      </a:r>
                      <a:endParaRPr lang="en-US" sz="2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408464350"/>
                  </a:ext>
                </a:extLst>
              </a:tr>
              <a:tr h="298584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la confiture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Jam</a:t>
                      </a:r>
                      <a:endParaRPr lang="en-US" sz="2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137131717"/>
                  </a:ext>
                </a:extLst>
              </a:tr>
              <a:tr h="298584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 miel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Honey</a:t>
                      </a:r>
                      <a:endParaRPr lang="en-US" sz="2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076762741"/>
                  </a:ext>
                </a:extLst>
              </a:tr>
              <a:tr h="298584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 </a:t>
                      </a:r>
                      <a:r>
                        <a:rPr lang="en-US" sz="20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gâteau</a:t>
                      </a:r>
                      <a:endParaRPr lang="en-US" sz="2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Cake</a:t>
                      </a:r>
                      <a:endParaRPr lang="en-US" sz="2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097439147"/>
                  </a:ext>
                </a:extLst>
              </a:tr>
              <a:tr h="298584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 petit -pain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Sweet Bread</a:t>
                      </a:r>
                      <a:endParaRPr lang="en-US" sz="2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89506657"/>
                  </a:ext>
                </a:extLst>
              </a:tr>
            </a:tbl>
          </a:graphicData>
        </a:graphic>
      </p:graphicFrame>
      <p:graphicFrame>
        <p:nvGraphicFramePr>
          <p:cNvPr id="2" name="Таблица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14021510"/>
              </p:ext>
            </p:extLst>
          </p:nvPr>
        </p:nvGraphicFramePr>
        <p:xfrm>
          <a:off x="1015774" y="4382758"/>
          <a:ext cx="5264330" cy="1798450"/>
        </p:xfrm>
        <a:graphic>
          <a:graphicData uri="http://schemas.openxmlformats.org/drawingml/2006/table">
            <a:tbl>
              <a:tblPr firstRow="1" firstCol="1" lastRow="1" lastCol="1" bandRow="1" bandCol="1">
                <a:tableStyleId>{5C22544A-7EE6-4342-B048-85BDC9FD1C3A}</a:tableStyleId>
              </a:tblPr>
              <a:tblGrid>
                <a:gridCol w="2603408">
                  <a:extLst>
                    <a:ext uri="{9D8B030D-6E8A-4147-A177-3AD203B41FA5}">
                      <a16:colId xmlns:a16="http://schemas.microsoft.com/office/drawing/2014/main" val="1134442661"/>
                    </a:ext>
                  </a:extLst>
                </a:gridCol>
                <a:gridCol w="2660922">
                  <a:extLst>
                    <a:ext uri="{9D8B030D-6E8A-4147-A177-3AD203B41FA5}">
                      <a16:colId xmlns:a16="http://schemas.microsoft.com/office/drawing/2014/main" val="4114737775"/>
                    </a:ext>
                  </a:extLst>
                </a:gridCol>
              </a:tblGrid>
              <a:tr h="35969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le </a:t>
                      </a:r>
                      <a:r>
                        <a:rPr lang="en-US" sz="1800" dirty="0" err="1">
                          <a:effectLst/>
                        </a:rPr>
                        <a:t>thé</a:t>
                      </a:r>
                      <a:endParaRPr lang="en-US" sz="2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Tea</a:t>
                      </a:r>
                      <a:endParaRPr lang="en-US" sz="2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547781121"/>
                  </a:ext>
                </a:extLst>
              </a:tr>
              <a:tr h="35969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le café</a:t>
                      </a:r>
                      <a:endParaRPr lang="en-US" sz="2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Cafe</a:t>
                      </a:r>
                      <a:endParaRPr lang="en-US" sz="2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531255471"/>
                  </a:ext>
                </a:extLst>
              </a:tr>
              <a:tr h="35969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le lait </a:t>
                      </a:r>
                      <a:endParaRPr lang="en-US" sz="2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Milk</a:t>
                      </a:r>
                      <a:endParaRPr lang="en-US" sz="2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961102880"/>
                  </a:ext>
                </a:extLst>
              </a:tr>
              <a:tr h="35969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le jus</a:t>
                      </a:r>
                      <a:endParaRPr lang="en-US" sz="2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Juice</a:t>
                      </a:r>
                      <a:endParaRPr lang="en-US" sz="2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681963086"/>
                  </a:ext>
                </a:extLst>
              </a:tr>
              <a:tr h="35969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la limonade</a:t>
                      </a:r>
                      <a:endParaRPr lang="en-US" sz="2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Lemonade</a:t>
                      </a:r>
                      <a:endParaRPr lang="en-US" sz="2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87665564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968357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Таблица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43806452"/>
              </p:ext>
            </p:extLst>
          </p:nvPr>
        </p:nvGraphicFramePr>
        <p:xfrm>
          <a:off x="2933700" y="163830"/>
          <a:ext cx="6381750" cy="6082040"/>
        </p:xfrm>
        <a:graphic>
          <a:graphicData uri="http://schemas.openxmlformats.org/drawingml/2006/table">
            <a:tbl>
              <a:tblPr firstRow="1" firstCol="1" lastRow="1" lastCol="1" bandRow="1" bandCol="1">
                <a:tableStyleId>{D113A9D2-9D6B-4929-AA2D-F23B5EE8CBE7}</a:tableStyleId>
              </a:tblPr>
              <a:tblGrid>
                <a:gridCol w="3190875">
                  <a:extLst>
                    <a:ext uri="{9D8B030D-6E8A-4147-A177-3AD203B41FA5}">
                      <a16:colId xmlns:a16="http://schemas.microsoft.com/office/drawing/2014/main" val="2543792647"/>
                    </a:ext>
                  </a:extLst>
                </a:gridCol>
                <a:gridCol w="3190875">
                  <a:extLst>
                    <a:ext uri="{9D8B030D-6E8A-4147-A177-3AD203B41FA5}">
                      <a16:colId xmlns:a16="http://schemas.microsoft.com/office/drawing/2014/main" val="301194411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des légumes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vegetables</a:t>
                      </a:r>
                      <a:endParaRPr lang="en-US" sz="2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40225245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 </a:t>
                      </a:r>
                      <a:r>
                        <a:rPr lang="en-US" sz="20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chou</a:t>
                      </a:r>
                      <a:endParaRPr lang="en-US" sz="2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cabbage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69430252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la tomate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tomato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98632612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les </a:t>
                      </a:r>
                      <a:r>
                        <a:rPr lang="en-US" sz="20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concombres</a:t>
                      </a:r>
                      <a:endParaRPr lang="en-US" sz="2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cucumbers</a:t>
                      </a:r>
                      <a:endParaRPr lang="en-US" sz="2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00005834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les carottes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carrots</a:t>
                      </a:r>
                      <a:endParaRPr lang="en-US" sz="2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73447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l'oignon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onion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9302091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la bettrave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beetroot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2062772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la pasteque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watermelon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2420456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 melon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melon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7943564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les pommes de terre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potatoes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24080186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des fruits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fruits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75267233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les pommes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apples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7797825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les poires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pears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0591162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les raisins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grapes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1230486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les prunes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plums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63778119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les abricots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apricots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2451738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la pêche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peach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00652349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la fraise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strawberry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33060803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la framboise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raspberry</a:t>
                      </a:r>
                      <a:endParaRPr lang="en-US" sz="2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51935193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la cerise</a:t>
                      </a:r>
                      <a:endParaRPr lang="en-US" sz="2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cherry</a:t>
                      </a:r>
                      <a:endParaRPr lang="en-US" sz="2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57709153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452222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68830" y="1489166"/>
            <a:ext cx="4909457" cy="3192917"/>
          </a:xfrm>
        </p:spPr>
        <p:txBody>
          <a:bodyPr>
            <a:noAutofit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</a:t>
            </a:r>
            <a:r>
              <a:rPr lang="fr-FR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(dans la) salle à manger</a:t>
            </a:r>
            <a:br/>
            <a:br/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à la maison</a:t>
            </a:r>
            <a:br/>
            <a:br/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</a:t>
            </a:r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dans un restaurant</a:t>
            </a:r>
            <a:br/>
            <a:br/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</a:t>
            </a:r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dans le café</a:t>
            </a:r>
            <a:br/>
            <a:br/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</a:t>
            </a:r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à l'école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662058" y="823466"/>
            <a:ext cx="3971108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1. in the dining hall</a:t>
            </a:r>
          </a:p>
          <a:p>
            <a:endParaRPr lang="en-US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2. at home</a:t>
            </a:r>
          </a:p>
          <a:p>
            <a:endParaRPr lang="en-US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3. in a restaurant</a:t>
            </a:r>
          </a:p>
          <a:p>
            <a:endParaRPr lang="en-US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4. in the cafe</a:t>
            </a:r>
          </a:p>
          <a:p>
            <a:endParaRPr lang="en-US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5. at school</a:t>
            </a:r>
          </a:p>
        </p:txBody>
      </p:sp>
    </p:spTree>
    <p:extLst>
      <p:ext uri="{BB962C8B-B14F-4D97-AF65-F5344CB8AC3E}">
        <p14:creationId xmlns:p14="http://schemas.microsoft.com/office/powerpoint/2010/main" val="30585006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3383280" y="2996139"/>
            <a:ext cx="5133703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https://youtu.be/d5U4kDDBCVA</a:t>
            </a:r>
          </a:p>
        </p:txBody>
      </p:sp>
    </p:spTree>
    <p:extLst>
      <p:ext uri="{BB962C8B-B14F-4D97-AF65-F5344CB8AC3E}">
        <p14:creationId xmlns:p14="http://schemas.microsoft.com/office/powerpoint/2010/main" val="307913661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2719705" y="2421336"/>
            <a:ext cx="1542410" cy="270843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Manger</a:t>
            </a:r>
          </a:p>
          <a:p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Boire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А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voir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faim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А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voir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soif</a:t>
            </a:r>
            <a:endParaRPr lang="en-US" sz="24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US" sz="32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5805715" y="2421336"/>
            <a:ext cx="1532599" cy="206819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eat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To drink</a:t>
            </a:r>
          </a:p>
          <a:p>
            <a:pPr>
              <a:lnSpc>
                <a:spcPct val="107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be hungry</a:t>
            </a:r>
          </a:p>
          <a:p>
            <a:pPr>
              <a:lnSpc>
                <a:spcPct val="107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be thirsty</a:t>
            </a:r>
            <a:endParaRPr lang="en-US" sz="24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252651" y="1502229"/>
            <a:ext cx="37490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verbs - verbs</a:t>
            </a:r>
          </a:p>
        </p:txBody>
      </p:sp>
    </p:spTree>
    <p:extLst>
      <p:ext uri="{BB962C8B-B14F-4D97-AF65-F5344CB8AC3E}">
        <p14:creationId xmlns:p14="http://schemas.microsoft.com/office/powerpoint/2010/main" val="257513434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2860766" y="352245"/>
            <a:ext cx="6622868" cy="661283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fr-FR" sz="20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   Retenez  la conjugaison des verbes : 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endParaRPr lang="en-US" sz="28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en-US" sz="20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manger                                     </a:t>
            </a:r>
            <a:r>
              <a:rPr lang="en-US" sz="2000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boire</a:t>
            </a:r>
            <a:r>
              <a:rPr lang="en-US" sz="20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au  </a:t>
            </a:r>
            <a:r>
              <a:rPr lang="en-US" sz="2000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Présent</a:t>
            </a:r>
            <a:endParaRPr lang="en-US" sz="28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en-US" sz="20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US" sz="28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Je  mang</a:t>
            </a:r>
            <a:r>
              <a:rPr lang="en-US" sz="20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                        je  boi</a:t>
            </a:r>
            <a:r>
              <a:rPr lang="en-US" sz="20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</a:t>
            </a:r>
            <a:endParaRPr lang="en-US" sz="28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Tu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mang</a:t>
            </a:r>
            <a:r>
              <a:rPr lang="en-US" sz="2000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es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                     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tu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boi</a:t>
            </a:r>
            <a:r>
              <a:rPr lang="en-US" sz="20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</a:t>
            </a:r>
            <a:endParaRPr lang="en-US" sz="28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Il,elle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mang</a:t>
            </a:r>
            <a:r>
              <a:rPr lang="en-US" sz="20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                  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il,elle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boi</a:t>
            </a:r>
            <a:r>
              <a:rPr lang="en-US" sz="2000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</a:t>
            </a:r>
            <a:endParaRPr lang="en-US" sz="28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Nous 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mange</a:t>
            </a:r>
            <a:r>
              <a:rPr lang="en-US" sz="2000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ons</a:t>
            </a:r>
            <a:r>
              <a:rPr lang="en-US" sz="20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             nous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buv</a:t>
            </a:r>
            <a:r>
              <a:rPr lang="en-US" sz="2000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ons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t>
            </a:r>
            <a:endParaRPr lang="en-US" sz="28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Vous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mang</a:t>
            </a:r>
            <a:r>
              <a:rPr lang="en-US" sz="2000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ez</a:t>
            </a:r>
            <a:r>
              <a:rPr lang="en-US" sz="20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                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vous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buv</a:t>
            </a:r>
            <a:r>
              <a:rPr lang="en-US" sz="2000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ez</a:t>
            </a:r>
            <a:endParaRPr lang="en-US" sz="28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Ils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elles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mang</a:t>
            </a:r>
            <a:r>
              <a:rPr lang="en-US" sz="2000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ent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          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ils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elles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boiv</a:t>
            </a:r>
            <a:r>
              <a:rPr lang="en-US" sz="2000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ent</a:t>
            </a:r>
            <a:endParaRPr lang="en-US" sz="28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US" sz="28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en-US" sz="2000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avoir</a:t>
            </a:r>
            <a:r>
              <a:rPr lang="en-US" sz="20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r>
              <a:rPr lang="en-US" sz="2000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faim</a:t>
            </a:r>
            <a:r>
              <a:rPr lang="en-US" sz="20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                             </a:t>
            </a:r>
            <a:r>
              <a:rPr lang="en-US" sz="2000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avoir</a:t>
            </a:r>
            <a:r>
              <a:rPr lang="en-US" sz="20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soif</a:t>
            </a:r>
            <a:r>
              <a:rPr lang="en-US" sz="20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au </a:t>
            </a:r>
            <a:r>
              <a:rPr lang="en-US" sz="2000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Présent</a:t>
            </a:r>
            <a:endParaRPr lang="en-US" sz="28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fr-FR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J’ai  faim                                                   J’ai soif</a:t>
            </a:r>
            <a:endParaRPr lang="en-US" sz="28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fr-FR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tu as   faim                                                 tu as soif</a:t>
            </a:r>
            <a:endParaRPr lang="en-US" sz="28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fr-FR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il, elle a faim                                              il, elle a soif</a:t>
            </a:r>
            <a:endParaRPr lang="en-US" sz="28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fr-FR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nous avons     faim                                    nous  avons soif</a:t>
            </a:r>
            <a:endParaRPr lang="en-US" sz="28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fr-FR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vous avez   faim                                        vous avez soif</a:t>
            </a:r>
            <a:endParaRPr lang="en-US" sz="28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fr-FR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ils, elles ont faim                                       ils, elles ont soif</a:t>
            </a:r>
            <a:endParaRPr lang="en-US" sz="28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FR" sz="2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US" sz="28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73528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3561378" y="2356060"/>
            <a:ext cx="4155305" cy="230832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j'aime</a:t>
            </a:r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la banana</a:t>
            </a:r>
          </a:p>
          <a:p>
            <a:endParaRPr lang="ru-RU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4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J’aime</a:t>
            </a:r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………</a:t>
            </a:r>
          </a:p>
        </p:txBody>
      </p:sp>
      <p:sp>
        <p:nvSpPr>
          <p:cNvPr id="3" name="Прямоугольник 2"/>
          <p:cNvSpPr/>
          <p:nvPr/>
        </p:nvSpPr>
        <p:spPr>
          <a:xfrm>
            <a:off x="5058518" y="1128151"/>
            <a:ext cx="116102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Exercise 1 </a:t>
            </a:r>
          </a:p>
        </p:txBody>
      </p:sp>
    </p:spTree>
    <p:extLst>
      <p:ext uri="{BB962C8B-B14F-4D97-AF65-F5344CB8AC3E}">
        <p14:creationId xmlns:p14="http://schemas.microsoft.com/office/powerpoint/2010/main" val="179341311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>
            <a:off x="1781448" y="1160248"/>
            <a:ext cx="1686680" cy="40011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/>
            </a:solidFill>
          </a:ln>
        </p:spPr>
        <p:txBody>
          <a:bodyPr wrap="none">
            <a:spAutoFit/>
          </a:bodyPr>
          <a:lstStyle/>
          <a:p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Bonjours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Olga</a:t>
            </a:r>
          </a:p>
        </p:txBody>
      </p:sp>
      <p:sp>
        <p:nvSpPr>
          <p:cNvPr id="4" name="Прямоугольник 3"/>
          <p:cNvSpPr/>
          <p:nvPr/>
        </p:nvSpPr>
        <p:spPr>
          <a:xfrm>
            <a:off x="3137842" y="2782132"/>
            <a:ext cx="2725939" cy="39940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/>
            </a:solidFill>
          </a:ln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Bonjours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Aigoul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André!</a:t>
            </a:r>
            <a:endParaRPr lang="en-US" sz="28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6686961" y="3178142"/>
            <a:ext cx="4201791" cy="40011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/>
            </a:solidFill>
          </a:ln>
        </p:spPr>
        <p:txBody>
          <a:bodyPr wrap="none">
            <a:spAutoFit/>
          </a:bodyPr>
          <a:lstStyle/>
          <a:p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Allons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ensemble,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déjeuner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à la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cantine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Прямоугольник 5"/>
          <p:cNvSpPr/>
          <p:nvPr/>
        </p:nvSpPr>
        <p:spPr>
          <a:xfrm>
            <a:off x="8609506" y="5614919"/>
            <a:ext cx="952505" cy="40011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/>
            </a:solidFill>
          </a:ln>
        </p:spPr>
        <p:txBody>
          <a:bodyPr wrap="none">
            <a:spAutoFit/>
          </a:bodyPr>
          <a:lstStyle/>
          <a:p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Allons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!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Прямоугольник 6"/>
          <p:cNvSpPr/>
          <p:nvPr/>
        </p:nvSpPr>
        <p:spPr>
          <a:xfrm>
            <a:off x="4803977" y="1064397"/>
            <a:ext cx="4758034" cy="40011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/>
            </a:solidFill>
          </a:ln>
        </p:spPr>
        <p:txBody>
          <a:bodyPr wrap="none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Qu-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est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-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ce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que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vous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voulez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manger et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boire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? 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Прямоугольник 7"/>
          <p:cNvSpPr/>
          <p:nvPr/>
        </p:nvSpPr>
        <p:spPr>
          <a:xfrm>
            <a:off x="1781448" y="5461031"/>
            <a:ext cx="6096000" cy="707886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/>
            </a:solidFill>
          </a:ln>
        </p:spPr>
        <p:txBody>
          <a:bodyPr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Je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veux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manger de la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viande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avec des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légumes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et je bois du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thé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avec le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sucre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Прямоугольник 8"/>
          <p:cNvSpPr/>
          <p:nvPr/>
        </p:nvSpPr>
        <p:spPr>
          <a:xfrm>
            <a:off x="5098413" y="4126422"/>
            <a:ext cx="6096000" cy="101566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/>
            </a:solidFill>
          </a:ln>
        </p:spPr>
        <p:txBody>
          <a:bodyPr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Je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veux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manger du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poisson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avec des pommes de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terre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et je bois du café avec du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lait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Et,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toi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Olga,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qu’est-ce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que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tu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veux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manger?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Прямоугольник 9"/>
          <p:cNvSpPr/>
          <p:nvPr/>
        </p:nvSpPr>
        <p:spPr>
          <a:xfrm>
            <a:off x="1587207" y="3564471"/>
            <a:ext cx="4743606" cy="40011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/>
            </a:solidFill>
          </a:ln>
        </p:spPr>
        <p:txBody>
          <a:bodyPr wrap="none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Je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veux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manger de la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soupe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et je bois du jus.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Прямоугольник 11"/>
          <p:cNvSpPr/>
          <p:nvPr/>
        </p:nvSpPr>
        <p:spPr>
          <a:xfrm>
            <a:off x="2360296" y="1939943"/>
            <a:ext cx="8653331" cy="40011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/>
            </a:solidFill>
          </a:ln>
        </p:spPr>
        <p:txBody>
          <a:bodyPr wrap="none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André 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où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se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déjeunent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tes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parents?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parents  se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déjeunent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surtout à la 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maison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59010" y="509451"/>
            <a:ext cx="3240299" cy="40011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rgbClr val="FF0000"/>
                </a:solidFill>
              </a:rPr>
              <a:t>Exercise 2 </a:t>
            </a:r>
          </a:p>
        </p:txBody>
      </p:sp>
    </p:spTree>
    <p:extLst>
      <p:ext uri="{BB962C8B-B14F-4D97-AF65-F5344CB8AC3E}">
        <p14:creationId xmlns:p14="http://schemas.microsoft.com/office/powerpoint/2010/main" val="182629546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1460333" y="1178360"/>
            <a:ext cx="9026432" cy="25292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07000"/>
              </a:lnSpc>
              <a:spcAft>
                <a:spcPts val="0"/>
              </a:spcAft>
            </a:pPr>
            <a:r>
              <a:rPr lang="en-US" sz="2000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Texte</a:t>
            </a:r>
            <a:endParaRPr lang="en-US" sz="28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0"/>
              </a:spcAft>
            </a:pP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Le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matin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Pif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a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faim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et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il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a _____. Il mange et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il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boit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_______</a:t>
            </a:r>
            <a:r>
              <a:rPr lang="kk-KZ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il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mange du pain avec du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beurre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et ________. Il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boit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du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lait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ou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bien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du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thé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avec _____.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C’est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son petit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déjeuner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r>
              <a:rPr lang="en-US" sz="2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Après son ________,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il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va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à son travail. Il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rentre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à la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maison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à 2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heures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et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demie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_______. Il mange ______, de la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viande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avec des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légumes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et _______. Il ne mange ______ de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poisson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C’est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son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déjeuner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en-US" sz="28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0"/>
              </a:spcAft>
            </a:pP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Le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soir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il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mange des fruits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où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quelquefois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_______.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C’est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son diner.</a:t>
            </a:r>
            <a:endParaRPr lang="en-US" sz="28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3887814" y="4746563"/>
            <a:ext cx="530915" cy="36933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txBody>
          <a:bodyPr wrap="none">
            <a:spAutoFit/>
          </a:bodyPr>
          <a:lstStyle/>
          <a:p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soif</a:t>
            </a:r>
            <a:endParaRPr lang="en-US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6141075" y="4746563"/>
            <a:ext cx="1223412" cy="36933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txBody>
          <a:bodyPr wrap="none">
            <a:spAutoFit/>
          </a:bodyPr>
          <a:lstStyle/>
          <a:p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D’habitude</a:t>
            </a:r>
            <a:endParaRPr lang="en-US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8221514" y="4746563"/>
            <a:ext cx="1242648" cy="36933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txBody>
          <a:bodyPr wrap="non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du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fromage</a:t>
            </a:r>
            <a:endParaRPr lang="en-US" dirty="0"/>
          </a:p>
        </p:txBody>
      </p:sp>
      <p:sp>
        <p:nvSpPr>
          <p:cNvPr id="6" name="Прямоугольник 5"/>
          <p:cNvSpPr/>
          <p:nvPr/>
        </p:nvSpPr>
        <p:spPr>
          <a:xfrm>
            <a:off x="6554659" y="5446203"/>
            <a:ext cx="960519" cy="36933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txBody>
          <a:bodyPr wrap="non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du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sucre</a:t>
            </a:r>
            <a:endParaRPr lang="en-US" dirty="0"/>
          </a:p>
        </p:txBody>
      </p:sp>
      <p:sp>
        <p:nvSpPr>
          <p:cNvPr id="7" name="Прямоугольник 6"/>
          <p:cNvSpPr/>
          <p:nvPr/>
        </p:nvSpPr>
        <p:spPr>
          <a:xfrm>
            <a:off x="2166992" y="5431101"/>
            <a:ext cx="1447832" cy="36933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txBody>
          <a:bodyPr wrap="non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petit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déjeuner</a:t>
            </a:r>
            <a:endParaRPr lang="en-US" dirty="0"/>
          </a:p>
        </p:txBody>
      </p:sp>
      <p:sp>
        <p:nvSpPr>
          <p:cNvPr id="8" name="Прямоугольник 7"/>
          <p:cNvSpPr/>
          <p:nvPr/>
        </p:nvSpPr>
        <p:spPr>
          <a:xfrm>
            <a:off x="8369333" y="5718839"/>
            <a:ext cx="1588897" cy="36933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txBody>
          <a:bodyPr wrap="non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de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l’après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-midi</a:t>
            </a:r>
            <a:endParaRPr lang="en-US" dirty="0"/>
          </a:p>
        </p:txBody>
      </p:sp>
      <p:sp>
        <p:nvSpPr>
          <p:cNvPr id="9" name="Прямоугольник 8"/>
          <p:cNvSpPr/>
          <p:nvPr/>
        </p:nvSpPr>
        <p:spPr>
          <a:xfrm>
            <a:off x="4750137" y="5758481"/>
            <a:ext cx="1223412" cy="36933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txBody>
          <a:bodyPr wrap="non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de la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soupe</a:t>
            </a:r>
            <a:endParaRPr lang="en-US" dirty="0"/>
          </a:p>
        </p:txBody>
      </p:sp>
      <p:sp>
        <p:nvSpPr>
          <p:cNvPr id="10" name="Прямоугольник 9"/>
          <p:cNvSpPr/>
          <p:nvPr/>
        </p:nvSpPr>
        <p:spPr>
          <a:xfrm>
            <a:off x="6746179" y="4046923"/>
            <a:ext cx="2089033" cy="36933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txBody>
          <a:bodyPr wrap="non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des pommes de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terre</a:t>
            </a:r>
            <a:endParaRPr lang="en-US" dirty="0"/>
          </a:p>
        </p:txBody>
      </p:sp>
      <p:sp>
        <p:nvSpPr>
          <p:cNvPr id="11" name="Прямоугольник 10"/>
          <p:cNvSpPr/>
          <p:nvPr/>
        </p:nvSpPr>
        <p:spPr>
          <a:xfrm>
            <a:off x="5128446" y="4231589"/>
            <a:ext cx="845103" cy="36933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txBody>
          <a:bodyPr wrap="none">
            <a:spAutoFit/>
          </a:bodyPr>
          <a:lstStyle/>
          <a:p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jamais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endParaRPr lang="en-US" dirty="0"/>
          </a:p>
        </p:txBody>
      </p:sp>
      <p:sp>
        <p:nvSpPr>
          <p:cNvPr id="12" name="Прямоугольник 11"/>
          <p:cNvSpPr/>
          <p:nvPr/>
        </p:nvSpPr>
        <p:spPr>
          <a:xfrm>
            <a:off x="2743507" y="3951134"/>
            <a:ext cx="1332416" cy="36933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txBody>
          <a:bodyPr wrap="non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des bonbons</a:t>
            </a:r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3930847" y="630546"/>
            <a:ext cx="3240299" cy="4001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rgbClr val="FF0000"/>
                </a:solidFill>
              </a:rPr>
              <a:t>Exercise 3 </a:t>
            </a:r>
          </a:p>
        </p:txBody>
      </p:sp>
    </p:spTree>
    <p:extLst>
      <p:ext uri="{BB962C8B-B14F-4D97-AF65-F5344CB8AC3E}">
        <p14:creationId xmlns:p14="http://schemas.microsoft.com/office/powerpoint/2010/main" val="141978059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 descr="Фон для презентации цветы нежные - фото и картинки abrakadabra.fun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0"/>
            <a:ext cx="12192001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Скругленная прямоугольная выноска 3"/>
          <p:cNvSpPr/>
          <p:nvPr/>
        </p:nvSpPr>
        <p:spPr>
          <a:xfrm>
            <a:off x="4146959" y="1828575"/>
            <a:ext cx="3281633" cy="4136573"/>
          </a:xfrm>
          <a:prstGeom prst="wedgeRoundRectCallou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497791" y="633864"/>
            <a:ext cx="9196411" cy="930506"/>
          </a:xfr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 algn="ctr"/>
            <a:r>
              <a:rPr lang="en-US" sz="4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Feedback</a:t>
            </a:r>
            <a:endParaRPr lang="en-US" sz="4800" b="1" i="1" dirty="0">
              <a:latin typeface="Brush Script MT" panose="03060802040406070304" pitchFamily="66" charset="0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475100" y="2561250"/>
            <a:ext cx="2953492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Was the lesson clear?</a:t>
            </a:r>
          </a:p>
          <a:p>
            <a:pPr marL="342900" indent="-342900">
              <a:buAutoNum type="arabicPeriod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did you like and what didn't you like?</a:t>
            </a:r>
          </a:p>
          <a:p>
            <a:pPr marL="342900" indent="-342900">
              <a:buAutoNum type="arabicPeriod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My suggestion.</a:t>
            </a:r>
          </a:p>
        </p:txBody>
      </p:sp>
    </p:spTree>
    <p:extLst>
      <p:ext uri="{BB962C8B-B14F-4D97-AF65-F5344CB8AC3E}">
        <p14:creationId xmlns:p14="http://schemas.microsoft.com/office/powerpoint/2010/main" val="414969588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5333379" y="379013"/>
            <a:ext cx="1819537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DEVOIR</a:t>
            </a:r>
          </a:p>
        </p:txBody>
      </p:sp>
      <p:pic>
        <p:nvPicPr>
          <p:cNvPr id="3074" name="Picture 2" descr="На 425 ученических мест расширена школа в Бостандыкском районе Алматы |  informburo.kz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7987" y="624899"/>
            <a:ext cx="3248297" cy="18262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9 часов утра | Погода вики | Fandom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6325" y="2297911"/>
            <a:ext cx="3486150" cy="13144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8" name="Picture 6" descr="Идеальные классические круассаны - Лайфхакер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38931" y="622794"/>
            <a:ext cx="2602684" cy="13013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0" name="Picture 8" descr="Какие яйца выбрать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6954" y="2721667"/>
            <a:ext cx="2994966" cy="23236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2" name="Picture 10" descr="Как научиться готовить с нуля в кратчайшие сроки - Лайфхакер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83693" y="982552"/>
            <a:ext cx="3267536" cy="16337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4" name="Picture 12" descr="Стоит ли инвестировать в запуск продуктовых магазинов?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83693" y="4880813"/>
            <a:ext cx="2712193" cy="18003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6" name="Picture 14" descr="Овощи - калорийность, полезные свойства, польза и вред, описание -  Calorizator.ru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37925" y="3524485"/>
            <a:ext cx="2712656" cy="27126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8" name="Picture 16" descr="Освежающие напитки — 10 простых рецептов прохладительных напитков для  жаркого лета - Домашняя кулинария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98363" y="2955137"/>
            <a:ext cx="3030721" cy="17924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57989775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2767</TotalTime>
  <Words>719</Words>
  <Application>Microsoft Macintosh PowerPoint</Application>
  <PresentationFormat>Widescreen</PresentationFormat>
  <Paragraphs>165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4" baseType="lpstr">
      <vt:lpstr>Brush Script MT</vt:lpstr>
      <vt:lpstr>Arial</vt:lpstr>
      <vt:lpstr>Calibri</vt:lpstr>
      <vt:lpstr>Calibri Light</vt:lpstr>
      <vt:lpstr>Times New Roman</vt:lpstr>
      <vt:lpstr>Тема Office</vt:lpstr>
      <vt:lpstr>A la leçon de français</vt:lpstr>
      <vt:lpstr>Bonjour mes amis! Asseyez-vous, s’il vous plait. Je suis ravi de vous voir!  Quelle date somme-nous aujourd’hui? Quel jour de la semain est-ce?  Bien, commencons la lecon. </vt:lpstr>
      <vt:lpstr>PowerPoint Presentation</vt:lpstr>
      <vt:lpstr>Le repas, une alimentation  = meal, a diet</vt:lpstr>
      <vt:lpstr>The purpose of the lesson:  To learn new words related to food and be able to use them. To learn new verbs related to cooking.  Apprendre à connaître de nouveaux mots relatives une alimentation. Apprenez de nouveaux verbes relatives de la cuisine. </vt:lpstr>
      <vt:lpstr>Lesson plan:  1. Homework check  2. New words  2. New verbs and their classification  3. Practical tasks  4. Feedback  5. Homework </vt:lpstr>
      <vt:lpstr>PowerPoint Presentation</vt:lpstr>
      <vt:lpstr>PowerPoint Presentation</vt:lpstr>
      <vt:lpstr>PowerPoint Presentation</vt:lpstr>
      <vt:lpstr>1. (dans la) salle à manger  2. à la maison  3. dans un restaurant  4. dans le café  5. à l'école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Feedback</vt:lpstr>
      <vt:lpstr>PowerPoint Presentation</vt:lpstr>
    </vt:vector>
  </TitlesOfParts>
  <Company>SPecialiST RePack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77751210749</dc:creator>
  <cp:lastModifiedBy>Michael Ofengenden</cp:lastModifiedBy>
  <cp:revision>27</cp:revision>
  <dcterms:created xsi:type="dcterms:W3CDTF">2022-10-01T19:11:08Z</dcterms:created>
  <dcterms:modified xsi:type="dcterms:W3CDTF">2025-08-13T19:02:23Z</dcterms:modified>
</cp:coreProperties>
</file>
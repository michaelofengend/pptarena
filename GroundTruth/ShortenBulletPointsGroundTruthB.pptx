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4"/>
  </p:sldMasterIdLst>
  <p:notesMasterIdLst>
    <p:notesMasterId r:id="rId15"/>
  </p:notesMasterIdLst>
  <p:handoutMasterIdLst>
    <p:handoutMasterId r:id="rId16"/>
  </p:handoutMasterIdLst>
  <p:sldIdLst>
    <p:sldId id="687" r:id="rId5"/>
    <p:sldId id="670" r:id="rId6"/>
    <p:sldId id="669" r:id="rId7"/>
    <p:sldId id="671" r:id="rId8"/>
    <p:sldId id="672" r:id="rId9"/>
    <p:sldId id="691" r:id="rId10"/>
    <p:sldId id="688" r:id="rId11"/>
    <p:sldId id="689" r:id="rId12"/>
    <p:sldId id="690" r:id="rId13"/>
    <p:sldId id="685" r:id="rId14"/>
  </p:sldIdLst>
  <p:sldSz cx="9144000" cy="6858000" type="screen4x3"/>
  <p:notesSz cx="7102475" cy="93884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00"/>
    <a:srgbClr val="FF9900"/>
    <a:srgbClr val="FF5050"/>
    <a:srgbClr val="09163F"/>
    <a:srgbClr val="0C0543"/>
    <a:srgbClr val="BABAE8"/>
    <a:srgbClr val="A6A6E2"/>
    <a:srgbClr val="D9D9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8" autoAdjust="0"/>
    <p:restoredTop sz="78571" autoAdjust="0"/>
  </p:normalViewPr>
  <p:slideViewPr>
    <p:cSldViewPr>
      <p:cViewPr varScale="1">
        <p:scale>
          <a:sx n="64" d="100"/>
          <a:sy n="64" d="100"/>
        </p:scale>
        <p:origin x="715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22726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notesMaster" Target="notesMasters/notesMaster1.xml"/><Relationship Id="rId16" Type="http://schemas.openxmlformats.org/officeDocument/2006/relationships/handoutMaster" Target="handoutMasters/handout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C646036-D3EE-45A7-A3FF-1D24AEC05486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078A0B8-6AA7-45B5-93AA-B0C19BAF29BE}">
      <dgm:prSet phldrT="[Text]"/>
      <dgm:spPr>
        <a:xfrm>
          <a:off x="430530" y="129078"/>
          <a:ext cx="6027420" cy="472320"/>
        </a:xfrm>
        <a:prstGeom prst="roundRect">
          <a:avLst/>
        </a:prstGeom>
        <a:solidFill>
          <a:srgbClr val="C0504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b="1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Public Health Emergency Declaration</a:t>
          </a:r>
          <a:endParaRPr lang="en-US" b="1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90CC62D4-78A3-49D6-9724-ABB5203DA002}" type="parTrans" cxnId="{19401783-89E2-4E27-BE71-19C410911DC4}">
      <dgm:prSet/>
      <dgm:spPr/>
      <dgm:t>
        <a:bodyPr/>
        <a:lstStyle/>
        <a:p>
          <a:endParaRPr lang="en-US"/>
        </a:p>
      </dgm:t>
    </dgm:pt>
    <dgm:pt modelId="{0DF7B77C-CEEB-428A-8786-9BA7607A7B71}" type="sibTrans" cxnId="{19401783-89E2-4E27-BE71-19C410911DC4}">
      <dgm:prSet/>
      <dgm:spPr/>
      <dgm:t>
        <a:bodyPr/>
        <a:lstStyle/>
        <a:p>
          <a:endParaRPr lang="en-US"/>
        </a:p>
      </dgm:t>
    </dgm:pt>
    <dgm:pt modelId="{5C76C597-9401-4E8F-9ACD-67FCB3E85A46}">
      <dgm:prSet phldrT="[Text]"/>
      <dgm:spPr>
        <a:xfrm>
          <a:off x="430530" y="1888038"/>
          <a:ext cx="6027420" cy="472320"/>
        </a:xfrm>
        <a:prstGeom prst="roundRect">
          <a:avLst/>
        </a:prstGeom>
        <a:solidFill>
          <a:srgbClr val="9BBB59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b="1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VDH Incident Management Team (IMT) Activation </a:t>
          </a:r>
          <a:endParaRPr lang="en-US" b="1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02DE83D3-A5F8-413D-8915-43B43B365678}" type="parTrans" cxnId="{9DC2B5B2-6D5A-4883-BBBF-E069618A893B}">
      <dgm:prSet/>
      <dgm:spPr/>
      <dgm:t>
        <a:bodyPr/>
        <a:lstStyle/>
        <a:p>
          <a:endParaRPr lang="en-US"/>
        </a:p>
      </dgm:t>
    </dgm:pt>
    <dgm:pt modelId="{541A1329-E9C5-4D66-B0F1-6261CCA08DF6}" type="sibTrans" cxnId="{9DC2B5B2-6D5A-4883-BBBF-E069618A893B}">
      <dgm:prSet/>
      <dgm:spPr/>
      <dgm:t>
        <a:bodyPr/>
        <a:lstStyle/>
        <a:p>
          <a:endParaRPr lang="en-US"/>
        </a:p>
      </dgm:t>
    </dgm:pt>
    <dgm:pt modelId="{6D18FE9A-D301-4329-8E75-1A339BEE8CFD}">
      <dgm:prSet phldrT="[Text]"/>
      <dgm:spPr>
        <a:xfrm>
          <a:off x="430530" y="3420198"/>
          <a:ext cx="6027420" cy="472320"/>
        </a:xfrm>
        <a:prstGeom prst="roundRect">
          <a:avLst/>
        </a:prstGeom>
        <a:solidFill>
          <a:srgbClr val="8064A2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b="1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Governor’s Executive Leadership Team on Opioids and Addiction</a:t>
          </a:r>
          <a:endParaRPr lang="en-US" b="1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427E21FD-B0D2-40AB-804B-9FBC47364ED6}" type="parTrans" cxnId="{14617453-1CF6-447C-979B-543FA3655C2F}">
      <dgm:prSet/>
      <dgm:spPr/>
      <dgm:t>
        <a:bodyPr/>
        <a:lstStyle/>
        <a:p>
          <a:endParaRPr lang="en-US"/>
        </a:p>
      </dgm:t>
    </dgm:pt>
    <dgm:pt modelId="{339D94DE-475B-40D5-8CE7-6F71856EE101}" type="sibTrans" cxnId="{14617453-1CF6-447C-979B-543FA3655C2F}">
      <dgm:prSet/>
      <dgm:spPr/>
      <dgm:t>
        <a:bodyPr/>
        <a:lstStyle/>
        <a:p>
          <a:endParaRPr lang="en-US"/>
        </a:p>
      </dgm:t>
    </dgm:pt>
    <dgm:pt modelId="{9907F7F0-27F9-4178-A818-7C9A753136B7}">
      <dgm:prSet/>
      <dgm:spPr>
        <a:xfrm>
          <a:off x="0" y="379799"/>
          <a:ext cx="8610600" cy="14364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C0504D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US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Statewide standing order for naloxone issued concurrently</a:t>
          </a:r>
          <a:endParaRPr 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708280FD-0F13-4DA9-98F2-4400B76B8A11}" type="parTrans" cxnId="{81EA8C9B-453E-4CA2-8AD8-5E6409B05DE2}">
      <dgm:prSet/>
      <dgm:spPr/>
      <dgm:t>
        <a:bodyPr/>
        <a:lstStyle/>
        <a:p>
          <a:endParaRPr lang="en-US"/>
        </a:p>
      </dgm:t>
    </dgm:pt>
    <dgm:pt modelId="{38453CA0-D485-4BEA-9502-59CCA5C49F07}" type="sibTrans" cxnId="{81EA8C9B-453E-4CA2-8AD8-5E6409B05DE2}">
      <dgm:prSet/>
      <dgm:spPr/>
      <dgm:t>
        <a:bodyPr/>
        <a:lstStyle/>
        <a:p>
          <a:endParaRPr lang="en-US"/>
        </a:p>
      </dgm:t>
    </dgm:pt>
    <dgm:pt modelId="{4263117F-FC57-4D3F-82BB-4C8110E84C40}">
      <dgm:prSet/>
      <dgm:spPr>
        <a:xfrm>
          <a:off x="0" y="2124198"/>
          <a:ext cx="8610600" cy="12096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BBB59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US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Incident Command System (ICS) Structure</a:t>
          </a:r>
          <a:endParaRPr 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A2202FA9-90ED-4345-A3AA-17A2F2D02815}" type="parTrans" cxnId="{32BF33C8-99E2-4C78-BBA5-59CFCBED17F4}">
      <dgm:prSet/>
      <dgm:spPr/>
      <dgm:t>
        <a:bodyPr/>
        <a:lstStyle/>
        <a:p>
          <a:endParaRPr lang="en-US"/>
        </a:p>
      </dgm:t>
    </dgm:pt>
    <dgm:pt modelId="{A32E4D97-B7FE-44C5-BBB1-A531E6955301}" type="sibTrans" cxnId="{32BF33C8-99E2-4C78-BBA5-59CFCBED17F4}">
      <dgm:prSet/>
      <dgm:spPr/>
      <dgm:t>
        <a:bodyPr/>
        <a:lstStyle/>
        <a:p>
          <a:endParaRPr lang="en-US"/>
        </a:p>
      </dgm:t>
    </dgm:pt>
    <dgm:pt modelId="{AF1DB162-1BE6-49BA-9047-5EA0A3D7D4FD}">
      <dgm:prSet/>
      <dgm:spPr>
        <a:xfrm>
          <a:off x="0" y="2124198"/>
          <a:ext cx="8610600" cy="12096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BBB59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US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Incident Action Planning</a:t>
          </a:r>
          <a:endParaRPr 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C79F2D77-D0D0-4885-9745-3849B45EE003}" type="parTrans" cxnId="{C0EFAE62-87B4-47CE-9513-77ADD54D35DE}">
      <dgm:prSet/>
      <dgm:spPr/>
      <dgm:t>
        <a:bodyPr/>
        <a:lstStyle/>
        <a:p>
          <a:endParaRPr lang="en-US"/>
        </a:p>
      </dgm:t>
    </dgm:pt>
    <dgm:pt modelId="{2D93E6ED-3FC1-477B-830A-372172B760C2}" type="sibTrans" cxnId="{C0EFAE62-87B4-47CE-9513-77ADD54D35DE}">
      <dgm:prSet/>
      <dgm:spPr/>
      <dgm:t>
        <a:bodyPr/>
        <a:lstStyle/>
        <a:p>
          <a:endParaRPr lang="en-US"/>
        </a:p>
      </dgm:t>
    </dgm:pt>
    <dgm:pt modelId="{B9368C7D-81AD-4246-9398-7FC0320ABACE}">
      <dgm:prSet/>
      <dgm:spPr>
        <a:xfrm>
          <a:off x="0" y="2124198"/>
          <a:ext cx="8610600" cy="12096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BBB59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US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Situation Reporting</a:t>
          </a:r>
          <a:endParaRPr 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5CE1BC61-DA87-4F79-8BAF-D5489E6E5A81}" type="parTrans" cxnId="{D5A91568-F7BF-4561-937C-CA32D6403840}">
      <dgm:prSet/>
      <dgm:spPr/>
      <dgm:t>
        <a:bodyPr/>
        <a:lstStyle/>
        <a:p>
          <a:endParaRPr lang="en-US"/>
        </a:p>
      </dgm:t>
    </dgm:pt>
    <dgm:pt modelId="{B6B48FE7-E541-4BEB-A3E7-525375048BC1}" type="sibTrans" cxnId="{D5A91568-F7BF-4561-937C-CA32D6403840}">
      <dgm:prSet/>
      <dgm:spPr/>
      <dgm:t>
        <a:bodyPr/>
        <a:lstStyle/>
        <a:p>
          <a:endParaRPr lang="en-US"/>
        </a:p>
      </dgm:t>
    </dgm:pt>
    <dgm:pt modelId="{F23309CB-87B2-4E8E-BE87-407A70D481D4}">
      <dgm:prSet/>
      <dgm:spPr>
        <a:xfrm>
          <a:off x="0" y="3656358"/>
          <a:ext cx="8610600" cy="16632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8064A2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US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Co-chaired by Secretary of Health &amp; Human Resources and Secretary of Public Safety and Homeland Security</a:t>
          </a:r>
          <a:endParaRPr 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3F93D4E2-0602-4589-B0E3-F2A15E8788B2}" type="parTrans" cxnId="{3F3ADEC4-82FF-40EE-B9BF-84E885DAF731}">
      <dgm:prSet/>
      <dgm:spPr/>
      <dgm:t>
        <a:bodyPr/>
        <a:lstStyle/>
        <a:p>
          <a:endParaRPr lang="en-US"/>
        </a:p>
      </dgm:t>
    </dgm:pt>
    <dgm:pt modelId="{E725CFC4-8258-47B9-80F3-F87ED675BBBB}" type="sibTrans" cxnId="{3F3ADEC4-82FF-40EE-B9BF-84E885DAF731}">
      <dgm:prSet/>
      <dgm:spPr/>
      <dgm:t>
        <a:bodyPr/>
        <a:lstStyle/>
        <a:p>
          <a:endParaRPr lang="en-US"/>
        </a:p>
      </dgm:t>
    </dgm:pt>
    <dgm:pt modelId="{25D0FC02-9ADB-4CA3-91D6-5B7A692BB074}">
      <dgm:prSet/>
      <dgm:spPr>
        <a:xfrm>
          <a:off x="0" y="3656358"/>
          <a:ext cx="8610600" cy="16632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8064A2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US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Five work-groups comprised of state agency leadership: Prevention &amp; Community Support; Supply Prevention; Treatment &amp; Recovery; Harm Reduction; Justice-Involved Individuals.</a:t>
          </a:r>
          <a:endParaRPr 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224411F4-BF32-49EF-87B4-E83A1CF09527}" type="parTrans" cxnId="{9A62FA75-7FBF-4BFD-839B-15447DE0C291}">
      <dgm:prSet/>
      <dgm:spPr/>
      <dgm:t>
        <a:bodyPr/>
        <a:lstStyle/>
        <a:p>
          <a:endParaRPr lang="en-US"/>
        </a:p>
      </dgm:t>
    </dgm:pt>
    <dgm:pt modelId="{7276F34C-1B20-4B3A-A803-4A084EDB02F5}" type="sibTrans" cxnId="{9A62FA75-7FBF-4BFD-839B-15447DE0C291}">
      <dgm:prSet/>
      <dgm:spPr/>
      <dgm:t>
        <a:bodyPr/>
        <a:lstStyle/>
        <a:p>
          <a:endParaRPr lang="en-US"/>
        </a:p>
      </dgm:t>
    </dgm:pt>
    <dgm:pt modelId="{599D3986-A76A-4F5A-B098-6E90CFC04336}">
      <dgm:prSet/>
      <dgm:spPr>
        <a:xfrm>
          <a:off x="0" y="379799"/>
          <a:ext cx="8610600" cy="14364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C0504D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US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Declared by State Health Commissioner on November 21, 2016 </a:t>
          </a:r>
          <a:endParaRPr 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AA6A4910-C0A8-41FB-AC73-10DACDC1C695}" type="parTrans" cxnId="{6CE41F23-0500-4532-97BD-C581E7711751}">
      <dgm:prSet/>
      <dgm:spPr/>
      <dgm:t>
        <a:bodyPr/>
        <a:lstStyle/>
        <a:p>
          <a:endParaRPr lang="en-US"/>
        </a:p>
      </dgm:t>
    </dgm:pt>
    <dgm:pt modelId="{9901665F-5E57-4DA8-BF42-9E938EF7482E}" type="sibTrans" cxnId="{6CE41F23-0500-4532-97BD-C581E7711751}">
      <dgm:prSet/>
      <dgm:spPr/>
      <dgm:t>
        <a:bodyPr/>
        <a:lstStyle/>
        <a:p>
          <a:endParaRPr lang="en-US"/>
        </a:p>
      </dgm:t>
    </dgm:pt>
    <dgm:pt modelId="{16BDEACA-D833-4922-906C-0A1AE61B96F6}">
      <dgm:prSet/>
      <dgm:spPr>
        <a:xfrm>
          <a:off x="0" y="379799"/>
          <a:ext cx="8610600" cy="14364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C0504D">
              <a:hueOff val="0"/>
              <a:satOff val="0"/>
              <a:lumOff val="0"/>
              <a:alphaOff val="0"/>
            </a:srgbClr>
          </a:solidFill>
          <a:prstDash val="solid"/>
        </a:ln>
        <a:effectLst/>
      </dgm:spPr>
      <dgm:t>
        <a:bodyPr/>
        <a:lstStyle/>
        <a:p>
          <a:r>
            <a:rPr lang="en-US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State Health Commissioner is now authorized to establish and operate comprehensive harm reduction programs during a declared public health emergency [HB 2317, 2017]</a:t>
          </a:r>
          <a:endParaRPr lang="en-US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B1D0C764-0D4B-4B31-9811-4BA24BF55F87}" type="parTrans" cxnId="{9E21BC5F-FDCC-4630-9D74-91DD4365671C}">
      <dgm:prSet/>
      <dgm:spPr/>
      <dgm:t>
        <a:bodyPr/>
        <a:lstStyle/>
        <a:p>
          <a:endParaRPr lang="en-US"/>
        </a:p>
      </dgm:t>
    </dgm:pt>
    <dgm:pt modelId="{ADE1A42F-3B2B-4A7F-ABB3-5EE7069E22D7}" type="sibTrans" cxnId="{9E21BC5F-FDCC-4630-9D74-91DD4365671C}">
      <dgm:prSet/>
      <dgm:spPr/>
      <dgm:t>
        <a:bodyPr/>
        <a:lstStyle/>
        <a:p>
          <a:endParaRPr lang="en-US"/>
        </a:p>
      </dgm:t>
    </dgm:pt>
    <dgm:pt modelId="{96B49877-038E-4F3E-891E-3C4A08D9EEDB}" type="pres">
      <dgm:prSet presAssocID="{2C646036-D3EE-45A7-A3FF-1D24AEC05486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453242D-9124-4571-9461-F0BFF54FFD5F}" type="pres">
      <dgm:prSet presAssocID="{7078A0B8-6AA7-45B5-93AA-B0C19BAF29BE}" presName="parentLin" presStyleCnt="0"/>
      <dgm:spPr/>
    </dgm:pt>
    <dgm:pt modelId="{6B634257-1883-4CCF-B585-21D454DA566E}" type="pres">
      <dgm:prSet presAssocID="{7078A0B8-6AA7-45B5-93AA-B0C19BAF29BE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CB2B0B16-6D9F-4801-B485-CBBAB6DC740A}" type="pres">
      <dgm:prSet presAssocID="{7078A0B8-6AA7-45B5-93AA-B0C19BAF29BE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FCEC205-F2B6-4CA7-822E-C8F315E18753}" type="pres">
      <dgm:prSet presAssocID="{7078A0B8-6AA7-45B5-93AA-B0C19BAF29BE}" presName="negativeSpace" presStyleCnt="0"/>
      <dgm:spPr/>
    </dgm:pt>
    <dgm:pt modelId="{8489B985-D6E2-496C-8E1C-F008AA3D9E13}" type="pres">
      <dgm:prSet presAssocID="{7078A0B8-6AA7-45B5-93AA-B0C19BAF29BE}" presName="childText" presStyleLbl="conFgAcc1" presStyleIdx="0" presStyleCnt="3" custLinFactNeighborY="1685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9981B3E-88F4-40B2-852B-2617E1616C9B}" type="pres">
      <dgm:prSet presAssocID="{0DF7B77C-CEEB-428A-8786-9BA7607A7B71}" presName="spaceBetweenRectangles" presStyleCnt="0"/>
      <dgm:spPr/>
    </dgm:pt>
    <dgm:pt modelId="{51ABE261-32E4-420E-A871-FD73F9A3C2E3}" type="pres">
      <dgm:prSet presAssocID="{5C76C597-9401-4E8F-9ACD-67FCB3E85A46}" presName="parentLin" presStyleCnt="0"/>
      <dgm:spPr/>
    </dgm:pt>
    <dgm:pt modelId="{1C8683E6-EE35-4BFD-8C73-481B1459EE85}" type="pres">
      <dgm:prSet presAssocID="{5C76C597-9401-4E8F-9ACD-67FCB3E85A46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2DF54EB9-2C83-4617-91C8-76675D307F9F}" type="pres">
      <dgm:prSet presAssocID="{5C76C597-9401-4E8F-9ACD-67FCB3E85A46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457F1C6-1037-4443-A5CC-81B3AA7D3488}" type="pres">
      <dgm:prSet presAssocID="{5C76C597-9401-4E8F-9ACD-67FCB3E85A46}" presName="negativeSpace" presStyleCnt="0"/>
      <dgm:spPr/>
    </dgm:pt>
    <dgm:pt modelId="{B8F5D1D8-1882-4118-980B-EF6BE720E720}" type="pres">
      <dgm:prSet presAssocID="{5C76C597-9401-4E8F-9ACD-67FCB3E85A46}" presName="childText" presStyleLbl="conFgAcc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F884A78-79F3-41F0-8646-6BFA2C2E5FB2}" type="pres">
      <dgm:prSet presAssocID="{541A1329-E9C5-4D66-B0F1-6261CCA08DF6}" presName="spaceBetweenRectangles" presStyleCnt="0"/>
      <dgm:spPr/>
    </dgm:pt>
    <dgm:pt modelId="{CFD70E7D-0E0F-4E52-BBA2-30171DBA231E}" type="pres">
      <dgm:prSet presAssocID="{6D18FE9A-D301-4329-8E75-1A339BEE8CFD}" presName="parentLin" presStyleCnt="0"/>
      <dgm:spPr/>
    </dgm:pt>
    <dgm:pt modelId="{CF4A8777-252E-41C7-9A22-FFC225FDFB4A}" type="pres">
      <dgm:prSet presAssocID="{6D18FE9A-D301-4329-8E75-1A339BEE8CFD}" presName="parentLeftMargin" presStyleLbl="node1" presStyleIdx="1" presStyleCnt="3"/>
      <dgm:spPr/>
      <dgm:t>
        <a:bodyPr/>
        <a:lstStyle/>
        <a:p>
          <a:endParaRPr lang="en-US"/>
        </a:p>
      </dgm:t>
    </dgm:pt>
    <dgm:pt modelId="{926C9BC6-1CF8-4A46-84A9-4DBEE4535C35}" type="pres">
      <dgm:prSet presAssocID="{6D18FE9A-D301-4329-8E75-1A339BEE8CFD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24EC367-73C7-4960-9FCC-D06B8A276D75}" type="pres">
      <dgm:prSet presAssocID="{6D18FE9A-D301-4329-8E75-1A339BEE8CFD}" presName="negativeSpace" presStyleCnt="0"/>
      <dgm:spPr/>
    </dgm:pt>
    <dgm:pt modelId="{1DE674EB-8D49-40DE-AFE4-E787F02A25D1}" type="pres">
      <dgm:prSet presAssocID="{6D18FE9A-D301-4329-8E75-1A339BEE8CFD}" presName="childText" presStyleLbl="conFgAcc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F25E65AD-240F-4FB2-BE85-E6A0DAD44CD4}" type="presOf" srcId="{7078A0B8-6AA7-45B5-93AA-B0C19BAF29BE}" destId="{CB2B0B16-6D9F-4801-B485-CBBAB6DC740A}" srcOrd="1" destOrd="0" presId="urn:microsoft.com/office/officeart/2005/8/layout/list1"/>
    <dgm:cxn modelId="{0C7B4D13-867D-40B3-85E6-1773257B28BB}" type="presOf" srcId="{9907F7F0-27F9-4178-A818-7C9A753136B7}" destId="{8489B985-D6E2-496C-8E1C-F008AA3D9E13}" srcOrd="0" destOrd="1" presId="urn:microsoft.com/office/officeart/2005/8/layout/list1"/>
    <dgm:cxn modelId="{313F80B9-566B-41AC-BF15-02728CB6F134}" type="presOf" srcId="{6D18FE9A-D301-4329-8E75-1A339BEE8CFD}" destId="{926C9BC6-1CF8-4A46-84A9-4DBEE4535C35}" srcOrd="1" destOrd="0" presId="urn:microsoft.com/office/officeart/2005/8/layout/list1"/>
    <dgm:cxn modelId="{0A62CD10-A87F-4ED1-847E-3CCFC72CA8B5}" type="presOf" srcId="{16BDEACA-D833-4922-906C-0A1AE61B96F6}" destId="{8489B985-D6E2-496C-8E1C-F008AA3D9E13}" srcOrd="0" destOrd="2" presId="urn:microsoft.com/office/officeart/2005/8/layout/list1"/>
    <dgm:cxn modelId="{452F7078-D8A9-41AD-95BB-4DCF033E34F4}" type="presOf" srcId="{F23309CB-87B2-4E8E-BE87-407A70D481D4}" destId="{1DE674EB-8D49-40DE-AFE4-E787F02A25D1}" srcOrd="0" destOrd="0" presId="urn:microsoft.com/office/officeart/2005/8/layout/list1"/>
    <dgm:cxn modelId="{9E21BC5F-FDCC-4630-9D74-91DD4365671C}" srcId="{7078A0B8-6AA7-45B5-93AA-B0C19BAF29BE}" destId="{16BDEACA-D833-4922-906C-0A1AE61B96F6}" srcOrd="2" destOrd="0" parTransId="{B1D0C764-0D4B-4B31-9811-4BA24BF55F87}" sibTransId="{ADE1A42F-3B2B-4A7F-ABB3-5EE7069E22D7}"/>
    <dgm:cxn modelId="{7FBA7C8F-B1DB-412B-AE9E-36539C4089F8}" type="presOf" srcId="{5C76C597-9401-4E8F-9ACD-67FCB3E85A46}" destId="{2DF54EB9-2C83-4617-91C8-76675D307F9F}" srcOrd="1" destOrd="0" presId="urn:microsoft.com/office/officeart/2005/8/layout/list1"/>
    <dgm:cxn modelId="{9BFF1B71-03B3-4E26-BA25-DB6C78E1C550}" type="presOf" srcId="{4263117F-FC57-4D3F-82BB-4C8110E84C40}" destId="{B8F5D1D8-1882-4118-980B-EF6BE720E720}" srcOrd="0" destOrd="0" presId="urn:microsoft.com/office/officeart/2005/8/layout/list1"/>
    <dgm:cxn modelId="{19401783-89E2-4E27-BE71-19C410911DC4}" srcId="{2C646036-D3EE-45A7-A3FF-1D24AEC05486}" destId="{7078A0B8-6AA7-45B5-93AA-B0C19BAF29BE}" srcOrd="0" destOrd="0" parTransId="{90CC62D4-78A3-49D6-9724-ABB5203DA002}" sibTransId="{0DF7B77C-CEEB-428A-8786-9BA7607A7B71}"/>
    <dgm:cxn modelId="{24F04CE3-8548-4905-8ABB-A44414549FE6}" type="presOf" srcId="{B9368C7D-81AD-4246-9398-7FC0320ABACE}" destId="{B8F5D1D8-1882-4118-980B-EF6BE720E720}" srcOrd="0" destOrd="2" presId="urn:microsoft.com/office/officeart/2005/8/layout/list1"/>
    <dgm:cxn modelId="{FF38A0B3-1DC1-402A-98AA-71DBCBD6CE57}" type="presOf" srcId="{AF1DB162-1BE6-49BA-9047-5EA0A3D7D4FD}" destId="{B8F5D1D8-1882-4118-980B-EF6BE720E720}" srcOrd="0" destOrd="1" presId="urn:microsoft.com/office/officeart/2005/8/layout/list1"/>
    <dgm:cxn modelId="{6CE41F23-0500-4532-97BD-C581E7711751}" srcId="{7078A0B8-6AA7-45B5-93AA-B0C19BAF29BE}" destId="{599D3986-A76A-4F5A-B098-6E90CFC04336}" srcOrd="0" destOrd="0" parTransId="{AA6A4910-C0A8-41FB-AC73-10DACDC1C695}" sibTransId="{9901665F-5E57-4DA8-BF42-9E938EF7482E}"/>
    <dgm:cxn modelId="{C150A0E9-BC63-4F5B-AA34-E1FF59ED2CD3}" type="presOf" srcId="{5C76C597-9401-4E8F-9ACD-67FCB3E85A46}" destId="{1C8683E6-EE35-4BFD-8C73-481B1459EE85}" srcOrd="0" destOrd="0" presId="urn:microsoft.com/office/officeart/2005/8/layout/list1"/>
    <dgm:cxn modelId="{D5A91568-F7BF-4561-937C-CA32D6403840}" srcId="{5C76C597-9401-4E8F-9ACD-67FCB3E85A46}" destId="{B9368C7D-81AD-4246-9398-7FC0320ABACE}" srcOrd="2" destOrd="0" parTransId="{5CE1BC61-DA87-4F79-8BAF-D5489E6E5A81}" sibTransId="{B6B48FE7-E541-4BEB-A3E7-525375048BC1}"/>
    <dgm:cxn modelId="{9DC2B5B2-6D5A-4883-BBBF-E069618A893B}" srcId="{2C646036-D3EE-45A7-A3FF-1D24AEC05486}" destId="{5C76C597-9401-4E8F-9ACD-67FCB3E85A46}" srcOrd="1" destOrd="0" parTransId="{02DE83D3-A5F8-413D-8915-43B43B365678}" sibTransId="{541A1329-E9C5-4D66-B0F1-6261CCA08DF6}"/>
    <dgm:cxn modelId="{9A62FA75-7FBF-4BFD-839B-15447DE0C291}" srcId="{6D18FE9A-D301-4329-8E75-1A339BEE8CFD}" destId="{25D0FC02-9ADB-4CA3-91D6-5B7A692BB074}" srcOrd="1" destOrd="0" parTransId="{224411F4-BF32-49EF-87B4-E83A1CF09527}" sibTransId="{7276F34C-1B20-4B3A-A803-4A084EDB02F5}"/>
    <dgm:cxn modelId="{E115A964-F5F2-485C-A0FF-4CEEDE90E13D}" type="presOf" srcId="{25D0FC02-9ADB-4CA3-91D6-5B7A692BB074}" destId="{1DE674EB-8D49-40DE-AFE4-E787F02A25D1}" srcOrd="0" destOrd="1" presId="urn:microsoft.com/office/officeart/2005/8/layout/list1"/>
    <dgm:cxn modelId="{D9E9D0D7-ED30-41EF-B30B-E40718259EA6}" type="presOf" srcId="{2C646036-D3EE-45A7-A3FF-1D24AEC05486}" destId="{96B49877-038E-4F3E-891E-3C4A08D9EEDB}" srcOrd="0" destOrd="0" presId="urn:microsoft.com/office/officeart/2005/8/layout/list1"/>
    <dgm:cxn modelId="{C0EFAE62-87B4-47CE-9513-77ADD54D35DE}" srcId="{5C76C597-9401-4E8F-9ACD-67FCB3E85A46}" destId="{AF1DB162-1BE6-49BA-9047-5EA0A3D7D4FD}" srcOrd="1" destOrd="0" parTransId="{C79F2D77-D0D0-4885-9745-3849B45EE003}" sibTransId="{2D93E6ED-3FC1-477B-830A-372172B760C2}"/>
    <dgm:cxn modelId="{9A3E6D1D-E0D3-47F8-A54B-508C53D118CE}" type="presOf" srcId="{6D18FE9A-D301-4329-8E75-1A339BEE8CFD}" destId="{CF4A8777-252E-41C7-9A22-FFC225FDFB4A}" srcOrd="0" destOrd="0" presId="urn:microsoft.com/office/officeart/2005/8/layout/list1"/>
    <dgm:cxn modelId="{2FBB2956-E7C2-461E-847C-40E2374A1B0C}" type="presOf" srcId="{599D3986-A76A-4F5A-B098-6E90CFC04336}" destId="{8489B985-D6E2-496C-8E1C-F008AA3D9E13}" srcOrd="0" destOrd="0" presId="urn:microsoft.com/office/officeart/2005/8/layout/list1"/>
    <dgm:cxn modelId="{32BF33C8-99E2-4C78-BBA5-59CFCBED17F4}" srcId="{5C76C597-9401-4E8F-9ACD-67FCB3E85A46}" destId="{4263117F-FC57-4D3F-82BB-4C8110E84C40}" srcOrd="0" destOrd="0" parTransId="{A2202FA9-90ED-4345-A3AA-17A2F2D02815}" sibTransId="{A32E4D97-B7FE-44C5-BBB1-A531E6955301}"/>
    <dgm:cxn modelId="{14617453-1CF6-447C-979B-543FA3655C2F}" srcId="{2C646036-D3EE-45A7-A3FF-1D24AEC05486}" destId="{6D18FE9A-D301-4329-8E75-1A339BEE8CFD}" srcOrd="2" destOrd="0" parTransId="{427E21FD-B0D2-40AB-804B-9FBC47364ED6}" sibTransId="{339D94DE-475B-40D5-8CE7-6F71856EE101}"/>
    <dgm:cxn modelId="{81EA8C9B-453E-4CA2-8AD8-5E6409B05DE2}" srcId="{7078A0B8-6AA7-45B5-93AA-B0C19BAF29BE}" destId="{9907F7F0-27F9-4178-A818-7C9A753136B7}" srcOrd="1" destOrd="0" parTransId="{708280FD-0F13-4DA9-98F2-4400B76B8A11}" sibTransId="{38453CA0-D485-4BEA-9502-59CCA5C49F07}"/>
    <dgm:cxn modelId="{A8C70F64-D4EB-482B-8877-0BA5876CBF3E}" type="presOf" srcId="{7078A0B8-6AA7-45B5-93AA-B0C19BAF29BE}" destId="{6B634257-1883-4CCF-B585-21D454DA566E}" srcOrd="0" destOrd="0" presId="urn:microsoft.com/office/officeart/2005/8/layout/list1"/>
    <dgm:cxn modelId="{3F3ADEC4-82FF-40EE-B9BF-84E885DAF731}" srcId="{6D18FE9A-D301-4329-8E75-1A339BEE8CFD}" destId="{F23309CB-87B2-4E8E-BE87-407A70D481D4}" srcOrd="0" destOrd="0" parTransId="{3F93D4E2-0602-4589-B0E3-F2A15E8788B2}" sibTransId="{E725CFC4-8258-47B9-80F3-F87ED675BBBB}"/>
    <dgm:cxn modelId="{B0D75322-78EE-4E42-95AD-DB8C089F7619}" type="presParOf" srcId="{96B49877-038E-4F3E-891E-3C4A08D9EEDB}" destId="{0453242D-9124-4571-9461-F0BFF54FFD5F}" srcOrd="0" destOrd="0" presId="urn:microsoft.com/office/officeart/2005/8/layout/list1"/>
    <dgm:cxn modelId="{B8D4EFA8-745B-49AD-8469-7598DF0251F9}" type="presParOf" srcId="{0453242D-9124-4571-9461-F0BFF54FFD5F}" destId="{6B634257-1883-4CCF-B585-21D454DA566E}" srcOrd="0" destOrd="0" presId="urn:microsoft.com/office/officeart/2005/8/layout/list1"/>
    <dgm:cxn modelId="{1D819805-35A2-4F6B-AB85-94E9EB02D9F7}" type="presParOf" srcId="{0453242D-9124-4571-9461-F0BFF54FFD5F}" destId="{CB2B0B16-6D9F-4801-B485-CBBAB6DC740A}" srcOrd="1" destOrd="0" presId="urn:microsoft.com/office/officeart/2005/8/layout/list1"/>
    <dgm:cxn modelId="{2214CACF-DE39-492A-9375-3DAC29FD4E5E}" type="presParOf" srcId="{96B49877-038E-4F3E-891E-3C4A08D9EEDB}" destId="{4FCEC205-F2B6-4CA7-822E-C8F315E18753}" srcOrd="1" destOrd="0" presId="urn:microsoft.com/office/officeart/2005/8/layout/list1"/>
    <dgm:cxn modelId="{194D6037-832D-45E0-9E22-4CADC90B814D}" type="presParOf" srcId="{96B49877-038E-4F3E-891E-3C4A08D9EEDB}" destId="{8489B985-D6E2-496C-8E1C-F008AA3D9E13}" srcOrd="2" destOrd="0" presId="urn:microsoft.com/office/officeart/2005/8/layout/list1"/>
    <dgm:cxn modelId="{335B6865-05F0-457E-B121-C61C804A39E7}" type="presParOf" srcId="{96B49877-038E-4F3E-891E-3C4A08D9EEDB}" destId="{89981B3E-88F4-40B2-852B-2617E1616C9B}" srcOrd="3" destOrd="0" presId="urn:microsoft.com/office/officeart/2005/8/layout/list1"/>
    <dgm:cxn modelId="{2AEE005A-DDD2-49B9-A926-7117F456D656}" type="presParOf" srcId="{96B49877-038E-4F3E-891E-3C4A08D9EEDB}" destId="{51ABE261-32E4-420E-A871-FD73F9A3C2E3}" srcOrd="4" destOrd="0" presId="urn:microsoft.com/office/officeart/2005/8/layout/list1"/>
    <dgm:cxn modelId="{6DC0CD16-4F55-4098-B67E-9EE79F021847}" type="presParOf" srcId="{51ABE261-32E4-420E-A871-FD73F9A3C2E3}" destId="{1C8683E6-EE35-4BFD-8C73-481B1459EE85}" srcOrd="0" destOrd="0" presId="urn:microsoft.com/office/officeart/2005/8/layout/list1"/>
    <dgm:cxn modelId="{C380DBAA-EE5A-480B-9BC4-1424A3B70480}" type="presParOf" srcId="{51ABE261-32E4-420E-A871-FD73F9A3C2E3}" destId="{2DF54EB9-2C83-4617-91C8-76675D307F9F}" srcOrd="1" destOrd="0" presId="urn:microsoft.com/office/officeart/2005/8/layout/list1"/>
    <dgm:cxn modelId="{1171BAAA-FCBA-4CF2-92EF-61DB62001E38}" type="presParOf" srcId="{96B49877-038E-4F3E-891E-3C4A08D9EEDB}" destId="{8457F1C6-1037-4443-A5CC-81B3AA7D3488}" srcOrd="5" destOrd="0" presId="urn:microsoft.com/office/officeart/2005/8/layout/list1"/>
    <dgm:cxn modelId="{7468CFD7-CC91-42AB-A0FC-E00529466D34}" type="presParOf" srcId="{96B49877-038E-4F3E-891E-3C4A08D9EEDB}" destId="{B8F5D1D8-1882-4118-980B-EF6BE720E720}" srcOrd="6" destOrd="0" presId="urn:microsoft.com/office/officeart/2005/8/layout/list1"/>
    <dgm:cxn modelId="{1CB1468C-D3BD-44A1-BA9B-556113E88EAB}" type="presParOf" srcId="{96B49877-038E-4F3E-891E-3C4A08D9EEDB}" destId="{DF884A78-79F3-41F0-8646-6BFA2C2E5FB2}" srcOrd="7" destOrd="0" presId="urn:microsoft.com/office/officeart/2005/8/layout/list1"/>
    <dgm:cxn modelId="{326653AA-28CF-414C-9EEF-DA5267661277}" type="presParOf" srcId="{96B49877-038E-4F3E-891E-3C4A08D9EEDB}" destId="{CFD70E7D-0E0F-4E52-BBA2-30171DBA231E}" srcOrd="8" destOrd="0" presId="urn:microsoft.com/office/officeart/2005/8/layout/list1"/>
    <dgm:cxn modelId="{BA0F3552-E895-42F5-A37D-14C4FB2F3D86}" type="presParOf" srcId="{CFD70E7D-0E0F-4E52-BBA2-30171DBA231E}" destId="{CF4A8777-252E-41C7-9A22-FFC225FDFB4A}" srcOrd="0" destOrd="0" presId="urn:microsoft.com/office/officeart/2005/8/layout/list1"/>
    <dgm:cxn modelId="{E02C23CC-9FDB-4D72-B177-C582E4C51186}" type="presParOf" srcId="{CFD70E7D-0E0F-4E52-BBA2-30171DBA231E}" destId="{926C9BC6-1CF8-4A46-84A9-4DBEE4535C35}" srcOrd="1" destOrd="0" presId="urn:microsoft.com/office/officeart/2005/8/layout/list1"/>
    <dgm:cxn modelId="{5F52272A-646C-4DB2-8DA6-85FE5D2775FF}" type="presParOf" srcId="{96B49877-038E-4F3E-891E-3C4A08D9EEDB}" destId="{E24EC367-73C7-4960-9FCC-D06B8A276D75}" srcOrd="9" destOrd="0" presId="urn:microsoft.com/office/officeart/2005/8/layout/list1"/>
    <dgm:cxn modelId="{2388532F-68FE-4159-B5D3-E98A8D458AE0}" type="presParOf" srcId="{96B49877-038E-4F3E-891E-3C4A08D9EEDB}" destId="{1DE674EB-8D49-40DE-AFE4-E787F02A25D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D00CD42-9B6F-4F1F-8882-535954646074}" type="doc">
      <dgm:prSet loTypeId="urn:microsoft.com/office/officeart/2005/8/layout/lProcess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C200EAC-8BB5-44A7-AF6E-DB5D05D1B52C}">
      <dgm:prSet phldrT="[Text]" custT="1"/>
      <dgm:spPr>
        <a:xfrm>
          <a:off x="1004" y="0"/>
          <a:ext cx="2611933" cy="4525963"/>
        </a:xfrm>
        <a:prstGeom prst="roundRect">
          <a:avLst>
            <a:gd name="adj" fmla="val 10000"/>
          </a:avLst>
        </a:prstGeom>
        <a:solidFill>
          <a:srgbClr val="4F81BD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r>
            <a:rPr lang="en-US" sz="21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Prevent Injury/Death from Addiction</a:t>
          </a:r>
          <a:r>
            <a:rPr lang="en-US" sz="18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           </a:t>
          </a:r>
          <a:r>
            <a:rPr lang="en-US" sz="14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(e.g., overdose, death, NAS)</a:t>
          </a:r>
          <a:endParaRPr lang="en-US" sz="14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6203154E-79C4-46C3-9E6B-AB1ED32775F3}" type="parTrans" cxnId="{ABB56A7C-60D3-44C5-A86E-5C27FCDBF37D}">
      <dgm:prSet/>
      <dgm:spPr/>
      <dgm:t>
        <a:bodyPr/>
        <a:lstStyle/>
        <a:p>
          <a:endParaRPr lang="en-US"/>
        </a:p>
      </dgm:t>
    </dgm:pt>
    <dgm:pt modelId="{490B8ADB-0B6D-4998-8F4C-FE383A3FD9BF}" type="sibTrans" cxnId="{ABB56A7C-60D3-44C5-A86E-5C27FCDBF37D}">
      <dgm:prSet/>
      <dgm:spPr/>
      <dgm:t>
        <a:bodyPr/>
        <a:lstStyle/>
        <a:p>
          <a:endParaRPr lang="en-US"/>
        </a:p>
      </dgm:t>
    </dgm:pt>
    <dgm:pt modelId="{D557488A-CE8C-4613-9325-89DF4DCF6076}">
      <dgm:prSet phldrT="[Text]" custT="1"/>
      <dgm:spPr>
        <a:xfrm>
          <a:off x="262197" y="1359322"/>
          <a:ext cx="2089546" cy="678304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sz="11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Implement provider-level strategies (prescription monitoring, education on safe prescribing practices)</a:t>
          </a:r>
        </a:p>
      </dgm:t>
    </dgm:pt>
    <dgm:pt modelId="{1359E5EF-0B3D-4D97-AD6B-0C8270B931B8}" type="parTrans" cxnId="{6AE4CC89-0C7B-4663-B148-11FA611EAFD3}">
      <dgm:prSet/>
      <dgm:spPr/>
      <dgm:t>
        <a:bodyPr/>
        <a:lstStyle/>
        <a:p>
          <a:endParaRPr lang="en-US"/>
        </a:p>
      </dgm:t>
    </dgm:pt>
    <dgm:pt modelId="{FC7E9BBB-7EA3-41EE-BF9E-40BD8BAAA62C}" type="sibTrans" cxnId="{6AE4CC89-0C7B-4663-B148-11FA611EAFD3}">
      <dgm:prSet/>
      <dgm:spPr/>
      <dgm:t>
        <a:bodyPr/>
        <a:lstStyle/>
        <a:p>
          <a:endParaRPr lang="en-US"/>
        </a:p>
      </dgm:t>
    </dgm:pt>
    <dgm:pt modelId="{179FA381-11A6-45B5-BC11-B66EF20FEB6E}">
      <dgm:prSet phldrT="[Text]" custT="1"/>
      <dgm:spPr>
        <a:xfrm>
          <a:off x="2808833" y="0"/>
          <a:ext cx="2611933" cy="4525963"/>
        </a:xfrm>
        <a:prstGeom prst="roundRect">
          <a:avLst>
            <a:gd name="adj" fmla="val 10000"/>
          </a:avLst>
        </a:prstGeom>
        <a:solidFill>
          <a:srgbClr val="4F81BD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r>
            <a:rPr lang="en-US" sz="21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Prevent/Reduce Infectious Disease related to Addiction</a:t>
          </a:r>
          <a:endParaRPr lang="en-US" sz="21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AAB12FC8-80C0-4A25-9B18-079E0FECA549}" type="parTrans" cxnId="{838D5C17-01CD-4CE3-BCE3-7BE464D1FDB0}">
      <dgm:prSet/>
      <dgm:spPr/>
      <dgm:t>
        <a:bodyPr/>
        <a:lstStyle/>
        <a:p>
          <a:endParaRPr lang="en-US"/>
        </a:p>
      </dgm:t>
    </dgm:pt>
    <dgm:pt modelId="{7436D5D4-0AAE-4D79-B001-BE0B2AA5F558}" type="sibTrans" cxnId="{838D5C17-01CD-4CE3-BCE3-7BE464D1FDB0}">
      <dgm:prSet/>
      <dgm:spPr/>
      <dgm:t>
        <a:bodyPr/>
        <a:lstStyle/>
        <a:p>
          <a:endParaRPr lang="en-US"/>
        </a:p>
      </dgm:t>
    </dgm:pt>
    <dgm:pt modelId="{3282CEE9-16AD-4010-B0A4-765A0F114342}">
      <dgm:prSet phldrT="[Text]" custT="1"/>
      <dgm:spPr>
        <a:xfrm>
          <a:off x="3070026" y="2590800"/>
          <a:ext cx="2089546" cy="523590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sz="11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Conduct disease surveillance </a:t>
          </a:r>
        </a:p>
        <a:p>
          <a:r>
            <a:rPr lang="en-US" sz="11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(e.g. HCV, HIV, STD)</a:t>
          </a:r>
          <a:endParaRPr lang="en-US" sz="11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E32F44DF-7EAB-4758-BEE4-715858CCD559}" type="parTrans" cxnId="{422CC373-874C-4F06-A982-C5A4E732D289}">
      <dgm:prSet/>
      <dgm:spPr/>
      <dgm:t>
        <a:bodyPr/>
        <a:lstStyle/>
        <a:p>
          <a:endParaRPr lang="en-US"/>
        </a:p>
      </dgm:t>
    </dgm:pt>
    <dgm:pt modelId="{BBA8ACEC-A663-4D50-971F-76868E28D8B2}" type="sibTrans" cxnId="{422CC373-874C-4F06-A982-C5A4E732D289}">
      <dgm:prSet/>
      <dgm:spPr/>
      <dgm:t>
        <a:bodyPr/>
        <a:lstStyle/>
        <a:p>
          <a:endParaRPr lang="en-US"/>
        </a:p>
      </dgm:t>
    </dgm:pt>
    <dgm:pt modelId="{C5DA9903-A73C-4EA2-8DC0-E5322E7A48CE}">
      <dgm:prSet phldrT="[Text]" custT="1"/>
      <dgm:spPr>
        <a:xfrm>
          <a:off x="3070026" y="1962788"/>
          <a:ext cx="2089546" cy="523590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sz="11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Promote identification of disease status (Hepatitis, STD, HIV testing)</a:t>
          </a:r>
          <a:endParaRPr lang="en-US" sz="11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D9B25BCB-BB58-4310-B9CB-5CA493A860CD}" type="parTrans" cxnId="{38138D4C-AD06-48A2-9492-05763583A120}">
      <dgm:prSet/>
      <dgm:spPr/>
      <dgm:t>
        <a:bodyPr/>
        <a:lstStyle/>
        <a:p>
          <a:endParaRPr lang="en-US"/>
        </a:p>
      </dgm:t>
    </dgm:pt>
    <dgm:pt modelId="{9C213E3F-C224-4D62-8F63-8C8EDE2F062C}" type="sibTrans" cxnId="{38138D4C-AD06-48A2-9492-05763583A120}">
      <dgm:prSet/>
      <dgm:spPr/>
      <dgm:t>
        <a:bodyPr/>
        <a:lstStyle/>
        <a:p>
          <a:endParaRPr lang="en-US"/>
        </a:p>
      </dgm:t>
    </dgm:pt>
    <dgm:pt modelId="{7EB56D76-6238-4CB8-AFF2-46448DC62C70}">
      <dgm:prSet phldrT="[Text]" custT="1"/>
      <dgm:spPr>
        <a:xfrm>
          <a:off x="5616661" y="0"/>
          <a:ext cx="2611933" cy="4525963"/>
        </a:xfrm>
        <a:prstGeom prst="roundRect">
          <a:avLst>
            <a:gd name="adj" fmla="val 10000"/>
          </a:avLst>
        </a:prstGeom>
        <a:solidFill>
          <a:srgbClr val="4F81BD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gm:spPr>
      <dgm:t>
        <a:bodyPr/>
        <a:lstStyle/>
        <a:p>
          <a:r>
            <a:rPr lang="en-US" sz="21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Prevent/Reduce Addiction</a:t>
          </a:r>
          <a:endParaRPr lang="en-US" sz="21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gm:t>
    </dgm:pt>
    <dgm:pt modelId="{7248ED93-2D5E-414C-BFE1-637EEA99C6CE}" type="parTrans" cxnId="{7B441851-3174-469D-B698-D0DF6F503D43}">
      <dgm:prSet/>
      <dgm:spPr/>
      <dgm:t>
        <a:bodyPr/>
        <a:lstStyle/>
        <a:p>
          <a:endParaRPr lang="en-US"/>
        </a:p>
      </dgm:t>
    </dgm:pt>
    <dgm:pt modelId="{CDF9D874-382F-46D5-854A-B6E971A5AFB0}" type="sibTrans" cxnId="{7B441851-3174-469D-B698-D0DF6F503D43}">
      <dgm:prSet/>
      <dgm:spPr/>
      <dgm:t>
        <a:bodyPr/>
        <a:lstStyle/>
        <a:p>
          <a:endParaRPr lang="en-US"/>
        </a:p>
      </dgm:t>
    </dgm:pt>
    <dgm:pt modelId="{E7074E9C-9F91-43D6-87E6-6DF4BA838081}">
      <dgm:prSet phldrT="[Text]" custT="1"/>
      <dgm:spPr>
        <a:xfrm>
          <a:off x="5877855" y="2738631"/>
          <a:ext cx="2089546" cy="471878"/>
        </a:xfrm>
        <a:prstGeom prst="roundRect">
          <a:avLst>
            <a:gd name="adj" fmla="val 10000"/>
          </a:avLst>
        </a:prstGeom>
        <a:solidFill>
          <a:srgbClr val="9BBB59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sz="11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Advocate and assure access to treatment for substance abuse</a:t>
          </a:r>
          <a:endParaRPr lang="en-US" sz="11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DB53C1E4-0ADF-4AA4-8B9E-00C45F8F95AD}" type="parTrans" cxnId="{1351DC2F-BE06-43EB-BCBA-C5ED3635E618}">
      <dgm:prSet/>
      <dgm:spPr/>
      <dgm:t>
        <a:bodyPr/>
        <a:lstStyle/>
        <a:p>
          <a:endParaRPr lang="en-US"/>
        </a:p>
      </dgm:t>
    </dgm:pt>
    <dgm:pt modelId="{6CBDE364-E283-473F-8E2C-D930C6EDD338}" type="sibTrans" cxnId="{1351DC2F-BE06-43EB-BCBA-C5ED3635E618}">
      <dgm:prSet/>
      <dgm:spPr/>
      <dgm:t>
        <a:bodyPr/>
        <a:lstStyle/>
        <a:p>
          <a:endParaRPr lang="en-US"/>
        </a:p>
      </dgm:t>
    </dgm:pt>
    <dgm:pt modelId="{505C03DB-1D0E-4896-8FC8-B660861C41C7}">
      <dgm:prSet phldrT="[Text]" custT="1"/>
      <dgm:spPr>
        <a:xfrm>
          <a:off x="5877855" y="3283105"/>
          <a:ext cx="2089546" cy="471878"/>
        </a:xfrm>
        <a:prstGeom prst="roundRect">
          <a:avLst>
            <a:gd name="adj" fmla="val 10000"/>
          </a:avLst>
        </a:prstGeom>
        <a:solidFill>
          <a:srgbClr val="9BBB59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sz="11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Support expansion of medication assisted therapies (MAT)</a:t>
          </a:r>
          <a:endParaRPr lang="en-US" sz="11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4FFDF49A-67EB-40A0-8DBA-0355AE63226D}" type="parTrans" cxnId="{E2FE9F10-A00F-4580-B649-AC80AEF3E7DA}">
      <dgm:prSet/>
      <dgm:spPr/>
      <dgm:t>
        <a:bodyPr/>
        <a:lstStyle/>
        <a:p>
          <a:endParaRPr lang="en-US"/>
        </a:p>
      </dgm:t>
    </dgm:pt>
    <dgm:pt modelId="{483474EB-83BC-445C-A216-3A4B8CDAEE76}" type="sibTrans" cxnId="{E2FE9F10-A00F-4580-B649-AC80AEF3E7DA}">
      <dgm:prSet/>
      <dgm:spPr/>
      <dgm:t>
        <a:bodyPr/>
        <a:lstStyle/>
        <a:p>
          <a:endParaRPr lang="en-US"/>
        </a:p>
      </dgm:t>
    </dgm:pt>
    <dgm:pt modelId="{3D833CE8-E226-4D52-8B6E-5CD406381E0F}">
      <dgm:prSet phldrT="[Text]" custT="1"/>
      <dgm:spPr>
        <a:xfrm>
          <a:off x="3070026" y="1351145"/>
          <a:ext cx="2089546" cy="523590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sz="11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Increase education of public/population at Risk</a:t>
          </a:r>
          <a:endParaRPr lang="en-US" sz="11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65F0E669-A894-423D-BA11-3A4903D1DEFA}" type="parTrans" cxnId="{906C9E08-615B-417D-A1C8-2D64F8BBCBB6}">
      <dgm:prSet/>
      <dgm:spPr/>
      <dgm:t>
        <a:bodyPr/>
        <a:lstStyle/>
        <a:p>
          <a:endParaRPr lang="en-US"/>
        </a:p>
      </dgm:t>
    </dgm:pt>
    <dgm:pt modelId="{BCA01891-44BC-4792-8C83-06D1B6624E57}" type="sibTrans" cxnId="{906C9E08-615B-417D-A1C8-2D64F8BBCBB6}">
      <dgm:prSet/>
      <dgm:spPr/>
      <dgm:t>
        <a:bodyPr/>
        <a:lstStyle/>
        <a:p>
          <a:endParaRPr lang="en-US"/>
        </a:p>
      </dgm:t>
    </dgm:pt>
    <dgm:pt modelId="{C3977A18-DE9E-471D-99B0-E1887C57A081}">
      <dgm:prSet phldrT="[Text]" custT="1"/>
      <dgm:spPr>
        <a:xfrm>
          <a:off x="3070026" y="3171074"/>
          <a:ext cx="2089546" cy="523590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sz="11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Promote treatment as prevention (linkage to care, access to medications)</a:t>
          </a:r>
          <a:endParaRPr lang="en-US" sz="11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FE0404D6-3DAB-4BDB-8BC6-78473D74B8FA}" type="parTrans" cxnId="{E0B24A99-5A02-497B-B36E-A9718BC884D0}">
      <dgm:prSet/>
      <dgm:spPr/>
      <dgm:t>
        <a:bodyPr/>
        <a:lstStyle/>
        <a:p>
          <a:endParaRPr lang="en-US"/>
        </a:p>
      </dgm:t>
    </dgm:pt>
    <dgm:pt modelId="{083469C6-14C1-4C82-B5DD-BB996332E9DE}" type="sibTrans" cxnId="{E0B24A99-5A02-497B-B36E-A9718BC884D0}">
      <dgm:prSet/>
      <dgm:spPr/>
      <dgm:t>
        <a:bodyPr/>
        <a:lstStyle/>
        <a:p>
          <a:endParaRPr lang="en-US"/>
        </a:p>
      </dgm:t>
    </dgm:pt>
    <dgm:pt modelId="{1E2ECA86-FC9E-4010-A799-2D5638883378}">
      <dgm:prSet phldrT="[Text]" custT="1"/>
      <dgm:spPr>
        <a:xfrm>
          <a:off x="3070026" y="3775217"/>
          <a:ext cx="2089546" cy="523590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sz="11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Implement Comprehensive Harm Reduction programs</a:t>
          </a:r>
          <a:endParaRPr lang="en-US" sz="11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CF3FE040-22CC-4C0F-8AB6-47C205BC11AD}" type="parTrans" cxnId="{4F7432D3-3408-44DD-9986-BD98A288C8E6}">
      <dgm:prSet/>
      <dgm:spPr/>
      <dgm:t>
        <a:bodyPr/>
        <a:lstStyle/>
        <a:p>
          <a:endParaRPr lang="en-US"/>
        </a:p>
      </dgm:t>
    </dgm:pt>
    <dgm:pt modelId="{021CE25E-7825-4526-95DA-450D3047CA1B}" type="sibTrans" cxnId="{4F7432D3-3408-44DD-9986-BD98A288C8E6}">
      <dgm:prSet/>
      <dgm:spPr/>
      <dgm:t>
        <a:bodyPr/>
        <a:lstStyle/>
        <a:p>
          <a:endParaRPr lang="en-US"/>
        </a:p>
      </dgm:t>
    </dgm:pt>
    <dgm:pt modelId="{7C5C12AD-3F54-45F0-A9A7-C52035557118}">
      <dgm:prSet phldrT="[Text]" custT="1"/>
      <dgm:spPr>
        <a:xfrm>
          <a:off x="262197" y="2117295"/>
          <a:ext cx="2089546" cy="517844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sz="11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Increase access to naloxone</a:t>
          </a:r>
        </a:p>
      </dgm:t>
    </dgm:pt>
    <dgm:pt modelId="{FB76F4D7-6821-4229-8F75-2EF06F4F7BDC}" type="parTrans" cxnId="{09A82452-4AB1-4A04-A7D2-1164BAB7AC04}">
      <dgm:prSet/>
      <dgm:spPr/>
      <dgm:t>
        <a:bodyPr/>
        <a:lstStyle/>
        <a:p>
          <a:endParaRPr lang="en-US"/>
        </a:p>
      </dgm:t>
    </dgm:pt>
    <dgm:pt modelId="{CA610494-0C10-46AE-8A81-8C292836BB51}" type="sibTrans" cxnId="{09A82452-4AB1-4A04-A7D2-1164BAB7AC04}">
      <dgm:prSet/>
      <dgm:spPr/>
      <dgm:t>
        <a:bodyPr/>
        <a:lstStyle/>
        <a:p>
          <a:endParaRPr lang="en-US"/>
        </a:p>
      </dgm:t>
    </dgm:pt>
    <dgm:pt modelId="{109180C3-F678-48A1-9B62-489DA7D1410A}">
      <dgm:prSet phldrT="[Text]" custT="1"/>
      <dgm:spPr>
        <a:xfrm>
          <a:off x="5877855" y="3827580"/>
          <a:ext cx="2089546" cy="471878"/>
        </a:xfrm>
        <a:prstGeom prst="roundRect">
          <a:avLst>
            <a:gd name="adj" fmla="val 10000"/>
          </a:avLst>
        </a:prstGeom>
        <a:solidFill>
          <a:srgbClr val="9BBB59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sz="11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Collaborate to assure and implement successful policy strategies (drug courts, etc)</a:t>
          </a:r>
          <a:endParaRPr lang="en-US" sz="11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3BA7CF02-3ABB-4202-9457-46B5CB995351}" type="parTrans" cxnId="{1DD7F6D7-F7F1-418C-9323-FC3768213599}">
      <dgm:prSet/>
      <dgm:spPr/>
      <dgm:t>
        <a:bodyPr/>
        <a:lstStyle/>
        <a:p>
          <a:endParaRPr lang="en-US"/>
        </a:p>
      </dgm:t>
    </dgm:pt>
    <dgm:pt modelId="{C60FA54A-2121-4A2D-8AFD-D6B7FD36CBB3}" type="sibTrans" cxnId="{1DD7F6D7-F7F1-418C-9323-FC3768213599}">
      <dgm:prSet/>
      <dgm:spPr/>
      <dgm:t>
        <a:bodyPr/>
        <a:lstStyle/>
        <a:p>
          <a:endParaRPr lang="en-US"/>
        </a:p>
      </dgm:t>
    </dgm:pt>
    <dgm:pt modelId="{3A0D3190-9E55-4E54-991E-6914E3B12696}">
      <dgm:prSet phldrT="[Text]" custT="1"/>
      <dgm:spPr>
        <a:xfrm>
          <a:off x="262197" y="3909835"/>
          <a:ext cx="2089546" cy="388295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sz="11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Increase education of public/population at risk</a:t>
          </a:r>
        </a:p>
      </dgm:t>
    </dgm:pt>
    <dgm:pt modelId="{9EC88CAA-39CA-4950-85A4-A9AB52801555}" type="parTrans" cxnId="{997D986B-9710-44ED-A83F-152A2A24FF82}">
      <dgm:prSet/>
      <dgm:spPr/>
      <dgm:t>
        <a:bodyPr/>
        <a:lstStyle/>
        <a:p>
          <a:endParaRPr lang="en-US"/>
        </a:p>
      </dgm:t>
    </dgm:pt>
    <dgm:pt modelId="{3C88289F-D030-40F2-A377-CEA264FBC1CC}" type="sibTrans" cxnId="{997D986B-9710-44ED-A83F-152A2A24FF82}">
      <dgm:prSet/>
      <dgm:spPr/>
      <dgm:t>
        <a:bodyPr/>
        <a:lstStyle/>
        <a:p>
          <a:endParaRPr lang="en-US"/>
        </a:p>
      </dgm:t>
    </dgm:pt>
    <dgm:pt modelId="{B619BB00-2042-4D45-9A4B-6255E281DE00}">
      <dgm:prSet custT="1"/>
      <dgm:spPr>
        <a:xfrm>
          <a:off x="262197" y="3312322"/>
          <a:ext cx="2089546" cy="517844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sz="11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Establish process to address needs of infants born to mothers with addiction (HB1157)</a:t>
          </a:r>
          <a:endParaRPr lang="en-US" sz="11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AC883C5E-F6F6-4F89-BE17-7C3F63B5B7F9}" type="parTrans" cxnId="{64D18B18-E068-4B4B-846E-D7C16CF5BB29}">
      <dgm:prSet/>
      <dgm:spPr/>
      <dgm:t>
        <a:bodyPr/>
        <a:lstStyle/>
        <a:p>
          <a:endParaRPr lang="en-US"/>
        </a:p>
      </dgm:t>
    </dgm:pt>
    <dgm:pt modelId="{F60BAEEA-FA4F-4A79-B3D5-DBEEA0120668}" type="sibTrans" cxnId="{64D18B18-E068-4B4B-846E-D7C16CF5BB29}">
      <dgm:prSet/>
      <dgm:spPr/>
      <dgm:t>
        <a:bodyPr/>
        <a:lstStyle/>
        <a:p>
          <a:endParaRPr lang="en-US"/>
        </a:p>
      </dgm:t>
    </dgm:pt>
    <dgm:pt modelId="{8EA2FD04-7274-4DE1-AC87-464632126E93}">
      <dgm:prSet custT="1"/>
      <dgm:spPr>
        <a:xfrm>
          <a:off x="262197" y="2714808"/>
          <a:ext cx="2089546" cy="517844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sz="11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Promote family planning </a:t>
          </a:r>
          <a:endParaRPr lang="en-US" sz="11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28B9D464-96C9-454E-B765-9FE8E08CF521}" type="parTrans" cxnId="{F85438B8-2F74-4F08-8FE3-604BC0142537}">
      <dgm:prSet/>
      <dgm:spPr/>
      <dgm:t>
        <a:bodyPr/>
        <a:lstStyle/>
        <a:p>
          <a:endParaRPr lang="en-US"/>
        </a:p>
      </dgm:t>
    </dgm:pt>
    <dgm:pt modelId="{1A5C02F0-3DFC-4EEE-9449-1D0906600446}" type="sibTrans" cxnId="{F85438B8-2F74-4F08-8FE3-604BC0142537}">
      <dgm:prSet/>
      <dgm:spPr/>
      <dgm:t>
        <a:bodyPr/>
        <a:lstStyle/>
        <a:p>
          <a:endParaRPr lang="en-US"/>
        </a:p>
      </dgm:t>
    </dgm:pt>
    <dgm:pt modelId="{5BB2E537-9E84-495A-AA3D-2FE40DC2C6A3}">
      <dgm:prSet custT="1"/>
      <dgm:spPr>
        <a:xfrm>
          <a:off x="5877855" y="1902469"/>
          <a:ext cx="2089546" cy="763564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sz="11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Increase access to treatment via provider trainings on addiction disease management (Project ECHO)</a:t>
          </a:r>
          <a:endParaRPr lang="en-US" sz="11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971C8B58-CC09-4CC0-A2C7-4B457D5A6757}" type="parTrans" cxnId="{B3712C7A-E775-4A8A-B0D7-400211E0CDFE}">
      <dgm:prSet/>
      <dgm:spPr/>
      <dgm:t>
        <a:bodyPr/>
        <a:lstStyle/>
        <a:p>
          <a:endParaRPr lang="en-US"/>
        </a:p>
      </dgm:t>
    </dgm:pt>
    <dgm:pt modelId="{FAF79545-C65C-411D-98C6-0557223AC86C}" type="sibTrans" cxnId="{B3712C7A-E775-4A8A-B0D7-400211E0CDFE}">
      <dgm:prSet/>
      <dgm:spPr/>
      <dgm:t>
        <a:bodyPr/>
        <a:lstStyle/>
        <a:p>
          <a:endParaRPr lang="en-US"/>
        </a:p>
      </dgm:t>
    </dgm:pt>
    <dgm:pt modelId="{D2BFED21-D978-4083-A39E-85C3F583A7D5}">
      <dgm:prSet/>
      <dgm:spPr>
        <a:xfrm>
          <a:off x="5877855" y="1357995"/>
          <a:ext cx="2089546" cy="471878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gm:spPr>
      <dgm:t>
        <a:bodyPr/>
        <a:lstStyle/>
        <a:p>
          <a:r>
            <a:rPr lang="en-US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Support development of regional and community coalitions</a:t>
          </a:r>
          <a:endParaRPr lang="en-US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gm:t>
    </dgm:pt>
    <dgm:pt modelId="{7870CA6A-1CE3-425D-99A2-0C52B83E5B0D}" type="parTrans" cxnId="{3BE5A450-C1EC-47B2-BC59-7BFA954E8A49}">
      <dgm:prSet/>
      <dgm:spPr/>
      <dgm:t>
        <a:bodyPr/>
        <a:lstStyle/>
        <a:p>
          <a:endParaRPr lang="en-US"/>
        </a:p>
      </dgm:t>
    </dgm:pt>
    <dgm:pt modelId="{C55018BD-DBAB-4C26-A8BF-40C55AABFD52}" type="sibTrans" cxnId="{3BE5A450-C1EC-47B2-BC59-7BFA954E8A49}">
      <dgm:prSet/>
      <dgm:spPr/>
      <dgm:t>
        <a:bodyPr/>
        <a:lstStyle/>
        <a:p>
          <a:endParaRPr lang="en-US"/>
        </a:p>
      </dgm:t>
    </dgm:pt>
    <dgm:pt modelId="{40630489-ED88-43B4-A9F6-1E8A62F32500}" type="pres">
      <dgm:prSet presAssocID="{9D00CD42-9B6F-4F1F-8882-535954646074}" presName="theList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6BBC426-9E51-487B-8175-77990F6D2123}" type="pres">
      <dgm:prSet presAssocID="{BC200EAC-8BB5-44A7-AF6E-DB5D05D1B52C}" presName="compNode" presStyleCnt="0"/>
      <dgm:spPr/>
    </dgm:pt>
    <dgm:pt modelId="{C2CCE396-C9AA-4AEA-A854-E3754C1898D7}" type="pres">
      <dgm:prSet presAssocID="{BC200EAC-8BB5-44A7-AF6E-DB5D05D1B52C}" presName="aNode" presStyleLbl="bgShp" presStyleIdx="0" presStyleCnt="3"/>
      <dgm:spPr/>
      <dgm:t>
        <a:bodyPr/>
        <a:lstStyle/>
        <a:p>
          <a:endParaRPr lang="en-US"/>
        </a:p>
      </dgm:t>
    </dgm:pt>
    <dgm:pt modelId="{D51B65FF-9B20-409D-B2D6-A2CA10908D97}" type="pres">
      <dgm:prSet presAssocID="{BC200EAC-8BB5-44A7-AF6E-DB5D05D1B52C}" presName="textNode" presStyleLbl="bgShp" presStyleIdx="0" presStyleCnt="3"/>
      <dgm:spPr/>
      <dgm:t>
        <a:bodyPr/>
        <a:lstStyle/>
        <a:p>
          <a:endParaRPr lang="en-US"/>
        </a:p>
      </dgm:t>
    </dgm:pt>
    <dgm:pt modelId="{245728B9-F098-4BC0-9D68-1A397538D5F9}" type="pres">
      <dgm:prSet presAssocID="{BC200EAC-8BB5-44A7-AF6E-DB5D05D1B52C}" presName="compChildNode" presStyleCnt="0"/>
      <dgm:spPr/>
    </dgm:pt>
    <dgm:pt modelId="{F5F401C5-388B-4200-A171-993FA4306DC5}" type="pres">
      <dgm:prSet presAssocID="{BC200EAC-8BB5-44A7-AF6E-DB5D05D1B52C}" presName="theInnerList" presStyleCnt="0"/>
      <dgm:spPr/>
    </dgm:pt>
    <dgm:pt modelId="{CBA16AE2-0906-4577-9947-190313BA0272}" type="pres">
      <dgm:prSet presAssocID="{D557488A-CE8C-4613-9325-89DF4DCF6076}" presName="childNode" presStyleLbl="node1" presStyleIdx="0" presStyleCnt="15" custScaleY="13098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C6AA570-EA57-440A-9685-5E8DD48C7588}" type="pres">
      <dgm:prSet presAssocID="{D557488A-CE8C-4613-9325-89DF4DCF6076}" presName="aSpace2" presStyleCnt="0"/>
      <dgm:spPr/>
    </dgm:pt>
    <dgm:pt modelId="{EAB563DE-F81C-4BEF-B285-349710E35296}" type="pres">
      <dgm:prSet presAssocID="{7C5C12AD-3F54-45F0-A9A7-C52035557118}" presName="childNode" presStyleLbl="node1" presStyleIdx="1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E9C9104-B6B7-4EAC-800A-C739FDE5D4A8}" type="pres">
      <dgm:prSet presAssocID="{7C5C12AD-3F54-45F0-A9A7-C52035557118}" presName="aSpace2" presStyleCnt="0"/>
      <dgm:spPr/>
    </dgm:pt>
    <dgm:pt modelId="{1DF85296-253A-4A24-BEB4-60F7B63A0F27}" type="pres">
      <dgm:prSet presAssocID="{8EA2FD04-7274-4DE1-AC87-464632126E93}" presName="childNode" presStyleLbl="node1" presStyleIdx="2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9A5F9E6-A584-42DD-B558-2693030C04CA}" type="pres">
      <dgm:prSet presAssocID="{8EA2FD04-7274-4DE1-AC87-464632126E93}" presName="aSpace2" presStyleCnt="0"/>
      <dgm:spPr/>
    </dgm:pt>
    <dgm:pt modelId="{C78EA154-776E-459D-981E-CA02444290FF}" type="pres">
      <dgm:prSet presAssocID="{B619BB00-2042-4D45-9A4B-6255E281DE00}" presName="childNode" presStyleLbl="node1" presStyleIdx="3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13FE8BB-0853-4A88-9477-30127C179D0E}" type="pres">
      <dgm:prSet presAssocID="{B619BB00-2042-4D45-9A4B-6255E281DE00}" presName="aSpace2" presStyleCnt="0"/>
      <dgm:spPr/>
    </dgm:pt>
    <dgm:pt modelId="{12C5BF0E-A83F-4C52-A7A7-803DF018C3AA}" type="pres">
      <dgm:prSet presAssocID="{3A0D3190-9E55-4E54-991E-6914E3B12696}" presName="childNode" presStyleLbl="node1" presStyleIdx="4" presStyleCnt="15" custScaleY="7498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9878634-21BB-46F9-8AAA-7EAD63AD4AB0}" type="pres">
      <dgm:prSet presAssocID="{BC200EAC-8BB5-44A7-AF6E-DB5D05D1B52C}" presName="aSpace" presStyleCnt="0"/>
      <dgm:spPr/>
    </dgm:pt>
    <dgm:pt modelId="{0DB0AFAA-9B41-4AFF-B12E-E984C0FFD669}" type="pres">
      <dgm:prSet presAssocID="{179FA381-11A6-45B5-BC11-B66EF20FEB6E}" presName="compNode" presStyleCnt="0"/>
      <dgm:spPr/>
    </dgm:pt>
    <dgm:pt modelId="{973EF4C3-9D66-421E-8CE9-E19DE0551066}" type="pres">
      <dgm:prSet presAssocID="{179FA381-11A6-45B5-BC11-B66EF20FEB6E}" presName="aNode" presStyleLbl="bgShp" presStyleIdx="1" presStyleCnt="3"/>
      <dgm:spPr/>
      <dgm:t>
        <a:bodyPr/>
        <a:lstStyle/>
        <a:p>
          <a:endParaRPr lang="en-US"/>
        </a:p>
      </dgm:t>
    </dgm:pt>
    <dgm:pt modelId="{991CDF76-8A5E-4382-96DA-716EF74075B9}" type="pres">
      <dgm:prSet presAssocID="{179FA381-11A6-45B5-BC11-B66EF20FEB6E}" presName="textNode" presStyleLbl="bgShp" presStyleIdx="1" presStyleCnt="3"/>
      <dgm:spPr/>
      <dgm:t>
        <a:bodyPr/>
        <a:lstStyle/>
        <a:p>
          <a:endParaRPr lang="en-US"/>
        </a:p>
      </dgm:t>
    </dgm:pt>
    <dgm:pt modelId="{7145E434-9D15-43F5-A973-8EA04B97E972}" type="pres">
      <dgm:prSet presAssocID="{179FA381-11A6-45B5-BC11-B66EF20FEB6E}" presName="compChildNode" presStyleCnt="0"/>
      <dgm:spPr/>
    </dgm:pt>
    <dgm:pt modelId="{570AFE01-AECF-41B9-B685-4A9FBD26452C}" type="pres">
      <dgm:prSet presAssocID="{179FA381-11A6-45B5-BC11-B66EF20FEB6E}" presName="theInnerList" presStyleCnt="0"/>
      <dgm:spPr/>
    </dgm:pt>
    <dgm:pt modelId="{E7A0C77C-162C-4896-BEC4-C2254DAB4B8B}" type="pres">
      <dgm:prSet presAssocID="{3282CEE9-16AD-4010-B0A4-765A0F114342}" presName="childNode" presStyleLbl="node1" presStyleIdx="5" presStyleCnt="15" custLinFactY="200000" custLinFactNeighborX="0" custLinFactNeighborY="22963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8262A09-2165-4656-9B37-C8C1F780C28B}" type="pres">
      <dgm:prSet presAssocID="{3282CEE9-16AD-4010-B0A4-765A0F114342}" presName="aSpace2" presStyleCnt="0"/>
      <dgm:spPr/>
    </dgm:pt>
    <dgm:pt modelId="{63C7A74E-8D1E-4C69-B987-9070EA8188D3}" type="pres">
      <dgm:prSet presAssocID="{C5DA9903-A73C-4EA2-8DC0-E5322E7A48CE}" presName="childNode" presStyleLbl="node1" presStyleIdx="6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F9B8DA8-0301-4732-8C70-E85B5814C1A9}" type="pres">
      <dgm:prSet presAssocID="{C5DA9903-A73C-4EA2-8DC0-E5322E7A48CE}" presName="aSpace2" presStyleCnt="0"/>
      <dgm:spPr/>
    </dgm:pt>
    <dgm:pt modelId="{D1B11369-2F90-4096-8BE5-5CDAF75D28F3}" type="pres">
      <dgm:prSet presAssocID="{3D833CE8-E226-4D52-8B6E-5CD406381E0F}" presName="childNode" presStyleLbl="node1" presStyleIdx="7" presStyleCnt="15" custLinFactY="-200000" custLinFactNeighborX="0" custLinFactNeighborY="-20931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A70D7A6-F00A-4A8A-92A1-49B4363BA75D}" type="pres">
      <dgm:prSet presAssocID="{3D833CE8-E226-4D52-8B6E-5CD406381E0F}" presName="aSpace2" presStyleCnt="0"/>
      <dgm:spPr/>
    </dgm:pt>
    <dgm:pt modelId="{9E826BD2-0CCC-42EF-A906-541C93954706}" type="pres">
      <dgm:prSet presAssocID="{C3977A18-DE9E-471D-99B0-E1887C57A081}" presName="childNode" presStyleLbl="node1" presStyleIdx="8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E3561EA-CE55-4834-9CEC-B296169F80F3}" type="pres">
      <dgm:prSet presAssocID="{C3977A18-DE9E-471D-99B0-E1887C57A081}" presName="aSpace2" presStyleCnt="0"/>
      <dgm:spPr/>
    </dgm:pt>
    <dgm:pt modelId="{01A6E1C6-7405-4904-BEAC-FEF0FC0AFA82}" type="pres">
      <dgm:prSet presAssocID="{1E2ECA86-FC9E-4010-A799-2D5638883378}" presName="childNode" presStyleLbl="node1" presStyleIdx="9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005500B-9F1A-47A7-B96C-FF3DC669A80C}" type="pres">
      <dgm:prSet presAssocID="{179FA381-11A6-45B5-BC11-B66EF20FEB6E}" presName="aSpace" presStyleCnt="0"/>
      <dgm:spPr/>
    </dgm:pt>
    <dgm:pt modelId="{A494271E-4EA0-4450-BBCF-251CFE25A161}" type="pres">
      <dgm:prSet presAssocID="{7EB56D76-6238-4CB8-AFF2-46448DC62C70}" presName="compNode" presStyleCnt="0"/>
      <dgm:spPr/>
    </dgm:pt>
    <dgm:pt modelId="{4239362D-9653-4438-8A21-8E8B48FEE557}" type="pres">
      <dgm:prSet presAssocID="{7EB56D76-6238-4CB8-AFF2-46448DC62C70}" presName="aNode" presStyleLbl="bgShp" presStyleIdx="2" presStyleCnt="3"/>
      <dgm:spPr/>
      <dgm:t>
        <a:bodyPr/>
        <a:lstStyle/>
        <a:p>
          <a:endParaRPr lang="en-US"/>
        </a:p>
      </dgm:t>
    </dgm:pt>
    <dgm:pt modelId="{5BCE2B01-5C96-4335-A2AB-0D22EB963FEF}" type="pres">
      <dgm:prSet presAssocID="{7EB56D76-6238-4CB8-AFF2-46448DC62C70}" presName="textNode" presStyleLbl="bgShp" presStyleIdx="2" presStyleCnt="3"/>
      <dgm:spPr/>
      <dgm:t>
        <a:bodyPr/>
        <a:lstStyle/>
        <a:p>
          <a:endParaRPr lang="en-US"/>
        </a:p>
      </dgm:t>
    </dgm:pt>
    <dgm:pt modelId="{5D24C4EA-82B9-4848-8BB4-BBBB481258BC}" type="pres">
      <dgm:prSet presAssocID="{7EB56D76-6238-4CB8-AFF2-46448DC62C70}" presName="compChildNode" presStyleCnt="0"/>
      <dgm:spPr/>
    </dgm:pt>
    <dgm:pt modelId="{1CDEECF1-7E78-439F-8017-8F44427CF768}" type="pres">
      <dgm:prSet presAssocID="{7EB56D76-6238-4CB8-AFF2-46448DC62C70}" presName="theInnerList" presStyleCnt="0"/>
      <dgm:spPr/>
    </dgm:pt>
    <dgm:pt modelId="{140D7A85-77B0-4E1D-A8F3-5E86AD7DBA1E}" type="pres">
      <dgm:prSet presAssocID="{D2BFED21-D978-4083-A39E-85C3F583A7D5}" presName="childNode" presStyleLbl="node1" presStyleIdx="10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97F9E54-404B-4E85-B101-80F58A190127}" type="pres">
      <dgm:prSet presAssocID="{D2BFED21-D978-4083-A39E-85C3F583A7D5}" presName="aSpace2" presStyleCnt="0"/>
      <dgm:spPr/>
    </dgm:pt>
    <dgm:pt modelId="{C76C4B5C-8BA2-4763-B4DD-88BD8B885F8A}" type="pres">
      <dgm:prSet presAssocID="{5BB2E537-9E84-495A-AA3D-2FE40DC2C6A3}" presName="childNode" presStyleLbl="node1" presStyleIdx="11" presStyleCnt="15" custScaleY="16181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07E8B3B-9000-4631-8278-976829E1A1BC}" type="pres">
      <dgm:prSet presAssocID="{5BB2E537-9E84-495A-AA3D-2FE40DC2C6A3}" presName="aSpace2" presStyleCnt="0"/>
      <dgm:spPr/>
    </dgm:pt>
    <dgm:pt modelId="{58CC0999-5F73-46BD-B17E-7437D66199F3}" type="pres">
      <dgm:prSet presAssocID="{E7074E9C-9F91-43D6-87E6-6DF4BA838081}" presName="childNode" presStyleLbl="node1" presStyleIdx="12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E63B1D2-6384-4287-84D9-F2248A15D9BE}" type="pres">
      <dgm:prSet presAssocID="{E7074E9C-9F91-43D6-87E6-6DF4BA838081}" presName="aSpace2" presStyleCnt="0"/>
      <dgm:spPr/>
    </dgm:pt>
    <dgm:pt modelId="{74540BC6-4D86-4F5B-A595-3AAA0F7C175B}" type="pres">
      <dgm:prSet presAssocID="{505C03DB-1D0E-4896-8FC8-B660861C41C7}" presName="childNode" presStyleLbl="node1" presStyleIdx="13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574E53C-72D4-4156-B22A-62075E9F237E}" type="pres">
      <dgm:prSet presAssocID="{505C03DB-1D0E-4896-8FC8-B660861C41C7}" presName="aSpace2" presStyleCnt="0"/>
      <dgm:spPr/>
    </dgm:pt>
    <dgm:pt modelId="{C9597FDB-7E4A-44CC-B6B9-EB3903E64F4E}" type="pres">
      <dgm:prSet presAssocID="{109180C3-F678-48A1-9B62-489DA7D1410A}" presName="childNode" presStyleLbl="node1" presStyleIdx="14" presStyleCnt="1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BB56A7C-60D3-44C5-A86E-5C27FCDBF37D}" srcId="{9D00CD42-9B6F-4F1F-8882-535954646074}" destId="{BC200EAC-8BB5-44A7-AF6E-DB5D05D1B52C}" srcOrd="0" destOrd="0" parTransId="{6203154E-79C4-46C3-9E6B-AB1ED32775F3}" sibTransId="{490B8ADB-0B6D-4998-8F4C-FE383A3FD9BF}"/>
    <dgm:cxn modelId="{926F8DBA-D876-440A-9F9F-14DE45029C27}" type="presOf" srcId="{179FA381-11A6-45B5-BC11-B66EF20FEB6E}" destId="{991CDF76-8A5E-4382-96DA-716EF74075B9}" srcOrd="1" destOrd="0" presId="urn:microsoft.com/office/officeart/2005/8/layout/lProcess2"/>
    <dgm:cxn modelId="{E0B24A99-5A02-497B-B36E-A9718BC884D0}" srcId="{179FA381-11A6-45B5-BC11-B66EF20FEB6E}" destId="{C3977A18-DE9E-471D-99B0-E1887C57A081}" srcOrd="3" destOrd="0" parTransId="{FE0404D6-3DAB-4BDB-8BC6-78473D74B8FA}" sibTransId="{083469C6-14C1-4C82-B5DD-BB996332E9DE}"/>
    <dgm:cxn modelId="{1723FDFC-931E-42D8-9261-F39AB3CABE43}" type="presOf" srcId="{3D833CE8-E226-4D52-8B6E-5CD406381E0F}" destId="{D1B11369-2F90-4096-8BE5-5CDAF75D28F3}" srcOrd="0" destOrd="0" presId="urn:microsoft.com/office/officeart/2005/8/layout/lProcess2"/>
    <dgm:cxn modelId="{EFD3C780-BEAA-419F-9F59-86D1E20E79D8}" type="presOf" srcId="{E7074E9C-9F91-43D6-87E6-6DF4BA838081}" destId="{58CC0999-5F73-46BD-B17E-7437D66199F3}" srcOrd="0" destOrd="0" presId="urn:microsoft.com/office/officeart/2005/8/layout/lProcess2"/>
    <dgm:cxn modelId="{422CC373-874C-4F06-A982-C5A4E732D289}" srcId="{179FA381-11A6-45B5-BC11-B66EF20FEB6E}" destId="{3282CEE9-16AD-4010-B0A4-765A0F114342}" srcOrd="0" destOrd="0" parTransId="{E32F44DF-7EAB-4758-BEE4-715858CCD559}" sibTransId="{BBA8ACEC-A663-4D50-971F-76868E28D8B2}"/>
    <dgm:cxn modelId="{20EFF68D-2F4E-414F-B58D-02C5C4462FB4}" type="presOf" srcId="{109180C3-F678-48A1-9B62-489DA7D1410A}" destId="{C9597FDB-7E4A-44CC-B6B9-EB3903E64F4E}" srcOrd="0" destOrd="0" presId="urn:microsoft.com/office/officeart/2005/8/layout/lProcess2"/>
    <dgm:cxn modelId="{C9169954-5084-48E2-8633-80BCBFF392F7}" type="presOf" srcId="{7EB56D76-6238-4CB8-AFF2-46448DC62C70}" destId="{5BCE2B01-5C96-4335-A2AB-0D22EB963FEF}" srcOrd="1" destOrd="0" presId="urn:microsoft.com/office/officeart/2005/8/layout/lProcess2"/>
    <dgm:cxn modelId="{B9FE6EA5-1F59-425E-AADD-2FC6AA2C8CAD}" type="presOf" srcId="{8EA2FD04-7274-4DE1-AC87-464632126E93}" destId="{1DF85296-253A-4A24-BEB4-60F7B63A0F27}" srcOrd="0" destOrd="0" presId="urn:microsoft.com/office/officeart/2005/8/layout/lProcess2"/>
    <dgm:cxn modelId="{09A82452-4AB1-4A04-A7D2-1164BAB7AC04}" srcId="{BC200EAC-8BB5-44A7-AF6E-DB5D05D1B52C}" destId="{7C5C12AD-3F54-45F0-A9A7-C52035557118}" srcOrd="1" destOrd="0" parTransId="{FB76F4D7-6821-4229-8F75-2EF06F4F7BDC}" sibTransId="{CA610494-0C10-46AE-8A81-8C292836BB51}"/>
    <dgm:cxn modelId="{8EBBA9B0-73E2-4C79-91DF-6BEEE4469818}" type="presOf" srcId="{5BB2E537-9E84-495A-AA3D-2FE40DC2C6A3}" destId="{C76C4B5C-8BA2-4763-B4DD-88BD8B885F8A}" srcOrd="0" destOrd="0" presId="urn:microsoft.com/office/officeart/2005/8/layout/lProcess2"/>
    <dgm:cxn modelId="{E5EED8B5-B4F4-4D13-9FF3-14042E20A696}" type="presOf" srcId="{3282CEE9-16AD-4010-B0A4-765A0F114342}" destId="{E7A0C77C-162C-4896-BEC4-C2254DAB4B8B}" srcOrd="0" destOrd="0" presId="urn:microsoft.com/office/officeart/2005/8/layout/lProcess2"/>
    <dgm:cxn modelId="{38138D4C-AD06-48A2-9492-05763583A120}" srcId="{179FA381-11A6-45B5-BC11-B66EF20FEB6E}" destId="{C5DA9903-A73C-4EA2-8DC0-E5322E7A48CE}" srcOrd="1" destOrd="0" parTransId="{D9B25BCB-BB58-4310-B9CB-5CA493A860CD}" sibTransId="{9C213E3F-C224-4D62-8F63-8C8EDE2F062C}"/>
    <dgm:cxn modelId="{997D986B-9710-44ED-A83F-152A2A24FF82}" srcId="{BC200EAC-8BB5-44A7-AF6E-DB5D05D1B52C}" destId="{3A0D3190-9E55-4E54-991E-6914E3B12696}" srcOrd="4" destOrd="0" parTransId="{9EC88CAA-39CA-4950-85A4-A9AB52801555}" sibTransId="{3C88289F-D030-40F2-A377-CEA264FBC1CC}"/>
    <dgm:cxn modelId="{029FE458-C49F-454A-BC49-F7AB04E904E7}" type="presOf" srcId="{9D00CD42-9B6F-4F1F-8882-535954646074}" destId="{40630489-ED88-43B4-A9F6-1E8A62F32500}" srcOrd="0" destOrd="0" presId="urn:microsoft.com/office/officeart/2005/8/layout/lProcess2"/>
    <dgm:cxn modelId="{A2686117-2603-401F-88DC-83E563C31261}" type="presOf" srcId="{BC200EAC-8BB5-44A7-AF6E-DB5D05D1B52C}" destId="{C2CCE396-C9AA-4AEA-A854-E3754C1898D7}" srcOrd="0" destOrd="0" presId="urn:microsoft.com/office/officeart/2005/8/layout/lProcess2"/>
    <dgm:cxn modelId="{4F7432D3-3408-44DD-9986-BD98A288C8E6}" srcId="{179FA381-11A6-45B5-BC11-B66EF20FEB6E}" destId="{1E2ECA86-FC9E-4010-A799-2D5638883378}" srcOrd="4" destOrd="0" parTransId="{CF3FE040-22CC-4C0F-8AB6-47C205BC11AD}" sibTransId="{021CE25E-7825-4526-95DA-450D3047CA1B}"/>
    <dgm:cxn modelId="{64D18B18-E068-4B4B-846E-D7C16CF5BB29}" srcId="{BC200EAC-8BB5-44A7-AF6E-DB5D05D1B52C}" destId="{B619BB00-2042-4D45-9A4B-6255E281DE00}" srcOrd="3" destOrd="0" parTransId="{AC883C5E-F6F6-4F89-BE17-7C3F63B5B7F9}" sibTransId="{F60BAEEA-FA4F-4A79-B3D5-DBEEA0120668}"/>
    <dgm:cxn modelId="{17379129-0C9F-4B9A-884C-284A8776EE31}" type="presOf" srcId="{D557488A-CE8C-4613-9325-89DF4DCF6076}" destId="{CBA16AE2-0906-4577-9947-190313BA0272}" srcOrd="0" destOrd="0" presId="urn:microsoft.com/office/officeart/2005/8/layout/lProcess2"/>
    <dgm:cxn modelId="{F85438B8-2F74-4F08-8FE3-604BC0142537}" srcId="{BC200EAC-8BB5-44A7-AF6E-DB5D05D1B52C}" destId="{8EA2FD04-7274-4DE1-AC87-464632126E93}" srcOrd="2" destOrd="0" parTransId="{28B9D464-96C9-454E-B765-9FE8E08CF521}" sibTransId="{1A5C02F0-3DFC-4EEE-9449-1D0906600446}"/>
    <dgm:cxn modelId="{43871227-DDB7-4B2C-B6E1-C5281D61ECDA}" type="presOf" srcId="{179FA381-11A6-45B5-BC11-B66EF20FEB6E}" destId="{973EF4C3-9D66-421E-8CE9-E19DE0551066}" srcOrd="0" destOrd="0" presId="urn:microsoft.com/office/officeart/2005/8/layout/lProcess2"/>
    <dgm:cxn modelId="{33DF0FFE-8E04-4C16-8C93-9A61BA6EC10D}" type="presOf" srcId="{3A0D3190-9E55-4E54-991E-6914E3B12696}" destId="{12C5BF0E-A83F-4C52-A7A7-803DF018C3AA}" srcOrd="0" destOrd="0" presId="urn:microsoft.com/office/officeart/2005/8/layout/lProcess2"/>
    <dgm:cxn modelId="{BE68A72C-87BA-4EC9-933E-77A274D63015}" type="presOf" srcId="{7EB56D76-6238-4CB8-AFF2-46448DC62C70}" destId="{4239362D-9653-4438-8A21-8E8B48FEE557}" srcOrd="0" destOrd="0" presId="urn:microsoft.com/office/officeart/2005/8/layout/lProcess2"/>
    <dgm:cxn modelId="{3BE5A450-C1EC-47B2-BC59-7BFA954E8A49}" srcId="{7EB56D76-6238-4CB8-AFF2-46448DC62C70}" destId="{D2BFED21-D978-4083-A39E-85C3F583A7D5}" srcOrd="0" destOrd="0" parTransId="{7870CA6A-1CE3-425D-99A2-0C52B83E5B0D}" sibTransId="{C55018BD-DBAB-4C26-A8BF-40C55AABFD52}"/>
    <dgm:cxn modelId="{3CD1E390-41FD-459A-9973-02AA1822270D}" type="presOf" srcId="{B619BB00-2042-4D45-9A4B-6255E281DE00}" destId="{C78EA154-776E-459D-981E-CA02444290FF}" srcOrd="0" destOrd="0" presId="urn:microsoft.com/office/officeart/2005/8/layout/lProcess2"/>
    <dgm:cxn modelId="{838D5C17-01CD-4CE3-BCE3-7BE464D1FDB0}" srcId="{9D00CD42-9B6F-4F1F-8882-535954646074}" destId="{179FA381-11A6-45B5-BC11-B66EF20FEB6E}" srcOrd="1" destOrd="0" parTransId="{AAB12FC8-80C0-4A25-9B18-079E0FECA549}" sibTransId="{7436D5D4-0AAE-4D79-B001-BE0B2AA5F558}"/>
    <dgm:cxn modelId="{6AE4CC89-0C7B-4663-B148-11FA611EAFD3}" srcId="{BC200EAC-8BB5-44A7-AF6E-DB5D05D1B52C}" destId="{D557488A-CE8C-4613-9325-89DF4DCF6076}" srcOrd="0" destOrd="0" parTransId="{1359E5EF-0B3D-4D97-AD6B-0C8270B931B8}" sibTransId="{FC7E9BBB-7EA3-41EE-BF9E-40BD8BAAA62C}"/>
    <dgm:cxn modelId="{991F1FAD-242A-4D07-B703-29DFDECE7D83}" type="presOf" srcId="{C5DA9903-A73C-4EA2-8DC0-E5322E7A48CE}" destId="{63C7A74E-8D1E-4C69-B987-9070EA8188D3}" srcOrd="0" destOrd="0" presId="urn:microsoft.com/office/officeart/2005/8/layout/lProcess2"/>
    <dgm:cxn modelId="{906C9E08-615B-417D-A1C8-2D64F8BBCBB6}" srcId="{179FA381-11A6-45B5-BC11-B66EF20FEB6E}" destId="{3D833CE8-E226-4D52-8B6E-5CD406381E0F}" srcOrd="2" destOrd="0" parTransId="{65F0E669-A894-423D-BA11-3A4903D1DEFA}" sibTransId="{BCA01891-44BC-4792-8C83-06D1B6624E57}"/>
    <dgm:cxn modelId="{7B441851-3174-469D-B698-D0DF6F503D43}" srcId="{9D00CD42-9B6F-4F1F-8882-535954646074}" destId="{7EB56D76-6238-4CB8-AFF2-46448DC62C70}" srcOrd="2" destOrd="0" parTransId="{7248ED93-2D5E-414C-BFE1-637EEA99C6CE}" sibTransId="{CDF9D874-382F-46D5-854A-B6E971A5AFB0}"/>
    <dgm:cxn modelId="{DCD8BF2C-4E16-411E-B28E-201F46313645}" type="presOf" srcId="{C3977A18-DE9E-471D-99B0-E1887C57A081}" destId="{9E826BD2-0CCC-42EF-A906-541C93954706}" srcOrd="0" destOrd="0" presId="urn:microsoft.com/office/officeart/2005/8/layout/lProcess2"/>
    <dgm:cxn modelId="{C9DAF647-98E1-45DF-97BC-43FA701C13ED}" type="presOf" srcId="{BC200EAC-8BB5-44A7-AF6E-DB5D05D1B52C}" destId="{D51B65FF-9B20-409D-B2D6-A2CA10908D97}" srcOrd="1" destOrd="0" presId="urn:microsoft.com/office/officeart/2005/8/layout/lProcess2"/>
    <dgm:cxn modelId="{C07FDC5B-6DCD-4C0C-BBA2-EB3669F250A5}" type="presOf" srcId="{505C03DB-1D0E-4896-8FC8-B660861C41C7}" destId="{74540BC6-4D86-4F5B-A595-3AAA0F7C175B}" srcOrd="0" destOrd="0" presId="urn:microsoft.com/office/officeart/2005/8/layout/lProcess2"/>
    <dgm:cxn modelId="{B3712C7A-E775-4A8A-B0D7-400211E0CDFE}" srcId="{7EB56D76-6238-4CB8-AFF2-46448DC62C70}" destId="{5BB2E537-9E84-495A-AA3D-2FE40DC2C6A3}" srcOrd="1" destOrd="0" parTransId="{971C8B58-CC09-4CC0-A2C7-4B457D5A6757}" sibTransId="{FAF79545-C65C-411D-98C6-0557223AC86C}"/>
    <dgm:cxn modelId="{E2FE9F10-A00F-4580-B649-AC80AEF3E7DA}" srcId="{7EB56D76-6238-4CB8-AFF2-46448DC62C70}" destId="{505C03DB-1D0E-4896-8FC8-B660861C41C7}" srcOrd="3" destOrd="0" parTransId="{4FFDF49A-67EB-40A0-8DBA-0355AE63226D}" sibTransId="{483474EB-83BC-445C-A216-3A4B8CDAEE76}"/>
    <dgm:cxn modelId="{BA6844ED-9806-48ED-9648-FEAA265E65C1}" type="presOf" srcId="{1E2ECA86-FC9E-4010-A799-2D5638883378}" destId="{01A6E1C6-7405-4904-BEAC-FEF0FC0AFA82}" srcOrd="0" destOrd="0" presId="urn:microsoft.com/office/officeart/2005/8/layout/lProcess2"/>
    <dgm:cxn modelId="{7B5909A9-3204-4900-AAC7-97B20D8C5EB2}" type="presOf" srcId="{D2BFED21-D978-4083-A39E-85C3F583A7D5}" destId="{140D7A85-77B0-4E1D-A8F3-5E86AD7DBA1E}" srcOrd="0" destOrd="0" presId="urn:microsoft.com/office/officeart/2005/8/layout/lProcess2"/>
    <dgm:cxn modelId="{1351DC2F-BE06-43EB-BCBA-C5ED3635E618}" srcId="{7EB56D76-6238-4CB8-AFF2-46448DC62C70}" destId="{E7074E9C-9F91-43D6-87E6-6DF4BA838081}" srcOrd="2" destOrd="0" parTransId="{DB53C1E4-0ADF-4AA4-8B9E-00C45F8F95AD}" sibTransId="{6CBDE364-E283-473F-8E2C-D930C6EDD338}"/>
    <dgm:cxn modelId="{D6CA2BCF-A08B-4B2B-A9F7-64922FBBD527}" type="presOf" srcId="{7C5C12AD-3F54-45F0-A9A7-C52035557118}" destId="{EAB563DE-F81C-4BEF-B285-349710E35296}" srcOrd="0" destOrd="0" presId="urn:microsoft.com/office/officeart/2005/8/layout/lProcess2"/>
    <dgm:cxn modelId="{1DD7F6D7-F7F1-418C-9323-FC3768213599}" srcId="{7EB56D76-6238-4CB8-AFF2-46448DC62C70}" destId="{109180C3-F678-48A1-9B62-489DA7D1410A}" srcOrd="4" destOrd="0" parTransId="{3BA7CF02-3ABB-4202-9457-46B5CB995351}" sibTransId="{C60FA54A-2121-4A2D-8AFD-D6B7FD36CBB3}"/>
    <dgm:cxn modelId="{97C1CEE1-8644-4CA1-8891-480795D14AF1}" type="presParOf" srcId="{40630489-ED88-43B4-A9F6-1E8A62F32500}" destId="{16BBC426-9E51-487B-8175-77990F6D2123}" srcOrd="0" destOrd="0" presId="urn:microsoft.com/office/officeart/2005/8/layout/lProcess2"/>
    <dgm:cxn modelId="{0D564F09-FE76-4777-BBFB-0F211BF70C5E}" type="presParOf" srcId="{16BBC426-9E51-487B-8175-77990F6D2123}" destId="{C2CCE396-C9AA-4AEA-A854-E3754C1898D7}" srcOrd="0" destOrd="0" presId="urn:microsoft.com/office/officeart/2005/8/layout/lProcess2"/>
    <dgm:cxn modelId="{32FA64CA-E142-4301-9766-CE00ED6E10AE}" type="presParOf" srcId="{16BBC426-9E51-487B-8175-77990F6D2123}" destId="{D51B65FF-9B20-409D-B2D6-A2CA10908D97}" srcOrd="1" destOrd="0" presId="urn:microsoft.com/office/officeart/2005/8/layout/lProcess2"/>
    <dgm:cxn modelId="{0C4173D0-5FF7-4807-8C75-E3259EA1E04D}" type="presParOf" srcId="{16BBC426-9E51-487B-8175-77990F6D2123}" destId="{245728B9-F098-4BC0-9D68-1A397538D5F9}" srcOrd="2" destOrd="0" presId="urn:microsoft.com/office/officeart/2005/8/layout/lProcess2"/>
    <dgm:cxn modelId="{8B5A0490-B587-4CB2-A8E9-6F9C994A86B5}" type="presParOf" srcId="{245728B9-F098-4BC0-9D68-1A397538D5F9}" destId="{F5F401C5-388B-4200-A171-993FA4306DC5}" srcOrd="0" destOrd="0" presId="urn:microsoft.com/office/officeart/2005/8/layout/lProcess2"/>
    <dgm:cxn modelId="{70A2D14E-284E-4865-9698-DD965E6FFB65}" type="presParOf" srcId="{F5F401C5-388B-4200-A171-993FA4306DC5}" destId="{CBA16AE2-0906-4577-9947-190313BA0272}" srcOrd="0" destOrd="0" presId="urn:microsoft.com/office/officeart/2005/8/layout/lProcess2"/>
    <dgm:cxn modelId="{6374756A-CE37-4E7A-B74F-1C2950026DEC}" type="presParOf" srcId="{F5F401C5-388B-4200-A171-993FA4306DC5}" destId="{DC6AA570-EA57-440A-9685-5E8DD48C7588}" srcOrd="1" destOrd="0" presId="urn:microsoft.com/office/officeart/2005/8/layout/lProcess2"/>
    <dgm:cxn modelId="{D3E77AF6-C577-4E4D-A4A5-DD4B431270A6}" type="presParOf" srcId="{F5F401C5-388B-4200-A171-993FA4306DC5}" destId="{EAB563DE-F81C-4BEF-B285-349710E35296}" srcOrd="2" destOrd="0" presId="urn:microsoft.com/office/officeart/2005/8/layout/lProcess2"/>
    <dgm:cxn modelId="{9365A98D-C636-4036-9CD0-3293CE974277}" type="presParOf" srcId="{F5F401C5-388B-4200-A171-993FA4306DC5}" destId="{2E9C9104-B6B7-4EAC-800A-C739FDE5D4A8}" srcOrd="3" destOrd="0" presId="urn:microsoft.com/office/officeart/2005/8/layout/lProcess2"/>
    <dgm:cxn modelId="{BC9624DE-A2BE-4AD4-976A-1712D49107EB}" type="presParOf" srcId="{F5F401C5-388B-4200-A171-993FA4306DC5}" destId="{1DF85296-253A-4A24-BEB4-60F7B63A0F27}" srcOrd="4" destOrd="0" presId="urn:microsoft.com/office/officeart/2005/8/layout/lProcess2"/>
    <dgm:cxn modelId="{000AC465-5307-4BF5-8E86-21135E48F253}" type="presParOf" srcId="{F5F401C5-388B-4200-A171-993FA4306DC5}" destId="{29A5F9E6-A584-42DD-B558-2693030C04CA}" srcOrd="5" destOrd="0" presId="urn:microsoft.com/office/officeart/2005/8/layout/lProcess2"/>
    <dgm:cxn modelId="{A8BF42DA-DF51-431B-B66F-916C70E64DD3}" type="presParOf" srcId="{F5F401C5-388B-4200-A171-993FA4306DC5}" destId="{C78EA154-776E-459D-981E-CA02444290FF}" srcOrd="6" destOrd="0" presId="urn:microsoft.com/office/officeart/2005/8/layout/lProcess2"/>
    <dgm:cxn modelId="{03835CBB-B982-4B6E-A858-EF1EA44433F1}" type="presParOf" srcId="{F5F401C5-388B-4200-A171-993FA4306DC5}" destId="{F13FE8BB-0853-4A88-9477-30127C179D0E}" srcOrd="7" destOrd="0" presId="urn:microsoft.com/office/officeart/2005/8/layout/lProcess2"/>
    <dgm:cxn modelId="{55C5D1A7-B5BC-4CF9-9C16-82AC50553EE8}" type="presParOf" srcId="{F5F401C5-388B-4200-A171-993FA4306DC5}" destId="{12C5BF0E-A83F-4C52-A7A7-803DF018C3AA}" srcOrd="8" destOrd="0" presId="urn:microsoft.com/office/officeart/2005/8/layout/lProcess2"/>
    <dgm:cxn modelId="{F5488FED-5EC1-41B7-8425-497F50A68601}" type="presParOf" srcId="{40630489-ED88-43B4-A9F6-1E8A62F32500}" destId="{A9878634-21BB-46F9-8AAA-7EAD63AD4AB0}" srcOrd="1" destOrd="0" presId="urn:microsoft.com/office/officeart/2005/8/layout/lProcess2"/>
    <dgm:cxn modelId="{9EFA5335-CF7D-44A2-B948-20996182842E}" type="presParOf" srcId="{40630489-ED88-43B4-A9F6-1E8A62F32500}" destId="{0DB0AFAA-9B41-4AFF-B12E-E984C0FFD669}" srcOrd="2" destOrd="0" presId="urn:microsoft.com/office/officeart/2005/8/layout/lProcess2"/>
    <dgm:cxn modelId="{EF6B29B9-3588-4964-A060-A57C887C1C42}" type="presParOf" srcId="{0DB0AFAA-9B41-4AFF-B12E-E984C0FFD669}" destId="{973EF4C3-9D66-421E-8CE9-E19DE0551066}" srcOrd="0" destOrd="0" presId="urn:microsoft.com/office/officeart/2005/8/layout/lProcess2"/>
    <dgm:cxn modelId="{EBA5B183-F496-45AD-B0A7-DDD8B5D3BF65}" type="presParOf" srcId="{0DB0AFAA-9B41-4AFF-B12E-E984C0FFD669}" destId="{991CDF76-8A5E-4382-96DA-716EF74075B9}" srcOrd="1" destOrd="0" presId="urn:microsoft.com/office/officeart/2005/8/layout/lProcess2"/>
    <dgm:cxn modelId="{C350484A-870A-44F7-9BA9-7B15C296FB10}" type="presParOf" srcId="{0DB0AFAA-9B41-4AFF-B12E-E984C0FFD669}" destId="{7145E434-9D15-43F5-A973-8EA04B97E972}" srcOrd="2" destOrd="0" presId="urn:microsoft.com/office/officeart/2005/8/layout/lProcess2"/>
    <dgm:cxn modelId="{062DF5C1-41F7-465F-B95C-02824904F50F}" type="presParOf" srcId="{7145E434-9D15-43F5-A973-8EA04B97E972}" destId="{570AFE01-AECF-41B9-B685-4A9FBD26452C}" srcOrd="0" destOrd="0" presId="urn:microsoft.com/office/officeart/2005/8/layout/lProcess2"/>
    <dgm:cxn modelId="{F5EC109B-386B-49C0-BBA1-28D33B81FF4C}" type="presParOf" srcId="{570AFE01-AECF-41B9-B685-4A9FBD26452C}" destId="{E7A0C77C-162C-4896-BEC4-C2254DAB4B8B}" srcOrd="0" destOrd="0" presId="urn:microsoft.com/office/officeart/2005/8/layout/lProcess2"/>
    <dgm:cxn modelId="{7CD13B9B-5B65-4729-B1F1-9D6EE6FC0705}" type="presParOf" srcId="{570AFE01-AECF-41B9-B685-4A9FBD26452C}" destId="{18262A09-2165-4656-9B37-C8C1F780C28B}" srcOrd="1" destOrd="0" presId="urn:microsoft.com/office/officeart/2005/8/layout/lProcess2"/>
    <dgm:cxn modelId="{0CF32D4F-67E8-4797-8E05-D41D21D04B2B}" type="presParOf" srcId="{570AFE01-AECF-41B9-B685-4A9FBD26452C}" destId="{63C7A74E-8D1E-4C69-B987-9070EA8188D3}" srcOrd="2" destOrd="0" presId="urn:microsoft.com/office/officeart/2005/8/layout/lProcess2"/>
    <dgm:cxn modelId="{1CE5F0C5-3155-46C0-89CC-F49163B4BCF1}" type="presParOf" srcId="{570AFE01-AECF-41B9-B685-4A9FBD26452C}" destId="{7F9B8DA8-0301-4732-8C70-E85B5814C1A9}" srcOrd="3" destOrd="0" presId="urn:microsoft.com/office/officeart/2005/8/layout/lProcess2"/>
    <dgm:cxn modelId="{8AC8E2D1-90D5-4A66-A147-EB3C788D5276}" type="presParOf" srcId="{570AFE01-AECF-41B9-B685-4A9FBD26452C}" destId="{D1B11369-2F90-4096-8BE5-5CDAF75D28F3}" srcOrd="4" destOrd="0" presId="urn:microsoft.com/office/officeart/2005/8/layout/lProcess2"/>
    <dgm:cxn modelId="{166561A0-33B7-4E78-B5DC-A25E333BAF5E}" type="presParOf" srcId="{570AFE01-AECF-41B9-B685-4A9FBD26452C}" destId="{BA70D7A6-F00A-4A8A-92A1-49B4363BA75D}" srcOrd="5" destOrd="0" presId="urn:microsoft.com/office/officeart/2005/8/layout/lProcess2"/>
    <dgm:cxn modelId="{B5E7124F-5950-4A6D-AAD9-8FF4EC9B7E6C}" type="presParOf" srcId="{570AFE01-AECF-41B9-B685-4A9FBD26452C}" destId="{9E826BD2-0CCC-42EF-A906-541C93954706}" srcOrd="6" destOrd="0" presId="urn:microsoft.com/office/officeart/2005/8/layout/lProcess2"/>
    <dgm:cxn modelId="{8766E0AF-3BEF-4359-8D96-9792105BA41F}" type="presParOf" srcId="{570AFE01-AECF-41B9-B685-4A9FBD26452C}" destId="{5E3561EA-CE55-4834-9CEC-B296169F80F3}" srcOrd="7" destOrd="0" presId="urn:microsoft.com/office/officeart/2005/8/layout/lProcess2"/>
    <dgm:cxn modelId="{8C67EF81-6173-4019-A15B-7471465A2BDB}" type="presParOf" srcId="{570AFE01-AECF-41B9-B685-4A9FBD26452C}" destId="{01A6E1C6-7405-4904-BEAC-FEF0FC0AFA82}" srcOrd="8" destOrd="0" presId="urn:microsoft.com/office/officeart/2005/8/layout/lProcess2"/>
    <dgm:cxn modelId="{875409E7-F63C-4408-B350-5D547364DA51}" type="presParOf" srcId="{40630489-ED88-43B4-A9F6-1E8A62F32500}" destId="{C005500B-9F1A-47A7-B96C-FF3DC669A80C}" srcOrd="3" destOrd="0" presId="urn:microsoft.com/office/officeart/2005/8/layout/lProcess2"/>
    <dgm:cxn modelId="{4FBFD70C-49C8-4F9F-895E-65E498C31F7D}" type="presParOf" srcId="{40630489-ED88-43B4-A9F6-1E8A62F32500}" destId="{A494271E-4EA0-4450-BBCF-251CFE25A161}" srcOrd="4" destOrd="0" presId="urn:microsoft.com/office/officeart/2005/8/layout/lProcess2"/>
    <dgm:cxn modelId="{7D18DF27-6460-413D-BAC8-119D9158AB05}" type="presParOf" srcId="{A494271E-4EA0-4450-BBCF-251CFE25A161}" destId="{4239362D-9653-4438-8A21-8E8B48FEE557}" srcOrd="0" destOrd="0" presId="urn:microsoft.com/office/officeart/2005/8/layout/lProcess2"/>
    <dgm:cxn modelId="{A2BDCB1D-96FD-48B9-9C7A-DAC780A4CF13}" type="presParOf" srcId="{A494271E-4EA0-4450-BBCF-251CFE25A161}" destId="{5BCE2B01-5C96-4335-A2AB-0D22EB963FEF}" srcOrd="1" destOrd="0" presId="urn:microsoft.com/office/officeart/2005/8/layout/lProcess2"/>
    <dgm:cxn modelId="{3CDA8198-66A1-4953-87CA-128585BFDD1A}" type="presParOf" srcId="{A494271E-4EA0-4450-BBCF-251CFE25A161}" destId="{5D24C4EA-82B9-4848-8BB4-BBBB481258BC}" srcOrd="2" destOrd="0" presId="urn:microsoft.com/office/officeart/2005/8/layout/lProcess2"/>
    <dgm:cxn modelId="{9AF4E97E-6EBC-4599-A190-50FBC37479E4}" type="presParOf" srcId="{5D24C4EA-82B9-4848-8BB4-BBBB481258BC}" destId="{1CDEECF1-7E78-439F-8017-8F44427CF768}" srcOrd="0" destOrd="0" presId="urn:microsoft.com/office/officeart/2005/8/layout/lProcess2"/>
    <dgm:cxn modelId="{CF52D150-AA5D-4992-8C5E-4D2FD3C829A1}" type="presParOf" srcId="{1CDEECF1-7E78-439F-8017-8F44427CF768}" destId="{140D7A85-77B0-4E1D-A8F3-5E86AD7DBA1E}" srcOrd="0" destOrd="0" presId="urn:microsoft.com/office/officeart/2005/8/layout/lProcess2"/>
    <dgm:cxn modelId="{CA9741AC-87D1-4591-9726-04FDA48F08F0}" type="presParOf" srcId="{1CDEECF1-7E78-439F-8017-8F44427CF768}" destId="{A97F9E54-404B-4E85-B101-80F58A190127}" srcOrd="1" destOrd="0" presId="urn:microsoft.com/office/officeart/2005/8/layout/lProcess2"/>
    <dgm:cxn modelId="{F2EA8158-D6E8-4F48-9324-4AE6697FA4A9}" type="presParOf" srcId="{1CDEECF1-7E78-439F-8017-8F44427CF768}" destId="{C76C4B5C-8BA2-4763-B4DD-88BD8B885F8A}" srcOrd="2" destOrd="0" presId="urn:microsoft.com/office/officeart/2005/8/layout/lProcess2"/>
    <dgm:cxn modelId="{90159BD4-A5BD-46FE-A8C5-3784E631982E}" type="presParOf" srcId="{1CDEECF1-7E78-439F-8017-8F44427CF768}" destId="{D07E8B3B-9000-4631-8278-976829E1A1BC}" srcOrd="3" destOrd="0" presId="urn:microsoft.com/office/officeart/2005/8/layout/lProcess2"/>
    <dgm:cxn modelId="{0A045959-E951-4471-825D-BF32FAB1F267}" type="presParOf" srcId="{1CDEECF1-7E78-439F-8017-8F44427CF768}" destId="{58CC0999-5F73-46BD-B17E-7437D66199F3}" srcOrd="4" destOrd="0" presId="urn:microsoft.com/office/officeart/2005/8/layout/lProcess2"/>
    <dgm:cxn modelId="{AB3D89C3-AF36-4C7F-80FF-1E673982BC27}" type="presParOf" srcId="{1CDEECF1-7E78-439F-8017-8F44427CF768}" destId="{9E63B1D2-6384-4287-84D9-F2248A15D9BE}" srcOrd="5" destOrd="0" presId="urn:microsoft.com/office/officeart/2005/8/layout/lProcess2"/>
    <dgm:cxn modelId="{8F7BACA1-B745-464A-B796-940876B84BE1}" type="presParOf" srcId="{1CDEECF1-7E78-439F-8017-8F44427CF768}" destId="{74540BC6-4D86-4F5B-A595-3AAA0F7C175B}" srcOrd="6" destOrd="0" presId="urn:microsoft.com/office/officeart/2005/8/layout/lProcess2"/>
    <dgm:cxn modelId="{A934D0E0-7540-40CA-B68A-7BF46A2A957F}" type="presParOf" srcId="{1CDEECF1-7E78-439F-8017-8F44427CF768}" destId="{5574E53C-72D4-4156-B22A-62075E9F237E}" srcOrd="7" destOrd="0" presId="urn:microsoft.com/office/officeart/2005/8/layout/lProcess2"/>
    <dgm:cxn modelId="{280D2A88-856B-4B13-B505-94D620125189}" type="presParOf" srcId="{1CDEECF1-7E78-439F-8017-8F44427CF768}" destId="{C9597FDB-7E4A-44CC-B6B9-EB3903E64F4E}" srcOrd="8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89B985-D6E2-496C-8E1C-F008AA3D9E13}">
      <dsp:nvSpPr>
        <dsp:cNvPr id="0" name=""/>
        <dsp:cNvSpPr/>
      </dsp:nvSpPr>
      <dsp:spPr>
        <a:xfrm>
          <a:off x="0" y="633599"/>
          <a:ext cx="8610600" cy="14364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C0504D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8278" tIns="333248" rIns="668278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Declared by State Health Commissioner on November 21, 2016 </a:t>
          </a:r>
          <a:endParaRPr lang="en-US" sz="16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Statewide standing order for naloxone issued concurrently</a:t>
          </a:r>
          <a:endParaRPr lang="en-US" sz="16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State Health Commissioner is now authorized to establish and operate comprehensive harm reduction programs during a declared public health emergency [HB 2317, 2017]</a:t>
          </a:r>
          <a:endParaRPr lang="en-US" sz="16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sp:txBody>
      <dsp:txXfrm>
        <a:off x="0" y="633599"/>
        <a:ext cx="8610600" cy="1436400"/>
      </dsp:txXfrm>
    </dsp:sp>
    <dsp:sp modelId="{CB2B0B16-6D9F-4801-B485-CBBAB6DC740A}">
      <dsp:nvSpPr>
        <dsp:cNvPr id="0" name=""/>
        <dsp:cNvSpPr/>
      </dsp:nvSpPr>
      <dsp:spPr>
        <a:xfrm>
          <a:off x="430530" y="382878"/>
          <a:ext cx="6027420" cy="472320"/>
        </a:xfrm>
        <a:prstGeom prst="roundRect">
          <a:avLst/>
        </a:prstGeom>
        <a:solidFill>
          <a:srgbClr val="C0504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822" tIns="0" rIns="227822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Public Health Emergency Declaration</a:t>
          </a:r>
          <a:endParaRPr lang="en-US" sz="1600" b="1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453587" y="405935"/>
        <a:ext cx="5981306" cy="426206"/>
      </dsp:txXfrm>
    </dsp:sp>
    <dsp:sp modelId="{B8F5D1D8-1882-4118-980B-EF6BE720E720}">
      <dsp:nvSpPr>
        <dsp:cNvPr id="0" name=""/>
        <dsp:cNvSpPr/>
      </dsp:nvSpPr>
      <dsp:spPr>
        <a:xfrm>
          <a:off x="0" y="2377998"/>
          <a:ext cx="8610600" cy="12096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9BBB59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8278" tIns="333248" rIns="668278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Incident Command System (ICS) Structure</a:t>
          </a:r>
          <a:endParaRPr lang="en-US" sz="16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Incident Action Planning</a:t>
          </a:r>
          <a:endParaRPr lang="en-US" sz="16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Situation Reporting</a:t>
          </a:r>
          <a:endParaRPr lang="en-US" sz="16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sp:txBody>
      <dsp:txXfrm>
        <a:off x="0" y="2377998"/>
        <a:ext cx="8610600" cy="1209600"/>
      </dsp:txXfrm>
    </dsp:sp>
    <dsp:sp modelId="{2DF54EB9-2C83-4617-91C8-76675D307F9F}">
      <dsp:nvSpPr>
        <dsp:cNvPr id="0" name=""/>
        <dsp:cNvSpPr/>
      </dsp:nvSpPr>
      <dsp:spPr>
        <a:xfrm>
          <a:off x="430530" y="2141838"/>
          <a:ext cx="6027420" cy="472320"/>
        </a:xfrm>
        <a:prstGeom prst="roundRect">
          <a:avLst/>
        </a:prstGeom>
        <a:solidFill>
          <a:srgbClr val="9BBB59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822" tIns="0" rIns="227822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VDH Incident Management Team (IMT) Activation </a:t>
          </a:r>
          <a:endParaRPr lang="en-US" sz="1600" b="1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453587" y="2164895"/>
        <a:ext cx="5981306" cy="426206"/>
      </dsp:txXfrm>
    </dsp:sp>
    <dsp:sp modelId="{1DE674EB-8D49-40DE-AFE4-E787F02A25D1}">
      <dsp:nvSpPr>
        <dsp:cNvPr id="0" name=""/>
        <dsp:cNvSpPr/>
      </dsp:nvSpPr>
      <dsp:spPr>
        <a:xfrm>
          <a:off x="0" y="3910158"/>
          <a:ext cx="8610600" cy="1612800"/>
        </a:xfrm>
        <a:prstGeom prst="rect">
          <a:avLst/>
        </a:prstGeom>
        <a:solidFill>
          <a:sysClr val="window" lastClr="FFFFFF">
            <a:alpha val="90000"/>
            <a:hueOff val="0"/>
            <a:satOff val="0"/>
            <a:lumOff val="0"/>
            <a:alphaOff val="0"/>
          </a:sysClr>
        </a:solidFill>
        <a:ln w="25400" cap="flat" cmpd="sng" algn="ctr">
          <a:solidFill>
            <a:srgbClr val="8064A2">
              <a:hueOff val="0"/>
              <a:satOff val="0"/>
              <a:lumOff val="0"/>
              <a:alphaOff val="0"/>
            </a:srgb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8278" tIns="333248" rIns="668278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Co-chaired by Secretary of Health &amp; Human Resources and Secretary of Public Safety and Homeland Security</a:t>
          </a:r>
          <a:endParaRPr lang="en-US" sz="16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6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Five work-groups comprised of state agency leadership: Prevention &amp; Community Support; Supply Prevention; Treatment &amp; Recovery; Harm Reduction; Justice-Involved Individuals.</a:t>
          </a:r>
          <a:endParaRPr lang="en-US" sz="16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sp:txBody>
      <dsp:txXfrm>
        <a:off x="0" y="3910158"/>
        <a:ext cx="8610600" cy="1612800"/>
      </dsp:txXfrm>
    </dsp:sp>
    <dsp:sp modelId="{926C9BC6-1CF8-4A46-84A9-4DBEE4535C35}">
      <dsp:nvSpPr>
        <dsp:cNvPr id="0" name=""/>
        <dsp:cNvSpPr/>
      </dsp:nvSpPr>
      <dsp:spPr>
        <a:xfrm>
          <a:off x="430530" y="3673998"/>
          <a:ext cx="6027420" cy="472320"/>
        </a:xfrm>
        <a:prstGeom prst="roundRect">
          <a:avLst/>
        </a:prstGeom>
        <a:solidFill>
          <a:srgbClr val="8064A2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7822" tIns="0" rIns="227822" bIns="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b="1" kern="12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Governor’s Executive Leadership Team on Opioids and Addiction</a:t>
          </a:r>
          <a:endParaRPr lang="en-US" sz="1600" b="1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453587" y="3697055"/>
        <a:ext cx="5981306" cy="4262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CCE396-C9AA-4AEA-A854-E3754C1898D7}">
      <dsp:nvSpPr>
        <dsp:cNvPr id="0" name=""/>
        <dsp:cNvSpPr/>
      </dsp:nvSpPr>
      <dsp:spPr>
        <a:xfrm>
          <a:off x="1004" y="0"/>
          <a:ext cx="2611933" cy="4525963"/>
        </a:xfrm>
        <a:prstGeom prst="roundRect">
          <a:avLst>
            <a:gd name="adj" fmla="val 10000"/>
          </a:avLst>
        </a:prstGeom>
        <a:solidFill>
          <a:srgbClr val="4F81BD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Prevent Injury/Death from Addiction</a:t>
          </a:r>
          <a:r>
            <a:rPr lang="en-US" sz="18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           </a:t>
          </a:r>
          <a:r>
            <a:rPr lang="en-US" sz="14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(e.g., overdose, death, NAS)</a:t>
          </a:r>
          <a:endParaRPr lang="en-US" sz="14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sp:txBody>
      <dsp:txXfrm>
        <a:off x="40772" y="39768"/>
        <a:ext cx="2532397" cy="1278252"/>
      </dsp:txXfrm>
    </dsp:sp>
    <dsp:sp modelId="{CBA16AE2-0906-4577-9947-190313BA0272}">
      <dsp:nvSpPr>
        <dsp:cNvPr id="0" name=""/>
        <dsp:cNvSpPr/>
      </dsp:nvSpPr>
      <dsp:spPr>
        <a:xfrm>
          <a:off x="262197" y="1359322"/>
          <a:ext cx="2089546" cy="678304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Implement provider-level strategies (prescription monitoring, education on safe prescribing practices)</a:t>
          </a:r>
        </a:p>
      </dsp:txBody>
      <dsp:txXfrm>
        <a:off x="282064" y="1379189"/>
        <a:ext cx="2049812" cy="638570"/>
      </dsp:txXfrm>
    </dsp:sp>
    <dsp:sp modelId="{EAB563DE-F81C-4BEF-B285-349710E35296}">
      <dsp:nvSpPr>
        <dsp:cNvPr id="0" name=""/>
        <dsp:cNvSpPr/>
      </dsp:nvSpPr>
      <dsp:spPr>
        <a:xfrm>
          <a:off x="262197" y="2117295"/>
          <a:ext cx="2089546" cy="517844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Increase access to naloxone</a:t>
          </a:r>
        </a:p>
      </dsp:txBody>
      <dsp:txXfrm>
        <a:off x="277364" y="2132462"/>
        <a:ext cx="2059212" cy="487510"/>
      </dsp:txXfrm>
    </dsp:sp>
    <dsp:sp modelId="{1DF85296-253A-4A24-BEB4-60F7B63A0F27}">
      <dsp:nvSpPr>
        <dsp:cNvPr id="0" name=""/>
        <dsp:cNvSpPr/>
      </dsp:nvSpPr>
      <dsp:spPr>
        <a:xfrm>
          <a:off x="262197" y="2714808"/>
          <a:ext cx="2089546" cy="517844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Promote family planning </a:t>
          </a:r>
          <a:endParaRPr lang="en-US" sz="1100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277364" y="2729975"/>
        <a:ext cx="2059212" cy="487510"/>
      </dsp:txXfrm>
    </dsp:sp>
    <dsp:sp modelId="{C78EA154-776E-459D-981E-CA02444290FF}">
      <dsp:nvSpPr>
        <dsp:cNvPr id="0" name=""/>
        <dsp:cNvSpPr/>
      </dsp:nvSpPr>
      <dsp:spPr>
        <a:xfrm>
          <a:off x="262197" y="3312322"/>
          <a:ext cx="2089546" cy="517844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Establish process to address needs of infants born to mothers with addiction (HB1157)</a:t>
          </a:r>
          <a:endParaRPr lang="en-US" sz="1100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277364" y="3327489"/>
        <a:ext cx="2059212" cy="487510"/>
      </dsp:txXfrm>
    </dsp:sp>
    <dsp:sp modelId="{12C5BF0E-A83F-4C52-A7A7-803DF018C3AA}">
      <dsp:nvSpPr>
        <dsp:cNvPr id="0" name=""/>
        <dsp:cNvSpPr/>
      </dsp:nvSpPr>
      <dsp:spPr>
        <a:xfrm>
          <a:off x="262197" y="3909835"/>
          <a:ext cx="2089546" cy="388295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Increase education of public/population at risk</a:t>
          </a:r>
        </a:p>
      </dsp:txBody>
      <dsp:txXfrm>
        <a:off x="273570" y="3921208"/>
        <a:ext cx="2066800" cy="365549"/>
      </dsp:txXfrm>
    </dsp:sp>
    <dsp:sp modelId="{973EF4C3-9D66-421E-8CE9-E19DE0551066}">
      <dsp:nvSpPr>
        <dsp:cNvPr id="0" name=""/>
        <dsp:cNvSpPr/>
      </dsp:nvSpPr>
      <dsp:spPr>
        <a:xfrm>
          <a:off x="2808833" y="0"/>
          <a:ext cx="2611933" cy="4525963"/>
        </a:xfrm>
        <a:prstGeom prst="roundRect">
          <a:avLst>
            <a:gd name="adj" fmla="val 10000"/>
          </a:avLst>
        </a:prstGeom>
        <a:solidFill>
          <a:srgbClr val="4F81BD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Prevent/Reduce Infectious Disease related to Addiction</a:t>
          </a:r>
          <a:endParaRPr lang="en-US" sz="21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sp:txBody>
      <dsp:txXfrm>
        <a:off x="2848601" y="39768"/>
        <a:ext cx="2532397" cy="1278252"/>
      </dsp:txXfrm>
    </dsp:sp>
    <dsp:sp modelId="{E7A0C77C-162C-4896-BEC4-C2254DAB4B8B}">
      <dsp:nvSpPr>
        <dsp:cNvPr id="0" name=""/>
        <dsp:cNvSpPr/>
      </dsp:nvSpPr>
      <dsp:spPr>
        <a:xfrm>
          <a:off x="3070026" y="2590800"/>
          <a:ext cx="2089546" cy="523590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Conduct disease surveillance </a:t>
          </a:r>
        </a:p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(e.g. HCV, HIV, STD)</a:t>
          </a:r>
          <a:endParaRPr lang="en-US" sz="1100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3085361" y="2606135"/>
        <a:ext cx="2058876" cy="492920"/>
      </dsp:txXfrm>
    </dsp:sp>
    <dsp:sp modelId="{63C7A74E-8D1E-4C69-B987-9070EA8188D3}">
      <dsp:nvSpPr>
        <dsp:cNvPr id="0" name=""/>
        <dsp:cNvSpPr/>
      </dsp:nvSpPr>
      <dsp:spPr>
        <a:xfrm>
          <a:off x="3070026" y="1962788"/>
          <a:ext cx="2089546" cy="523590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Promote identification of disease status (Hepatitis, STD, HIV testing)</a:t>
          </a:r>
          <a:endParaRPr lang="en-US" sz="1100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3085361" y="1978123"/>
        <a:ext cx="2058876" cy="492920"/>
      </dsp:txXfrm>
    </dsp:sp>
    <dsp:sp modelId="{D1B11369-2F90-4096-8BE5-5CDAF75D28F3}">
      <dsp:nvSpPr>
        <dsp:cNvPr id="0" name=""/>
        <dsp:cNvSpPr/>
      </dsp:nvSpPr>
      <dsp:spPr>
        <a:xfrm>
          <a:off x="3070026" y="1351145"/>
          <a:ext cx="2089546" cy="523590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Increase education of public/population at Risk</a:t>
          </a:r>
          <a:endParaRPr lang="en-US" sz="1100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3085361" y="1366480"/>
        <a:ext cx="2058876" cy="492920"/>
      </dsp:txXfrm>
    </dsp:sp>
    <dsp:sp modelId="{9E826BD2-0CCC-42EF-A906-541C93954706}">
      <dsp:nvSpPr>
        <dsp:cNvPr id="0" name=""/>
        <dsp:cNvSpPr/>
      </dsp:nvSpPr>
      <dsp:spPr>
        <a:xfrm>
          <a:off x="3070026" y="3171074"/>
          <a:ext cx="2089546" cy="523590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Promote treatment as prevention (linkage to care, access to medications)</a:t>
          </a:r>
          <a:endParaRPr lang="en-US" sz="1100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3085361" y="3186409"/>
        <a:ext cx="2058876" cy="492920"/>
      </dsp:txXfrm>
    </dsp:sp>
    <dsp:sp modelId="{01A6E1C6-7405-4904-BEAC-FEF0FC0AFA82}">
      <dsp:nvSpPr>
        <dsp:cNvPr id="0" name=""/>
        <dsp:cNvSpPr/>
      </dsp:nvSpPr>
      <dsp:spPr>
        <a:xfrm>
          <a:off x="3070026" y="3775217"/>
          <a:ext cx="2089546" cy="523590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Implement Comprehensive Harm Reduction programs</a:t>
          </a:r>
          <a:endParaRPr lang="en-US" sz="1100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3085361" y="3790552"/>
        <a:ext cx="2058876" cy="492920"/>
      </dsp:txXfrm>
    </dsp:sp>
    <dsp:sp modelId="{4239362D-9653-4438-8A21-8E8B48FEE557}">
      <dsp:nvSpPr>
        <dsp:cNvPr id="0" name=""/>
        <dsp:cNvSpPr/>
      </dsp:nvSpPr>
      <dsp:spPr>
        <a:xfrm>
          <a:off x="5616661" y="0"/>
          <a:ext cx="2611933" cy="4525963"/>
        </a:xfrm>
        <a:prstGeom prst="roundRect">
          <a:avLst>
            <a:gd name="adj" fmla="val 10000"/>
          </a:avLst>
        </a:prstGeom>
        <a:solidFill>
          <a:srgbClr val="4F81BD">
            <a:tint val="40000"/>
            <a:hueOff val="0"/>
            <a:satOff val="0"/>
            <a:lumOff val="0"/>
            <a:alphaOff val="0"/>
          </a:srgb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lvl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 dirty="0" smtClean="0">
              <a:solidFill>
                <a:sysClr val="windowText" lastClr="000000">
                  <a:hueOff val="0"/>
                  <a:satOff val="0"/>
                  <a:lumOff val="0"/>
                  <a:alphaOff val="0"/>
                </a:sysClr>
              </a:solidFill>
              <a:latin typeface="Calibri"/>
              <a:ea typeface="+mn-ea"/>
              <a:cs typeface="+mn-cs"/>
            </a:rPr>
            <a:t>Prevent/Reduce Addiction</a:t>
          </a:r>
          <a:endParaRPr lang="en-US" sz="2100" kern="1200" dirty="0">
            <a:solidFill>
              <a:sysClr val="windowText" lastClr="000000">
                <a:hueOff val="0"/>
                <a:satOff val="0"/>
                <a:lumOff val="0"/>
                <a:alphaOff val="0"/>
              </a:sysClr>
            </a:solidFill>
            <a:latin typeface="Calibri"/>
            <a:ea typeface="+mn-ea"/>
            <a:cs typeface="+mn-cs"/>
          </a:endParaRPr>
        </a:p>
      </dsp:txBody>
      <dsp:txXfrm>
        <a:off x="5656429" y="39768"/>
        <a:ext cx="2532397" cy="1278252"/>
      </dsp:txXfrm>
    </dsp:sp>
    <dsp:sp modelId="{140D7A85-77B0-4E1D-A8F3-5E86AD7DBA1E}">
      <dsp:nvSpPr>
        <dsp:cNvPr id="0" name=""/>
        <dsp:cNvSpPr/>
      </dsp:nvSpPr>
      <dsp:spPr>
        <a:xfrm>
          <a:off x="5877855" y="1357995"/>
          <a:ext cx="2089546" cy="471878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Support development of regional and community coalitions</a:t>
          </a:r>
          <a:endParaRPr lang="en-US" sz="1100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5891676" y="1371816"/>
        <a:ext cx="2061904" cy="444236"/>
      </dsp:txXfrm>
    </dsp:sp>
    <dsp:sp modelId="{C76C4B5C-8BA2-4763-B4DD-88BD8B885F8A}">
      <dsp:nvSpPr>
        <dsp:cNvPr id="0" name=""/>
        <dsp:cNvSpPr/>
      </dsp:nvSpPr>
      <dsp:spPr>
        <a:xfrm>
          <a:off x="5877855" y="1902469"/>
          <a:ext cx="2089546" cy="763564"/>
        </a:xfrm>
        <a:prstGeom prst="roundRect">
          <a:avLst>
            <a:gd name="adj" fmla="val 10000"/>
          </a:avLst>
        </a:prstGeom>
        <a:solidFill>
          <a:srgbClr val="4F81BD">
            <a:hueOff val="0"/>
            <a:satOff val="0"/>
            <a:lumOff val="0"/>
            <a:alphaOff val="0"/>
          </a:srgbClr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Increase access to treatment via provider trainings on addiction disease management (Project ECHO)</a:t>
          </a:r>
          <a:endParaRPr lang="en-US" sz="1100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5900219" y="1924833"/>
        <a:ext cx="2044818" cy="718836"/>
      </dsp:txXfrm>
    </dsp:sp>
    <dsp:sp modelId="{58CC0999-5F73-46BD-B17E-7437D66199F3}">
      <dsp:nvSpPr>
        <dsp:cNvPr id="0" name=""/>
        <dsp:cNvSpPr/>
      </dsp:nvSpPr>
      <dsp:spPr>
        <a:xfrm>
          <a:off x="5877855" y="2738631"/>
          <a:ext cx="2089546" cy="471878"/>
        </a:xfrm>
        <a:prstGeom prst="roundRect">
          <a:avLst>
            <a:gd name="adj" fmla="val 10000"/>
          </a:avLst>
        </a:prstGeom>
        <a:solidFill>
          <a:srgbClr val="9BBB59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Advocate and assure access to treatment for substance abuse</a:t>
          </a:r>
          <a:endParaRPr lang="en-US" sz="1100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5891676" y="2752452"/>
        <a:ext cx="2061904" cy="444236"/>
      </dsp:txXfrm>
    </dsp:sp>
    <dsp:sp modelId="{74540BC6-4D86-4F5B-A595-3AAA0F7C175B}">
      <dsp:nvSpPr>
        <dsp:cNvPr id="0" name=""/>
        <dsp:cNvSpPr/>
      </dsp:nvSpPr>
      <dsp:spPr>
        <a:xfrm>
          <a:off x="5877855" y="3283105"/>
          <a:ext cx="2089546" cy="471878"/>
        </a:xfrm>
        <a:prstGeom prst="roundRect">
          <a:avLst>
            <a:gd name="adj" fmla="val 10000"/>
          </a:avLst>
        </a:prstGeom>
        <a:solidFill>
          <a:srgbClr val="9BBB59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Support expansion of medication assisted therapies (MAT)</a:t>
          </a:r>
          <a:endParaRPr lang="en-US" sz="1100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5891676" y="3296926"/>
        <a:ext cx="2061904" cy="444236"/>
      </dsp:txXfrm>
    </dsp:sp>
    <dsp:sp modelId="{C9597FDB-7E4A-44CC-B6B9-EB3903E64F4E}">
      <dsp:nvSpPr>
        <dsp:cNvPr id="0" name=""/>
        <dsp:cNvSpPr/>
      </dsp:nvSpPr>
      <dsp:spPr>
        <a:xfrm>
          <a:off x="5877855" y="3827580"/>
          <a:ext cx="2089546" cy="471878"/>
        </a:xfrm>
        <a:prstGeom prst="roundRect">
          <a:avLst>
            <a:gd name="adj" fmla="val 10000"/>
          </a:avLst>
        </a:prstGeom>
        <a:solidFill>
          <a:srgbClr val="9BBB59"/>
        </a:solidFill>
        <a:ln w="25400" cap="flat" cmpd="sng" algn="ctr">
          <a:solidFill>
            <a:sysClr val="window" lastClr="FFFFFF">
              <a:hueOff val="0"/>
              <a:satOff val="0"/>
              <a:lumOff val="0"/>
              <a:alphaOff val="0"/>
            </a:sys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7940" tIns="20955" rIns="27940" bIns="20955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100" kern="1200" dirty="0" smtClean="0">
              <a:solidFill>
                <a:sysClr val="window" lastClr="FFFFFF"/>
              </a:solidFill>
              <a:latin typeface="Calibri"/>
              <a:ea typeface="+mn-ea"/>
              <a:cs typeface="+mn-cs"/>
            </a:rPr>
            <a:t>Collaborate to assure and implement successful policy strategies (drug courts, etc)</a:t>
          </a:r>
          <a:endParaRPr lang="en-US" sz="1100" kern="1200" dirty="0">
            <a:solidFill>
              <a:sysClr val="window" lastClr="FFFFFF"/>
            </a:solidFill>
            <a:latin typeface="Calibri"/>
            <a:ea typeface="+mn-ea"/>
            <a:cs typeface="+mn-cs"/>
          </a:endParaRPr>
        </a:p>
      </dsp:txBody>
      <dsp:txXfrm>
        <a:off x="5891676" y="3841401"/>
        <a:ext cx="2061904" cy="4442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8313"/>
          </a:xfrm>
          <a:prstGeom prst="rect">
            <a:avLst/>
          </a:prstGeom>
        </p:spPr>
        <p:txBody>
          <a:bodyPr vert="horz" lIns="92318" tIns="46158" rIns="92318" bIns="46158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2725" y="0"/>
            <a:ext cx="3078163" cy="468313"/>
          </a:xfrm>
          <a:prstGeom prst="rect">
            <a:avLst/>
          </a:prstGeom>
        </p:spPr>
        <p:txBody>
          <a:bodyPr vert="horz" lIns="92318" tIns="46158" rIns="92318" bIns="46158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D28A60C5-676C-4DD1-AC72-763913F692B3}" type="datetimeFigureOut">
              <a:rPr lang="en-US"/>
              <a:pPr>
                <a:defRPr/>
              </a:pPr>
              <a:t>1/7/2019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916988"/>
            <a:ext cx="3078163" cy="469900"/>
          </a:xfrm>
          <a:prstGeom prst="rect">
            <a:avLst/>
          </a:prstGeom>
        </p:spPr>
        <p:txBody>
          <a:bodyPr vert="horz" lIns="92318" tIns="46158" rIns="92318" bIns="46158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2725" y="8916988"/>
            <a:ext cx="3078163" cy="469900"/>
          </a:xfrm>
          <a:prstGeom prst="rect">
            <a:avLst/>
          </a:prstGeom>
        </p:spPr>
        <p:txBody>
          <a:bodyPr vert="horz" wrap="square" lIns="92318" tIns="46158" rIns="92318" bIns="46158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6E6F470-08A0-45EE-B7A8-50F76AA4E26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468313"/>
          </a:xfrm>
          <a:prstGeom prst="rect">
            <a:avLst/>
          </a:prstGeom>
        </p:spPr>
        <p:txBody>
          <a:bodyPr vert="horz" lIns="92318" tIns="46158" rIns="92318" bIns="46158" rtlCol="0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2725" y="0"/>
            <a:ext cx="3078163" cy="468313"/>
          </a:xfrm>
          <a:prstGeom prst="rect">
            <a:avLst/>
          </a:prstGeom>
        </p:spPr>
        <p:txBody>
          <a:bodyPr vert="horz" lIns="92318" tIns="46158" rIns="92318" bIns="46158" rtlCol="0"/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fld id="{C18DEEEE-B7B8-4EBD-8D80-D08DB4143ECA}" type="datetimeFigureOut">
              <a:rPr lang="en-US"/>
              <a:pPr>
                <a:defRPr/>
              </a:pPr>
              <a:t>1/7/2019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3325" y="704850"/>
            <a:ext cx="4695825" cy="3521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318" tIns="46158" rIns="92318" bIns="46158" rtlCol="0" anchor="ctr"/>
          <a:lstStyle/>
          <a:p>
            <a:pPr lvl="0"/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1200" y="4459288"/>
            <a:ext cx="5680075" cy="4224337"/>
          </a:xfrm>
          <a:prstGeom prst="rect">
            <a:avLst/>
          </a:prstGeom>
        </p:spPr>
        <p:txBody>
          <a:bodyPr vert="horz" lIns="92318" tIns="46158" rIns="92318" bIns="46158" rtlCol="0">
            <a:norm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6988"/>
            <a:ext cx="3078163" cy="469900"/>
          </a:xfrm>
          <a:prstGeom prst="rect">
            <a:avLst/>
          </a:prstGeom>
        </p:spPr>
        <p:txBody>
          <a:bodyPr vert="horz" lIns="92318" tIns="46158" rIns="92318" bIns="46158" rtlCol="0" anchor="b"/>
          <a:lstStyle>
            <a:lvl1pPr algn="l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2725" y="8916988"/>
            <a:ext cx="3078163" cy="469900"/>
          </a:xfrm>
          <a:prstGeom prst="rect">
            <a:avLst/>
          </a:prstGeom>
        </p:spPr>
        <p:txBody>
          <a:bodyPr vert="horz" wrap="square" lIns="92318" tIns="46158" rIns="92318" bIns="46158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5AED30B-3B6E-41B7-982D-79517310DD6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AED30B-3B6E-41B7-982D-79517310DD6B}" type="slidenum">
              <a:rPr lang="en-US" altLang="en-US" smtClean="0"/>
              <a:pPr>
                <a:defRPr/>
              </a:pPr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560967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AED30B-3B6E-41B7-982D-79517310DD6B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75896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smtClean="0"/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678CCE5-EB69-4648-A361-FF25AF1918BF}" type="slidenum">
              <a:rPr lang="en-US" altLang="en-US" smtClean="0"/>
              <a:pPr/>
              <a:t>3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US" altLang="en-US" dirty="0" smtClean="0"/>
              <a:t>$155,000,000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dirty="0" smtClean="0"/>
              <a:t> </a:t>
            </a:r>
          </a:p>
          <a:p>
            <a:pPr eaLnBrk="1" hangingPunct="1">
              <a:spcBef>
                <a:spcPct val="0"/>
              </a:spcBef>
            </a:pPr>
            <a:r>
              <a:rPr lang="en-US" altLang="en-US" dirty="0" smtClean="0"/>
              <a:t>CDC’s Public Health Crisis Response Cooperative Agreement is a funding mechanism to support emergency response.</a:t>
            </a:r>
          </a:p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en-US" dirty="0" smtClean="0">
                <a:solidFill>
                  <a:schemeClr val="tx1"/>
                </a:solidFill>
              </a:rPr>
              <a:t>Project Period: Saturday, September 1, 2018 – Saturday, August 31, 2019</a:t>
            </a:r>
          </a:p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61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17CE3FA-3C59-4164-B970-06C522D737B6}" type="slidenum">
              <a:rPr lang="en-US" altLang="en-US" smtClean="0"/>
              <a:pPr/>
              <a:t>4</a:t>
            </a:fld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9798941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AED30B-3B6E-41B7-982D-79517310DD6B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27826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AED30B-3B6E-41B7-982D-79517310DD6B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9708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AED30B-3B6E-41B7-982D-79517310DD6B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83476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AED30B-3B6E-41B7-982D-79517310DD6B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014811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AED30B-3B6E-41B7-982D-79517310DD6B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67700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5AED30B-3B6E-41B7-982D-79517310DD6B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7078158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821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87AEF9-C978-4756-85C2-CB68FA07E57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6801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9281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800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730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11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543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181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59154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34700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5982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61261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612616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36985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12A8881-5506-4044-80CA-7A1FC48F92F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431836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80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>
          <a:xfrm>
            <a:off x="76200" y="6096000"/>
            <a:ext cx="3810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7E8E9CA4-B3BD-4226-86B8-BF1620FBC36B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8" r:id="rId1"/>
    <p:sldLayoutId id="2147483986" r:id="rId2"/>
    <p:sldLayoutId id="2147483989" r:id="rId3"/>
    <p:sldLayoutId id="2147483990" r:id="rId4"/>
    <p:sldLayoutId id="2147483991" r:id="rId5"/>
    <p:sldLayoutId id="2147483992" r:id="rId6"/>
    <p:sldLayoutId id="2147483993" r:id="rId7"/>
    <p:sldLayoutId id="2147483994" r:id="rId8"/>
    <p:sldLayoutId id="2147483995" r:id="rId9"/>
    <p:sldLayoutId id="2147483996" r:id="rId10"/>
    <p:sldLayoutId id="2147483997" r:id="rId11"/>
    <p:sldLayoutId id="2147483987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3366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3366"/>
          </a:solidFill>
          <a:latin typeface="Trebuchet MS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3366"/>
          </a:solidFill>
          <a:latin typeface="Trebuchet MS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3366"/>
          </a:solidFill>
          <a:latin typeface="Trebuchet MS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003366"/>
          </a:solidFill>
          <a:latin typeface="Trebuchet MS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3366"/>
          </a:solidFill>
          <a:latin typeface="Trebuchet MS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3366"/>
          </a:solidFill>
          <a:latin typeface="Trebuchet MS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3366"/>
          </a:solidFill>
          <a:latin typeface="Trebuchet MS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rgbClr val="003366"/>
          </a:solidFill>
          <a:latin typeface="Trebuchet MS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400">
          <a:solidFill>
            <a:srgbClr val="4D4D4D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777777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777777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777777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rgbClr val="777777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rgbClr val="777777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rgbClr val="777777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rgbClr val="777777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rgbClr val="777777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diagramData" Target="../diagrams/data2.xml"/><Relationship Id="rId4" Type="http://schemas.openxmlformats.org/officeDocument/2006/relationships/diagramLayout" Target="../diagrams/layout2.xml"/><Relationship Id="rId5" Type="http://schemas.openxmlformats.org/officeDocument/2006/relationships/diagramQuickStyle" Target="../diagrams/quickStyle2.xml"/><Relationship Id="rId6" Type="http://schemas.openxmlformats.org/officeDocument/2006/relationships/diagramColors" Target="../diagrams/colors2.xml"/><Relationship Id="rId7" Type="http://schemas.microsoft.com/office/2007/relationships/diagramDrawing" Target="../diagrams/drawing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685800" y="1676400"/>
            <a:ext cx="7772400" cy="1470025"/>
          </a:xfrm>
        </p:spPr>
        <p:txBody>
          <a:bodyPr/>
          <a:lstStyle/>
          <a:p>
            <a:r>
              <a:rPr lang="en-US" dirty="0" smtClean="0"/>
              <a:t>CDC Opioid Overdose Crisis Response Cooperative Agreement</a:t>
            </a:r>
            <a:endParaRPr lang="en-US" dirty="0"/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371600" y="3733800"/>
            <a:ext cx="6400800" cy="1752600"/>
          </a:xfrm>
        </p:spPr>
        <p:txBody>
          <a:bodyPr/>
          <a:lstStyle/>
          <a:p>
            <a:r>
              <a:rPr lang="en-US" sz="2000" dirty="0" smtClean="0"/>
              <a:t>Health and Human Resources Sub-Panel</a:t>
            </a:r>
          </a:p>
          <a:p>
            <a:r>
              <a:rPr lang="en-US" sz="2000" dirty="0" smtClean="0"/>
              <a:t>Governor’s Secure and Resilient Commonwealth Panel</a:t>
            </a:r>
          </a:p>
          <a:p>
            <a:r>
              <a:rPr lang="en-US" sz="2000" dirty="0" smtClean="0"/>
              <a:t>January 8, 2019</a:t>
            </a:r>
          </a:p>
          <a:p>
            <a:endParaRPr lang="en-US" sz="2000" dirty="0"/>
          </a:p>
          <a:p>
            <a:r>
              <a:rPr lang="en-US" sz="1800" dirty="0" smtClean="0"/>
              <a:t>Jonathan Kiser</a:t>
            </a:r>
          </a:p>
          <a:p>
            <a:r>
              <a:rPr lang="en-US" sz="1800" dirty="0" smtClean="0"/>
              <a:t>Office of Emergency Preparedness</a:t>
            </a:r>
          </a:p>
          <a:p>
            <a:r>
              <a:rPr lang="en-US" sz="1800" dirty="0" smtClean="0"/>
              <a:t>Virginia Department of Health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2264181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/>
        </p:nvGraphicFramePr>
        <p:xfrm>
          <a:off x="304800" y="228600"/>
          <a:ext cx="8610600" cy="5905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 txBox="1">
            <a:spLocks/>
          </p:cNvSpPr>
          <p:nvPr/>
        </p:nvSpPr>
        <p:spPr bwMode="auto">
          <a:xfrm>
            <a:off x="457200" y="123825"/>
            <a:ext cx="8229600" cy="714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defRPr sz="2400">
                <a:solidFill>
                  <a:srgbClr val="4D4D4D"/>
                </a:solidFill>
                <a:latin typeface="Trebuchet MS" panose="020B0603020202020204" pitchFamily="34" charset="0"/>
              </a:defRPr>
            </a:lvl1pPr>
            <a:lvl2pPr marL="742950" indent="-285750">
              <a:spcBef>
                <a:spcPct val="20000"/>
              </a:spcBef>
              <a:buChar char="•"/>
              <a:defRPr sz="2400">
                <a:solidFill>
                  <a:srgbClr val="777777"/>
                </a:solidFill>
                <a:latin typeface="Trebuchet MS" panose="020B0603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rgbClr val="777777"/>
                </a:solidFill>
                <a:latin typeface="Trebuchet MS" panose="020B0603020202020204" pitchFamily="34" charset="0"/>
              </a:defRPr>
            </a:lvl3pPr>
            <a:lvl4pPr marL="1600200" indent="-228600">
              <a:spcBef>
                <a:spcPct val="20000"/>
              </a:spcBef>
              <a:buChar char="•"/>
              <a:defRPr sz="2400">
                <a:solidFill>
                  <a:srgbClr val="777777"/>
                </a:solidFill>
                <a:latin typeface="Trebuchet MS" panose="020B0603020202020204" pitchFamily="34" charset="0"/>
              </a:defRPr>
            </a:lvl4pPr>
            <a:lvl5pPr marL="2057400" indent="-228600">
              <a:spcBef>
                <a:spcPct val="20000"/>
              </a:spcBef>
              <a:buChar char="•"/>
              <a:defRPr sz="2400">
                <a:solidFill>
                  <a:srgbClr val="777777"/>
                </a:solidFill>
                <a:latin typeface="Trebuchet MS" panose="020B0603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777777"/>
                </a:solidFill>
                <a:latin typeface="Trebuchet MS" panose="020B0603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777777"/>
                </a:solidFill>
                <a:latin typeface="Trebuchet MS" panose="020B0603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777777"/>
                </a:solidFill>
                <a:latin typeface="Trebuchet MS" panose="020B0603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777777"/>
                </a:solidFill>
                <a:latin typeface="Trebuchet MS" panose="020B0603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</a:pPr>
            <a:r>
              <a:rPr lang="en-US" altLang="en-US" sz="4000">
                <a:solidFill>
                  <a:srgbClr val="000000"/>
                </a:solidFill>
                <a:latin typeface="Calibri" panose="020F0502020204030204" pitchFamily="34" charset="0"/>
              </a:rPr>
              <a:t>VDH Addiction IMT Goals &amp; Objectives</a:t>
            </a:r>
            <a:endParaRPr lang="en-US" altLang="en-US" sz="27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graphicFrame>
        <p:nvGraphicFramePr>
          <p:cNvPr id="12" name="Content Placeholder 3"/>
          <p:cNvGraphicFramePr>
            <a:graphicFrameLocks/>
          </p:cNvGraphicFramePr>
          <p:nvPr/>
        </p:nvGraphicFramePr>
        <p:xfrm>
          <a:off x="533400" y="111241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914400" y="5638800"/>
            <a:ext cx="7315200" cy="368300"/>
          </a:xfrm>
          <a:prstGeom prst="rect">
            <a:avLst/>
          </a:prstGeom>
          <a:noFill/>
          <a:ln w="31750">
            <a:solidFill>
              <a:srgbClr val="4F81BD"/>
            </a:solidFill>
          </a:ln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kern="0" dirty="0">
                <a:solidFill>
                  <a:prstClr val="black"/>
                </a:solidFill>
                <a:latin typeface="Calibri"/>
              </a:rPr>
              <a:t>Data and Surveillance</a:t>
            </a:r>
          </a:p>
        </p:txBody>
      </p:sp>
      <p:cxnSp>
        <p:nvCxnSpPr>
          <p:cNvPr id="15365" name="Straight Arrow Connector 13"/>
          <p:cNvCxnSpPr>
            <a:cxnSpLocks noChangeShapeType="1"/>
          </p:cNvCxnSpPr>
          <p:nvPr/>
        </p:nvCxnSpPr>
        <p:spPr bwMode="auto">
          <a:xfrm flipV="1">
            <a:off x="1905000" y="5435600"/>
            <a:ext cx="0" cy="203200"/>
          </a:xfrm>
          <a:prstGeom prst="straightConnector1">
            <a:avLst/>
          </a:prstGeom>
          <a:noFill/>
          <a:ln w="25400" algn="ctr">
            <a:solidFill>
              <a:srgbClr val="4A7EB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66" name="Straight Arrow Connector 14"/>
          <p:cNvCxnSpPr>
            <a:cxnSpLocks noChangeShapeType="1"/>
            <a:stCxn id="13" idx="0"/>
          </p:cNvCxnSpPr>
          <p:nvPr/>
        </p:nvCxnSpPr>
        <p:spPr bwMode="auto">
          <a:xfrm flipV="1">
            <a:off x="4572000" y="5435600"/>
            <a:ext cx="0" cy="203200"/>
          </a:xfrm>
          <a:prstGeom prst="straightConnector1">
            <a:avLst/>
          </a:prstGeom>
          <a:noFill/>
          <a:ln w="25400" algn="ctr">
            <a:solidFill>
              <a:srgbClr val="4A7EB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367" name="Straight Arrow Connector 15"/>
          <p:cNvCxnSpPr>
            <a:cxnSpLocks noChangeShapeType="1"/>
          </p:cNvCxnSpPr>
          <p:nvPr/>
        </p:nvCxnSpPr>
        <p:spPr bwMode="auto">
          <a:xfrm flipV="1">
            <a:off x="7543800" y="5435600"/>
            <a:ext cx="0" cy="203200"/>
          </a:xfrm>
          <a:prstGeom prst="straightConnector1">
            <a:avLst/>
          </a:prstGeom>
          <a:noFill/>
          <a:ln w="25400" algn="ctr">
            <a:solidFill>
              <a:srgbClr val="4A7EBB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458200" cy="1143000"/>
          </a:xfrm>
        </p:spPr>
        <p:txBody>
          <a:bodyPr/>
          <a:lstStyle/>
          <a:p>
            <a:r>
              <a:rPr lang="en-US" altLang="en-US" dirty="0" smtClean="0"/>
              <a:t>CDC Opioid Crisis Response</a:t>
            </a:r>
            <a:br>
              <a:rPr lang="en-US" altLang="en-US" dirty="0" smtClean="0"/>
            </a:br>
            <a:r>
              <a:rPr lang="en-US" altLang="en-US" dirty="0" smtClean="0"/>
              <a:t>Cooperative Agreement</a:t>
            </a:r>
          </a:p>
        </p:txBody>
      </p:sp>
      <p:sp>
        <p:nvSpPr>
          <p:cNvPr id="5123" name="Content Placeholder 2"/>
          <p:cNvSpPr>
            <a:spLocks noGrp="1"/>
          </p:cNvSpPr>
          <p:nvPr>
            <p:ph idx="1"/>
          </p:nvPr>
        </p:nvSpPr>
        <p:spPr>
          <a:xfrm>
            <a:off x="457200" y="2057400"/>
            <a:ext cx="8229600" cy="4343400"/>
          </a:xfrm>
        </p:spPr>
        <p:txBody>
          <a:bodyPr/>
          <a:lstStyle/>
          <a:p>
            <a:pPr>
              <a:buFontTx/>
              <a:buChar char="•"/>
            </a:pPr>
            <a:r>
              <a:t>CDC funding to understand opioid epidemic and scale up prevention activities.</a:t>
            </a:r>
          </a:p>
          <a:p>
            <a:pPr>
              <a:buFontTx/>
              <a:buChar char="•"/>
            </a:pPr>
            <a:endParaRPr lang="en-US" altLang="en-US" dirty="0" smtClean="0">
              <a:solidFill>
                <a:schemeClr val="tx1"/>
              </a:solidFill>
            </a:endParaRPr>
          </a:p>
          <a:p>
            <a:pPr>
              <a:buFontTx/>
              <a:buChar char="•"/>
            </a:pPr>
            <a:r>
              <a:t>One-time, one-year funding must be spent within the budget period.</a:t>
            </a:r>
          </a:p>
        </p:txBody>
      </p:sp>
    </p:spTree>
    <p:extLst>
      <p:ext uri="{BB962C8B-B14F-4D97-AF65-F5344CB8AC3E}">
        <p14:creationId xmlns:p14="http://schemas.microsoft.com/office/powerpoint/2010/main" val="4247589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Domains &amp; Centers</a:t>
            </a:r>
          </a:p>
        </p:txBody>
      </p:sp>
      <p:sp>
        <p:nvSpPr>
          <p:cNvPr id="8195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181600"/>
          </a:xfrm>
        </p:spPr>
        <p:txBody>
          <a:bodyPr/>
          <a:lstStyle/>
          <a:p>
            <a:r>
              <a:t>Grant activities are structured within six domains to strengthen:</a:t>
            </a:r>
          </a:p>
          <a:p>
            <a:pPr marL="914400" lvl="1" indent="-457200">
              <a:buFont typeface="Trebuchet MS" panose="020B0603020202020204" pitchFamily="34" charset="0"/>
              <a:buAutoNum type="arabicPeriod"/>
            </a:pPr>
            <a:r>
              <a:rPr lang="en-US" altLang="en-US" sz="2200" smtClean="0">
                <a:solidFill>
                  <a:schemeClr val="tx1"/>
                </a:solidFill>
              </a:rPr>
              <a:t>Incident Management (optional)</a:t>
            </a:r>
          </a:p>
          <a:p>
            <a:pPr marL="914400" lvl="1" indent="-457200">
              <a:buFont typeface="Trebuchet MS" panose="020B0603020202020204" pitchFamily="34" charset="0"/>
              <a:buAutoNum type="arabicPeriod"/>
            </a:pPr>
            <a:r>
              <a:rPr lang="en-US" altLang="en-US" sz="2200" smtClean="0">
                <a:solidFill>
                  <a:schemeClr val="tx1"/>
                </a:solidFill>
              </a:rPr>
              <a:t>Jurisdictional Recovery</a:t>
            </a:r>
          </a:p>
          <a:p>
            <a:pPr marL="914400" lvl="1" indent="-457200">
              <a:buFont typeface="Trebuchet MS" panose="020B0603020202020204" pitchFamily="34" charset="0"/>
              <a:buAutoNum type="arabicPeriod"/>
            </a:pPr>
            <a:r>
              <a:rPr lang="en-US" altLang="en-US" sz="2200" smtClean="0">
                <a:solidFill>
                  <a:schemeClr val="tx1"/>
                </a:solidFill>
              </a:rPr>
              <a:t>Biosurveillance</a:t>
            </a:r>
          </a:p>
          <a:p>
            <a:pPr marL="914400" lvl="1" indent="-457200">
              <a:buFont typeface="Trebuchet MS" panose="020B0603020202020204" pitchFamily="34" charset="0"/>
              <a:buAutoNum type="arabicPeriod"/>
            </a:pPr>
            <a:r>
              <a:rPr lang="en-US" altLang="en-US" sz="2200" smtClean="0">
                <a:solidFill>
                  <a:schemeClr val="tx1"/>
                </a:solidFill>
              </a:rPr>
              <a:t>Information Management</a:t>
            </a:r>
          </a:p>
          <a:p>
            <a:pPr marL="914400" lvl="1" indent="-457200">
              <a:buFont typeface="Trebuchet MS" panose="020B0603020202020204" pitchFamily="34" charset="0"/>
              <a:buAutoNum type="arabicPeriod"/>
            </a:pPr>
            <a:r>
              <a:rPr lang="en-US" altLang="en-US" sz="2200" smtClean="0">
                <a:solidFill>
                  <a:schemeClr val="tx1"/>
                </a:solidFill>
              </a:rPr>
              <a:t>Countermeasures and Mitigation</a:t>
            </a:r>
          </a:p>
          <a:p>
            <a:pPr marL="914400" lvl="1" indent="-457200">
              <a:buFont typeface="Trebuchet MS" panose="020B0603020202020204" pitchFamily="34" charset="0"/>
              <a:buAutoNum type="arabicPeriod"/>
            </a:pPr>
            <a:r>
              <a:rPr lang="en-US" altLang="en-US" sz="2200" smtClean="0">
                <a:solidFill>
                  <a:schemeClr val="tx1"/>
                </a:solidFill>
              </a:rPr>
              <a:t>Surge Management (optional)</a:t>
            </a:r>
          </a:p>
          <a:p>
            <a:pPr eaLnBrk="1" fontAlgn="ctr" hangingPunct="1">
              <a:buFontTx/>
              <a:buChar char="•"/>
            </a:pPr>
            <a:r>
              <a:rPr lang="en-US" altLang="en-US" sz="2200" smtClean="0">
                <a:solidFill>
                  <a:schemeClr val="tx1"/>
                </a:solidFill>
              </a:rPr>
              <a:t>National Center for Injury Prevention &amp; Control (NCIPC)</a:t>
            </a:r>
          </a:p>
          <a:p>
            <a:pPr eaLnBrk="1" fontAlgn="ctr" hangingPunct="1">
              <a:buFontTx/>
              <a:buChar char="•"/>
            </a:pPr>
            <a:r>
              <a:rPr lang="en-US" altLang="en-US" sz="2200" smtClean="0">
                <a:solidFill>
                  <a:schemeClr val="tx1"/>
                </a:solidFill>
              </a:rPr>
              <a:t>Center for Surveillance, Epidemiology, and Laboratory Services (CSELS)</a:t>
            </a:r>
          </a:p>
          <a:p>
            <a:pPr eaLnBrk="1" fontAlgn="ctr" hangingPunct="1">
              <a:buFontTx/>
              <a:buChar char="•"/>
            </a:pPr>
            <a:r>
              <a:rPr lang="en-US" altLang="en-US" sz="2200" smtClean="0">
                <a:solidFill>
                  <a:schemeClr val="tx1"/>
                </a:solidFill>
              </a:rPr>
              <a:t>National Center for HIV/AIDS, Viral Hepatitis, STD and TB Prevention (NCHHSTP)</a:t>
            </a:r>
          </a:p>
          <a:p>
            <a:pPr marL="914400" lvl="1" indent="-457200">
              <a:buFont typeface="Trebuchet MS" panose="020B0603020202020204" pitchFamily="34" charset="0"/>
              <a:buAutoNum type="arabicPeriod"/>
            </a:pPr>
            <a:endParaRPr lang="en-US" altLang="en-US" sz="2200" smtClean="0">
              <a:solidFill>
                <a:schemeClr val="tx1"/>
              </a:solidFill>
            </a:endParaRPr>
          </a:p>
          <a:p>
            <a:pPr marL="914400" lvl="1" indent="-457200">
              <a:buFont typeface="Trebuchet MS" panose="020B0603020202020204" pitchFamily="34" charset="0"/>
              <a:buAutoNum type="arabicPeriod"/>
            </a:pPr>
            <a:endParaRPr lang="en-US" altLang="en-US" sz="2200" smtClean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75950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mtClean="0"/>
              <a:t>Budget Summary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64474774"/>
              </p:ext>
            </p:extLst>
          </p:nvPr>
        </p:nvGraphicFramePr>
        <p:xfrm>
          <a:off x="685800" y="1600200"/>
          <a:ext cx="7391401" cy="4050933"/>
        </p:xfrm>
        <a:graphic>
          <a:graphicData uri="http://schemas.openxmlformats.org/drawingml/2006/table">
            <a:tbl>
              <a:tblPr>
                <a:tableStyleId>{E8B1032C-EA38-4F05-BA0D-38AFFFC7BED3}</a:tableStyleId>
              </a:tblPr>
              <a:tblGrid>
                <a:gridCol w="3402391">
                  <a:extLst>
                    <a:ext uri="{9D8B030D-6E8A-4147-A177-3AD203B41FA5}">
                      <a16:colId xmlns:a16="http://schemas.microsoft.com/office/drawing/2014/main" val="3076751337"/>
                    </a:ext>
                  </a:extLst>
                </a:gridCol>
                <a:gridCol w="1855409">
                  <a:extLst>
                    <a:ext uri="{9D8B030D-6E8A-4147-A177-3AD203B41FA5}">
                      <a16:colId xmlns:a16="http://schemas.microsoft.com/office/drawing/2014/main" val="2304745104"/>
                    </a:ext>
                  </a:extLst>
                </a:gridCol>
                <a:gridCol w="2133601">
                  <a:extLst>
                    <a:ext uri="{9D8B030D-6E8A-4147-A177-3AD203B41FA5}">
                      <a16:colId xmlns:a16="http://schemas.microsoft.com/office/drawing/2014/main" val="673983283"/>
                    </a:ext>
                  </a:extLst>
                </a:gridCol>
              </a:tblGrid>
              <a:tr h="720546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CDC Funding Source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Award Ceiling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1" u="none" strike="noStrike" dirty="0">
                          <a:effectLst/>
                        </a:rPr>
                        <a:t>Total Amount of </a:t>
                      </a:r>
                      <a:r>
                        <a:rPr lang="en-US" sz="1400" b="1" u="none" strike="noStrike" dirty="0" smtClean="0">
                          <a:effectLst/>
                        </a:rPr>
                        <a:t>Awarded </a:t>
                      </a:r>
                      <a:r>
                        <a:rPr lang="en-US" sz="1400" b="1" u="none" strike="noStrike" dirty="0">
                          <a:effectLst/>
                        </a:rPr>
                        <a:t>Activities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46731753"/>
                  </a:ext>
                </a:extLst>
              </a:tr>
              <a:tr h="63536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effectLst/>
                        </a:rPr>
                        <a:t>National Center for Injury Prevention &amp; Control (NCIPC)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$3,235,577 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smtClean="0">
                          <a:effectLst/>
                        </a:rPr>
                        <a:t>$3,235,577 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51498039"/>
                  </a:ext>
                </a:extLst>
              </a:tr>
              <a:tr h="63536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Center for Surveillance, Epidemiology, and Laboratory Services (CSELS)</a:t>
                      </a:r>
                      <a:endParaRPr lang="en-US" sz="14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$200,000 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smtClean="0">
                          <a:effectLst/>
                        </a:rPr>
                        <a:t>$200,000 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85811875"/>
                  </a:ext>
                </a:extLst>
              </a:tr>
              <a:tr h="63536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National Center for HIV/AIDS, Viral Hepatitis, STD and TB Prevention (NCHHSTP)</a:t>
                      </a:r>
                      <a:endParaRPr lang="en-US" sz="14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smtClean="0">
                          <a:effectLst/>
                        </a:rPr>
                        <a:t>$114,700 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smtClean="0">
                          <a:effectLst/>
                        </a:rPr>
                        <a:t>$114,700 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26720213"/>
                  </a:ext>
                </a:extLst>
              </a:tr>
              <a:tr h="635366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>
                          <a:effectLst/>
                        </a:rPr>
                        <a:t>NCIPC - Special Project</a:t>
                      </a:r>
                      <a:endParaRPr lang="en-US" sz="1400" b="1" i="0" u="none" strike="noStrike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$500,000 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 smtClean="0">
                          <a:effectLst/>
                        </a:rPr>
                        <a:t>$500,000 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69656285"/>
                  </a:ext>
                </a:extLst>
              </a:tr>
              <a:tr h="776589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effectLst/>
                        </a:rPr>
                        <a:t>Partner Support Notice of Funding Opportunity - Separate cooperative agreement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dirty="0">
                          <a:effectLst/>
                        </a:rPr>
                        <a:t>Not established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u="none" strike="noStrike" baseline="0" dirty="0" smtClean="0">
                          <a:effectLst/>
                        </a:rPr>
                        <a:t>$948,000</a:t>
                      </a:r>
                      <a:endParaRPr lang="en-US" sz="14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5120601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6408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0514" y="228600"/>
            <a:ext cx="8229600" cy="1143000"/>
          </a:xfrm>
        </p:spPr>
        <p:txBody>
          <a:bodyPr/>
          <a:lstStyle/>
          <a:p>
            <a:r>
              <a:rPr lang="en-US" dirty="0" smtClean="0"/>
              <a:t>Awarded Activities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600200"/>
            <a:ext cx="8229600" cy="46482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t>Develop and disseminate enhanced jurisdiction-level vulnerability assessments.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t>Collaborate with DBHDS to expand peer recovery specialist workforce capacity.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t>Enhance VDH Opioid Indicators Dashboard for better local data access.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t>Improve data quality of syndromic surveillance ED data for opioids.</a:t>
            </a:r>
            <a:endParaRPr lang="en-US" sz="2200" dirty="0">
              <a:solidFill>
                <a:schemeClr val="tx1"/>
              </a:solidFill>
            </a:endParaRP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898679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54864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Enhancing the functionality of the Emergency Department Care Coordination Project to support healthcare providers;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Developing standardized guidelines and collaborating with emergency departments to improve access to care at the point of non-fatal overdoses and abuse-related visits;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t>Expand training for clinicians and pharmacists on naloxone and MAT.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6643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7150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Establishing a pilot program that will allow for follow-up with mothers of infants with Neonatal Abstinence Syndrome (NAS) to assure that they have information about resources available to them in the community;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Improving follow-up of persons reported with newly identified hepatitis C infection by hiring a community outreach worker in each health planning region;</a:t>
            </a:r>
            <a:br>
              <a:rPr lang="en-US" dirty="0">
                <a:solidFill>
                  <a:schemeClr val="tx1"/>
                </a:solidFill>
              </a:rPr>
            </a:br>
            <a:endParaRPr lang="en-US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t>Support DFS with lab equipment for more timely and thorough results.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7778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smtClean="0"/>
              <a:t>Peer Recovery</a:t>
            </a:r>
          </a:p>
        </p:txBody>
      </p:sp>
      <p:sp>
        <p:nvSpPr>
          <p:cNvPr id="21507" name="Content Placeholder 2"/>
          <p:cNvSpPr>
            <a:spLocks noGrp="1"/>
          </p:cNvSpPr>
          <p:nvPr>
            <p:ph idx="1"/>
          </p:nvPr>
        </p:nvSpPr>
        <p:spPr>
          <a:xfrm>
            <a:off x="381000" y="1676400"/>
            <a:ext cx="8229600" cy="4562475"/>
          </a:xfrm>
        </p:spPr>
        <p:txBody>
          <a:bodyPr/>
          <a:lstStyle/>
          <a:p>
            <a:pPr>
              <a:buFontTx/>
              <a:buChar char="•"/>
            </a:pPr>
            <a:r>
              <a:t>Additional peer recovery project pursued under separate SAMHSA funding.</a:t>
            </a:r>
          </a:p>
          <a:p>
            <a:pPr lvl="1"/>
            <a:r>
              <a:t>Mini-grants to local health districts to expand peer recovery efforts.</a:t>
            </a:r>
          </a:p>
          <a:p>
            <a:pPr lvl="2"/>
            <a:r>
              <a:rPr lang="en-US" altLang="en-US" dirty="0" smtClean="0">
                <a:solidFill>
                  <a:schemeClr val="tx1"/>
                </a:solidFill>
              </a:rPr>
              <a:t>$350,000/year for two years</a:t>
            </a:r>
          </a:p>
        </p:txBody>
      </p:sp>
    </p:spTree>
    <p:extLst>
      <p:ext uri="{BB962C8B-B14F-4D97-AF65-F5344CB8AC3E}">
        <p14:creationId xmlns:p14="http://schemas.microsoft.com/office/powerpoint/2010/main" val="2103093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New VDH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New VDH" id="{197040A4-138B-47C4-BCE7-056A57869533}" vid="{166DF732-1CD3-47F7-BA84-0B32C7F110B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RMDocumentLibraryForm</Display>
  <Edit>RMDocumentLibraryForm</Edit>
  <New>RMDocumentLibraryForm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Response Manager Document" ma:contentTypeID="0x0101008D499D85E81B0F43B1361D0FCF6FB0130090D074D6B847894F91FFA9BD9415339E" ma:contentTypeVersion="12" ma:contentTypeDescription="" ma:contentTypeScope="" ma:versionID="2d263441cb6e091f80238e14818947c2">
  <xsd:schema xmlns:xsd="http://www.w3.org/2001/XMLSchema" xmlns:p="http://schemas.microsoft.com/office/2006/metadata/properties" targetNamespace="http://schemas.microsoft.com/office/2006/metadata/properties" ma:root="true" ma:fieldsID="76d0ae28ededbf01eea4062ba947d7e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 ma:index="5" ma:displayName="Author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 ma:index="9" ma:displayName="Description"/>
        <xsd:element name="keywords" minOccurs="0" maxOccurs="1" type="xsd:string" ma:index="10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A69F1FC-2C56-4DA7-8904-BBA34FDB16B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CA24BC6-EFE9-47B2-9867-A3B0F5D03F6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internal/2005/internalDocumentation"/>
  </ds:schemaRefs>
</ds:datastoreItem>
</file>

<file path=customXml/itemProps3.xml><?xml version="1.0" encoding="utf-8"?>
<ds:datastoreItem xmlns:ds="http://schemas.openxmlformats.org/officeDocument/2006/customXml" ds:itemID="{4CBE71EF-E4EC-42F6-8698-40C868A63A01}">
  <ds:schemaRefs>
    <ds:schemaRef ds:uri="http://purl.org/dc/dcmitype/"/>
    <ds:schemaRef ds:uri="http://schemas.openxmlformats.org/package/2006/metadata/core-properties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New VDH</Template>
  <TotalTime>8120</TotalTime>
  <Words>749</Words>
  <Application>Microsoft Office PowerPoint</Application>
  <PresentationFormat>On-screen Show (4:3)</PresentationFormat>
  <Paragraphs>107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New VDH</vt:lpstr>
      <vt:lpstr>CDC Opioid Overdose Crisis Response Cooperative Agreement</vt:lpstr>
      <vt:lpstr>PowerPoint Presentation</vt:lpstr>
      <vt:lpstr>PowerPoint Presentation</vt:lpstr>
      <vt:lpstr>CDC Opioid Crisis Response Cooperative Agreement</vt:lpstr>
      <vt:lpstr>Domains &amp; Centers</vt:lpstr>
      <vt:lpstr>Budget Summary</vt:lpstr>
      <vt:lpstr>Awarded Activities</vt:lpstr>
      <vt:lpstr>PowerPoint Presentation</vt:lpstr>
      <vt:lpstr>PowerPoint Presentation</vt:lpstr>
      <vt:lpstr>Peer Recovery</vt:lpstr>
    </vt:vector>
  </TitlesOfParts>
  <Company>VDH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CDC Opioid Overdose Crisis Response Cooperative Agreement</dc:title>
  <dc:creator>Mike Magner</dc:creator>
  <cp:keywords/>
  <dc:description/>
  <cp:lastModifiedBy>Silverstein, Suzi (VDH)</cp:lastModifiedBy>
  <cp:revision>418</cp:revision>
  <cp:lastPrinted>2019-01-07T20:46:38Z</cp:lastPrinted>
  <dcterms:created xsi:type="dcterms:W3CDTF">2008-08-05T14:53:59Z</dcterms:created>
  <dcterms:modified xsi:type="dcterms:W3CDTF">2019-01-07T21:34:18Z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0x0101008D499D85E81B0F43B1361D0FCF6FB0130090D074D6B847894F91FFA9BD9415339E</vt:lpwstr>
  </property>
</Properties>
</file>
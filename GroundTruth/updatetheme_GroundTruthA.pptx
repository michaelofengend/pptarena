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7.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7" r:id="rId1"/>
  </p:sldMasterIdLst>
  <p:notesMasterIdLst>
    <p:notesMasterId r:id="rId30"/>
  </p:notesMasterIdLst>
  <p:sldIdLst>
    <p:sldId id="430" r:id="rId2"/>
    <p:sldId id="568" r:id="rId3"/>
    <p:sldId id="496" r:id="rId4"/>
    <p:sldId id="539" r:id="rId5"/>
    <p:sldId id="558" r:id="rId6"/>
    <p:sldId id="565" r:id="rId7"/>
    <p:sldId id="567" r:id="rId8"/>
    <p:sldId id="561" r:id="rId9"/>
    <p:sldId id="571" r:id="rId10"/>
    <p:sldId id="588" r:id="rId11"/>
    <p:sldId id="576" r:id="rId12"/>
    <p:sldId id="580" r:id="rId13"/>
    <p:sldId id="589" r:id="rId14"/>
    <p:sldId id="573" r:id="rId15"/>
    <p:sldId id="574" r:id="rId16"/>
    <p:sldId id="569" r:id="rId17"/>
    <p:sldId id="542" r:id="rId18"/>
    <p:sldId id="549" r:id="rId19"/>
    <p:sldId id="540" r:id="rId20"/>
    <p:sldId id="578" r:id="rId21"/>
    <p:sldId id="585" r:id="rId22"/>
    <p:sldId id="586" r:id="rId23"/>
    <p:sldId id="587" r:id="rId24"/>
    <p:sldId id="584" r:id="rId25"/>
    <p:sldId id="581" r:id="rId26"/>
    <p:sldId id="579" r:id="rId27"/>
    <p:sldId id="583" r:id="rId28"/>
    <p:sldId id="55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2238">
          <p15:clr>
            <a:srgbClr val="A4A3A4"/>
          </p15:clr>
        </p15:guide>
        <p15:guide id="4" pos="386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4B00"/>
    <a:srgbClr val="C0FFA5"/>
    <a:srgbClr val="8EFF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211" autoAdjust="0"/>
    <p:restoredTop sz="84235" autoAdjust="0"/>
  </p:normalViewPr>
  <p:slideViewPr>
    <p:cSldViewPr snapToGrid="0">
      <p:cViewPr varScale="1">
        <p:scale>
          <a:sx n="123" d="100"/>
          <a:sy n="123" d="100"/>
        </p:scale>
        <p:origin x="224" y="680"/>
      </p:cViewPr>
      <p:guideLst>
        <p:guide orient="horz" pos="2160"/>
        <p:guide pos="3840"/>
        <p:guide orient="horz" pos="2238"/>
        <p:guide pos="3866"/>
      </p:guideLst>
    </p:cSldViewPr>
  </p:slideViewPr>
  <p:notesTextViewPr>
    <p:cViewPr>
      <p:scale>
        <a:sx n="1" d="1"/>
        <a:sy n="1" d="1"/>
      </p:scale>
      <p:origin x="0" y="0"/>
    </p:cViewPr>
  </p:notesTextViewPr>
  <p:sorterViewPr>
    <p:cViewPr varScale="1">
      <p:scale>
        <a:sx n="1" d="1"/>
        <a:sy n="1" d="1"/>
      </p:scale>
      <p:origin x="0" y="61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ata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ata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28.svg"/></Relationships>
</file>

<file path=ppt/diagrams/_rels/data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3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svg"/><Relationship Id="rId1" Type="http://schemas.openxmlformats.org/officeDocument/2006/relationships/image" Target="../media/image17.png"/><Relationship Id="rId4" Type="http://schemas.openxmlformats.org/officeDocument/2006/relationships/image" Target="../media/image20.svg"/></Relationships>
</file>

<file path=ppt/diagrams/_rels/drawing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6.svg"/><Relationship Id="rId1" Type="http://schemas.openxmlformats.org/officeDocument/2006/relationships/image" Target="../media/image15.png"/><Relationship Id="rId4" Type="http://schemas.openxmlformats.org/officeDocument/2006/relationships/image" Target="../media/image28.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3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7B52793-A29A-4059-9254-91199E7A3DC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B9B0190-4EC0-41B8-9F53-911CF38326A7}">
      <dgm:prSet/>
      <dgm:spPr/>
      <dgm:t>
        <a:bodyPr/>
        <a:lstStyle/>
        <a:p>
          <a:r>
            <a:rPr lang="en-US" dirty="0"/>
            <a:t>PART I</a:t>
          </a:r>
          <a:br>
            <a:rPr lang="en-US" dirty="0"/>
          </a:br>
          <a:endParaRPr lang="en-US" dirty="0"/>
        </a:p>
      </dgm:t>
    </dgm:pt>
    <dgm:pt modelId="{88D590AD-1EE9-4BE5-8BC3-A6719475D6D2}" type="parTrans" cxnId="{8F24D413-382E-4042-8900-9F417CF90BED}">
      <dgm:prSet/>
      <dgm:spPr/>
      <dgm:t>
        <a:bodyPr/>
        <a:lstStyle/>
        <a:p>
          <a:endParaRPr lang="en-US"/>
        </a:p>
      </dgm:t>
    </dgm:pt>
    <dgm:pt modelId="{0D0C6395-4DA7-4337-8E42-C4578A5B9702}" type="sibTrans" cxnId="{8F24D413-382E-4042-8900-9F417CF90BED}">
      <dgm:prSet/>
      <dgm:spPr/>
      <dgm:t>
        <a:bodyPr/>
        <a:lstStyle/>
        <a:p>
          <a:endParaRPr lang="en-US"/>
        </a:p>
      </dgm:t>
    </dgm:pt>
    <dgm:pt modelId="{675FDF4B-FFAD-4FED-AC2A-009A90DD5D01}">
      <dgm:prSet/>
      <dgm:spPr/>
      <dgm:t>
        <a:bodyPr/>
        <a:lstStyle/>
        <a:p>
          <a:r>
            <a:rPr lang="en-US" u="sng"/>
            <a:t>Context and Motivation</a:t>
          </a:r>
          <a:br>
            <a:rPr lang="en-US" u="sng"/>
          </a:br>
          <a:r>
            <a:rPr lang="en-US"/>
            <a:t>The Central Question in Solving</a:t>
          </a:r>
        </a:p>
      </dgm:t>
    </dgm:pt>
    <dgm:pt modelId="{0E0A0C86-1907-4390-86D7-D7C6DD52995E}" type="parTrans" cxnId="{82400DDD-4CDC-422B-9090-97FB25113F2D}">
      <dgm:prSet/>
      <dgm:spPr/>
      <dgm:t>
        <a:bodyPr/>
        <a:lstStyle/>
        <a:p>
          <a:endParaRPr lang="en-US"/>
        </a:p>
      </dgm:t>
    </dgm:pt>
    <dgm:pt modelId="{AFD4CBFC-2D16-4F7D-9A1D-9A0A089C2638}" type="sibTrans" cxnId="{82400DDD-4CDC-422B-9090-97FB25113F2D}">
      <dgm:prSet/>
      <dgm:spPr/>
      <dgm:t>
        <a:bodyPr/>
        <a:lstStyle/>
        <a:p>
          <a:endParaRPr lang="en-US"/>
        </a:p>
      </dgm:t>
    </dgm:pt>
    <dgm:pt modelId="{C4676E87-3F5F-42DD-BD5E-C700EEFA71DA}" type="pres">
      <dgm:prSet presAssocID="{F7B52793-A29A-4059-9254-91199E7A3DC3}" presName="root" presStyleCnt="0">
        <dgm:presLayoutVars>
          <dgm:dir/>
          <dgm:resizeHandles val="exact"/>
        </dgm:presLayoutVars>
      </dgm:prSet>
      <dgm:spPr/>
    </dgm:pt>
    <dgm:pt modelId="{27E05F85-068B-48CD-8B9A-0AA57D9BEFB1}" type="pres">
      <dgm:prSet presAssocID="{8B9B0190-4EC0-41B8-9F53-911CF38326A7}" presName="compNode" presStyleCnt="0"/>
      <dgm:spPr/>
    </dgm:pt>
    <dgm:pt modelId="{7B42AD85-FC27-4FB0-9BDC-5FE8A3E4C5AB}" type="pres">
      <dgm:prSet presAssocID="{8B9B0190-4EC0-41B8-9F53-911CF38326A7}" presName="bgRect" presStyleLbl="bgShp" presStyleIdx="0" presStyleCnt="2"/>
      <dgm:spPr/>
    </dgm:pt>
    <dgm:pt modelId="{E75B0CC4-B6C1-4CD5-9A81-3FB5ADF002BE}" type="pres">
      <dgm:prSet presAssocID="{8B9B0190-4EC0-41B8-9F53-911CF38326A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A0D14FC1-039A-4230-BACD-BFAC43D75728}" type="pres">
      <dgm:prSet presAssocID="{8B9B0190-4EC0-41B8-9F53-911CF38326A7}" presName="spaceRect" presStyleCnt="0"/>
      <dgm:spPr/>
    </dgm:pt>
    <dgm:pt modelId="{5BFC5456-96FE-4515-AB75-B7432113D7C7}" type="pres">
      <dgm:prSet presAssocID="{8B9B0190-4EC0-41B8-9F53-911CF38326A7}" presName="parTx" presStyleLbl="revTx" presStyleIdx="0" presStyleCnt="2">
        <dgm:presLayoutVars>
          <dgm:chMax val="0"/>
          <dgm:chPref val="0"/>
        </dgm:presLayoutVars>
      </dgm:prSet>
      <dgm:spPr/>
    </dgm:pt>
    <dgm:pt modelId="{005E434A-0B34-46EF-B1B8-674465F1381E}" type="pres">
      <dgm:prSet presAssocID="{0D0C6395-4DA7-4337-8E42-C4578A5B9702}" presName="sibTrans" presStyleCnt="0"/>
      <dgm:spPr/>
    </dgm:pt>
    <dgm:pt modelId="{6F5BD44A-27EC-4E4C-ACDB-C31B50C08D20}" type="pres">
      <dgm:prSet presAssocID="{675FDF4B-FFAD-4FED-AC2A-009A90DD5D01}" presName="compNode" presStyleCnt="0"/>
      <dgm:spPr/>
    </dgm:pt>
    <dgm:pt modelId="{7D14D551-EDE2-458B-B6BB-6C6B53A74E4E}" type="pres">
      <dgm:prSet presAssocID="{675FDF4B-FFAD-4FED-AC2A-009A90DD5D01}" presName="bgRect" presStyleLbl="bgShp" presStyleIdx="1" presStyleCnt="2"/>
      <dgm:spPr/>
    </dgm:pt>
    <dgm:pt modelId="{B9F929C3-5E91-414E-8131-4D8893310602}" type="pres">
      <dgm:prSet presAssocID="{675FDF4B-FFAD-4FED-AC2A-009A90DD5D0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03E712D2-C98A-4377-B8F4-D4ED6190C661}" type="pres">
      <dgm:prSet presAssocID="{675FDF4B-FFAD-4FED-AC2A-009A90DD5D01}" presName="spaceRect" presStyleCnt="0"/>
      <dgm:spPr/>
    </dgm:pt>
    <dgm:pt modelId="{0A2D2D43-A931-42A3-86A1-83ABEA590499}" type="pres">
      <dgm:prSet presAssocID="{675FDF4B-FFAD-4FED-AC2A-009A90DD5D01}" presName="parTx" presStyleLbl="revTx" presStyleIdx="1" presStyleCnt="2">
        <dgm:presLayoutVars>
          <dgm:chMax val="0"/>
          <dgm:chPref val="0"/>
        </dgm:presLayoutVars>
      </dgm:prSet>
      <dgm:spPr/>
    </dgm:pt>
  </dgm:ptLst>
  <dgm:cxnLst>
    <dgm:cxn modelId="{8F24D413-382E-4042-8900-9F417CF90BED}" srcId="{F7B52793-A29A-4059-9254-91199E7A3DC3}" destId="{8B9B0190-4EC0-41B8-9F53-911CF38326A7}" srcOrd="0" destOrd="0" parTransId="{88D590AD-1EE9-4BE5-8BC3-A6719475D6D2}" sibTransId="{0D0C6395-4DA7-4337-8E42-C4578A5B9702}"/>
    <dgm:cxn modelId="{5E7DCC56-48B8-470B-AB5D-EE3395AE6CD8}" type="presOf" srcId="{F7B52793-A29A-4059-9254-91199E7A3DC3}" destId="{C4676E87-3F5F-42DD-BD5E-C700EEFA71DA}" srcOrd="0" destOrd="0" presId="urn:microsoft.com/office/officeart/2018/2/layout/IconVerticalSolidList"/>
    <dgm:cxn modelId="{A9C1EA65-C427-4E76-A458-1CC690BCF7DA}" type="presOf" srcId="{675FDF4B-FFAD-4FED-AC2A-009A90DD5D01}" destId="{0A2D2D43-A931-42A3-86A1-83ABEA590499}" srcOrd="0" destOrd="0" presId="urn:microsoft.com/office/officeart/2018/2/layout/IconVerticalSolidList"/>
    <dgm:cxn modelId="{82400DDD-4CDC-422B-9090-97FB25113F2D}" srcId="{F7B52793-A29A-4059-9254-91199E7A3DC3}" destId="{675FDF4B-FFAD-4FED-AC2A-009A90DD5D01}" srcOrd="1" destOrd="0" parTransId="{0E0A0C86-1907-4390-86D7-D7C6DD52995E}" sibTransId="{AFD4CBFC-2D16-4F7D-9A1D-9A0A089C2638}"/>
    <dgm:cxn modelId="{B8B96EDF-F2D7-4723-87C5-BABCD3E243DF}" type="presOf" srcId="{8B9B0190-4EC0-41B8-9F53-911CF38326A7}" destId="{5BFC5456-96FE-4515-AB75-B7432113D7C7}" srcOrd="0" destOrd="0" presId="urn:microsoft.com/office/officeart/2018/2/layout/IconVerticalSolidList"/>
    <dgm:cxn modelId="{2411A9B8-9A1D-4D71-A2A2-0D7A849CCB30}" type="presParOf" srcId="{C4676E87-3F5F-42DD-BD5E-C700EEFA71DA}" destId="{27E05F85-068B-48CD-8B9A-0AA57D9BEFB1}" srcOrd="0" destOrd="0" presId="urn:microsoft.com/office/officeart/2018/2/layout/IconVerticalSolidList"/>
    <dgm:cxn modelId="{00204C45-4FCE-46E7-9383-05148EFEE2CA}" type="presParOf" srcId="{27E05F85-068B-48CD-8B9A-0AA57D9BEFB1}" destId="{7B42AD85-FC27-4FB0-9BDC-5FE8A3E4C5AB}" srcOrd="0" destOrd="0" presId="urn:microsoft.com/office/officeart/2018/2/layout/IconVerticalSolidList"/>
    <dgm:cxn modelId="{BE0AC3CA-01A4-48FA-9AD2-457EA1A46E9F}" type="presParOf" srcId="{27E05F85-068B-48CD-8B9A-0AA57D9BEFB1}" destId="{E75B0CC4-B6C1-4CD5-9A81-3FB5ADF002BE}" srcOrd="1" destOrd="0" presId="urn:microsoft.com/office/officeart/2018/2/layout/IconVerticalSolidList"/>
    <dgm:cxn modelId="{87933865-1B27-4A28-BF9E-27C1D8B91E01}" type="presParOf" srcId="{27E05F85-068B-48CD-8B9A-0AA57D9BEFB1}" destId="{A0D14FC1-039A-4230-BACD-BFAC43D75728}" srcOrd="2" destOrd="0" presId="urn:microsoft.com/office/officeart/2018/2/layout/IconVerticalSolidList"/>
    <dgm:cxn modelId="{8C5EC155-BABE-4E57-9E68-6B82C921256C}" type="presParOf" srcId="{27E05F85-068B-48CD-8B9A-0AA57D9BEFB1}" destId="{5BFC5456-96FE-4515-AB75-B7432113D7C7}" srcOrd="3" destOrd="0" presId="urn:microsoft.com/office/officeart/2018/2/layout/IconVerticalSolidList"/>
    <dgm:cxn modelId="{4720D176-368A-4EDC-91D6-C36BA4349331}" type="presParOf" srcId="{C4676E87-3F5F-42DD-BD5E-C700EEFA71DA}" destId="{005E434A-0B34-46EF-B1B8-674465F1381E}" srcOrd="1" destOrd="0" presId="urn:microsoft.com/office/officeart/2018/2/layout/IconVerticalSolidList"/>
    <dgm:cxn modelId="{26B7B76D-FED9-4428-9FB7-1F445DCFC0D5}" type="presParOf" srcId="{C4676E87-3F5F-42DD-BD5E-C700EEFA71DA}" destId="{6F5BD44A-27EC-4E4C-ACDB-C31B50C08D20}" srcOrd="2" destOrd="0" presId="urn:microsoft.com/office/officeart/2018/2/layout/IconVerticalSolidList"/>
    <dgm:cxn modelId="{510E04D6-9BBF-4691-8D53-6E19E427AF44}" type="presParOf" srcId="{6F5BD44A-27EC-4E4C-ACDB-C31B50C08D20}" destId="{7D14D551-EDE2-458B-B6BB-6C6B53A74E4E}" srcOrd="0" destOrd="0" presId="urn:microsoft.com/office/officeart/2018/2/layout/IconVerticalSolidList"/>
    <dgm:cxn modelId="{101E9D01-F1D3-47BB-9351-FC330A0A8B35}" type="presParOf" srcId="{6F5BD44A-27EC-4E4C-ACDB-C31B50C08D20}" destId="{B9F929C3-5E91-414E-8131-4D8893310602}" srcOrd="1" destOrd="0" presId="urn:microsoft.com/office/officeart/2018/2/layout/IconVerticalSolidList"/>
    <dgm:cxn modelId="{7EDC19EB-947E-4BF1-A2EA-396ADA4B38B9}" type="presParOf" srcId="{6F5BD44A-27EC-4E4C-ACDB-C31B50C08D20}" destId="{03E712D2-C98A-4377-B8F4-D4ED6190C661}" srcOrd="2" destOrd="0" presId="urn:microsoft.com/office/officeart/2018/2/layout/IconVerticalSolidList"/>
    <dgm:cxn modelId="{B48DFA6E-92FE-4067-B097-8CB3F29560B3}" type="presParOf" srcId="{6F5BD44A-27EC-4E4C-ACDB-C31B50C08D20}" destId="{0A2D2D43-A931-42A3-86A1-83ABEA590499}"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DD9D76-23B3-4921-9BAD-81FE3EDA486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54BB98E-7E7E-4CBC-AE8E-E04AA7898B90}">
      <dgm:prSet/>
      <dgm:spPr/>
      <dgm:t>
        <a:bodyPr/>
        <a:lstStyle/>
        <a:p>
          <a:r>
            <a:rPr lang="en-US"/>
            <a:t>PART II</a:t>
          </a:r>
        </a:p>
      </dgm:t>
    </dgm:pt>
    <dgm:pt modelId="{B6B62DA9-3D79-4FD8-AF41-B67AB0BFC4E6}" type="parTrans" cxnId="{9EF4F46F-807B-40F6-B684-F1BF80F8A101}">
      <dgm:prSet/>
      <dgm:spPr/>
      <dgm:t>
        <a:bodyPr/>
        <a:lstStyle/>
        <a:p>
          <a:endParaRPr lang="en-US"/>
        </a:p>
      </dgm:t>
    </dgm:pt>
    <dgm:pt modelId="{A8033FE4-BCA0-4429-BAE1-6ACFBEEDA27F}" type="sibTrans" cxnId="{9EF4F46F-807B-40F6-B684-F1BF80F8A101}">
      <dgm:prSet/>
      <dgm:spPr/>
      <dgm:t>
        <a:bodyPr/>
        <a:lstStyle/>
        <a:p>
          <a:endParaRPr lang="en-US"/>
        </a:p>
      </dgm:t>
    </dgm:pt>
    <dgm:pt modelId="{18F351CC-C103-4510-9F0E-B139044BE1E5}">
      <dgm:prSet/>
      <dgm:spPr/>
      <dgm:t>
        <a:bodyPr/>
        <a:lstStyle/>
        <a:p>
          <a:r>
            <a:rPr lang="en-US"/>
            <a:t>In Search of Empirical Understanding of Solvers via Parameters</a:t>
          </a:r>
        </a:p>
      </dgm:t>
    </dgm:pt>
    <dgm:pt modelId="{0131C25E-3EB7-4D24-A403-8DDF46714191}" type="parTrans" cxnId="{9CFBA6A8-8B05-457E-BF63-4D0F736AB162}">
      <dgm:prSet/>
      <dgm:spPr/>
      <dgm:t>
        <a:bodyPr/>
        <a:lstStyle/>
        <a:p>
          <a:endParaRPr lang="en-US"/>
        </a:p>
      </dgm:t>
    </dgm:pt>
    <dgm:pt modelId="{676175C5-94DB-4251-B40B-AB50CFE31EFC}" type="sibTrans" cxnId="{9CFBA6A8-8B05-457E-BF63-4D0F736AB162}">
      <dgm:prSet/>
      <dgm:spPr/>
      <dgm:t>
        <a:bodyPr/>
        <a:lstStyle/>
        <a:p>
          <a:endParaRPr lang="en-US"/>
        </a:p>
      </dgm:t>
    </dgm:pt>
    <dgm:pt modelId="{BE5A1A16-E533-479D-9878-9AE622160FBF}" type="pres">
      <dgm:prSet presAssocID="{B3DD9D76-23B3-4921-9BAD-81FE3EDA4866}" presName="root" presStyleCnt="0">
        <dgm:presLayoutVars>
          <dgm:dir/>
          <dgm:resizeHandles val="exact"/>
        </dgm:presLayoutVars>
      </dgm:prSet>
      <dgm:spPr/>
    </dgm:pt>
    <dgm:pt modelId="{37F3E5C3-9EBA-4518-BDE0-7137A5B22B18}" type="pres">
      <dgm:prSet presAssocID="{C54BB98E-7E7E-4CBC-AE8E-E04AA7898B90}" presName="compNode" presStyleCnt="0"/>
      <dgm:spPr/>
    </dgm:pt>
    <dgm:pt modelId="{89901FB4-C367-465A-B07F-F91F2A1B0C67}" type="pres">
      <dgm:prSet presAssocID="{C54BB98E-7E7E-4CBC-AE8E-E04AA7898B90}" presName="bgRect" presStyleLbl="bgShp" presStyleIdx="0" presStyleCnt="2"/>
      <dgm:spPr/>
    </dgm:pt>
    <dgm:pt modelId="{C8EC6D53-B087-4AEE-AD2C-E3C895D73A32}" type="pres">
      <dgm:prSet presAssocID="{C54BB98E-7E7E-4CBC-AE8E-E04AA7898B9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BA99E035-8DA4-4871-AC07-938F96940B68}" type="pres">
      <dgm:prSet presAssocID="{C54BB98E-7E7E-4CBC-AE8E-E04AA7898B90}" presName="spaceRect" presStyleCnt="0"/>
      <dgm:spPr/>
    </dgm:pt>
    <dgm:pt modelId="{49836A88-E9A0-40BE-9341-89706C76C4B8}" type="pres">
      <dgm:prSet presAssocID="{C54BB98E-7E7E-4CBC-AE8E-E04AA7898B90}" presName="parTx" presStyleLbl="revTx" presStyleIdx="0" presStyleCnt="2">
        <dgm:presLayoutVars>
          <dgm:chMax val="0"/>
          <dgm:chPref val="0"/>
        </dgm:presLayoutVars>
      </dgm:prSet>
      <dgm:spPr/>
    </dgm:pt>
    <dgm:pt modelId="{36513CA6-473F-410D-B4B0-A1F36D3338BF}" type="pres">
      <dgm:prSet presAssocID="{A8033FE4-BCA0-4429-BAE1-6ACFBEEDA27F}" presName="sibTrans" presStyleCnt="0"/>
      <dgm:spPr/>
    </dgm:pt>
    <dgm:pt modelId="{B5E93696-B050-4CC4-9F0D-A8B4D170E99C}" type="pres">
      <dgm:prSet presAssocID="{18F351CC-C103-4510-9F0E-B139044BE1E5}" presName="compNode" presStyleCnt="0"/>
      <dgm:spPr/>
    </dgm:pt>
    <dgm:pt modelId="{B3BFC06B-8C4D-4879-B6C1-8DB8E0906A99}" type="pres">
      <dgm:prSet presAssocID="{18F351CC-C103-4510-9F0E-B139044BE1E5}" presName="bgRect" presStyleLbl="bgShp" presStyleIdx="1" presStyleCnt="2"/>
      <dgm:spPr/>
    </dgm:pt>
    <dgm:pt modelId="{D7CE873C-5146-4A19-9EFF-7018FEE99918}" type="pres">
      <dgm:prSet presAssocID="{18F351CC-C103-4510-9F0E-B139044BE1E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45374585-EE61-4E69-86ED-1ACF5CF6A2CE}" type="pres">
      <dgm:prSet presAssocID="{18F351CC-C103-4510-9F0E-B139044BE1E5}" presName="spaceRect" presStyleCnt="0"/>
      <dgm:spPr/>
    </dgm:pt>
    <dgm:pt modelId="{03570100-2A82-4A8C-B402-E943E29C8E83}" type="pres">
      <dgm:prSet presAssocID="{18F351CC-C103-4510-9F0E-B139044BE1E5}" presName="parTx" presStyleLbl="revTx" presStyleIdx="1" presStyleCnt="2">
        <dgm:presLayoutVars>
          <dgm:chMax val="0"/>
          <dgm:chPref val="0"/>
        </dgm:presLayoutVars>
      </dgm:prSet>
      <dgm:spPr/>
    </dgm:pt>
  </dgm:ptLst>
  <dgm:cxnLst>
    <dgm:cxn modelId="{E2915315-EF89-4C13-9F98-A003C38E1BCA}" type="presOf" srcId="{18F351CC-C103-4510-9F0E-B139044BE1E5}" destId="{03570100-2A82-4A8C-B402-E943E29C8E83}" srcOrd="0" destOrd="0" presId="urn:microsoft.com/office/officeart/2018/2/layout/IconVerticalSolidList"/>
    <dgm:cxn modelId="{CEAA462E-2CAE-46E9-9592-4118A1C1B5BE}" type="presOf" srcId="{B3DD9D76-23B3-4921-9BAD-81FE3EDA4866}" destId="{BE5A1A16-E533-479D-9878-9AE622160FBF}" srcOrd="0" destOrd="0" presId="urn:microsoft.com/office/officeart/2018/2/layout/IconVerticalSolidList"/>
    <dgm:cxn modelId="{E792AD39-D5C7-4E70-91C9-9632DDE3F52D}" type="presOf" srcId="{C54BB98E-7E7E-4CBC-AE8E-E04AA7898B90}" destId="{49836A88-E9A0-40BE-9341-89706C76C4B8}" srcOrd="0" destOrd="0" presId="urn:microsoft.com/office/officeart/2018/2/layout/IconVerticalSolidList"/>
    <dgm:cxn modelId="{9EF4F46F-807B-40F6-B684-F1BF80F8A101}" srcId="{B3DD9D76-23B3-4921-9BAD-81FE3EDA4866}" destId="{C54BB98E-7E7E-4CBC-AE8E-E04AA7898B90}" srcOrd="0" destOrd="0" parTransId="{B6B62DA9-3D79-4FD8-AF41-B67AB0BFC4E6}" sibTransId="{A8033FE4-BCA0-4429-BAE1-6ACFBEEDA27F}"/>
    <dgm:cxn modelId="{9CFBA6A8-8B05-457E-BF63-4D0F736AB162}" srcId="{B3DD9D76-23B3-4921-9BAD-81FE3EDA4866}" destId="{18F351CC-C103-4510-9F0E-B139044BE1E5}" srcOrd="1" destOrd="0" parTransId="{0131C25E-3EB7-4D24-A403-8DDF46714191}" sibTransId="{676175C5-94DB-4251-B40B-AB50CFE31EFC}"/>
    <dgm:cxn modelId="{FB2D8E0D-33D1-434C-BA00-B5CD39DEC036}" type="presParOf" srcId="{BE5A1A16-E533-479D-9878-9AE622160FBF}" destId="{37F3E5C3-9EBA-4518-BDE0-7137A5B22B18}" srcOrd="0" destOrd="0" presId="urn:microsoft.com/office/officeart/2018/2/layout/IconVerticalSolidList"/>
    <dgm:cxn modelId="{1C918F13-F7A9-4F57-8501-68BFB716AA70}" type="presParOf" srcId="{37F3E5C3-9EBA-4518-BDE0-7137A5B22B18}" destId="{89901FB4-C367-465A-B07F-F91F2A1B0C67}" srcOrd="0" destOrd="0" presId="urn:microsoft.com/office/officeart/2018/2/layout/IconVerticalSolidList"/>
    <dgm:cxn modelId="{352E7A89-3624-4F05-BA9B-A4C8FDE1FDFD}" type="presParOf" srcId="{37F3E5C3-9EBA-4518-BDE0-7137A5B22B18}" destId="{C8EC6D53-B087-4AEE-AD2C-E3C895D73A32}" srcOrd="1" destOrd="0" presId="urn:microsoft.com/office/officeart/2018/2/layout/IconVerticalSolidList"/>
    <dgm:cxn modelId="{3F750F02-AB2F-4960-B2E1-10285110061F}" type="presParOf" srcId="{37F3E5C3-9EBA-4518-BDE0-7137A5B22B18}" destId="{BA99E035-8DA4-4871-AC07-938F96940B68}" srcOrd="2" destOrd="0" presId="urn:microsoft.com/office/officeart/2018/2/layout/IconVerticalSolidList"/>
    <dgm:cxn modelId="{03946514-B8BD-4D02-8BA4-3EBC84C3AEF7}" type="presParOf" srcId="{37F3E5C3-9EBA-4518-BDE0-7137A5B22B18}" destId="{49836A88-E9A0-40BE-9341-89706C76C4B8}" srcOrd="3" destOrd="0" presId="urn:microsoft.com/office/officeart/2018/2/layout/IconVerticalSolidList"/>
    <dgm:cxn modelId="{213F87C8-29FB-4E95-AE7F-07D8CC54AC93}" type="presParOf" srcId="{BE5A1A16-E533-479D-9878-9AE622160FBF}" destId="{36513CA6-473F-410D-B4B0-A1F36D3338BF}" srcOrd="1" destOrd="0" presId="urn:microsoft.com/office/officeart/2018/2/layout/IconVerticalSolidList"/>
    <dgm:cxn modelId="{38CEC972-7BF6-4BFF-9EFB-7C1894D549B0}" type="presParOf" srcId="{BE5A1A16-E533-479D-9878-9AE622160FBF}" destId="{B5E93696-B050-4CC4-9F0D-A8B4D170E99C}" srcOrd="2" destOrd="0" presId="urn:microsoft.com/office/officeart/2018/2/layout/IconVerticalSolidList"/>
    <dgm:cxn modelId="{CA08182D-64AE-4ECA-8A22-A67BE36AD332}" type="presParOf" srcId="{B5E93696-B050-4CC4-9F0D-A8B4D170E99C}" destId="{B3BFC06B-8C4D-4879-B6C1-8DB8E0906A99}" srcOrd="0" destOrd="0" presId="urn:microsoft.com/office/officeart/2018/2/layout/IconVerticalSolidList"/>
    <dgm:cxn modelId="{37005933-4306-4275-B43E-1ED15359D57A}" type="presParOf" srcId="{B5E93696-B050-4CC4-9F0D-A8B4D170E99C}" destId="{D7CE873C-5146-4A19-9EFF-7018FEE99918}" srcOrd="1" destOrd="0" presId="urn:microsoft.com/office/officeart/2018/2/layout/IconVerticalSolidList"/>
    <dgm:cxn modelId="{51A509FB-A702-4D21-9AB8-9DB5BEF0A24F}" type="presParOf" srcId="{B5E93696-B050-4CC4-9F0D-A8B4D170E99C}" destId="{45374585-EE61-4E69-86ED-1ACF5CF6A2CE}" srcOrd="2" destOrd="0" presId="urn:microsoft.com/office/officeart/2018/2/layout/IconVerticalSolidList"/>
    <dgm:cxn modelId="{9D382903-5954-4886-B1D4-6740A9205B3C}" type="presParOf" srcId="{B5E93696-B050-4CC4-9F0D-A8B4D170E99C}" destId="{03570100-2A82-4A8C-B402-E943E29C8E8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026F18-C4D1-4ECD-8918-3287EACF09E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8F7D6BD-8B0B-4E61-AA63-BCA872C09752}">
      <dgm:prSet/>
      <dgm:spPr/>
      <dgm:t>
        <a:bodyPr/>
        <a:lstStyle/>
        <a:p>
          <a:r>
            <a:rPr lang="en-US"/>
            <a:t>PART III</a:t>
          </a:r>
        </a:p>
      </dgm:t>
    </dgm:pt>
    <dgm:pt modelId="{0AE079BD-097F-41FA-A731-A828FC86A8FC}" type="parTrans" cxnId="{9C90E94C-8B04-4BA3-B63C-96A785C1BDD5}">
      <dgm:prSet/>
      <dgm:spPr/>
      <dgm:t>
        <a:bodyPr/>
        <a:lstStyle/>
        <a:p>
          <a:endParaRPr lang="en-US"/>
        </a:p>
      </dgm:t>
    </dgm:pt>
    <dgm:pt modelId="{3A18238F-4CAA-4526-8B26-EFCB09166E1F}" type="sibTrans" cxnId="{9C90E94C-8B04-4BA3-B63C-96A785C1BDD5}">
      <dgm:prSet/>
      <dgm:spPr/>
      <dgm:t>
        <a:bodyPr/>
        <a:lstStyle/>
        <a:p>
          <a:endParaRPr lang="en-US"/>
        </a:p>
      </dgm:t>
    </dgm:pt>
    <dgm:pt modelId="{274F3774-53C1-49C1-B1E8-4515FF6C299F}">
      <dgm:prSet/>
      <dgm:spPr/>
      <dgm:t>
        <a:bodyPr/>
        <a:lstStyle/>
        <a:p>
          <a:r>
            <a:rPr lang="en-US"/>
            <a:t>Solvers = Proof Systems + Machine Learning</a:t>
          </a:r>
        </a:p>
      </dgm:t>
    </dgm:pt>
    <dgm:pt modelId="{36AD312E-BB94-4E79-A12C-6F728186DD7D}" type="parTrans" cxnId="{5DAC8706-D524-4E92-9B30-010D23DB875F}">
      <dgm:prSet/>
      <dgm:spPr/>
      <dgm:t>
        <a:bodyPr/>
        <a:lstStyle/>
        <a:p>
          <a:endParaRPr lang="en-US"/>
        </a:p>
      </dgm:t>
    </dgm:pt>
    <dgm:pt modelId="{EAF979FF-F273-45E5-8E2B-5237A681766A}" type="sibTrans" cxnId="{5DAC8706-D524-4E92-9B30-010D23DB875F}">
      <dgm:prSet/>
      <dgm:spPr/>
      <dgm:t>
        <a:bodyPr/>
        <a:lstStyle/>
        <a:p>
          <a:endParaRPr lang="en-US"/>
        </a:p>
      </dgm:t>
    </dgm:pt>
    <dgm:pt modelId="{1B12F35F-420D-4556-B6F9-2C422FC7B2A5}" type="pres">
      <dgm:prSet presAssocID="{D0026F18-C4D1-4ECD-8918-3287EACF09EC}" presName="root" presStyleCnt="0">
        <dgm:presLayoutVars>
          <dgm:dir/>
          <dgm:resizeHandles val="exact"/>
        </dgm:presLayoutVars>
      </dgm:prSet>
      <dgm:spPr/>
    </dgm:pt>
    <dgm:pt modelId="{E443F618-D37F-47AA-8870-CCC4FEF6C4FE}" type="pres">
      <dgm:prSet presAssocID="{18F7D6BD-8B0B-4E61-AA63-BCA872C09752}" presName="compNode" presStyleCnt="0"/>
      <dgm:spPr/>
    </dgm:pt>
    <dgm:pt modelId="{81E1AD4C-C93F-4B2A-8604-B2BA4CC96455}" type="pres">
      <dgm:prSet presAssocID="{18F7D6BD-8B0B-4E61-AA63-BCA872C09752}" presName="bgRect" presStyleLbl="bgShp" presStyleIdx="0" presStyleCnt="2"/>
      <dgm:spPr/>
    </dgm:pt>
    <dgm:pt modelId="{A6C25772-591F-430C-96DE-E1E6B251D651}" type="pres">
      <dgm:prSet presAssocID="{18F7D6BD-8B0B-4E61-AA63-BCA872C0975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rveyBalls55"/>
        </a:ext>
      </dgm:extLst>
    </dgm:pt>
    <dgm:pt modelId="{3274BDA5-3066-461D-ACEA-CB283B95DEA5}" type="pres">
      <dgm:prSet presAssocID="{18F7D6BD-8B0B-4E61-AA63-BCA872C09752}" presName="spaceRect" presStyleCnt="0"/>
      <dgm:spPr/>
    </dgm:pt>
    <dgm:pt modelId="{0F2D4174-9451-4A0D-9151-743ACC305302}" type="pres">
      <dgm:prSet presAssocID="{18F7D6BD-8B0B-4E61-AA63-BCA872C09752}" presName="parTx" presStyleLbl="revTx" presStyleIdx="0" presStyleCnt="2">
        <dgm:presLayoutVars>
          <dgm:chMax val="0"/>
          <dgm:chPref val="0"/>
        </dgm:presLayoutVars>
      </dgm:prSet>
      <dgm:spPr/>
    </dgm:pt>
    <dgm:pt modelId="{EC80B82F-E814-451D-BB9B-931A96CDAFF6}" type="pres">
      <dgm:prSet presAssocID="{3A18238F-4CAA-4526-8B26-EFCB09166E1F}" presName="sibTrans" presStyleCnt="0"/>
      <dgm:spPr/>
    </dgm:pt>
    <dgm:pt modelId="{5F9D7B09-1846-4C51-9526-5745AC5CC572}" type="pres">
      <dgm:prSet presAssocID="{274F3774-53C1-49C1-B1E8-4515FF6C299F}" presName="compNode" presStyleCnt="0"/>
      <dgm:spPr/>
    </dgm:pt>
    <dgm:pt modelId="{042ACAB1-8062-4E1F-8636-905EFE6757DC}" type="pres">
      <dgm:prSet presAssocID="{274F3774-53C1-49C1-B1E8-4515FF6C299F}" presName="bgRect" presStyleLbl="bgShp" presStyleIdx="1" presStyleCnt="2"/>
      <dgm:spPr/>
    </dgm:pt>
    <dgm:pt modelId="{0E4709D5-5A34-48E9-A7BF-C2336715EFA4}" type="pres">
      <dgm:prSet presAssocID="{274F3774-53C1-49C1-B1E8-4515FF6C299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16134E2D-0C4F-412F-B691-CCF1A4D0FBA5}" type="pres">
      <dgm:prSet presAssocID="{274F3774-53C1-49C1-B1E8-4515FF6C299F}" presName="spaceRect" presStyleCnt="0"/>
      <dgm:spPr/>
    </dgm:pt>
    <dgm:pt modelId="{A9648AB8-719D-4B8C-B8D7-416D4F07D081}" type="pres">
      <dgm:prSet presAssocID="{274F3774-53C1-49C1-B1E8-4515FF6C299F}" presName="parTx" presStyleLbl="revTx" presStyleIdx="1" presStyleCnt="2">
        <dgm:presLayoutVars>
          <dgm:chMax val="0"/>
          <dgm:chPref val="0"/>
        </dgm:presLayoutVars>
      </dgm:prSet>
      <dgm:spPr/>
    </dgm:pt>
  </dgm:ptLst>
  <dgm:cxnLst>
    <dgm:cxn modelId="{5DAC8706-D524-4E92-9B30-010D23DB875F}" srcId="{D0026F18-C4D1-4ECD-8918-3287EACF09EC}" destId="{274F3774-53C1-49C1-B1E8-4515FF6C299F}" srcOrd="1" destOrd="0" parTransId="{36AD312E-BB94-4E79-A12C-6F728186DD7D}" sibTransId="{EAF979FF-F273-45E5-8E2B-5237A681766A}"/>
    <dgm:cxn modelId="{341CBE37-7AA2-485C-8D7B-CF6B0F86D51C}" type="presOf" srcId="{D0026F18-C4D1-4ECD-8918-3287EACF09EC}" destId="{1B12F35F-420D-4556-B6F9-2C422FC7B2A5}" srcOrd="0" destOrd="0" presId="urn:microsoft.com/office/officeart/2018/2/layout/IconVerticalSolidList"/>
    <dgm:cxn modelId="{9C90E94C-8B04-4BA3-B63C-96A785C1BDD5}" srcId="{D0026F18-C4D1-4ECD-8918-3287EACF09EC}" destId="{18F7D6BD-8B0B-4E61-AA63-BCA872C09752}" srcOrd="0" destOrd="0" parTransId="{0AE079BD-097F-41FA-A731-A828FC86A8FC}" sibTransId="{3A18238F-4CAA-4526-8B26-EFCB09166E1F}"/>
    <dgm:cxn modelId="{A84C0D9B-2784-4A79-93B4-B69E0F794085}" type="presOf" srcId="{274F3774-53C1-49C1-B1E8-4515FF6C299F}" destId="{A9648AB8-719D-4B8C-B8D7-416D4F07D081}" srcOrd="0" destOrd="0" presId="urn:microsoft.com/office/officeart/2018/2/layout/IconVerticalSolidList"/>
    <dgm:cxn modelId="{386E2FB5-3A18-4B7B-96CB-C980704AE6FA}" type="presOf" srcId="{18F7D6BD-8B0B-4E61-AA63-BCA872C09752}" destId="{0F2D4174-9451-4A0D-9151-743ACC305302}" srcOrd="0" destOrd="0" presId="urn:microsoft.com/office/officeart/2018/2/layout/IconVerticalSolidList"/>
    <dgm:cxn modelId="{6B6D97A9-352C-4081-8ECA-E2C766B9D86B}" type="presParOf" srcId="{1B12F35F-420D-4556-B6F9-2C422FC7B2A5}" destId="{E443F618-D37F-47AA-8870-CCC4FEF6C4FE}" srcOrd="0" destOrd="0" presId="urn:microsoft.com/office/officeart/2018/2/layout/IconVerticalSolidList"/>
    <dgm:cxn modelId="{15B0ECFE-1A7D-4066-B485-ABBB49F8DC4B}" type="presParOf" srcId="{E443F618-D37F-47AA-8870-CCC4FEF6C4FE}" destId="{81E1AD4C-C93F-4B2A-8604-B2BA4CC96455}" srcOrd="0" destOrd="0" presId="urn:microsoft.com/office/officeart/2018/2/layout/IconVerticalSolidList"/>
    <dgm:cxn modelId="{AD90A001-38B2-4CD1-B401-2B346BE0F570}" type="presParOf" srcId="{E443F618-D37F-47AA-8870-CCC4FEF6C4FE}" destId="{A6C25772-591F-430C-96DE-E1E6B251D651}" srcOrd="1" destOrd="0" presId="urn:microsoft.com/office/officeart/2018/2/layout/IconVerticalSolidList"/>
    <dgm:cxn modelId="{F7E22D7A-EAAA-4D43-BA0F-28A040114274}" type="presParOf" srcId="{E443F618-D37F-47AA-8870-CCC4FEF6C4FE}" destId="{3274BDA5-3066-461D-ACEA-CB283B95DEA5}" srcOrd="2" destOrd="0" presId="urn:microsoft.com/office/officeart/2018/2/layout/IconVerticalSolidList"/>
    <dgm:cxn modelId="{7C0B52F9-55B7-4BE2-96CD-749581092587}" type="presParOf" srcId="{E443F618-D37F-47AA-8870-CCC4FEF6C4FE}" destId="{0F2D4174-9451-4A0D-9151-743ACC305302}" srcOrd="3" destOrd="0" presId="urn:microsoft.com/office/officeart/2018/2/layout/IconVerticalSolidList"/>
    <dgm:cxn modelId="{972F7AE2-74AD-4600-BBF9-2EBB1C599A7A}" type="presParOf" srcId="{1B12F35F-420D-4556-B6F9-2C422FC7B2A5}" destId="{EC80B82F-E814-451D-BB9B-931A96CDAFF6}" srcOrd="1" destOrd="0" presId="urn:microsoft.com/office/officeart/2018/2/layout/IconVerticalSolidList"/>
    <dgm:cxn modelId="{C8516267-56F0-4C6C-BAFA-C00B68CF8781}" type="presParOf" srcId="{1B12F35F-420D-4556-B6F9-2C422FC7B2A5}" destId="{5F9D7B09-1846-4C51-9526-5745AC5CC572}" srcOrd="2" destOrd="0" presId="urn:microsoft.com/office/officeart/2018/2/layout/IconVerticalSolidList"/>
    <dgm:cxn modelId="{E3569C5B-BD0A-48B3-8DCD-89E3A3BAEAA8}" type="presParOf" srcId="{5F9D7B09-1846-4C51-9526-5745AC5CC572}" destId="{042ACAB1-8062-4E1F-8636-905EFE6757DC}" srcOrd="0" destOrd="0" presId="urn:microsoft.com/office/officeart/2018/2/layout/IconVerticalSolidList"/>
    <dgm:cxn modelId="{6955C940-8526-44F6-BFC2-8E91F291808A}" type="presParOf" srcId="{5F9D7B09-1846-4C51-9526-5745AC5CC572}" destId="{0E4709D5-5A34-48E9-A7BF-C2336715EFA4}" srcOrd="1" destOrd="0" presId="urn:microsoft.com/office/officeart/2018/2/layout/IconVerticalSolidList"/>
    <dgm:cxn modelId="{22E3C87C-FF7C-4234-8278-D73A59FC6F3C}" type="presParOf" srcId="{5F9D7B09-1846-4C51-9526-5745AC5CC572}" destId="{16134E2D-0C4F-412F-B691-CCF1A4D0FBA5}" srcOrd="2" destOrd="0" presId="urn:microsoft.com/office/officeart/2018/2/layout/IconVerticalSolidList"/>
    <dgm:cxn modelId="{9EB491B9-6CBB-4A83-AAAF-5F68281E4C0C}" type="presParOf" srcId="{5F9D7B09-1846-4C51-9526-5745AC5CC572}" destId="{A9648AB8-719D-4B8C-B8D7-416D4F07D08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FF14FE7-FCDE-49B1-A541-8C2BD910097D}"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553A7F2-CBAC-4C03-A70A-5731F7B9D510}">
      <dgm:prSet/>
      <dgm:spPr/>
      <dgm:t>
        <a:bodyPr/>
        <a:lstStyle/>
        <a:p>
          <a:r>
            <a:rPr lang="en-US"/>
            <a:t>PART IV</a:t>
          </a:r>
        </a:p>
      </dgm:t>
    </dgm:pt>
    <dgm:pt modelId="{72F3F151-FF59-4153-A4B6-CB642DD50E33}" type="parTrans" cxnId="{9E5485F6-C956-4336-907F-FAF08BFD0540}">
      <dgm:prSet/>
      <dgm:spPr/>
      <dgm:t>
        <a:bodyPr/>
        <a:lstStyle/>
        <a:p>
          <a:endParaRPr lang="en-US"/>
        </a:p>
      </dgm:t>
    </dgm:pt>
    <dgm:pt modelId="{FE51FBA7-C637-470E-8696-2DBFB55CEEE3}" type="sibTrans" cxnId="{9E5485F6-C956-4336-907F-FAF08BFD0540}">
      <dgm:prSet/>
      <dgm:spPr/>
      <dgm:t>
        <a:bodyPr/>
        <a:lstStyle/>
        <a:p>
          <a:endParaRPr lang="en-US"/>
        </a:p>
      </dgm:t>
    </dgm:pt>
    <dgm:pt modelId="{F6491045-AD9D-4101-94CF-BCD6DA78885C}">
      <dgm:prSet/>
      <dgm:spPr/>
      <dgm:t>
        <a:bodyPr/>
        <a:lstStyle/>
        <a:p>
          <a:r>
            <a:rPr lang="en-US" u="sng"/>
            <a:t>Understanding CDCL Solver Configurations </a:t>
          </a:r>
          <a:r>
            <a:rPr lang="en-US"/>
            <a:t>Restarts</a:t>
          </a:r>
        </a:p>
      </dgm:t>
    </dgm:pt>
    <dgm:pt modelId="{94169E49-003F-4898-82E1-20C66ABF221B}" type="parTrans" cxnId="{4DEBA01C-2576-4473-BFB1-A4363B497707}">
      <dgm:prSet/>
      <dgm:spPr/>
      <dgm:t>
        <a:bodyPr/>
        <a:lstStyle/>
        <a:p>
          <a:endParaRPr lang="en-US"/>
        </a:p>
      </dgm:t>
    </dgm:pt>
    <dgm:pt modelId="{FF4B337C-3C03-4D8E-ADD8-23411E2DA279}" type="sibTrans" cxnId="{4DEBA01C-2576-4473-BFB1-A4363B497707}">
      <dgm:prSet/>
      <dgm:spPr/>
      <dgm:t>
        <a:bodyPr/>
        <a:lstStyle/>
        <a:p>
          <a:endParaRPr lang="en-US"/>
        </a:p>
      </dgm:t>
    </dgm:pt>
    <dgm:pt modelId="{E50E5B5C-5C27-4E92-8DA4-6F45608B0C62}" type="pres">
      <dgm:prSet presAssocID="{8FF14FE7-FCDE-49B1-A541-8C2BD910097D}" presName="root" presStyleCnt="0">
        <dgm:presLayoutVars>
          <dgm:dir/>
          <dgm:resizeHandles val="exact"/>
        </dgm:presLayoutVars>
      </dgm:prSet>
      <dgm:spPr/>
    </dgm:pt>
    <dgm:pt modelId="{12F3C47D-B7C2-40B6-8940-8611FD7BB4D2}" type="pres">
      <dgm:prSet presAssocID="{8553A7F2-CBAC-4C03-A70A-5731F7B9D510}" presName="compNode" presStyleCnt="0"/>
      <dgm:spPr/>
    </dgm:pt>
    <dgm:pt modelId="{34FC7D81-F15D-4104-947C-77AAF0FAC1C2}" type="pres">
      <dgm:prSet presAssocID="{8553A7F2-CBAC-4C03-A70A-5731F7B9D510}" presName="bgRect" presStyleLbl="bgShp" presStyleIdx="0" presStyleCnt="2"/>
      <dgm:spPr/>
    </dgm:pt>
    <dgm:pt modelId="{7DB93D9F-292A-444B-BEB9-6BD0CC3566A8}" type="pres">
      <dgm:prSet presAssocID="{8553A7F2-CBAC-4C03-A70A-5731F7B9D510}"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IV"/>
        </a:ext>
      </dgm:extLst>
    </dgm:pt>
    <dgm:pt modelId="{099E6106-E3D5-4462-A631-13E6ACAFB45E}" type="pres">
      <dgm:prSet presAssocID="{8553A7F2-CBAC-4C03-A70A-5731F7B9D510}" presName="spaceRect" presStyleCnt="0"/>
      <dgm:spPr/>
    </dgm:pt>
    <dgm:pt modelId="{FB479711-08B7-4900-A775-D6ACDDE4D8D6}" type="pres">
      <dgm:prSet presAssocID="{8553A7F2-CBAC-4C03-A70A-5731F7B9D510}" presName="parTx" presStyleLbl="revTx" presStyleIdx="0" presStyleCnt="2">
        <dgm:presLayoutVars>
          <dgm:chMax val="0"/>
          <dgm:chPref val="0"/>
        </dgm:presLayoutVars>
      </dgm:prSet>
      <dgm:spPr/>
    </dgm:pt>
    <dgm:pt modelId="{F65C8F2A-2CDE-47D0-AAF2-36D7A10070DE}" type="pres">
      <dgm:prSet presAssocID="{FE51FBA7-C637-470E-8696-2DBFB55CEEE3}" presName="sibTrans" presStyleCnt="0"/>
      <dgm:spPr/>
    </dgm:pt>
    <dgm:pt modelId="{BBED7E3C-283F-429F-B1EF-0E21F6EE30D3}" type="pres">
      <dgm:prSet presAssocID="{F6491045-AD9D-4101-94CF-BCD6DA78885C}" presName="compNode" presStyleCnt="0"/>
      <dgm:spPr/>
    </dgm:pt>
    <dgm:pt modelId="{3DEA843A-E07D-4F2B-854A-DF72572A75BC}" type="pres">
      <dgm:prSet presAssocID="{F6491045-AD9D-4101-94CF-BCD6DA78885C}" presName="bgRect" presStyleLbl="bgShp" presStyleIdx="1" presStyleCnt="2"/>
      <dgm:spPr/>
    </dgm:pt>
    <dgm:pt modelId="{199ABDE5-9ED2-4E9C-A00B-19C88307B2FA}" type="pres">
      <dgm:prSet presAssocID="{F6491045-AD9D-4101-94CF-BCD6DA78885C}"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ears"/>
        </a:ext>
      </dgm:extLst>
    </dgm:pt>
    <dgm:pt modelId="{5876E74F-4C06-49A8-ABEC-13F782F28C43}" type="pres">
      <dgm:prSet presAssocID="{F6491045-AD9D-4101-94CF-BCD6DA78885C}" presName="spaceRect" presStyleCnt="0"/>
      <dgm:spPr/>
    </dgm:pt>
    <dgm:pt modelId="{429F44DA-3816-48D3-8E94-AC93AFD641E4}" type="pres">
      <dgm:prSet presAssocID="{F6491045-AD9D-4101-94CF-BCD6DA78885C}" presName="parTx" presStyleLbl="revTx" presStyleIdx="1" presStyleCnt="2">
        <dgm:presLayoutVars>
          <dgm:chMax val="0"/>
          <dgm:chPref val="0"/>
        </dgm:presLayoutVars>
      </dgm:prSet>
      <dgm:spPr/>
    </dgm:pt>
  </dgm:ptLst>
  <dgm:cxnLst>
    <dgm:cxn modelId="{E8C9A40E-E02D-42AF-8628-10812BFCAFD8}" type="presOf" srcId="{8FF14FE7-FCDE-49B1-A541-8C2BD910097D}" destId="{E50E5B5C-5C27-4E92-8DA4-6F45608B0C62}" srcOrd="0" destOrd="0" presId="urn:microsoft.com/office/officeart/2018/2/layout/IconVerticalSolidList"/>
    <dgm:cxn modelId="{4DEBA01C-2576-4473-BFB1-A4363B497707}" srcId="{8FF14FE7-FCDE-49B1-A541-8C2BD910097D}" destId="{F6491045-AD9D-4101-94CF-BCD6DA78885C}" srcOrd="1" destOrd="0" parTransId="{94169E49-003F-4898-82E1-20C66ABF221B}" sibTransId="{FF4B337C-3C03-4D8E-ADD8-23411E2DA279}"/>
    <dgm:cxn modelId="{B1F7C689-88F8-4188-B420-4355C4BCF629}" type="presOf" srcId="{F6491045-AD9D-4101-94CF-BCD6DA78885C}" destId="{429F44DA-3816-48D3-8E94-AC93AFD641E4}" srcOrd="0" destOrd="0" presId="urn:microsoft.com/office/officeart/2018/2/layout/IconVerticalSolidList"/>
    <dgm:cxn modelId="{FECB5EDA-7B8B-4FF3-A1CC-7FC2BED0B76D}" type="presOf" srcId="{8553A7F2-CBAC-4C03-A70A-5731F7B9D510}" destId="{FB479711-08B7-4900-A775-D6ACDDE4D8D6}" srcOrd="0" destOrd="0" presId="urn:microsoft.com/office/officeart/2018/2/layout/IconVerticalSolidList"/>
    <dgm:cxn modelId="{9E5485F6-C956-4336-907F-FAF08BFD0540}" srcId="{8FF14FE7-FCDE-49B1-A541-8C2BD910097D}" destId="{8553A7F2-CBAC-4C03-A70A-5731F7B9D510}" srcOrd="0" destOrd="0" parTransId="{72F3F151-FF59-4153-A4B6-CB642DD50E33}" sibTransId="{FE51FBA7-C637-470E-8696-2DBFB55CEEE3}"/>
    <dgm:cxn modelId="{493FC698-653D-4666-8EC4-3B42C5F935DF}" type="presParOf" srcId="{E50E5B5C-5C27-4E92-8DA4-6F45608B0C62}" destId="{12F3C47D-B7C2-40B6-8940-8611FD7BB4D2}" srcOrd="0" destOrd="0" presId="urn:microsoft.com/office/officeart/2018/2/layout/IconVerticalSolidList"/>
    <dgm:cxn modelId="{0BB92768-9245-4702-9C15-6579B28BC2A3}" type="presParOf" srcId="{12F3C47D-B7C2-40B6-8940-8611FD7BB4D2}" destId="{34FC7D81-F15D-4104-947C-77AAF0FAC1C2}" srcOrd="0" destOrd="0" presId="urn:microsoft.com/office/officeart/2018/2/layout/IconVerticalSolidList"/>
    <dgm:cxn modelId="{DF0FF0F2-BDE8-4750-86F1-9D7CE9E99564}" type="presParOf" srcId="{12F3C47D-B7C2-40B6-8940-8611FD7BB4D2}" destId="{7DB93D9F-292A-444B-BEB9-6BD0CC3566A8}" srcOrd="1" destOrd="0" presId="urn:microsoft.com/office/officeart/2018/2/layout/IconVerticalSolidList"/>
    <dgm:cxn modelId="{D539EA78-6315-4068-8A53-BB9CD9BD6431}" type="presParOf" srcId="{12F3C47D-B7C2-40B6-8940-8611FD7BB4D2}" destId="{099E6106-E3D5-4462-A631-13E6ACAFB45E}" srcOrd="2" destOrd="0" presId="urn:microsoft.com/office/officeart/2018/2/layout/IconVerticalSolidList"/>
    <dgm:cxn modelId="{7E1497BB-D3AB-4ECB-92DB-85813D96D8D3}" type="presParOf" srcId="{12F3C47D-B7C2-40B6-8940-8611FD7BB4D2}" destId="{FB479711-08B7-4900-A775-D6ACDDE4D8D6}" srcOrd="3" destOrd="0" presId="urn:microsoft.com/office/officeart/2018/2/layout/IconVerticalSolidList"/>
    <dgm:cxn modelId="{56FD6300-D098-4EB1-B0B9-4C531EAF4D27}" type="presParOf" srcId="{E50E5B5C-5C27-4E92-8DA4-6F45608B0C62}" destId="{F65C8F2A-2CDE-47D0-AAF2-36D7A10070DE}" srcOrd="1" destOrd="0" presId="urn:microsoft.com/office/officeart/2018/2/layout/IconVerticalSolidList"/>
    <dgm:cxn modelId="{764F163B-4F08-49AF-BAB3-EA4FE1E707C5}" type="presParOf" srcId="{E50E5B5C-5C27-4E92-8DA4-6F45608B0C62}" destId="{BBED7E3C-283F-429F-B1EF-0E21F6EE30D3}" srcOrd="2" destOrd="0" presId="urn:microsoft.com/office/officeart/2018/2/layout/IconVerticalSolidList"/>
    <dgm:cxn modelId="{59E23C26-7C09-438F-8F10-F7D57796EE2E}" type="presParOf" srcId="{BBED7E3C-283F-429F-B1EF-0E21F6EE30D3}" destId="{3DEA843A-E07D-4F2B-854A-DF72572A75BC}" srcOrd="0" destOrd="0" presId="urn:microsoft.com/office/officeart/2018/2/layout/IconVerticalSolidList"/>
    <dgm:cxn modelId="{7E00D151-F064-4E01-A0E7-BA270BB6F8E6}" type="presParOf" srcId="{BBED7E3C-283F-429F-B1EF-0E21F6EE30D3}" destId="{199ABDE5-9ED2-4E9C-A00B-19C88307B2FA}" srcOrd="1" destOrd="0" presId="urn:microsoft.com/office/officeart/2018/2/layout/IconVerticalSolidList"/>
    <dgm:cxn modelId="{6F448508-29EA-4DC0-808C-3390A87834A4}" type="presParOf" srcId="{BBED7E3C-283F-429F-B1EF-0E21F6EE30D3}" destId="{5876E74F-4C06-49A8-ABEC-13F782F28C43}" srcOrd="2" destOrd="0" presId="urn:microsoft.com/office/officeart/2018/2/layout/IconVerticalSolidList"/>
    <dgm:cxn modelId="{D77E8B93-736C-4647-A4A4-5ADF498F22A1}" type="presParOf" srcId="{BBED7E3C-283F-429F-B1EF-0E21F6EE30D3}" destId="{429F44DA-3816-48D3-8E94-AC93AFD641E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8256202-6AE1-48A4-BD85-2E538A1872F1}" type="doc">
      <dgm:prSet loTypeId="urn:microsoft.com/office/officeart/2018/2/layout/IconVerticalSolidList" loCatId="icon" qsTypeId="urn:microsoft.com/office/officeart/2005/8/quickstyle/simple4" qsCatId="simple" csTypeId="urn:microsoft.com/office/officeart/2005/8/colors/colorful1" csCatId="colorful" phldr="1"/>
      <dgm:spPr/>
      <dgm:t>
        <a:bodyPr/>
        <a:lstStyle/>
        <a:p>
          <a:endParaRPr lang="en-US"/>
        </a:p>
      </dgm:t>
    </dgm:pt>
    <dgm:pt modelId="{5E432940-88C9-44ED-BFCE-C9EEC4472EDD}">
      <dgm:prSet/>
      <dgm:spPr/>
      <dgm:t>
        <a:bodyPr/>
        <a:lstStyle/>
        <a:p>
          <a:pPr>
            <a:lnSpc>
              <a:spcPct val="100000"/>
            </a:lnSpc>
          </a:pPr>
          <a:r>
            <a:rPr lang="en-US"/>
            <a:t>PART V</a:t>
          </a:r>
        </a:p>
      </dgm:t>
    </dgm:pt>
    <dgm:pt modelId="{3AD903A5-A0D5-4716-B1E7-51AB1385E763}" type="parTrans" cxnId="{7AF3D12A-FBFF-4387-A5A3-580615DF25BE}">
      <dgm:prSet/>
      <dgm:spPr/>
      <dgm:t>
        <a:bodyPr/>
        <a:lstStyle/>
        <a:p>
          <a:endParaRPr lang="en-US"/>
        </a:p>
      </dgm:t>
    </dgm:pt>
    <dgm:pt modelId="{BF55A3DD-4C26-4F96-AC79-614B246213A2}" type="sibTrans" cxnId="{7AF3D12A-FBFF-4387-A5A3-580615DF25BE}">
      <dgm:prSet/>
      <dgm:spPr/>
      <dgm:t>
        <a:bodyPr/>
        <a:lstStyle/>
        <a:p>
          <a:endParaRPr lang="en-US"/>
        </a:p>
      </dgm:t>
    </dgm:pt>
    <dgm:pt modelId="{D2A8EAC8-91AB-4FC0-A5E6-5A6F5334FEE2}">
      <dgm:prSet/>
      <dgm:spPr/>
      <dgm:t>
        <a:bodyPr/>
        <a:lstStyle/>
        <a:p>
          <a:pPr>
            <a:lnSpc>
              <a:spcPct val="100000"/>
            </a:lnSpc>
          </a:pPr>
          <a:r>
            <a:rPr lang="en-US" u="sng"/>
            <a:t>From Practice to Theory </a:t>
          </a:r>
          <a:endParaRPr lang="en-US"/>
        </a:p>
      </dgm:t>
    </dgm:pt>
    <dgm:pt modelId="{D6EC4DB0-7A45-4DD0-A507-E81F20135CC3}" type="parTrans" cxnId="{25ECB442-B6AF-470D-9F6F-135B5897AB9A}">
      <dgm:prSet/>
      <dgm:spPr/>
      <dgm:t>
        <a:bodyPr/>
        <a:lstStyle/>
        <a:p>
          <a:endParaRPr lang="en-US"/>
        </a:p>
      </dgm:t>
    </dgm:pt>
    <dgm:pt modelId="{849B4D9E-C007-4AED-9C2D-4BE39AD97D22}" type="sibTrans" cxnId="{25ECB442-B6AF-470D-9F6F-135B5897AB9A}">
      <dgm:prSet/>
      <dgm:spPr/>
      <dgm:t>
        <a:bodyPr/>
        <a:lstStyle/>
        <a:p>
          <a:endParaRPr lang="en-US"/>
        </a:p>
      </dgm:t>
    </dgm:pt>
    <dgm:pt modelId="{9CF043FB-6DD3-4CBB-BD26-E6491CAAD022}">
      <dgm:prSet/>
      <dgm:spPr/>
      <dgm:t>
        <a:bodyPr/>
        <a:lstStyle/>
        <a:p>
          <a:pPr>
            <a:lnSpc>
              <a:spcPct val="100000"/>
            </a:lnSpc>
          </a:pPr>
          <a:r>
            <a:rPr lang="en-US"/>
            <a:t>Using Solvers for Solving Complexity Questions</a:t>
          </a:r>
        </a:p>
      </dgm:t>
    </dgm:pt>
    <dgm:pt modelId="{C3D2DB80-8CAA-468B-B232-BF8B1743E55E}" type="parTrans" cxnId="{116ACBD1-3056-4EBD-AC02-B0CFF3119D26}">
      <dgm:prSet/>
      <dgm:spPr/>
      <dgm:t>
        <a:bodyPr/>
        <a:lstStyle/>
        <a:p>
          <a:endParaRPr lang="en-US"/>
        </a:p>
      </dgm:t>
    </dgm:pt>
    <dgm:pt modelId="{8B4927CB-FDCA-494D-88E9-68C7B0A63F65}" type="sibTrans" cxnId="{116ACBD1-3056-4EBD-AC02-B0CFF3119D26}">
      <dgm:prSet/>
      <dgm:spPr/>
      <dgm:t>
        <a:bodyPr/>
        <a:lstStyle/>
        <a:p>
          <a:endParaRPr lang="en-US"/>
        </a:p>
      </dgm:t>
    </dgm:pt>
    <dgm:pt modelId="{0C556645-0FC5-4679-A7A9-58F47FF92389}" type="pres">
      <dgm:prSet presAssocID="{28256202-6AE1-48A4-BD85-2E538A1872F1}" presName="root" presStyleCnt="0">
        <dgm:presLayoutVars>
          <dgm:dir/>
          <dgm:resizeHandles val="exact"/>
        </dgm:presLayoutVars>
      </dgm:prSet>
      <dgm:spPr/>
    </dgm:pt>
    <dgm:pt modelId="{AEFF1E33-F1D7-43FA-A3EA-DBB8CC6A474D}" type="pres">
      <dgm:prSet presAssocID="{5E432940-88C9-44ED-BFCE-C9EEC4472EDD}" presName="compNode" presStyleCnt="0"/>
      <dgm:spPr/>
    </dgm:pt>
    <dgm:pt modelId="{9B7EC99D-245F-45B6-813F-9D3381745727}" type="pres">
      <dgm:prSet presAssocID="{5E432940-88C9-44ED-BFCE-C9EEC4472EDD}" presName="bgRect" presStyleLbl="bgShp" presStyleIdx="0" presStyleCnt="3"/>
      <dgm:spPr/>
    </dgm:pt>
    <dgm:pt modelId="{D69E22AC-F028-4DD6-8631-D687947EBF4F}" type="pres">
      <dgm:prSet presAssocID="{5E432940-88C9-44ED-BFCE-C9EEC4472ED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A7D752F3-95D3-4FEE-8EB8-4B35DA3EC723}" type="pres">
      <dgm:prSet presAssocID="{5E432940-88C9-44ED-BFCE-C9EEC4472EDD}" presName="spaceRect" presStyleCnt="0"/>
      <dgm:spPr/>
    </dgm:pt>
    <dgm:pt modelId="{56565B7A-E568-435C-816F-412BCEC780AC}" type="pres">
      <dgm:prSet presAssocID="{5E432940-88C9-44ED-BFCE-C9EEC4472EDD}" presName="parTx" presStyleLbl="revTx" presStyleIdx="0" presStyleCnt="3">
        <dgm:presLayoutVars>
          <dgm:chMax val="0"/>
          <dgm:chPref val="0"/>
        </dgm:presLayoutVars>
      </dgm:prSet>
      <dgm:spPr/>
    </dgm:pt>
    <dgm:pt modelId="{671A4186-2C56-4206-A4F4-348DB0062F00}" type="pres">
      <dgm:prSet presAssocID="{BF55A3DD-4C26-4F96-AC79-614B246213A2}" presName="sibTrans" presStyleCnt="0"/>
      <dgm:spPr/>
    </dgm:pt>
    <dgm:pt modelId="{2A4F0450-3A42-4D1A-BC96-265FFD0E37A5}" type="pres">
      <dgm:prSet presAssocID="{D2A8EAC8-91AB-4FC0-A5E6-5A6F5334FEE2}" presName="compNode" presStyleCnt="0"/>
      <dgm:spPr/>
    </dgm:pt>
    <dgm:pt modelId="{C1E3F3C0-5842-4812-99C8-F7E2A6346543}" type="pres">
      <dgm:prSet presAssocID="{D2A8EAC8-91AB-4FC0-A5E6-5A6F5334FEE2}" presName="bgRect" presStyleLbl="bgShp" presStyleIdx="1" presStyleCnt="3"/>
      <dgm:spPr/>
    </dgm:pt>
    <dgm:pt modelId="{A99E5A4B-7982-46AE-A59D-289F7B908282}" type="pres">
      <dgm:prSet presAssocID="{D2A8EAC8-91AB-4FC0-A5E6-5A6F5334FEE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oks"/>
        </a:ext>
      </dgm:extLst>
    </dgm:pt>
    <dgm:pt modelId="{C603B3B9-9F7E-4CBE-9DB6-AAC18086CC55}" type="pres">
      <dgm:prSet presAssocID="{D2A8EAC8-91AB-4FC0-A5E6-5A6F5334FEE2}" presName="spaceRect" presStyleCnt="0"/>
      <dgm:spPr/>
    </dgm:pt>
    <dgm:pt modelId="{415AC2CE-EA08-4C31-9739-F617439FD66D}" type="pres">
      <dgm:prSet presAssocID="{D2A8EAC8-91AB-4FC0-A5E6-5A6F5334FEE2}" presName="parTx" presStyleLbl="revTx" presStyleIdx="1" presStyleCnt="3">
        <dgm:presLayoutVars>
          <dgm:chMax val="0"/>
          <dgm:chPref val="0"/>
        </dgm:presLayoutVars>
      </dgm:prSet>
      <dgm:spPr/>
    </dgm:pt>
    <dgm:pt modelId="{61DA3717-EFC3-4056-8863-951DFFFB1545}" type="pres">
      <dgm:prSet presAssocID="{849B4D9E-C007-4AED-9C2D-4BE39AD97D22}" presName="sibTrans" presStyleCnt="0"/>
      <dgm:spPr/>
    </dgm:pt>
    <dgm:pt modelId="{524CB601-30DC-483A-8EF6-A6A3DDA3E77C}" type="pres">
      <dgm:prSet presAssocID="{9CF043FB-6DD3-4CBB-BD26-E6491CAAD022}" presName="compNode" presStyleCnt="0"/>
      <dgm:spPr/>
    </dgm:pt>
    <dgm:pt modelId="{D52315D7-F846-4E4D-8E80-0B45EFA19DE5}" type="pres">
      <dgm:prSet presAssocID="{9CF043FB-6DD3-4CBB-BD26-E6491CAAD022}" presName="bgRect" presStyleLbl="bgShp" presStyleIdx="2" presStyleCnt="3"/>
      <dgm:spPr/>
    </dgm:pt>
    <dgm:pt modelId="{2F3C5DEF-867D-463A-AF3E-5ED4833E373F}" type="pres">
      <dgm:prSet presAssocID="{9CF043FB-6DD3-4CBB-BD26-E6491CAAD02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B04FE4F9-549E-43F4-A37E-CECC3660A7C8}" type="pres">
      <dgm:prSet presAssocID="{9CF043FB-6DD3-4CBB-BD26-E6491CAAD022}" presName="spaceRect" presStyleCnt="0"/>
      <dgm:spPr/>
    </dgm:pt>
    <dgm:pt modelId="{438C69DF-CDC1-496C-AF8F-406A3475EFAE}" type="pres">
      <dgm:prSet presAssocID="{9CF043FB-6DD3-4CBB-BD26-E6491CAAD022}" presName="parTx" presStyleLbl="revTx" presStyleIdx="2" presStyleCnt="3">
        <dgm:presLayoutVars>
          <dgm:chMax val="0"/>
          <dgm:chPref val="0"/>
        </dgm:presLayoutVars>
      </dgm:prSet>
      <dgm:spPr/>
    </dgm:pt>
  </dgm:ptLst>
  <dgm:cxnLst>
    <dgm:cxn modelId="{49E3CB01-EBB8-BF47-BBDD-9ED77E98752C}" type="presOf" srcId="{9CF043FB-6DD3-4CBB-BD26-E6491CAAD022}" destId="{438C69DF-CDC1-496C-AF8F-406A3475EFAE}" srcOrd="0" destOrd="0" presId="urn:microsoft.com/office/officeart/2018/2/layout/IconVerticalSolidList"/>
    <dgm:cxn modelId="{7AF3D12A-FBFF-4387-A5A3-580615DF25BE}" srcId="{28256202-6AE1-48A4-BD85-2E538A1872F1}" destId="{5E432940-88C9-44ED-BFCE-C9EEC4472EDD}" srcOrd="0" destOrd="0" parTransId="{3AD903A5-A0D5-4716-B1E7-51AB1385E763}" sibTransId="{BF55A3DD-4C26-4F96-AC79-614B246213A2}"/>
    <dgm:cxn modelId="{BF5E8D32-7051-8D47-A680-33D6246ECFA6}" type="presOf" srcId="{D2A8EAC8-91AB-4FC0-A5E6-5A6F5334FEE2}" destId="{415AC2CE-EA08-4C31-9739-F617439FD66D}" srcOrd="0" destOrd="0" presId="urn:microsoft.com/office/officeart/2018/2/layout/IconVerticalSolidList"/>
    <dgm:cxn modelId="{25ECB442-B6AF-470D-9F6F-135B5897AB9A}" srcId="{28256202-6AE1-48A4-BD85-2E538A1872F1}" destId="{D2A8EAC8-91AB-4FC0-A5E6-5A6F5334FEE2}" srcOrd="1" destOrd="0" parTransId="{D6EC4DB0-7A45-4DD0-A507-E81F20135CC3}" sibTransId="{849B4D9E-C007-4AED-9C2D-4BE39AD97D22}"/>
    <dgm:cxn modelId="{30767351-939E-9541-A532-A6405B93D671}" type="presOf" srcId="{28256202-6AE1-48A4-BD85-2E538A1872F1}" destId="{0C556645-0FC5-4679-A7A9-58F47FF92389}" srcOrd="0" destOrd="0" presId="urn:microsoft.com/office/officeart/2018/2/layout/IconVerticalSolidList"/>
    <dgm:cxn modelId="{CC815C5A-439A-0041-8596-C86D20CDF277}" type="presOf" srcId="{5E432940-88C9-44ED-BFCE-C9EEC4472EDD}" destId="{56565B7A-E568-435C-816F-412BCEC780AC}" srcOrd="0" destOrd="0" presId="urn:microsoft.com/office/officeart/2018/2/layout/IconVerticalSolidList"/>
    <dgm:cxn modelId="{116ACBD1-3056-4EBD-AC02-B0CFF3119D26}" srcId="{28256202-6AE1-48A4-BD85-2E538A1872F1}" destId="{9CF043FB-6DD3-4CBB-BD26-E6491CAAD022}" srcOrd="2" destOrd="0" parTransId="{C3D2DB80-8CAA-468B-B232-BF8B1743E55E}" sibTransId="{8B4927CB-FDCA-494D-88E9-68C7B0A63F65}"/>
    <dgm:cxn modelId="{AE30AC34-3590-9641-B729-46E68E610F50}" type="presParOf" srcId="{0C556645-0FC5-4679-A7A9-58F47FF92389}" destId="{AEFF1E33-F1D7-43FA-A3EA-DBB8CC6A474D}" srcOrd="0" destOrd="0" presId="urn:microsoft.com/office/officeart/2018/2/layout/IconVerticalSolidList"/>
    <dgm:cxn modelId="{72172513-2F20-594C-935C-D74D54964AC2}" type="presParOf" srcId="{AEFF1E33-F1D7-43FA-A3EA-DBB8CC6A474D}" destId="{9B7EC99D-245F-45B6-813F-9D3381745727}" srcOrd="0" destOrd="0" presId="urn:microsoft.com/office/officeart/2018/2/layout/IconVerticalSolidList"/>
    <dgm:cxn modelId="{DBBEB09E-DD91-4D41-94C4-14B592647E5B}" type="presParOf" srcId="{AEFF1E33-F1D7-43FA-A3EA-DBB8CC6A474D}" destId="{D69E22AC-F028-4DD6-8631-D687947EBF4F}" srcOrd="1" destOrd="0" presId="urn:microsoft.com/office/officeart/2018/2/layout/IconVerticalSolidList"/>
    <dgm:cxn modelId="{A293970F-37CD-D148-B387-15EF69782331}" type="presParOf" srcId="{AEFF1E33-F1D7-43FA-A3EA-DBB8CC6A474D}" destId="{A7D752F3-95D3-4FEE-8EB8-4B35DA3EC723}" srcOrd="2" destOrd="0" presId="urn:microsoft.com/office/officeart/2018/2/layout/IconVerticalSolidList"/>
    <dgm:cxn modelId="{F72506A5-FA67-3643-A39F-8AA57D7CE679}" type="presParOf" srcId="{AEFF1E33-F1D7-43FA-A3EA-DBB8CC6A474D}" destId="{56565B7A-E568-435C-816F-412BCEC780AC}" srcOrd="3" destOrd="0" presId="urn:microsoft.com/office/officeart/2018/2/layout/IconVerticalSolidList"/>
    <dgm:cxn modelId="{37141895-4196-8949-BF3D-A2CC3E22831E}" type="presParOf" srcId="{0C556645-0FC5-4679-A7A9-58F47FF92389}" destId="{671A4186-2C56-4206-A4F4-348DB0062F00}" srcOrd="1" destOrd="0" presId="urn:microsoft.com/office/officeart/2018/2/layout/IconVerticalSolidList"/>
    <dgm:cxn modelId="{3B04AD2F-3876-EF41-A7F2-4EC799AE753D}" type="presParOf" srcId="{0C556645-0FC5-4679-A7A9-58F47FF92389}" destId="{2A4F0450-3A42-4D1A-BC96-265FFD0E37A5}" srcOrd="2" destOrd="0" presId="urn:microsoft.com/office/officeart/2018/2/layout/IconVerticalSolidList"/>
    <dgm:cxn modelId="{5AD20550-7885-E44D-9800-8D6FDF5B50E3}" type="presParOf" srcId="{2A4F0450-3A42-4D1A-BC96-265FFD0E37A5}" destId="{C1E3F3C0-5842-4812-99C8-F7E2A6346543}" srcOrd="0" destOrd="0" presId="urn:microsoft.com/office/officeart/2018/2/layout/IconVerticalSolidList"/>
    <dgm:cxn modelId="{D7502F57-0D72-5C48-83B1-073C1E02A9BD}" type="presParOf" srcId="{2A4F0450-3A42-4D1A-BC96-265FFD0E37A5}" destId="{A99E5A4B-7982-46AE-A59D-289F7B908282}" srcOrd="1" destOrd="0" presId="urn:microsoft.com/office/officeart/2018/2/layout/IconVerticalSolidList"/>
    <dgm:cxn modelId="{1D4A4615-532C-E743-ACED-B732EB71DF39}" type="presParOf" srcId="{2A4F0450-3A42-4D1A-BC96-265FFD0E37A5}" destId="{C603B3B9-9F7E-4CBE-9DB6-AAC18086CC55}" srcOrd="2" destOrd="0" presId="urn:microsoft.com/office/officeart/2018/2/layout/IconVerticalSolidList"/>
    <dgm:cxn modelId="{439CD6DF-2D16-474D-BBFE-833C49BD9CE9}" type="presParOf" srcId="{2A4F0450-3A42-4D1A-BC96-265FFD0E37A5}" destId="{415AC2CE-EA08-4C31-9739-F617439FD66D}" srcOrd="3" destOrd="0" presId="urn:microsoft.com/office/officeart/2018/2/layout/IconVerticalSolidList"/>
    <dgm:cxn modelId="{F9DF6CFE-6D49-DE44-A7D5-9E3FFA95F729}" type="presParOf" srcId="{0C556645-0FC5-4679-A7A9-58F47FF92389}" destId="{61DA3717-EFC3-4056-8863-951DFFFB1545}" srcOrd="3" destOrd="0" presId="urn:microsoft.com/office/officeart/2018/2/layout/IconVerticalSolidList"/>
    <dgm:cxn modelId="{E447BDD9-85A5-CE44-A62D-FCFB1229ABE7}" type="presParOf" srcId="{0C556645-0FC5-4679-A7A9-58F47FF92389}" destId="{524CB601-30DC-483A-8EF6-A6A3DDA3E77C}" srcOrd="4" destOrd="0" presId="urn:microsoft.com/office/officeart/2018/2/layout/IconVerticalSolidList"/>
    <dgm:cxn modelId="{63D16BDE-785B-3642-BAB2-D1AFC1FD9DA4}" type="presParOf" srcId="{524CB601-30DC-483A-8EF6-A6A3DDA3E77C}" destId="{D52315D7-F846-4E4D-8E80-0B45EFA19DE5}" srcOrd="0" destOrd="0" presId="urn:microsoft.com/office/officeart/2018/2/layout/IconVerticalSolidList"/>
    <dgm:cxn modelId="{67227F8D-B246-044C-921A-6F6B587F3A1E}" type="presParOf" srcId="{524CB601-30DC-483A-8EF6-A6A3DDA3E77C}" destId="{2F3C5DEF-867D-463A-AF3E-5ED4833E373F}" srcOrd="1" destOrd="0" presId="urn:microsoft.com/office/officeart/2018/2/layout/IconVerticalSolidList"/>
    <dgm:cxn modelId="{6722BD9C-B65E-0245-9AC6-744AD0A4CE39}" type="presParOf" srcId="{524CB601-30DC-483A-8EF6-A6A3DDA3E77C}" destId="{B04FE4F9-549E-43F4-A37E-CECC3660A7C8}" srcOrd="2" destOrd="0" presId="urn:microsoft.com/office/officeart/2018/2/layout/IconVerticalSolidList"/>
    <dgm:cxn modelId="{2226B68E-273E-614C-A653-AE0795B64B10}" type="presParOf" srcId="{524CB601-30DC-483A-8EF6-A6A3DDA3E77C}" destId="{438C69DF-CDC1-496C-AF8F-406A3475EFA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0026F18-C4D1-4ECD-8918-3287EACF09E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8F7D6BD-8B0B-4E61-AA63-BCA872C09752}">
      <dgm:prSet/>
      <dgm:spPr/>
      <dgm:t>
        <a:bodyPr/>
        <a:lstStyle/>
        <a:p>
          <a:r>
            <a:rPr lang="en-US" dirty="0"/>
            <a:t>PART V</a:t>
          </a:r>
        </a:p>
      </dgm:t>
    </dgm:pt>
    <dgm:pt modelId="{0AE079BD-097F-41FA-A731-A828FC86A8FC}" type="parTrans" cxnId="{9C90E94C-8B04-4BA3-B63C-96A785C1BDD5}">
      <dgm:prSet/>
      <dgm:spPr/>
      <dgm:t>
        <a:bodyPr/>
        <a:lstStyle/>
        <a:p>
          <a:endParaRPr lang="en-US"/>
        </a:p>
      </dgm:t>
    </dgm:pt>
    <dgm:pt modelId="{3A18238F-4CAA-4526-8B26-EFCB09166E1F}" type="sibTrans" cxnId="{9C90E94C-8B04-4BA3-B63C-96A785C1BDD5}">
      <dgm:prSet/>
      <dgm:spPr/>
      <dgm:t>
        <a:bodyPr/>
        <a:lstStyle/>
        <a:p>
          <a:endParaRPr lang="en-US"/>
        </a:p>
      </dgm:t>
    </dgm:pt>
    <dgm:pt modelId="{274F3774-53C1-49C1-B1E8-4515FF6C299F}">
      <dgm:prSet/>
      <dgm:spPr/>
      <dgm:t>
        <a:bodyPr/>
        <a:lstStyle/>
        <a:p>
          <a:r>
            <a:rPr lang="en-US" dirty="0"/>
            <a:t>Open</a:t>
          </a:r>
          <a:r>
            <a:rPr lang="en-US" baseline="0" dirty="0"/>
            <a:t> Problems</a:t>
          </a:r>
          <a:endParaRPr lang="en-US" dirty="0"/>
        </a:p>
      </dgm:t>
    </dgm:pt>
    <dgm:pt modelId="{36AD312E-BB94-4E79-A12C-6F728186DD7D}" type="parTrans" cxnId="{5DAC8706-D524-4E92-9B30-010D23DB875F}">
      <dgm:prSet/>
      <dgm:spPr/>
      <dgm:t>
        <a:bodyPr/>
        <a:lstStyle/>
        <a:p>
          <a:endParaRPr lang="en-US"/>
        </a:p>
      </dgm:t>
    </dgm:pt>
    <dgm:pt modelId="{EAF979FF-F273-45E5-8E2B-5237A681766A}" type="sibTrans" cxnId="{5DAC8706-D524-4E92-9B30-010D23DB875F}">
      <dgm:prSet/>
      <dgm:spPr/>
      <dgm:t>
        <a:bodyPr/>
        <a:lstStyle/>
        <a:p>
          <a:endParaRPr lang="en-US"/>
        </a:p>
      </dgm:t>
    </dgm:pt>
    <dgm:pt modelId="{1B12F35F-420D-4556-B6F9-2C422FC7B2A5}" type="pres">
      <dgm:prSet presAssocID="{D0026F18-C4D1-4ECD-8918-3287EACF09EC}" presName="root" presStyleCnt="0">
        <dgm:presLayoutVars>
          <dgm:dir/>
          <dgm:resizeHandles val="exact"/>
        </dgm:presLayoutVars>
      </dgm:prSet>
      <dgm:spPr/>
    </dgm:pt>
    <dgm:pt modelId="{E443F618-D37F-47AA-8870-CCC4FEF6C4FE}" type="pres">
      <dgm:prSet presAssocID="{18F7D6BD-8B0B-4E61-AA63-BCA872C09752}" presName="compNode" presStyleCnt="0"/>
      <dgm:spPr/>
    </dgm:pt>
    <dgm:pt modelId="{81E1AD4C-C93F-4B2A-8604-B2BA4CC96455}" type="pres">
      <dgm:prSet presAssocID="{18F7D6BD-8B0B-4E61-AA63-BCA872C09752}" presName="bgRect" presStyleLbl="bgShp" presStyleIdx="0" presStyleCnt="2"/>
      <dgm:spPr/>
    </dgm:pt>
    <dgm:pt modelId="{A6C25772-591F-430C-96DE-E1E6B251D651}" type="pres">
      <dgm:prSet presAssocID="{18F7D6BD-8B0B-4E61-AA63-BCA872C0975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rveyBalls55"/>
        </a:ext>
      </dgm:extLst>
    </dgm:pt>
    <dgm:pt modelId="{3274BDA5-3066-461D-ACEA-CB283B95DEA5}" type="pres">
      <dgm:prSet presAssocID="{18F7D6BD-8B0B-4E61-AA63-BCA872C09752}" presName="spaceRect" presStyleCnt="0"/>
      <dgm:spPr/>
    </dgm:pt>
    <dgm:pt modelId="{0F2D4174-9451-4A0D-9151-743ACC305302}" type="pres">
      <dgm:prSet presAssocID="{18F7D6BD-8B0B-4E61-AA63-BCA872C09752}" presName="parTx" presStyleLbl="revTx" presStyleIdx="0" presStyleCnt="2">
        <dgm:presLayoutVars>
          <dgm:chMax val="0"/>
          <dgm:chPref val="0"/>
        </dgm:presLayoutVars>
      </dgm:prSet>
      <dgm:spPr/>
    </dgm:pt>
    <dgm:pt modelId="{EC80B82F-E814-451D-BB9B-931A96CDAFF6}" type="pres">
      <dgm:prSet presAssocID="{3A18238F-4CAA-4526-8B26-EFCB09166E1F}" presName="sibTrans" presStyleCnt="0"/>
      <dgm:spPr/>
    </dgm:pt>
    <dgm:pt modelId="{5F9D7B09-1846-4C51-9526-5745AC5CC572}" type="pres">
      <dgm:prSet presAssocID="{274F3774-53C1-49C1-B1E8-4515FF6C299F}" presName="compNode" presStyleCnt="0"/>
      <dgm:spPr/>
    </dgm:pt>
    <dgm:pt modelId="{042ACAB1-8062-4E1F-8636-905EFE6757DC}" type="pres">
      <dgm:prSet presAssocID="{274F3774-53C1-49C1-B1E8-4515FF6C299F}" presName="bgRect" presStyleLbl="bgShp" presStyleIdx="1" presStyleCnt="2"/>
      <dgm:spPr/>
    </dgm:pt>
    <dgm:pt modelId="{0E4709D5-5A34-48E9-A7BF-C2336715EFA4}" type="pres">
      <dgm:prSet presAssocID="{274F3774-53C1-49C1-B1E8-4515FF6C299F}" presName="iconRect" presStyleLbl="node1" presStyleIdx="1" presStyleCnt="2"/>
      <dgm:spPr>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Head with Gears"/>
        </a:ext>
      </dgm:extLst>
    </dgm:pt>
    <dgm:pt modelId="{16134E2D-0C4F-412F-B691-CCF1A4D0FBA5}" type="pres">
      <dgm:prSet presAssocID="{274F3774-53C1-49C1-B1E8-4515FF6C299F}" presName="spaceRect" presStyleCnt="0"/>
      <dgm:spPr/>
    </dgm:pt>
    <dgm:pt modelId="{A9648AB8-719D-4B8C-B8D7-416D4F07D081}" type="pres">
      <dgm:prSet presAssocID="{274F3774-53C1-49C1-B1E8-4515FF6C299F}" presName="parTx" presStyleLbl="revTx" presStyleIdx="1" presStyleCnt="2">
        <dgm:presLayoutVars>
          <dgm:chMax val="0"/>
          <dgm:chPref val="0"/>
        </dgm:presLayoutVars>
      </dgm:prSet>
      <dgm:spPr/>
    </dgm:pt>
  </dgm:ptLst>
  <dgm:cxnLst>
    <dgm:cxn modelId="{5DAC8706-D524-4E92-9B30-010D23DB875F}" srcId="{D0026F18-C4D1-4ECD-8918-3287EACF09EC}" destId="{274F3774-53C1-49C1-B1E8-4515FF6C299F}" srcOrd="1" destOrd="0" parTransId="{36AD312E-BB94-4E79-A12C-6F728186DD7D}" sibTransId="{EAF979FF-F273-45E5-8E2B-5237A681766A}"/>
    <dgm:cxn modelId="{341CBE37-7AA2-485C-8D7B-CF6B0F86D51C}" type="presOf" srcId="{D0026F18-C4D1-4ECD-8918-3287EACF09EC}" destId="{1B12F35F-420D-4556-B6F9-2C422FC7B2A5}" srcOrd="0" destOrd="0" presId="urn:microsoft.com/office/officeart/2018/2/layout/IconVerticalSolidList"/>
    <dgm:cxn modelId="{9C90E94C-8B04-4BA3-B63C-96A785C1BDD5}" srcId="{D0026F18-C4D1-4ECD-8918-3287EACF09EC}" destId="{18F7D6BD-8B0B-4E61-AA63-BCA872C09752}" srcOrd="0" destOrd="0" parTransId="{0AE079BD-097F-41FA-A731-A828FC86A8FC}" sibTransId="{3A18238F-4CAA-4526-8B26-EFCB09166E1F}"/>
    <dgm:cxn modelId="{A84C0D9B-2784-4A79-93B4-B69E0F794085}" type="presOf" srcId="{274F3774-53C1-49C1-B1E8-4515FF6C299F}" destId="{A9648AB8-719D-4B8C-B8D7-416D4F07D081}" srcOrd="0" destOrd="0" presId="urn:microsoft.com/office/officeart/2018/2/layout/IconVerticalSolidList"/>
    <dgm:cxn modelId="{386E2FB5-3A18-4B7B-96CB-C980704AE6FA}" type="presOf" srcId="{18F7D6BD-8B0B-4E61-AA63-BCA872C09752}" destId="{0F2D4174-9451-4A0D-9151-743ACC305302}" srcOrd="0" destOrd="0" presId="urn:microsoft.com/office/officeart/2018/2/layout/IconVerticalSolidList"/>
    <dgm:cxn modelId="{6B6D97A9-352C-4081-8ECA-E2C766B9D86B}" type="presParOf" srcId="{1B12F35F-420D-4556-B6F9-2C422FC7B2A5}" destId="{E443F618-D37F-47AA-8870-CCC4FEF6C4FE}" srcOrd="0" destOrd="0" presId="urn:microsoft.com/office/officeart/2018/2/layout/IconVerticalSolidList"/>
    <dgm:cxn modelId="{15B0ECFE-1A7D-4066-B485-ABBB49F8DC4B}" type="presParOf" srcId="{E443F618-D37F-47AA-8870-CCC4FEF6C4FE}" destId="{81E1AD4C-C93F-4B2A-8604-B2BA4CC96455}" srcOrd="0" destOrd="0" presId="urn:microsoft.com/office/officeart/2018/2/layout/IconVerticalSolidList"/>
    <dgm:cxn modelId="{AD90A001-38B2-4CD1-B401-2B346BE0F570}" type="presParOf" srcId="{E443F618-D37F-47AA-8870-CCC4FEF6C4FE}" destId="{A6C25772-591F-430C-96DE-E1E6B251D651}" srcOrd="1" destOrd="0" presId="urn:microsoft.com/office/officeart/2018/2/layout/IconVerticalSolidList"/>
    <dgm:cxn modelId="{F7E22D7A-EAAA-4D43-BA0F-28A040114274}" type="presParOf" srcId="{E443F618-D37F-47AA-8870-CCC4FEF6C4FE}" destId="{3274BDA5-3066-461D-ACEA-CB283B95DEA5}" srcOrd="2" destOrd="0" presId="urn:microsoft.com/office/officeart/2018/2/layout/IconVerticalSolidList"/>
    <dgm:cxn modelId="{7C0B52F9-55B7-4BE2-96CD-749581092587}" type="presParOf" srcId="{E443F618-D37F-47AA-8870-CCC4FEF6C4FE}" destId="{0F2D4174-9451-4A0D-9151-743ACC305302}" srcOrd="3" destOrd="0" presId="urn:microsoft.com/office/officeart/2018/2/layout/IconVerticalSolidList"/>
    <dgm:cxn modelId="{972F7AE2-74AD-4600-BBF9-2EBB1C599A7A}" type="presParOf" srcId="{1B12F35F-420D-4556-B6F9-2C422FC7B2A5}" destId="{EC80B82F-E814-451D-BB9B-931A96CDAFF6}" srcOrd="1" destOrd="0" presId="urn:microsoft.com/office/officeart/2018/2/layout/IconVerticalSolidList"/>
    <dgm:cxn modelId="{C8516267-56F0-4C6C-BAFA-C00B68CF8781}" type="presParOf" srcId="{1B12F35F-420D-4556-B6F9-2C422FC7B2A5}" destId="{5F9D7B09-1846-4C51-9526-5745AC5CC572}" srcOrd="2" destOrd="0" presId="urn:microsoft.com/office/officeart/2018/2/layout/IconVerticalSolidList"/>
    <dgm:cxn modelId="{E3569C5B-BD0A-48B3-8DCD-89E3A3BAEAA8}" type="presParOf" srcId="{5F9D7B09-1846-4C51-9526-5745AC5CC572}" destId="{042ACAB1-8062-4E1F-8636-905EFE6757DC}" srcOrd="0" destOrd="0" presId="urn:microsoft.com/office/officeart/2018/2/layout/IconVerticalSolidList"/>
    <dgm:cxn modelId="{6955C940-8526-44F6-BFC2-8E91F291808A}" type="presParOf" srcId="{5F9D7B09-1846-4C51-9526-5745AC5CC572}" destId="{0E4709D5-5A34-48E9-A7BF-C2336715EFA4}" srcOrd="1" destOrd="0" presId="urn:microsoft.com/office/officeart/2018/2/layout/IconVerticalSolidList"/>
    <dgm:cxn modelId="{22E3C87C-FF7C-4234-8278-D73A59FC6F3C}" type="presParOf" srcId="{5F9D7B09-1846-4C51-9526-5745AC5CC572}" destId="{16134E2D-0C4F-412F-B691-CCF1A4D0FBA5}" srcOrd="2" destOrd="0" presId="urn:microsoft.com/office/officeart/2018/2/layout/IconVerticalSolidList"/>
    <dgm:cxn modelId="{9EB491B9-6CBB-4A83-AAAF-5F68281E4C0C}" type="presParOf" srcId="{5F9D7B09-1846-4C51-9526-5745AC5CC572}" destId="{A9648AB8-719D-4B8C-B8D7-416D4F07D081}"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CC978F7-B592-4634-9DEB-FD475F04D061}" type="doc">
      <dgm:prSet loTypeId="urn:microsoft.com/office/officeart/2018/2/layout/IconVerticalSolidList" loCatId="icon" qsTypeId="urn:microsoft.com/office/officeart/2005/8/quickstyle/simple1" qsCatId="simple" csTypeId="urn:microsoft.com/office/officeart/2018/5/colors/Iconchunking_neutralbg_colorful2" csCatId="colorful" phldr="1"/>
      <dgm:spPr/>
      <dgm:t>
        <a:bodyPr/>
        <a:lstStyle/>
        <a:p>
          <a:endParaRPr lang="en-US"/>
        </a:p>
      </dgm:t>
    </dgm:pt>
    <dgm:pt modelId="{4FC5CC47-7308-444E-B406-E0F8894ED317}">
      <dgm:prSet/>
      <dgm:spPr/>
      <dgm:t>
        <a:bodyPr/>
        <a:lstStyle/>
        <a:p>
          <a:r>
            <a:rPr lang="en-US"/>
            <a:t>PART VI</a:t>
          </a:r>
        </a:p>
      </dgm:t>
    </dgm:pt>
    <dgm:pt modelId="{9BD13BC7-0356-46DB-909E-86D29ED3EECB}" type="parTrans" cxnId="{20EAFE22-FED7-4017-81C6-6CDB9A37B472}">
      <dgm:prSet/>
      <dgm:spPr/>
      <dgm:t>
        <a:bodyPr/>
        <a:lstStyle/>
        <a:p>
          <a:endParaRPr lang="en-US"/>
        </a:p>
      </dgm:t>
    </dgm:pt>
    <dgm:pt modelId="{69E42E2B-981F-4BE6-B07C-4D61BFD34553}" type="sibTrans" cxnId="{20EAFE22-FED7-4017-81C6-6CDB9A37B472}">
      <dgm:prSet/>
      <dgm:spPr/>
      <dgm:t>
        <a:bodyPr/>
        <a:lstStyle/>
        <a:p>
          <a:endParaRPr lang="en-US"/>
        </a:p>
      </dgm:t>
    </dgm:pt>
    <dgm:pt modelId="{37748835-4584-4F3F-A2C2-CB3EC9444277}">
      <dgm:prSet/>
      <dgm:spPr/>
      <dgm:t>
        <a:bodyPr/>
        <a:lstStyle/>
        <a:p>
          <a:r>
            <a:rPr lang="en-US"/>
            <a:t>Workshop Talks</a:t>
          </a:r>
        </a:p>
      </dgm:t>
    </dgm:pt>
    <dgm:pt modelId="{2F562607-0764-4484-9E4E-BA8726A2E1B7}" type="parTrans" cxnId="{5492B495-7EDF-46DA-AEF9-17F7C263C9B3}">
      <dgm:prSet/>
      <dgm:spPr/>
      <dgm:t>
        <a:bodyPr/>
        <a:lstStyle/>
        <a:p>
          <a:endParaRPr lang="en-US"/>
        </a:p>
      </dgm:t>
    </dgm:pt>
    <dgm:pt modelId="{1C30A15A-E77F-4351-B842-12904BA9B406}" type="sibTrans" cxnId="{5492B495-7EDF-46DA-AEF9-17F7C263C9B3}">
      <dgm:prSet/>
      <dgm:spPr/>
      <dgm:t>
        <a:bodyPr/>
        <a:lstStyle/>
        <a:p>
          <a:endParaRPr lang="en-US"/>
        </a:p>
      </dgm:t>
    </dgm:pt>
    <dgm:pt modelId="{88AB0EF2-CAF4-4333-9E10-D22BF436E71E}" type="pres">
      <dgm:prSet presAssocID="{9CC978F7-B592-4634-9DEB-FD475F04D061}" presName="root" presStyleCnt="0">
        <dgm:presLayoutVars>
          <dgm:dir/>
          <dgm:resizeHandles val="exact"/>
        </dgm:presLayoutVars>
      </dgm:prSet>
      <dgm:spPr/>
    </dgm:pt>
    <dgm:pt modelId="{F64DCD07-2B2A-46B4-BBDE-9D50F155149F}" type="pres">
      <dgm:prSet presAssocID="{4FC5CC47-7308-444E-B406-E0F8894ED317}" presName="compNode" presStyleCnt="0"/>
      <dgm:spPr/>
    </dgm:pt>
    <dgm:pt modelId="{B77BCB48-A19A-4E74-AF83-839084618BCC}" type="pres">
      <dgm:prSet presAssocID="{4FC5CC47-7308-444E-B406-E0F8894ED317}" presName="bgRect" presStyleLbl="bgShp" presStyleIdx="0" presStyleCnt="2"/>
      <dgm:spPr/>
    </dgm:pt>
    <dgm:pt modelId="{B4125D70-8542-44C9-BFA4-064E3FDBE3B5}" type="pres">
      <dgm:prSet presAssocID="{4FC5CC47-7308-444E-B406-E0F8894ED31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A61D5541-5D1D-47E9-BA42-8E2688954934}" type="pres">
      <dgm:prSet presAssocID="{4FC5CC47-7308-444E-B406-E0F8894ED317}" presName="spaceRect" presStyleCnt="0"/>
      <dgm:spPr/>
    </dgm:pt>
    <dgm:pt modelId="{5BDD3412-E700-416B-9909-792E51358A6E}" type="pres">
      <dgm:prSet presAssocID="{4FC5CC47-7308-444E-B406-E0F8894ED317}" presName="parTx" presStyleLbl="revTx" presStyleIdx="0" presStyleCnt="2">
        <dgm:presLayoutVars>
          <dgm:chMax val="0"/>
          <dgm:chPref val="0"/>
        </dgm:presLayoutVars>
      </dgm:prSet>
      <dgm:spPr/>
    </dgm:pt>
    <dgm:pt modelId="{D7FA22EB-5EDE-475F-96D5-C0A3D1A61512}" type="pres">
      <dgm:prSet presAssocID="{69E42E2B-981F-4BE6-B07C-4D61BFD34553}" presName="sibTrans" presStyleCnt="0"/>
      <dgm:spPr/>
    </dgm:pt>
    <dgm:pt modelId="{E3BF6FF0-F280-4AFB-8B8D-DD3EA6891980}" type="pres">
      <dgm:prSet presAssocID="{37748835-4584-4F3F-A2C2-CB3EC9444277}" presName="compNode" presStyleCnt="0"/>
      <dgm:spPr/>
    </dgm:pt>
    <dgm:pt modelId="{991A6CF8-FBF6-45D2-9E2E-997234EC5905}" type="pres">
      <dgm:prSet presAssocID="{37748835-4584-4F3F-A2C2-CB3EC9444277}" presName="bgRect" presStyleLbl="bgShp" presStyleIdx="1" presStyleCnt="2"/>
      <dgm:spPr/>
    </dgm:pt>
    <dgm:pt modelId="{2529A36A-9904-4CB7-853B-DA0E174B8178}" type="pres">
      <dgm:prSet presAssocID="{37748835-4584-4F3F-A2C2-CB3EC9444277}"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at"/>
        </a:ext>
      </dgm:extLst>
    </dgm:pt>
    <dgm:pt modelId="{90542FCD-7FBD-4233-BDF8-32BB5F9EB63C}" type="pres">
      <dgm:prSet presAssocID="{37748835-4584-4F3F-A2C2-CB3EC9444277}" presName="spaceRect" presStyleCnt="0"/>
      <dgm:spPr/>
    </dgm:pt>
    <dgm:pt modelId="{2C374991-59DD-4121-B99E-A83D3421C47E}" type="pres">
      <dgm:prSet presAssocID="{37748835-4584-4F3F-A2C2-CB3EC9444277}" presName="parTx" presStyleLbl="revTx" presStyleIdx="1" presStyleCnt="2">
        <dgm:presLayoutVars>
          <dgm:chMax val="0"/>
          <dgm:chPref val="0"/>
        </dgm:presLayoutVars>
      </dgm:prSet>
      <dgm:spPr/>
    </dgm:pt>
  </dgm:ptLst>
  <dgm:cxnLst>
    <dgm:cxn modelId="{6E6DD804-4C6D-4717-B8DF-1513C9CE094C}" type="presOf" srcId="{4FC5CC47-7308-444E-B406-E0F8894ED317}" destId="{5BDD3412-E700-416B-9909-792E51358A6E}" srcOrd="0" destOrd="0" presId="urn:microsoft.com/office/officeart/2018/2/layout/IconVerticalSolidList"/>
    <dgm:cxn modelId="{20EAFE22-FED7-4017-81C6-6CDB9A37B472}" srcId="{9CC978F7-B592-4634-9DEB-FD475F04D061}" destId="{4FC5CC47-7308-444E-B406-E0F8894ED317}" srcOrd="0" destOrd="0" parTransId="{9BD13BC7-0356-46DB-909E-86D29ED3EECB}" sibTransId="{69E42E2B-981F-4BE6-B07C-4D61BFD34553}"/>
    <dgm:cxn modelId="{D2B09C8E-600C-4C69-9F1E-B237A47CAC32}" type="presOf" srcId="{9CC978F7-B592-4634-9DEB-FD475F04D061}" destId="{88AB0EF2-CAF4-4333-9E10-D22BF436E71E}" srcOrd="0" destOrd="0" presId="urn:microsoft.com/office/officeart/2018/2/layout/IconVerticalSolidList"/>
    <dgm:cxn modelId="{5492B495-7EDF-46DA-AEF9-17F7C263C9B3}" srcId="{9CC978F7-B592-4634-9DEB-FD475F04D061}" destId="{37748835-4584-4F3F-A2C2-CB3EC9444277}" srcOrd="1" destOrd="0" parTransId="{2F562607-0764-4484-9E4E-BA8726A2E1B7}" sibTransId="{1C30A15A-E77F-4351-B842-12904BA9B406}"/>
    <dgm:cxn modelId="{E75381DC-E57A-4A5B-BC47-C869174D06C4}" type="presOf" srcId="{37748835-4584-4F3F-A2C2-CB3EC9444277}" destId="{2C374991-59DD-4121-B99E-A83D3421C47E}" srcOrd="0" destOrd="0" presId="urn:microsoft.com/office/officeart/2018/2/layout/IconVerticalSolidList"/>
    <dgm:cxn modelId="{48F79373-64DB-475A-847E-FEFE5BC0DAA9}" type="presParOf" srcId="{88AB0EF2-CAF4-4333-9E10-D22BF436E71E}" destId="{F64DCD07-2B2A-46B4-BBDE-9D50F155149F}" srcOrd="0" destOrd="0" presId="urn:microsoft.com/office/officeart/2018/2/layout/IconVerticalSolidList"/>
    <dgm:cxn modelId="{39ACC935-A606-4EC6-BF60-8FFB0AB1EAE5}" type="presParOf" srcId="{F64DCD07-2B2A-46B4-BBDE-9D50F155149F}" destId="{B77BCB48-A19A-4E74-AF83-839084618BCC}" srcOrd="0" destOrd="0" presId="urn:microsoft.com/office/officeart/2018/2/layout/IconVerticalSolidList"/>
    <dgm:cxn modelId="{1BB4B5DD-F0FE-41E5-B571-6FDE8B9D6CA1}" type="presParOf" srcId="{F64DCD07-2B2A-46B4-BBDE-9D50F155149F}" destId="{B4125D70-8542-44C9-BFA4-064E3FDBE3B5}" srcOrd="1" destOrd="0" presId="urn:microsoft.com/office/officeart/2018/2/layout/IconVerticalSolidList"/>
    <dgm:cxn modelId="{E497D2B5-AA66-4510-AF4E-ED6600B30266}" type="presParOf" srcId="{F64DCD07-2B2A-46B4-BBDE-9D50F155149F}" destId="{A61D5541-5D1D-47E9-BA42-8E2688954934}" srcOrd="2" destOrd="0" presId="urn:microsoft.com/office/officeart/2018/2/layout/IconVerticalSolidList"/>
    <dgm:cxn modelId="{6206E97C-3091-4E1A-A090-D7971000C4A3}" type="presParOf" srcId="{F64DCD07-2B2A-46B4-BBDE-9D50F155149F}" destId="{5BDD3412-E700-416B-9909-792E51358A6E}" srcOrd="3" destOrd="0" presId="urn:microsoft.com/office/officeart/2018/2/layout/IconVerticalSolidList"/>
    <dgm:cxn modelId="{61708812-5882-4BA8-BDA3-870DDFEE859A}" type="presParOf" srcId="{88AB0EF2-CAF4-4333-9E10-D22BF436E71E}" destId="{D7FA22EB-5EDE-475F-96D5-C0A3D1A61512}" srcOrd="1" destOrd="0" presId="urn:microsoft.com/office/officeart/2018/2/layout/IconVerticalSolidList"/>
    <dgm:cxn modelId="{16203C13-6069-4F51-AAD0-B6C22E8CE8E2}" type="presParOf" srcId="{88AB0EF2-CAF4-4333-9E10-D22BF436E71E}" destId="{E3BF6FF0-F280-4AFB-8B8D-DD3EA6891980}" srcOrd="2" destOrd="0" presId="urn:microsoft.com/office/officeart/2018/2/layout/IconVerticalSolidList"/>
    <dgm:cxn modelId="{52F3FA62-395D-4D87-B936-C5DF72523355}" type="presParOf" srcId="{E3BF6FF0-F280-4AFB-8B8D-DD3EA6891980}" destId="{991A6CF8-FBF6-45D2-9E2E-997234EC5905}" srcOrd="0" destOrd="0" presId="urn:microsoft.com/office/officeart/2018/2/layout/IconVerticalSolidList"/>
    <dgm:cxn modelId="{1FA094F4-D8A6-40AA-9AE6-90F4E4E066A9}" type="presParOf" srcId="{E3BF6FF0-F280-4AFB-8B8D-DD3EA6891980}" destId="{2529A36A-9904-4CB7-853B-DA0E174B8178}" srcOrd="1" destOrd="0" presId="urn:microsoft.com/office/officeart/2018/2/layout/IconVerticalSolidList"/>
    <dgm:cxn modelId="{DA922EF4-8DE9-482A-852B-EF9AEE09B162}" type="presParOf" srcId="{E3BF6FF0-F280-4AFB-8B8D-DD3EA6891980}" destId="{90542FCD-7FBD-4233-BDF8-32BB5F9EB63C}" srcOrd="2" destOrd="0" presId="urn:microsoft.com/office/officeart/2018/2/layout/IconVerticalSolidList"/>
    <dgm:cxn modelId="{97D17A16-E838-4B05-86CC-F0261CA4395B}" type="presParOf" srcId="{E3BF6FF0-F280-4AFB-8B8D-DD3EA6891980}" destId="{2C374991-59DD-4121-B99E-A83D3421C47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899144C-6F47-4BC5-8182-D3CC3B6D5470}" type="doc">
      <dgm:prSet loTypeId="urn:microsoft.com/office/officeart/2008/layout/LinedList" loCatId="list" qsTypeId="urn:microsoft.com/office/officeart/2005/8/quickstyle/simple4" qsCatId="simple" csTypeId="urn:microsoft.com/office/officeart/2005/8/colors/colorful1" csCatId="colorful"/>
      <dgm:spPr/>
      <dgm:t>
        <a:bodyPr/>
        <a:lstStyle/>
        <a:p>
          <a:endParaRPr lang="en-US"/>
        </a:p>
      </dgm:t>
    </dgm:pt>
    <dgm:pt modelId="{A19DA730-F05F-4C82-A28E-71259F5255CF}">
      <dgm:prSet/>
      <dgm:spPr/>
      <dgm:t>
        <a:bodyPr/>
        <a:lstStyle/>
        <a:p>
          <a:r>
            <a:rPr lang="en-US"/>
            <a:t>[DPLL62] Davis, M., Putnam, H., Logemann, G. and Loveland, D. A Machine Program for Theorem Proving. CACM 1962</a:t>
          </a:r>
        </a:p>
      </dgm:t>
    </dgm:pt>
    <dgm:pt modelId="{FD2CF094-3514-4C6E-B7E6-B59B88FF2283}" type="parTrans" cxnId="{27F36D5D-9AB7-4788-8586-CBABF0212800}">
      <dgm:prSet/>
      <dgm:spPr/>
      <dgm:t>
        <a:bodyPr/>
        <a:lstStyle/>
        <a:p>
          <a:endParaRPr lang="en-US"/>
        </a:p>
      </dgm:t>
    </dgm:pt>
    <dgm:pt modelId="{00123AE3-5278-4F75-BD1A-2ED5D8D9F5F6}" type="sibTrans" cxnId="{27F36D5D-9AB7-4788-8586-CBABF0212800}">
      <dgm:prSet/>
      <dgm:spPr/>
      <dgm:t>
        <a:bodyPr/>
        <a:lstStyle/>
        <a:p>
          <a:endParaRPr lang="en-US"/>
        </a:p>
      </dgm:t>
    </dgm:pt>
    <dgm:pt modelId="{8972BAE2-AEDE-4707-A46D-07C95933CA49}">
      <dgm:prSet/>
      <dgm:spPr/>
      <dgm:t>
        <a:bodyPr/>
        <a:lstStyle/>
        <a:p>
          <a:r>
            <a:rPr lang="en-US"/>
            <a:t>[MS96] Marques-Silva, J.P. and Sakallah, K.A. GRASP: A New Search Algorithm for Satisfiability. ICCAD 1996</a:t>
          </a:r>
        </a:p>
      </dgm:t>
    </dgm:pt>
    <dgm:pt modelId="{A3B0C51D-6EF0-44E5-A9C7-ACF0F61DBABC}" type="parTrans" cxnId="{8ABE3868-C47E-45FF-93E8-49509CCA4D5C}">
      <dgm:prSet/>
      <dgm:spPr/>
      <dgm:t>
        <a:bodyPr/>
        <a:lstStyle/>
        <a:p>
          <a:endParaRPr lang="en-US"/>
        </a:p>
      </dgm:t>
    </dgm:pt>
    <dgm:pt modelId="{45C3592A-E46A-4563-B0D2-DDE261983657}" type="sibTrans" cxnId="{8ABE3868-C47E-45FF-93E8-49509CCA4D5C}">
      <dgm:prSet/>
      <dgm:spPr/>
      <dgm:t>
        <a:bodyPr/>
        <a:lstStyle/>
        <a:p>
          <a:endParaRPr lang="en-US"/>
        </a:p>
      </dgm:t>
    </dgm:pt>
    <dgm:pt modelId="{E9166D29-9619-4316-9F6C-BDEB7E44EA3F}">
      <dgm:prSet/>
      <dgm:spPr/>
      <dgm:t>
        <a:bodyPr/>
        <a:lstStyle/>
        <a:p>
          <a:r>
            <a:rPr lang="en-US"/>
            <a:t>[MMZZM01] Moskewicz, M.W., Madigan, C.F., Zhao, Y., Zhang, L. and Malik, S. Chaff: Engineering an efficient SAT solver. DAC 2001</a:t>
          </a:r>
        </a:p>
      </dgm:t>
    </dgm:pt>
    <dgm:pt modelId="{5507C66F-E3F9-4C34-B596-7BF3B96873C3}" type="parTrans" cxnId="{5EC22DB9-D2B2-4335-A74C-BCB2C2514FBE}">
      <dgm:prSet/>
      <dgm:spPr/>
      <dgm:t>
        <a:bodyPr/>
        <a:lstStyle/>
        <a:p>
          <a:endParaRPr lang="en-US"/>
        </a:p>
      </dgm:t>
    </dgm:pt>
    <dgm:pt modelId="{C84E3C99-2E3A-48B2-9751-73854E41B83C}" type="sibTrans" cxnId="{5EC22DB9-D2B2-4335-A74C-BCB2C2514FBE}">
      <dgm:prSet/>
      <dgm:spPr/>
      <dgm:t>
        <a:bodyPr/>
        <a:lstStyle/>
        <a:p>
          <a:endParaRPr lang="en-US"/>
        </a:p>
      </dgm:t>
    </dgm:pt>
    <dgm:pt modelId="{102C8C0C-6BA8-4A62-9837-02EE9AE000E0}">
      <dgm:prSet/>
      <dgm:spPr/>
      <dgm:t>
        <a:bodyPr/>
        <a:lstStyle/>
        <a:p>
          <a:r>
            <a:rPr lang="en-US"/>
            <a:t>[BKS03] Beame, P., Kautz, H., Sabharwal, A. Understanding the Power of Clause Learning. IJCAI 2003</a:t>
          </a:r>
        </a:p>
      </dgm:t>
    </dgm:pt>
    <dgm:pt modelId="{E022D460-F94E-43F8-B436-4A923E284E6D}" type="parTrans" cxnId="{91ED379F-EE21-4E74-9531-5765C4E877C0}">
      <dgm:prSet/>
      <dgm:spPr/>
      <dgm:t>
        <a:bodyPr/>
        <a:lstStyle/>
        <a:p>
          <a:endParaRPr lang="en-US"/>
        </a:p>
      </dgm:t>
    </dgm:pt>
    <dgm:pt modelId="{0BEA8214-933C-4958-AD08-E4932DCAD1CE}" type="sibTrans" cxnId="{91ED379F-EE21-4E74-9531-5765C4E877C0}">
      <dgm:prSet/>
      <dgm:spPr/>
      <dgm:t>
        <a:bodyPr/>
        <a:lstStyle/>
        <a:p>
          <a:endParaRPr lang="en-US"/>
        </a:p>
      </dgm:t>
    </dgm:pt>
    <dgm:pt modelId="{373425FC-4B17-4C18-9E1D-46F3593C67A7}">
      <dgm:prSet/>
      <dgm:spPr/>
      <dgm:t>
        <a:bodyPr/>
        <a:lstStyle/>
        <a:p>
          <a:r>
            <a:rPr lang="en-US"/>
            <a:t>[WGS03] Williams, R., Gomes, C.P. and Selman, B. Backdoors to typical case complexity. IJCAI 2003</a:t>
          </a:r>
        </a:p>
      </dgm:t>
    </dgm:pt>
    <dgm:pt modelId="{E8D5CBAF-A6C1-4A1D-9E43-CC02CC5D061E}" type="parTrans" cxnId="{2CE60C1E-98F0-4F3B-A801-464B1E8DF69F}">
      <dgm:prSet/>
      <dgm:spPr/>
      <dgm:t>
        <a:bodyPr/>
        <a:lstStyle/>
        <a:p>
          <a:endParaRPr lang="en-US"/>
        </a:p>
      </dgm:t>
    </dgm:pt>
    <dgm:pt modelId="{56915DB7-1440-446E-AB1F-DC8AD49698ED}" type="sibTrans" cxnId="{2CE60C1E-98F0-4F3B-A801-464B1E8DF69F}">
      <dgm:prSet/>
      <dgm:spPr/>
      <dgm:t>
        <a:bodyPr/>
        <a:lstStyle/>
        <a:p>
          <a:endParaRPr lang="en-US"/>
        </a:p>
      </dgm:t>
    </dgm:pt>
    <dgm:pt modelId="{573FD2C6-89F5-4CFD-96AB-92C2AF912A76}">
      <dgm:prSet/>
      <dgm:spPr/>
      <dgm:t>
        <a:bodyPr/>
        <a:lstStyle/>
        <a:p>
          <a:r>
            <a:rPr lang="en-US"/>
            <a:t>[BSG09] Dilkina, B., Gomes, C.P. and Sabharwal, A. Backdoors in the context of learning. SAT 2009</a:t>
          </a:r>
        </a:p>
      </dgm:t>
    </dgm:pt>
    <dgm:pt modelId="{BEC2F202-7BF4-43CD-A747-17076B4958E0}" type="parTrans" cxnId="{1529E70D-9774-411D-AA9D-BC0452BFC3A8}">
      <dgm:prSet/>
      <dgm:spPr/>
      <dgm:t>
        <a:bodyPr/>
        <a:lstStyle/>
        <a:p>
          <a:endParaRPr lang="en-US"/>
        </a:p>
      </dgm:t>
    </dgm:pt>
    <dgm:pt modelId="{A5849245-1030-402E-9878-8F1F3A984E44}" type="sibTrans" cxnId="{1529E70D-9774-411D-AA9D-BC0452BFC3A8}">
      <dgm:prSet/>
      <dgm:spPr/>
      <dgm:t>
        <a:bodyPr/>
        <a:lstStyle/>
        <a:p>
          <a:endParaRPr lang="en-US"/>
        </a:p>
      </dgm:t>
    </dgm:pt>
    <dgm:pt modelId="{FD65EB65-869D-4A18-BAE7-8F60CFC4C2E0}">
      <dgm:prSet/>
      <dgm:spPr/>
      <dgm:t>
        <a:bodyPr/>
        <a:lstStyle/>
        <a:p>
          <a:r>
            <a:rPr lang="en-US"/>
            <a:t>[KSM11] Katebi, H., Sakallah, K.A. and Marques-Silva, J.P. Empirical study of the anatomy of modern SAT solvers. SAT 2011</a:t>
          </a:r>
        </a:p>
      </dgm:t>
    </dgm:pt>
    <dgm:pt modelId="{971D7BE1-44BD-477B-BF53-766539C86811}" type="parTrans" cxnId="{F14667A7-7A95-48FB-AED4-0D9463C7D59A}">
      <dgm:prSet/>
      <dgm:spPr/>
      <dgm:t>
        <a:bodyPr/>
        <a:lstStyle/>
        <a:p>
          <a:endParaRPr lang="en-US"/>
        </a:p>
      </dgm:t>
    </dgm:pt>
    <dgm:pt modelId="{4EF6587B-3629-4F99-AB25-4AE07AD3F23F}" type="sibTrans" cxnId="{F14667A7-7A95-48FB-AED4-0D9463C7D59A}">
      <dgm:prSet/>
      <dgm:spPr/>
      <dgm:t>
        <a:bodyPr/>
        <a:lstStyle/>
        <a:p>
          <a:endParaRPr lang="en-US"/>
        </a:p>
      </dgm:t>
    </dgm:pt>
    <dgm:pt modelId="{014C6969-6832-45EB-8D3C-0D8574C11092}">
      <dgm:prSet/>
      <dgm:spPr/>
      <dgm:t>
        <a:bodyPr/>
        <a:lstStyle/>
        <a:p>
          <a:r>
            <a:rPr lang="en-US"/>
            <a:t>[AFT11] Atserias, A., Fichte, J., and Thurley, M. Clause Learning Algorithms with Many Restarts and Bounded-width Resolution. JAIR 2011</a:t>
          </a:r>
        </a:p>
      </dgm:t>
    </dgm:pt>
    <dgm:pt modelId="{C8128ABA-522A-4198-8750-B80A2AC5510F}" type="parTrans" cxnId="{0C57BC0B-64B3-4103-87F5-71C52D2F9558}">
      <dgm:prSet/>
      <dgm:spPr/>
      <dgm:t>
        <a:bodyPr/>
        <a:lstStyle/>
        <a:p>
          <a:endParaRPr lang="en-US"/>
        </a:p>
      </dgm:t>
    </dgm:pt>
    <dgm:pt modelId="{007BB9E1-C609-43BF-8B76-7A26F62476D9}" type="sibTrans" cxnId="{0C57BC0B-64B3-4103-87F5-71C52D2F9558}">
      <dgm:prSet/>
      <dgm:spPr/>
      <dgm:t>
        <a:bodyPr/>
        <a:lstStyle/>
        <a:p>
          <a:endParaRPr lang="en-US"/>
        </a:p>
      </dgm:t>
    </dgm:pt>
    <dgm:pt modelId="{81DFB4EA-A33C-4691-8EB8-AABB150E4E32}">
      <dgm:prSet/>
      <dgm:spPr/>
      <dgm:t>
        <a:bodyPr/>
        <a:lstStyle/>
        <a:p>
          <a:r>
            <a:rPr lang="en-US"/>
            <a:t>[PD11] Pipatsrisawat, K., and Darwiche, A. On the Power of Clause-learning SAT Solvers as Resolution Engines. AI 2011</a:t>
          </a:r>
        </a:p>
      </dgm:t>
    </dgm:pt>
    <dgm:pt modelId="{796F2186-AF16-4E30-AF51-7F244522D29E}" type="parTrans" cxnId="{6203AD58-EFA5-4783-A4EE-15B1A938D8DF}">
      <dgm:prSet/>
      <dgm:spPr/>
      <dgm:t>
        <a:bodyPr/>
        <a:lstStyle/>
        <a:p>
          <a:endParaRPr lang="en-US"/>
        </a:p>
      </dgm:t>
    </dgm:pt>
    <dgm:pt modelId="{21787E7F-29CE-4418-AFBA-8760A97B13F0}" type="sibTrans" cxnId="{6203AD58-EFA5-4783-A4EE-15B1A938D8DF}">
      <dgm:prSet/>
      <dgm:spPr/>
      <dgm:t>
        <a:bodyPr/>
        <a:lstStyle/>
        <a:p>
          <a:endParaRPr lang="en-US"/>
        </a:p>
      </dgm:t>
    </dgm:pt>
    <dgm:pt modelId="{DBCB5911-AE12-49F1-8532-9C41D40AA1AB}">
      <dgm:prSet/>
      <dgm:spPr/>
      <dgm:t>
        <a:bodyPr/>
        <a:lstStyle/>
        <a:p>
          <a:r>
            <a:rPr lang="en-US"/>
            <a:t>[NGFAS14] Newsham, Z., Ganesh, V., Audemard, G. and Simon, L. Impact of community structure on SAT solver performance. SAT 2014</a:t>
          </a:r>
        </a:p>
      </dgm:t>
    </dgm:pt>
    <dgm:pt modelId="{A90966F4-F075-4AD2-8B0B-AF61ED4595F7}" type="parTrans" cxnId="{CDF85618-13CE-4A21-A6A3-3980142D5BFA}">
      <dgm:prSet/>
      <dgm:spPr/>
      <dgm:t>
        <a:bodyPr/>
        <a:lstStyle/>
        <a:p>
          <a:endParaRPr lang="en-US"/>
        </a:p>
      </dgm:t>
    </dgm:pt>
    <dgm:pt modelId="{0A9C647B-AB8B-4F4D-9141-BC664875F82B}" type="sibTrans" cxnId="{CDF85618-13CE-4A21-A6A3-3980142D5BFA}">
      <dgm:prSet/>
      <dgm:spPr/>
      <dgm:t>
        <a:bodyPr/>
        <a:lstStyle/>
        <a:p>
          <a:endParaRPr lang="en-US"/>
        </a:p>
      </dgm:t>
    </dgm:pt>
    <dgm:pt modelId="{F9A6F1DA-6B3A-4F70-8C43-2A0A260372C0}">
      <dgm:prSet/>
      <dgm:spPr/>
      <dgm:t>
        <a:bodyPr/>
        <a:lstStyle/>
        <a:p>
          <a:r>
            <a:rPr lang="en-US"/>
            <a:t>[LGZC15] Liang, J.H., Ganesh, V., Zulkoski, E., and Czarnecki, K. Understanding VSIDS branching heuristics in SAT solvers. HVC 2015.</a:t>
          </a:r>
        </a:p>
      </dgm:t>
    </dgm:pt>
    <dgm:pt modelId="{5FC6EE15-D055-4A30-85E6-350D0F46B140}" type="parTrans" cxnId="{A5A486FB-9A6A-4DC5-B61D-A59F41AE3D0D}">
      <dgm:prSet/>
      <dgm:spPr/>
      <dgm:t>
        <a:bodyPr/>
        <a:lstStyle/>
        <a:p>
          <a:endParaRPr lang="en-US"/>
        </a:p>
      </dgm:t>
    </dgm:pt>
    <dgm:pt modelId="{2A04C2B6-0E72-4CEF-8D01-0C982CA8A45D}" type="sibTrans" cxnId="{A5A486FB-9A6A-4DC5-B61D-A59F41AE3D0D}">
      <dgm:prSet/>
      <dgm:spPr/>
      <dgm:t>
        <a:bodyPr/>
        <a:lstStyle/>
        <a:p>
          <a:endParaRPr lang="en-US"/>
        </a:p>
      </dgm:t>
    </dgm:pt>
    <dgm:pt modelId="{DA174256-8FCB-43DD-A117-24C42408F679}">
      <dgm:prSet/>
      <dgm:spPr/>
      <dgm:t>
        <a:bodyPr/>
        <a:lstStyle/>
        <a:p>
          <a:r>
            <a:rPr lang="en-US"/>
            <a:t>[LGPC16] Liang, J.H., Ganesh, V., Poupart, P., and Czarnecki, K. Learning Rate Based Branching Heuristic for SAT Solvers. SAT 2016</a:t>
          </a:r>
        </a:p>
      </dgm:t>
    </dgm:pt>
    <dgm:pt modelId="{FD18DCF5-88FE-4B96-9773-4CCD775C958B}" type="parTrans" cxnId="{B6870EDA-1E5B-46A9-8185-183D3D393D7A}">
      <dgm:prSet/>
      <dgm:spPr/>
      <dgm:t>
        <a:bodyPr/>
        <a:lstStyle/>
        <a:p>
          <a:endParaRPr lang="en-US"/>
        </a:p>
      </dgm:t>
    </dgm:pt>
    <dgm:pt modelId="{D5607F91-18E0-4095-8890-C2350BC949D6}" type="sibTrans" cxnId="{B6870EDA-1E5B-46A9-8185-183D3D393D7A}">
      <dgm:prSet/>
      <dgm:spPr/>
      <dgm:t>
        <a:bodyPr/>
        <a:lstStyle/>
        <a:p>
          <a:endParaRPr lang="en-US"/>
        </a:p>
      </dgm:t>
    </dgm:pt>
    <dgm:pt modelId="{123C0FFE-0D80-495A-80C2-6891304658C9}">
      <dgm:prSet/>
      <dgm:spPr/>
      <dgm:t>
        <a:bodyPr/>
        <a:lstStyle/>
        <a:p>
          <a:r>
            <a:rPr lang="en-US"/>
            <a:t>[LGPC+16] Liang, J.H., Ganesh, V., Poupart, P., and Czarnecki, K. Conflict-history Based Branching Heuristic for SAT Solvers. AAAI 2016</a:t>
          </a:r>
        </a:p>
      </dgm:t>
    </dgm:pt>
    <dgm:pt modelId="{7D5185B2-0609-47C2-9707-731769631D60}" type="parTrans" cxnId="{8DA5F923-1471-4ACE-ACA7-EF90B07C7622}">
      <dgm:prSet/>
      <dgm:spPr/>
      <dgm:t>
        <a:bodyPr/>
        <a:lstStyle/>
        <a:p>
          <a:endParaRPr lang="en-US"/>
        </a:p>
      </dgm:t>
    </dgm:pt>
    <dgm:pt modelId="{50FB79B0-E270-4340-8AB3-453007709F68}" type="sibTrans" cxnId="{8DA5F923-1471-4ACE-ACA7-EF90B07C7622}">
      <dgm:prSet/>
      <dgm:spPr/>
      <dgm:t>
        <a:bodyPr/>
        <a:lstStyle/>
        <a:p>
          <a:endParaRPr lang="en-US"/>
        </a:p>
      </dgm:t>
    </dgm:pt>
    <dgm:pt modelId="{92C800D9-E6EC-46E4-9791-A04CA6E26BF9}">
      <dgm:prSet/>
      <dgm:spPr/>
      <dgm:t>
        <a:bodyPr/>
        <a:lstStyle/>
        <a:p>
          <a:r>
            <a:rPr lang="en-US"/>
            <a:t>[RKG18] Robere, R., Kolkolova, A., Ganesh, V. Proof Complexity of SMT Solvers. CAV 2018</a:t>
          </a:r>
        </a:p>
      </dgm:t>
    </dgm:pt>
    <dgm:pt modelId="{2F740DD5-FD72-4757-9A41-65E108EEC471}" type="parTrans" cxnId="{23EC6626-91C8-4278-B1A6-A7ED37D0AD07}">
      <dgm:prSet/>
      <dgm:spPr/>
      <dgm:t>
        <a:bodyPr/>
        <a:lstStyle/>
        <a:p>
          <a:endParaRPr lang="en-US"/>
        </a:p>
      </dgm:t>
    </dgm:pt>
    <dgm:pt modelId="{20AEF2F8-DF16-4CE6-97C1-1A6260FB115C}" type="sibTrans" cxnId="{23EC6626-91C8-4278-B1A6-A7ED37D0AD07}">
      <dgm:prSet/>
      <dgm:spPr/>
      <dgm:t>
        <a:bodyPr/>
        <a:lstStyle/>
        <a:p>
          <a:endParaRPr lang="en-US"/>
        </a:p>
      </dgm:t>
    </dgm:pt>
    <dgm:pt modelId="{591417C6-D070-4A14-A4E4-0B7446CA6D47}">
      <dgm:prSet/>
      <dgm:spPr/>
      <dgm:t>
        <a:bodyPr/>
        <a:lstStyle/>
        <a:p>
          <a:r>
            <a:rPr lang="en-US"/>
            <a:t>[SPG20] Scott, J., Panju, M., and Ganesh, V. Logic Guided Machine Learning AAAI 2020</a:t>
          </a:r>
        </a:p>
      </dgm:t>
    </dgm:pt>
    <dgm:pt modelId="{6FB3AAAA-16A7-460E-A887-1AFD66E5DEDE}" type="parTrans" cxnId="{6A05F0A0-735A-48F9-88E1-BDB26E1F6E70}">
      <dgm:prSet/>
      <dgm:spPr/>
      <dgm:t>
        <a:bodyPr/>
        <a:lstStyle/>
        <a:p>
          <a:endParaRPr lang="en-US"/>
        </a:p>
      </dgm:t>
    </dgm:pt>
    <dgm:pt modelId="{F7E0E8EA-1E07-47B7-B0FE-F2633B291850}" type="sibTrans" cxnId="{6A05F0A0-735A-48F9-88E1-BDB26E1F6E70}">
      <dgm:prSet/>
      <dgm:spPr/>
      <dgm:t>
        <a:bodyPr/>
        <a:lstStyle/>
        <a:p>
          <a:endParaRPr lang="en-US"/>
        </a:p>
      </dgm:t>
    </dgm:pt>
    <dgm:pt modelId="{80A1E270-1C10-407D-AE19-9BDA9DE94885}">
      <dgm:prSet/>
      <dgm:spPr/>
      <dgm:t>
        <a:bodyPr/>
        <a:lstStyle/>
        <a:p>
          <a:r>
            <a:rPr lang="en-US"/>
            <a:t>[BBCGKV13] Babka et al. Complexity Issues related to Propagation Completeness. JAIR 2013</a:t>
          </a:r>
        </a:p>
      </dgm:t>
    </dgm:pt>
    <dgm:pt modelId="{F4EC5847-D588-4FBC-8EC7-C36FCDD457E8}" type="parTrans" cxnId="{1F909FDF-67F8-4DF1-9DF4-BC963F4AEA6C}">
      <dgm:prSet/>
      <dgm:spPr/>
      <dgm:t>
        <a:bodyPr/>
        <a:lstStyle/>
        <a:p>
          <a:endParaRPr lang="en-US"/>
        </a:p>
      </dgm:t>
    </dgm:pt>
    <dgm:pt modelId="{3B6142FF-4108-4F00-90AA-64D2BEBE3093}" type="sibTrans" cxnId="{1F909FDF-67F8-4DF1-9DF4-BC963F4AEA6C}">
      <dgm:prSet/>
      <dgm:spPr/>
      <dgm:t>
        <a:bodyPr/>
        <a:lstStyle/>
        <a:p>
          <a:endParaRPr lang="en-US"/>
        </a:p>
      </dgm:t>
    </dgm:pt>
    <dgm:pt modelId="{DA45844E-35B3-3148-9B2C-6AFA75D4311A}" type="pres">
      <dgm:prSet presAssocID="{6899144C-6F47-4BC5-8182-D3CC3B6D5470}" presName="vert0" presStyleCnt="0">
        <dgm:presLayoutVars>
          <dgm:dir/>
          <dgm:animOne val="branch"/>
          <dgm:animLvl val="lvl"/>
        </dgm:presLayoutVars>
      </dgm:prSet>
      <dgm:spPr/>
    </dgm:pt>
    <dgm:pt modelId="{A1857274-22A5-474D-AD1B-22258F0F14F2}" type="pres">
      <dgm:prSet presAssocID="{A19DA730-F05F-4C82-A28E-71259F5255CF}" presName="thickLine" presStyleLbl="alignNode1" presStyleIdx="0" presStyleCnt="16"/>
      <dgm:spPr/>
    </dgm:pt>
    <dgm:pt modelId="{AE16ECF9-0E46-E648-B312-E12F1CD14DD8}" type="pres">
      <dgm:prSet presAssocID="{A19DA730-F05F-4C82-A28E-71259F5255CF}" presName="horz1" presStyleCnt="0"/>
      <dgm:spPr/>
    </dgm:pt>
    <dgm:pt modelId="{A8BFEA4C-5001-BF40-8C9A-36B21FDA996F}" type="pres">
      <dgm:prSet presAssocID="{A19DA730-F05F-4C82-A28E-71259F5255CF}" presName="tx1" presStyleLbl="revTx" presStyleIdx="0" presStyleCnt="16"/>
      <dgm:spPr/>
    </dgm:pt>
    <dgm:pt modelId="{3588C593-5AA3-184F-8F5F-DFA1F40505BD}" type="pres">
      <dgm:prSet presAssocID="{A19DA730-F05F-4C82-A28E-71259F5255CF}" presName="vert1" presStyleCnt="0"/>
      <dgm:spPr/>
    </dgm:pt>
    <dgm:pt modelId="{11C7D5A5-B3DC-5645-9F40-8F2E2C16B416}" type="pres">
      <dgm:prSet presAssocID="{8972BAE2-AEDE-4707-A46D-07C95933CA49}" presName="thickLine" presStyleLbl="alignNode1" presStyleIdx="1" presStyleCnt="16"/>
      <dgm:spPr/>
    </dgm:pt>
    <dgm:pt modelId="{157841BA-063C-8F47-9A35-098B3A8128E4}" type="pres">
      <dgm:prSet presAssocID="{8972BAE2-AEDE-4707-A46D-07C95933CA49}" presName="horz1" presStyleCnt="0"/>
      <dgm:spPr/>
    </dgm:pt>
    <dgm:pt modelId="{3B70742C-B759-304C-9679-0BA523A2DD24}" type="pres">
      <dgm:prSet presAssocID="{8972BAE2-AEDE-4707-A46D-07C95933CA49}" presName="tx1" presStyleLbl="revTx" presStyleIdx="1" presStyleCnt="16"/>
      <dgm:spPr/>
    </dgm:pt>
    <dgm:pt modelId="{FA064C8A-B6FF-7C4E-A5A5-63F02A93E615}" type="pres">
      <dgm:prSet presAssocID="{8972BAE2-AEDE-4707-A46D-07C95933CA49}" presName="vert1" presStyleCnt="0"/>
      <dgm:spPr/>
    </dgm:pt>
    <dgm:pt modelId="{C3637A14-9429-C64D-82AD-01DC1BB43A07}" type="pres">
      <dgm:prSet presAssocID="{E9166D29-9619-4316-9F6C-BDEB7E44EA3F}" presName="thickLine" presStyleLbl="alignNode1" presStyleIdx="2" presStyleCnt="16"/>
      <dgm:spPr/>
    </dgm:pt>
    <dgm:pt modelId="{9F5B57F0-70C7-0548-A53F-74AEA4769F35}" type="pres">
      <dgm:prSet presAssocID="{E9166D29-9619-4316-9F6C-BDEB7E44EA3F}" presName="horz1" presStyleCnt="0"/>
      <dgm:spPr/>
    </dgm:pt>
    <dgm:pt modelId="{F13D4736-C257-2645-8614-9ABC0AE9DAE8}" type="pres">
      <dgm:prSet presAssocID="{E9166D29-9619-4316-9F6C-BDEB7E44EA3F}" presName="tx1" presStyleLbl="revTx" presStyleIdx="2" presStyleCnt="16"/>
      <dgm:spPr/>
    </dgm:pt>
    <dgm:pt modelId="{F36B80FB-9D5E-594F-9D16-5DAC7EC57619}" type="pres">
      <dgm:prSet presAssocID="{E9166D29-9619-4316-9F6C-BDEB7E44EA3F}" presName="vert1" presStyleCnt="0"/>
      <dgm:spPr/>
    </dgm:pt>
    <dgm:pt modelId="{D7A24A41-01ED-5A45-BD1F-1BE64911E8A1}" type="pres">
      <dgm:prSet presAssocID="{102C8C0C-6BA8-4A62-9837-02EE9AE000E0}" presName="thickLine" presStyleLbl="alignNode1" presStyleIdx="3" presStyleCnt="16"/>
      <dgm:spPr/>
    </dgm:pt>
    <dgm:pt modelId="{17E503F6-B1E1-D247-BCBC-6F40DCA11124}" type="pres">
      <dgm:prSet presAssocID="{102C8C0C-6BA8-4A62-9837-02EE9AE000E0}" presName="horz1" presStyleCnt="0"/>
      <dgm:spPr/>
    </dgm:pt>
    <dgm:pt modelId="{520ACFCD-6284-3948-A45F-6265AC59ADEB}" type="pres">
      <dgm:prSet presAssocID="{102C8C0C-6BA8-4A62-9837-02EE9AE000E0}" presName="tx1" presStyleLbl="revTx" presStyleIdx="3" presStyleCnt="16"/>
      <dgm:spPr/>
    </dgm:pt>
    <dgm:pt modelId="{CDB89D70-0413-F44B-A66B-482B8E090431}" type="pres">
      <dgm:prSet presAssocID="{102C8C0C-6BA8-4A62-9837-02EE9AE000E0}" presName="vert1" presStyleCnt="0"/>
      <dgm:spPr/>
    </dgm:pt>
    <dgm:pt modelId="{6FF3DF29-F0B7-D74F-ADC5-1145EEA332BD}" type="pres">
      <dgm:prSet presAssocID="{373425FC-4B17-4C18-9E1D-46F3593C67A7}" presName="thickLine" presStyleLbl="alignNode1" presStyleIdx="4" presStyleCnt="16"/>
      <dgm:spPr/>
    </dgm:pt>
    <dgm:pt modelId="{10D375EA-E732-6B4E-BDB0-7B112D70A507}" type="pres">
      <dgm:prSet presAssocID="{373425FC-4B17-4C18-9E1D-46F3593C67A7}" presName="horz1" presStyleCnt="0"/>
      <dgm:spPr/>
    </dgm:pt>
    <dgm:pt modelId="{516133CB-06AB-254D-889A-78BD491866B8}" type="pres">
      <dgm:prSet presAssocID="{373425FC-4B17-4C18-9E1D-46F3593C67A7}" presName="tx1" presStyleLbl="revTx" presStyleIdx="4" presStyleCnt="16"/>
      <dgm:spPr/>
    </dgm:pt>
    <dgm:pt modelId="{87B73762-8D09-D24D-BA97-25B98629576F}" type="pres">
      <dgm:prSet presAssocID="{373425FC-4B17-4C18-9E1D-46F3593C67A7}" presName="vert1" presStyleCnt="0"/>
      <dgm:spPr/>
    </dgm:pt>
    <dgm:pt modelId="{293F799F-EACB-BE4D-A239-838DF82703BA}" type="pres">
      <dgm:prSet presAssocID="{573FD2C6-89F5-4CFD-96AB-92C2AF912A76}" presName="thickLine" presStyleLbl="alignNode1" presStyleIdx="5" presStyleCnt="16"/>
      <dgm:spPr/>
    </dgm:pt>
    <dgm:pt modelId="{E43E7834-683B-9A4D-B5AE-61CBADD6B7AA}" type="pres">
      <dgm:prSet presAssocID="{573FD2C6-89F5-4CFD-96AB-92C2AF912A76}" presName="horz1" presStyleCnt="0"/>
      <dgm:spPr/>
    </dgm:pt>
    <dgm:pt modelId="{EE11B5F5-2FA9-F446-9F4E-58AA3E978D06}" type="pres">
      <dgm:prSet presAssocID="{573FD2C6-89F5-4CFD-96AB-92C2AF912A76}" presName="tx1" presStyleLbl="revTx" presStyleIdx="5" presStyleCnt="16"/>
      <dgm:spPr/>
    </dgm:pt>
    <dgm:pt modelId="{0FC60FE7-149B-D140-8AD5-00AD61032428}" type="pres">
      <dgm:prSet presAssocID="{573FD2C6-89F5-4CFD-96AB-92C2AF912A76}" presName="vert1" presStyleCnt="0"/>
      <dgm:spPr/>
    </dgm:pt>
    <dgm:pt modelId="{E86776EC-1D07-FD41-89E6-B7716336CFC7}" type="pres">
      <dgm:prSet presAssocID="{FD65EB65-869D-4A18-BAE7-8F60CFC4C2E0}" presName="thickLine" presStyleLbl="alignNode1" presStyleIdx="6" presStyleCnt="16"/>
      <dgm:spPr/>
    </dgm:pt>
    <dgm:pt modelId="{60AAEEBB-DDDB-1941-8C00-73D64F68035F}" type="pres">
      <dgm:prSet presAssocID="{FD65EB65-869D-4A18-BAE7-8F60CFC4C2E0}" presName="horz1" presStyleCnt="0"/>
      <dgm:spPr/>
    </dgm:pt>
    <dgm:pt modelId="{B21B491C-30C9-164D-91FF-B6DB26365E63}" type="pres">
      <dgm:prSet presAssocID="{FD65EB65-869D-4A18-BAE7-8F60CFC4C2E0}" presName="tx1" presStyleLbl="revTx" presStyleIdx="6" presStyleCnt="16"/>
      <dgm:spPr/>
    </dgm:pt>
    <dgm:pt modelId="{7BF7EAAC-AD57-BC43-9B3E-AB390D2F857C}" type="pres">
      <dgm:prSet presAssocID="{FD65EB65-869D-4A18-BAE7-8F60CFC4C2E0}" presName="vert1" presStyleCnt="0"/>
      <dgm:spPr/>
    </dgm:pt>
    <dgm:pt modelId="{7A21DCF2-3608-7849-96E5-A778CD24D84F}" type="pres">
      <dgm:prSet presAssocID="{014C6969-6832-45EB-8D3C-0D8574C11092}" presName="thickLine" presStyleLbl="alignNode1" presStyleIdx="7" presStyleCnt="16"/>
      <dgm:spPr/>
    </dgm:pt>
    <dgm:pt modelId="{B8D03D0D-C801-B34B-83A9-1CAD68A07E95}" type="pres">
      <dgm:prSet presAssocID="{014C6969-6832-45EB-8D3C-0D8574C11092}" presName="horz1" presStyleCnt="0"/>
      <dgm:spPr/>
    </dgm:pt>
    <dgm:pt modelId="{4B10CB21-57DA-1947-8D4B-886C530FF6AE}" type="pres">
      <dgm:prSet presAssocID="{014C6969-6832-45EB-8D3C-0D8574C11092}" presName="tx1" presStyleLbl="revTx" presStyleIdx="7" presStyleCnt="16"/>
      <dgm:spPr/>
    </dgm:pt>
    <dgm:pt modelId="{06640A3A-4734-8E47-A375-917C9A2DBE83}" type="pres">
      <dgm:prSet presAssocID="{014C6969-6832-45EB-8D3C-0D8574C11092}" presName="vert1" presStyleCnt="0"/>
      <dgm:spPr/>
    </dgm:pt>
    <dgm:pt modelId="{62F2D648-25A2-164F-987E-6B74FF535488}" type="pres">
      <dgm:prSet presAssocID="{81DFB4EA-A33C-4691-8EB8-AABB150E4E32}" presName="thickLine" presStyleLbl="alignNode1" presStyleIdx="8" presStyleCnt="16"/>
      <dgm:spPr/>
    </dgm:pt>
    <dgm:pt modelId="{9295B3AD-2C10-5C46-A71E-106937567FB2}" type="pres">
      <dgm:prSet presAssocID="{81DFB4EA-A33C-4691-8EB8-AABB150E4E32}" presName="horz1" presStyleCnt="0"/>
      <dgm:spPr/>
    </dgm:pt>
    <dgm:pt modelId="{BFC2BC21-9A3C-6248-B66B-33E1847D1EEA}" type="pres">
      <dgm:prSet presAssocID="{81DFB4EA-A33C-4691-8EB8-AABB150E4E32}" presName="tx1" presStyleLbl="revTx" presStyleIdx="8" presStyleCnt="16"/>
      <dgm:spPr/>
    </dgm:pt>
    <dgm:pt modelId="{051F9358-938E-854A-ADCD-9F96E0394F1F}" type="pres">
      <dgm:prSet presAssocID="{81DFB4EA-A33C-4691-8EB8-AABB150E4E32}" presName="vert1" presStyleCnt="0"/>
      <dgm:spPr/>
    </dgm:pt>
    <dgm:pt modelId="{DC80B345-5CBF-C741-A712-47B395FF1350}" type="pres">
      <dgm:prSet presAssocID="{DBCB5911-AE12-49F1-8532-9C41D40AA1AB}" presName="thickLine" presStyleLbl="alignNode1" presStyleIdx="9" presStyleCnt="16"/>
      <dgm:spPr/>
    </dgm:pt>
    <dgm:pt modelId="{0CBF8353-2691-AA4C-B6D6-72AAD64B8539}" type="pres">
      <dgm:prSet presAssocID="{DBCB5911-AE12-49F1-8532-9C41D40AA1AB}" presName="horz1" presStyleCnt="0"/>
      <dgm:spPr/>
    </dgm:pt>
    <dgm:pt modelId="{AB35BDE6-FA2F-5942-B42F-3BDD45905DD5}" type="pres">
      <dgm:prSet presAssocID="{DBCB5911-AE12-49F1-8532-9C41D40AA1AB}" presName="tx1" presStyleLbl="revTx" presStyleIdx="9" presStyleCnt="16"/>
      <dgm:spPr/>
    </dgm:pt>
    <dgm:pt modelId="{89273605-3076-1A49-B7C6-93946F40EC1F}" type="pres">
      <dgm:prSet presAssocID="{DBCB5911-AE12-49F1-8532-9C41D40AA1AB}" presName="vert1" presStyleCnt="0"/>
      <dgm:spPr/>
    </dgm:pt>
    <dgm:pt modelId="{107B0BCC-0212-F24B-9572-BA1D97B21891}" type="pres">
      <dgm:prSet presAssocID="{F9A6F1DA-6B3A-4F70-8C43-2A0A260372C0}" presName="thickLine" presStyleLbl="alignNode1" presStyleIdx="10" presStyleCnt="16"/>
      <dgm:spPr/>
    </dgm:pt>
    <dgm:pt modelId="{221BAB71-1EF4-F344-9972-C3E35ECF859F}" type="pres">
      <dgm:prSet presAssocID="{F9A6F1DA-6B3A-4F70-8C43-2A0A260372C0}" presName="horz1" presStyleCnt="0"/>
      <dgm:spPr/>
    </dgm:pt>
    <dgm:pt modelId="{F8395A36-3090-344D-901D-A88844218DF3}" type="pres">
      <dgm:prSet presAssocID="{F9A6F1DA-6B3A-4F70-8C43-2A0A260372C0}" presName="tx1" presStyleLbl="revTx" presStyleIdx="10" presStyleCnt="16"/>
      <dgm:spPr/>
    </dgm:pt>
    <dgm:pt modelId="{C88152F6-40B5-1F4A-85D8-B7F9E5F0098A}" type="pres">
      <dgm:prSet presAssocID="{F9A6F1DA-6B3A-4F70-8C43-2A0A260372C0}" presName="vert1" presStyleCnt="0"/>
      <dgm:spPr/>
    </dgm:pt>
    <dgm:pt modelId="{8C905CEE-6F1E-D84B-9D37-D5EA2DED8CFC}" type="pres">
      <dgm:prSet presAssocID="{DA174256-8FCB-43DD-A117-24C42408F679}" presName="thickLine" presStyleLbl="alignNode1" presStyleIdx="11" presStyleCnt="16"/>
      <dgm:spPr/>
    </dgm:pt>
    <dgm:pt modelId="{87866C1D-9B6A-2F4C-961C-B915308A3C4B}" type="pres">
      <dgm:prSet presAssocID="{DA174256-8FCB-43DD-A117-24C42408F679}" presName="horz1" presStyleCnt="0"/>
      <dgm:spPr/>
    </dgm:pt>
    <dgm:pt modelId="{76FCA210-9EFB-6441-928A-62A4C47E4FB0}" type="pres">
      <dgm:prSet presAssocID="{DA174256-8FCB-43DD-A117-24C42408F679}" presName="tx1" presStyleLbl="revTx" presStyleIdx="11" presStyleCnt="16"/>
      <dgm:spPr/>
    </dgm:pt>
    <dgm:pt modelId="{28EAC185-9183-4647-9F9D-A883D39DE443}" type="pres">
      <dgm:prSet presAssocID="{DA174256-8FCB-43DD-A117-24C42408F679}" presName="vert1" presStyleCnt="0"/>
      <dgm:spPr/>
    </dgm:pt>
    <dgm:pt modelId="{358F53AC-C11D-C24A-8038-3EA3698198FF}" type="pres">
      <dgm:prSet presAssocID="{123C0FFE-0D80-495A-80C2-6891304658C9}" presName="thickLine" presStyleLbl="alignNode1" presStyleIdx="12" presStyleCnt="16"/>
      <dgm:spPr/>
    </dgm:pt>
    <dgm:pt modelId="{9685A94D-7ED3-4248-A33F-5BEA49E75768}" type="pres">
      <dgm:prSet presAssocID="{123C0FFE-0D80-495A-80C2-6891304658C9}" presName="horz1" presStyleCnt="0"/>
      <dgm:spPr/>
    </dgm:pt>
    <dgm:pt modelId="{46F6EC2E-2AC4-7A4C-9084-618DDF45DCB3}" type="pres">
      <dgm:prSet presAssocID="{123C0FFE-0D80-495A-80C2-6891304658C9}" presName="tx1" presStyleLbl="revTx" presStyleIdx="12" presStyleCnt="16"/>
      <dgm:spPr/>
    </dgm:pt>
    <dgm:pt modelId="{40B37B3E-787A-7943-8A76-229798AE1F4E}" type="pres">
      <dgm:prSet presAssocID="{123C0FFE-0D80-495A-80C2-6891304658C9}" presName="vert1" presStyleCnt="0"/>
      <dgm:spPr/>
    </dgm:pt>
    <dgm:pt modelId="{0D830BD8-2915-0F45-AB00-FF14101A9B53}" type="pres">
      <dgm:prSet presAssocID="{92C800D9-E6EC-46E4-9791-A04CA6E26BF9}" presName="thickLine" presStyleLbl="alignNode1" presStyleIdx="13" presStyleCnt="16"/>
      <dgm:spPr/>
    </dgm:pt>
    <dgm:pt modelId="{FB52F90D-D8C2-5347-9A5B-BFD6EFFD85B8}" type="pres">
      <dgm:prSet presAssocID="{92C800D9-E6EC-46E4-9791-A04CA6E26BF9}" presName="horz1" presStyleCnt="0"/>
      <dgm:spPr/>
    </dgm:pt>
    <dgm:pt modelId="{2428F284-303E-FB4E-AC8B-96033182AD27}" type="pres">
      <dgm:prSet presAssocID="{92C800D9-E6EC-46E4-9791-A04CA6E26BF9}" presName="tx1" presStyleLbl="revTx" presStyleIdx="13" presStyleCnt="16"/>
      <dgm:spPr/>
    </dgm:pt>
    <dgm:pt modelId="{BE66CB32-A22A-D241-B6B5-E0E38EB5A1B9}" type="pres">
      <dgm:prSet presAssocID="{92C800D9-E6EC-46E4-9791-A04CA6E26BF9}" presName="vert1" presStyleCnt="0"/>
      <dgm:spPr/>
    </dgm:pt>
    <dgm:pt modelId="{88455601-611D-4C49-AB4B-0358D08C78BF}" type="pres">
      <dgm:prSet presAssocID="{591417C6-D070-4A14-A4E4-0B7446CA6D47}" presName="thickLine" presStyleLbl="alignNode1" presStyleIdx="14" presStyleCnt="16"/>
      <dgm:spPr/>
    </dgm:pt>
    <dgm:pt modelId="{6471015C-5D63-A645-8F5A-67D3C2B4A4D4}" type="pres">
      <dgm:prSet presAssocID="{591417C6-D070-4A14-A4E4-0B7446CA6D47}" presName="horz1" presStyleCnt="0"/>
      <dgm:spPr/>
    </dgm:pt>
    <dgm:pt modelId="{8F077D96-13BD-C14F-ABA0-FACB52D9E1B7}" type="pres">
      <dgm:prSet presAssocID="{591417C6-D070-4A14-A4E4-0B7446CA6D47}" presName="tx1" presStyleLbl="revTx" presStyleIdx="14" presStyleCnt="16"/>
      <dgm:spPr/>
    </dgm:pt>
    <dgm:pt modelId="{EAC2A64E-7BD9-E646-A681-233FCE6BE812}" type="pres">
      <dgm:prSet presAssocID="{591417C6-D070-4A14-A4E4-0B7446CA6D47}" presName="vert1" presStyleCnt="0"/>
      <dgm:spPr/>
    </dgm:pt>
    <dgm:pt modelId="{9CDCA818-1673-0044-9BAA-7E70FE94D0AB}" type="pres">
      <dgm:prSet presAssocID="{80A1E270-1C10-407D-AE19-9BDA9DE94885}" presName="thickLine" presStyleLbl="alignNode1" presStyleIdx="15" presStyleCnt="16"/>
      <dgm:spPr/>
    </dgm:pt>
    <dgm:pt modelId="{722F93EE-0D5E-FE41-8880-B14EAE2C366E}" type="pres">
      <dgm:prSet presAssocID="{80A1E270-1C10-407D-AE19-9BDA9DE94885}" presName="horz1" presStyleCnt="0"/>
      <dgm:spPr/>
    </dgm:pt>
    <dgm:pt modelId="{B143F331-0493-724C-830A-C014E4F59E01}" type="pres">
      <dgm:prSet presAssocID="{80A1E270-1C10-407D-AE19-9BDA9DE94885}" presName="tx1" presStyleLbl="revTx" presStyleIdx="15" presStyleCnt="16"/>
      <dgm:spPr/>
    </dgm:pt>
    <dgm:pt modelId="{F67C16C0-FE32-FD48-B436-FA50441259B7}" type="pres">
      <dgm:prSet presAssocID="{80A1E270-1C10-407D-AE19-9BDA9DE94885}" presName="vert1" presStyleCnt="0"/>
      <dgm:spPr/>
    </dgm:pt>
  </dgm:ptLst>
  <dgm:cxnLst>
    <dgm:cxn modelId="{0C57BC0B-64B3-4103-87F5-71C52D2F9558}" srcId="{6899144C-6F47-4BC5-8182-D3CC3B6D5470}" destId="{014C6969-6832-45EB-8D3C-0D8574C11092}" srcOrd="7" destOrd="0" parTransId="{C8128ABA-522A-4198-8750-B80A2AC5510F}" sibTransId="{007BB9E1-C609-43BF-8B76-7A26F62476D9}"/>
    <dgm:cxn modelId="{1529E70D-9774-411D-AA9D-BC0452BFC3A8}" srcId="{6899144C-6F47-4BC5-8182-D3CC3B6D5470}" destId="{573FD2C6-89F5-4CFD-96AB-92C2AF912A76}" srcOrd="5" destOrd="0" parTransId="{BEC2F202-7BF4-43CD-A747-17076B4958E0}" sibTransId="{A5849245-1030-402E-9878-8F1F3A984E44}"/>
    <dgm:cxn modelId="{CDF85618-13CE-4A21-A6A3-3980142D5BFA}" srcId="{6899144C-6F47-4BC5-8182-D3CC3B6D5470}" destId="{DBCB5911-AE12-49F1-8532-9C41D40AA1AB}" srcOrd="9" destOrd="0" parTransId="{A90966F4-F075-4AD2-8B0B-AF61ED4595F7}" sibTransId="{0A9C647B-AB8B-4F4D-9141-BC664875F82B}"/>
    <dgm:cxn modelId="{2CE60C1E-98F0-4F3B-A801-464B1E8DF69F}" srcId="{6899144C-6F47-4BC5-8182-D3CC3B6D5470}" destId="{373425FC-4B17-4C18-9E1D-46F3593C67A7}" srcOrd="4" destOrd="0" parTransId="{E8D5CBAF-A6C1-4A1D-9E43-CC02CC5D061E}" sibTransId="{56915DB7-1440-446E-AB1F-DC8AD49698ED}"/>
    <dgm:cxn modelId="{E6C3A91F-D2EA-3742-914F-B55227C6C963}" type="presOf" srcId="{DBCB5911-AE12-49F1-8532-9C41D40AA1AB}" destId="{AB35BDE6-FA2F-5942-B42F-3BDD45905DD5}" srcOrd="0" destOrd="0" presId="urn:microsoft.com/office/officeart/2008/layout/LinedList"/>
    <dgm:cxn modelId="{8DA5F923-1471-4ACE-ACA7-EF90B07C7622}" srcId="{6899144C-6F47-4BC5-8182-D3CC3B6D5470}" destId="{123C0FFE-0D80-495A-80C2-6891304658C9}" srcOrd="12" destOrd="0" parTransId="{7D5185B2-0609-47C2-9707-731769631D60}" sibTransId="{50FB79B0-E270-4340-8AB3-453007709F68}"/>
    <dgm:cxn modelId="{23EC6626-91C8-4278-B1A6-A7ED37D0AD07}" srcId="{6899144C-6F47-4BC5-8182-D3CC3B6D5470}" destId="{92C800D9-E6EC-46E4-9791-A04CA6E26BF9}" srcOrd="13" destOrd="0" parTransId="{2F740DD5-FD72-4757-9A41-65E108EEC471}" sibTransId="{20AEF2F8-DF16-4CE6-97C1-1A6260FB115C}"/>
    <dgm:cxn modelId="{77A4C427-8584-7549-8322-05B6A19EA530}" type="presOf" srcId="{E9166D29-9619-4316-9F6C-BDEB7E44EA3F}" destId="{F13D4736-C257-2645-8614-9ABC0AE9DAE8}" srcOrd="0" destOrd="0" presId="urn:microsoft.com/office/officeart/2008/layout/LinedList"/>
    <dgm:cxn modelId="{504C4F28-FBA4-0747-A63E-F6F29BD78A60}" type="presOf" srcId="{81DFB4EA-A33C-4691-8EB8-AABB150E4E32}" destId="{BFC2BC21-9A3C-6248-B66B-33E1847D1EEA}" srcOrd="0" destOrd="0" presId="urn:microsoft.com/office/officeart/2008/layout/LinedList"/>
    <dgm:cxn modelId="{AB1C6F28-502A-D741-80D5-9E52947FA734}" type="presOf" srcId="{591417C6-D070-4A14-A4E4-0B7446CA6D47}" destId="{8F077D96-13BD-C14F-ABA0-FACB52D9E1B7}" srcOrd="0" destOrd="0" presId="urn:microsoft.com/office/officeart/2008/layout/LinedList"/>
    <dgm:cxn modelId="{0E44872C-195F-F541-A133-D9E70BCDA5A8}" type="presOf" srcId="{DA174256-8FCB-43DD-A117-24C42408F679}" destId="{76FCA210-9EFB-6441-928A-62A4C47E4FB0}" srcOrd="0" destOrd="0" presId="urn:microsoft.com/office/officeart/2008/layout/LinedList"/>
    <dgm:cxn modelId="{646C472E-DF23-6245-AA12-A66E1879C0B7}" type="presOf" srcId="{102C8C0C-6BA8-4A62-9837-02EE9AE000E0}" destId="{520ACFCD-6284-3948-A45F-6265AC59ADEB}" srcOrd="0" destOrd="0" presId="urn:microsoft.com/office/officeart/2008/layout/LinedList"/>
    <dgm:cxn modelId="{F5CD9D33-59CA-FA4A-8CD1-0F6D77F0317B}" type="presOf" srcId="{8972BAE2-AEDE-4707-A46D-07C95933CA49}" destId="{3B70742C-B759-304C-9679-0BA523A2DD24}" srcOrd="0" destOrd="0" presId="urn:microsoft.com/office/officeart/2008/layout/LinedList"/>
    <dgm:cxn modelId="{36DFE33C-D2EC-2446-9D33-C74356F02516}" type="presOf" srcId="{014C6969-6832-45EB-8D3C-0D8574C11092}" destId="{4B10CB21-57DA-1947-8D4B-886C530FF6AE}" srcOrd="0" destOrd="0" presId="urn:microsoft.com/office/officeart/2008/layout/LinedList"/>
    <dgm:cxn modelId="{04415A4D-311B-7746-B2D9-E7839F6AA747}" type="presOf" srcId="{373425FC-4B17-4C18-9E1D-46F3593C67A7}" destId="{516133CB-06AB-254D-889A-78BD491866B8}" srcOrd="0" destOrd="0" presId="urn:microsoft.com/office/officeart/2008/layout/LinedList"/>
    <dgm:cxn modelId="{AFBCA64F-1709-C34D-AA23-37298218DC82}" type="presOf" srcId="{6899144C-6F47-4BC5-8182-D3CC3B6D5470}" destId="{DA45844E-35B3-3148-9B2C-6AFA75D4311A}" srcOrd="0" destOrd="0" presId="urn:microsoft.com/office/officeart/2008/layout/LinedList"/>
    <dgm:cxn modelId="{6203AD58-EFA5-4783-A4EE-15B1A938D8DF}" srcId="{6899144C-6F47-4BC5-8182-D3CC3B6D5470}" destId="{81DFB4EA-A33C-4691-8EB8-AABB150E4E32}" srcOrd="8" destOrd="0" parTransId="{796F2186-AF16-4E30-AF51-7F244522D29E}" sibTransId="{21787E7F-29CE-4418-AFBA-8760A97B13F0}"/>
    <dgm:cxn modelId="{BCBCD75B-ED89-AA49-A251-A9A9CB7BE5FD}" type="presOf" srcId="{573FD2C6-89F5-4CFD-96AB-92C2AF912A76}" destId="{EE11B5F5-2FA9-F446-9F4E-58AA3E978D06}" srcOrd="0" destOrd="0" presId="urn:microsoft.com/office/officeart/2008/layout/LinedList"/>
    <dgm:cxn modelId="{27F36D5D-9AB7-4788-8586-CBABF0212800}" srcId="{6899144C-6F47-4BC5-8182-D3CC3B6D5470}" destId="{A19DA730-F05F-4C82-A28E-71259F5255CF}" srcOrd="0" destOrd="0" parTransId="{FD2CF094-3514-4C6E-B7E6-B59B88FF2283}" sibTransId="{00123AE3-5278-4F75-BD1A-2ED5D8D9F5F6}"/>
    <dgm:cxn modelId="{38C82468-6C5C-8C49-A2AF-B3C3BA5AD563}" type="presOf" srcId="{F9A6F1DA-6B3A-4F70-8C43-2A0A260372C0}" destId="{F8395A36-3090-344D-901D-A88844218DF3}" srcOrd="0" destOrd="0" presId="urn:microsoft.com/office/officeart/2008/layout/LinedList"/>
    <dgm:cxn modelId="{8ABE3868-C47E-45FF-93E8-49509CCA4D5C}" srcId="{6899144C-6F47-4BC5-8182-D3CC3B6D5470}" destId="{8972BAE2-AEDE-4707-A46D-07C95933CA49}" srcOrd="1" destOrd="0" parTransId="{A3B0C51D-6EF0-44E5-A9C7-ACF0F61DBABC}" sibTransId="{45C3592A-E46A-4563-B0D2-DDE261983657}"/>
    <dgm:cxn modelId="{1C925C68-93E2-E742-AFB5-07C7A0195186}" type="presOf" srcId="{A19DA730-F05F-4C82-A28E-71259F5255CF}" destId="{A8BFEA4C-5001-BF40-8C9A-36B21FDA996F}" srcOrd="0" destOrd="0" presId="urn:microsoft.com/office/officeart/2008/layout/LinedList"/>
    <dgm:cxn modelId="{91ED379F-EE21-4E74-9531-5765C4E877C0}" srcId="{6899144C-6F47-4BC5-8182-D3CC3B6D5470}" destId="{102C8C0C-6BA8-4A62-9837-02EE9AE000E0}" srcOrd="3" destOrd="0" parTransId="{E022D460-F94E-43F8-B436-4A923E284E6D}" sibTransId="{0BEA8214-933C-4958-AD08-E4932DCAD1CE}"/>
    <dgm:cxn modelId="{6A05F0A0-735A-48F9-88E1-BDB26E1F6E70}" srcId="{6899144C-6F47-4BC5-8182-D3CC3B6D5470}" destId="{591417C6-D070-4A14-A4E4-0B7446CA6D47}" srcOrd="14" destOrd="0" parTransId="{6FB3AAAA-16A7-460E-A887-1AFD66E5DEDE}" sibTransId="{F7E0E8EA-1E07-47B7-B0FE-F2633B291850}"/>
    <dgm:cxn modelId="{F14667A7-7A95-48FB-AED4-0D9463C7D59A}" srcId="{6899144C-6F47-4BC5-8182-D3CC3B6D5470}" destId="{FD65EB65-869D-4A18-BAE7-8F60CFC4C2E0}" srcOrd="6" destOrd="0" parTransId="{971D7BE1-44BD-477B-BF53-766539C86811}" sibTransId="{4EF6587B-3629-4F99-AB25-4AE07AD3F23F}"/>
    <dgm:cxn modelId="{0E327EAD-BE07-6F4E-A4A8-D99618BD0809}" type="presOf" srcId="{80A1E270-1C10-407D-AE19-9BDA9DE94885}" destId="{B143F331-0493-724C-830A-C014E4F59E01}" srcOrd="0" destOrd="0" presId="urn:microsoft.com/office/officeart/2008/layout/LinedList"/>
    <dgm:cxn modelId="{5EC22DB9-D2B2-4335-A74C-BCB2C2514FBE}" srcId="{6899144C-6F47-4BC5-8182-D3CC3B6D5470}" destId="{E9166D29-9619-4316-9F6C-BDEB7E44EA3F}" srcOrd="2" destOrd="0" parTransId="{5507C66F-E3F9-4C34-B596-7BF3B96873C3}" sibTransId="{C84E3C99-2E3A-48B2-9751-73854E41B83C}"/>
    <dgm:cxn modelId="{17F48BD0-78F5-0C46-9BBA-F0F83BA161E3}" type="presOf" srcId="{92C800D9-E6EC-46E4-9791-A04CA6E26BF9}" destId="{2428F284-303E-FB4E-AC8B-96033182AD27}" srcOrd="0" destOrd="0" presId="urn:microsoft.com/office/officeart/2008/layout/LinedList"/>
    <dgm:cxn modelId="{B6870EDA-1E5B-46A9-8185-183D3D393D7A}" srcId="{6899144C-6F47-4BC5-8182-D3CC3B6D5470}" destId="{DA174256-8FCB-43DD-A117-24C42408F679}" srcOrd="11" destOrd="0" parTransId="{FD18DCF5-88FE-4B96-9773-4CCD775C958B}" sibTransId="{D5607F91-18E0-4095-8890-C2350BC949D6}"/>
    <dgm:cxn modelId="{978C80DD-3B7B-054B-A581-548ECAF47D2A}" type="presOf" srcId="{FD65EB65-869D-4A18-BAE7-8F60CFC4C2E0}" destId="{B21B491C-30C9-164D-91FF-B6DB26365E63}" srcOrd="0" destOrd="0" presId="urn:microsoft.com/office/officeart/2008/layout/LinedList"/>
    <dgm:cxn modelId="{1F909FDF-67F8-4DF1-9DF4-BC963F4AEA6C}" srcId="{6899144C-6F47-4BC5-8182-D3CC3B6D5470}" destId="{80A1E270-1C10-407D-AE19-9BDA9DE94885}" srcOrd="15" destOrd="0" parTransId="{F4EC5847-D588-4FBC-8EC7-C36FCDD457E8}" sibTransId="{3B6142FF-4108-4F00-90AA-64D2BEBE3093}"/>
    <dgm:cxn modelId="{14EDA7F2-DCD3-8B40-9FBB-FE45D408E4A4}" type="presOf" srcId="{123C0FFE-0D80-495A-80C2-6891304658C9}" destId="{46F6EC2E-2AC4-7A4C-9084-618DDF45DCB3}" srcOrd="0" destOrd="0" presId="urn:microsoft.com/office/officeart/2008/layout/LinedList"/>
    <dgm:cxn modelId="{A5A486FB-9A6A-4DC5-B61D-A59F41AE3D0D}" srcId="{6899144C-6F47-4BC5-8182-D3CC3B6D5470}" destId="{F9A6F1DA-6B3A-4F70-8C43-2A0A260372C0}" srcOrd="10" destOrd="0" parTransId="{5FC6EE15-D055-4A30-85E6-350D0F46B140}" sibTransId="{2A04C2B6-0E72-4CEF-8D01-0C982CA8A45D}"/>
    <dgm:cxn modelId="{46DF624F-E51B-F14F-B995-6E89C220058B}" type="presParOf" srcId="{DA45844E-35B3-3148-9B2C-6AFA75D4311A}" destId="{A1857274-22A5-474D-AD1B-22258F0F14F2}" srcOrd="0" destOrd="0" presId="urn:microsoft.com/office/officeart/2008/layout/LinedList"/>
    <dgm:cxn modelId="{57B572DD-14FE-6B40-BB86-3CB5874D1AAD}" type="presParOf" srcId="{DA45844E-35B3-3148-9B2C-6AFA75D4311A}" destId="{AE16ECF9-0E46-E648-B312-E12F1CD14DD8}" srcOrd="1" destOrd="0" presId="urn:microsoft.com/office/officeart/2008/layout/LinedList"/>
    <dgm:cxn modelId="{BC767CAC-8100-1B45-A89C-9E87C1B0C18E}" type="presParOf" srcId="{AE16ECF9-0E46-E648-B312-E12F1CD14DD8}" destId="{A8BFEA4C-5001-BF40-8C9A-36B21FDA996F}" srcOrd="0" destOrd="0" presId="urn:microsoft.com/office/officeart/2008/layout/LinedList"/>
    <dgm:cxn modelId="{7EEF4752-A3B9-324C-9EEB-1C353BFA9E2C}" type="presParOf" srcId="{AE16ECF9-0E46-E648-B312-E12F1CD14DD8}" destId="{3588C593-5AA3-184F-8F5F-DFA1F40505BD}" srcOrd="1" destOrd="0" presId="urn:microsoft.com/office/officeart/2008/layout/LinedList"/>
    <dgm:cxn modelId="{02F88B5E-9578-C245-AB9D-1E6BE6892FBE}" type="presParOf" srcId="{DA45844E-35B3-3148-9B2C-6AFA75D4311A}" destId="{11C7D5A5-B3DC-5645-9F40-8F2E2C16B416}" srcOrd="2" destOrd="0" presId="urn:microsoft.com/office/officeart/2008/layout/LinedList"/>
    <dgm:cxn modelId="{FDCB451C-0927-4F4B-B759-08508E8974F4}" type="presParOf" srcId="{DA45844E-35B3-3148-9B2C-6AFA75D4311A}" destId="{157841BA-063C-8F47-9A35-098B3A8128E4}" srcOrd="3" destOrd="0" presId="urn:microsoft.com/office/officeart/2008/layout/LinedList"/>
    <dgm:cxn modelId="{F8249671-0202-1141-AECC-1C188DAD30E4}" type="presParOf" srcId="{157841BA-063C-8F47-9A35-098B3A8128E4}" destId="{3B70742C-B759-304C-9679-0BA523A2DD24}" srcOrd="0" destOrd="0" presId="urn:microsoft.com/office/officeart/2008/layout/LinedList"/>
    <dgm:cxn modelId="{2D175FC3-4003-A747-9209-AABEF46396E8}" type="presParOf" srcId="{157841BA-063C-8F47-9A35-098B3A8128E4}" destId="{FA064C8A-B6FF-7C4E-A5A5-63F02A93E615}" srcOrd="1" destOrd="0" presId="urn:microsoft.com/office/officeart/2008/layout/LinedList"/>
    <dgm:cxn modelId="{05FC75E6-7952-0249-93AE-1011EB4C502E}" type="presParOf" srcId="{DA45844E-35B3-3148-9B2C-6AFA75D4311A}" destId="{C3637A14-9429-C64D-82AD-01DC1BB43A07}" srcOrd="4" destOrd="0" presId="urn:microsoft.com/office/officeart/2008/layout/LinedList"/>
    <dgm:cxn modelId="{A36F3E8A-1525-784D-87F8-41A003F0427B}" type="presParOf" srcId="{DA45844E-35B3-3148-9B2C-6AFA75D4311A}" destId="{9F5B57F0-70C7-0548-A53F-74AEA4769F35}" srcOrd="5" destOrd="0" presId="urn:microsoft.com/office/officeart/2008/layout/LinedList"/>
    <dgm:cxn modelId="{DF6D5F80-3DF6-0D4D-BA9B-40DB22D6FF3C}" type="presParOf" srcId="{9F5B57F0-70C7-0548-A53F-74AEA4769F35}" destId="{F13D4736-C257-2645-8614-9ABC0AE9DAE8}" srcOrd="0" destOrd="0" presId="urn:microsoft.com/office/officeart/2008/layout/LinedList"/>
    <dgm:cxn modelId="{975C435C-06A8-A940-AD37-F10E2672B580}" type="presParOf" srcId="{9F5B57F0-70C7-0548-A53F-74AEA4769F35}" destId="{F36B80FB-9D5E-594F-9D16-5DAC7EC57619}" srcOrd="1" destOrd="0" presId="urn:microsoft.com/office/officeart/2008/layout/LinedList"/>
    <dgm:cxn modelId="{DFDBC5E7-1D66-BD49-B326-EFC4B60FB1F8}" type="presParOf" srcId="{DA45844E-35B3-3148-9B2C-6AFA75D4311A}" destId="{D7A24A41-01ED-5A45-BD1F-1BE64911E8A1}" srcOrd="6" destOrd="0" presId="urn:microsoft.com/office/officeart/2008/layout/LinedList"/>
    <dgm:cxn modelId="{D143B853-A6E0-DA46-B52B-34232F4CB5CC}" type="presParOf" srcId="{DA45844E-35B3-3148-9B2C-6AFA75D4311A}" destId="{17E503F6-B1E1-D247-BCBC-6F40DCA11124}" srcOrd="7" destOrd="0" presId="urn:microsoft.com/office/officeart/2008/layout/LinedList"/>
    <dgm:cxn modelId="{F616003B-0EA8-F54E-8500-F12A20CDBCB0}" type="presParOf" srcId="{17E503F6-B1E1-D247-BCBC-6F40DCA11124}" destId="{520ACFCD-6284-3948-A45F-6265AC59ADEB}" srcOrd="0" destOrd="0" presId="urn:microsoft.com/office/officeart/2008/layout/LinedList"/>
    <dgm:cxn modelId="{CB032729-E959-424C-AC60-E726D602E287}" type="presParOf" srcId="{17E503F6-B1E1-D247-BCBC-6F40DCA11124}" destId="{CDB89D70-0413-F44B-A66B-482B8E090431}" srcOrd="1" destOrd="0" presId="urn:microsoft.com/office/officeart/2008/layout/LinedList"/>
    <dgm:cxn modelId="{9C244C2B-D39F-0447-9916-5C3D7321DD4B}" type="presParOf" srcId="{DA45844E-35B3-3148-9B2C-6AFA75D4311A}" destId="{6FF3DF29-F0B7-D74F-ADC5-1145EEA332BD}" srcOrd="8" destOrd="0" presId="urn:microsoft.com/office/officeart/2008/layout/LinedList"/>
    <dgm:cxn modelId="{628C6A34-BA87-204F-81C5-18FEE1E91B37}" type="presParOf" srcId="{DA45844E-35B3-3148-9B2C-6AFA75D4311A}" destId="{10D375EA-E732-6B4E-BDB0-7B112D70A507}" srcOrd="9" destOrd="0" presId="urn:microsoft.com/office/officeart/2008/layout/LinedList"/>
    <dgm:cxn modelId="{4F57F5E1-65AD-8543-9766-77BB920C2EFD}" type="presParOf" srcId="{10D375EA-E732-6B4E-BDB0-7B112D70A507}" destId="{516133CB-06AB-254D-889A-78BD491866B8}" srcOrd="0" destOrd="0" presId="urn:microsoft.com/office/officeart/2008/layout/LinedList"/>
    <dgm:cxn modelId="{878BA8D4-9F36-524F-9299-520AAAD55FC7}" type="presParOf" srcId="{10D375EA-E732-6B4E-BDB0-7B112D70A507}" destId="{87B73762-8D09-D24D-BA97-25B98629576F}" srcOrd="1" destOrd="0" presId="urn:microsoft.com/office/officeart/2008/layout/LinedList"/>
    <dgm:cxn modelId="{48459E6E-0475-CC43-9ADD-AF0F59ECE456}" type="presParOf" srcId="{DA45844E-35B3-3148-9B2C-6AFA75D4311A}" destId="{293F799F-EACB-BE4D-A239-838DF82703BA}" srcOrd="10" destOrd="0" presId="urn:microsoft.com/office/officeart/2008/layout/LinedList"/>
    <dgm:cxn modelId="{C8722C99-6AD7-8648-BB1E-B3CA883240DE}" type="presParOf" srcId="{DA45844E-35B3-3148-9B2C-6AFA75D4311A}" destId="{E43E7834-683B-9A4D-B5AE-61CBADD6B7AA}" srcOrd="11" destOrd="0" presId="urn:microsoft.com/office/officeart/2008/layout/LinedList"/>
    <dgm:cxn modelId="{72D5CB25-2F8E-0741-89B0-91BA8623D45D}" type="presParOf" srcId="{E43E7834-683B-9A4D-B5AE-61CBADD6B7AA}" destId="{EE11B5F5-2FA9-F446-9F4E-58AA3E978D06}" srcOrd="0" destOrd="0" presId="urn:microsoft.com/office/officeart/2008/layout/LinedList"/>
    <dgm:cxn modelId="{944564E9-12D6-6846-AC05-8BAC41EB1179}" type="presParOf" srcId="{E43E7834-683B-9A4D-B5AE-61CBADD6B7AA}" destId="{0FC60FE7-149B-D140-8AD5-00AD61032428}" srcOrd="1" destOrd="0" presId="urn:microsoft.com/office/officeart/2008/layout/LinedList"/>
    <dgm:cxn modelId="{3FC0304B-8856-3045-8ED4-324E53C7E261}" type="presParOf" srcId="{DA45844E-35B3-3148-9B2C-6AFA75D4311A}" destId="{E86776EC-1D07-FD41-89E6-B7716336CFC7}" srcOrd="12" destOrd="0" presId="urn:microsoft.com/office/officeart/2008/layout/LinedList"/>
    <dgm:cxn modelId="{D88CFA0A-C217-9C40-9EC5-750627A390EF}" type="presParOf" srcId="{DA45844E-35B3-3148-9B2C-6AFA75D4311A}" destId="{60AAEEBB-DDDB-1941-8C00-73D64F68035F}" srcOrd="13" destOrd="0" presId="urn:microsoft.com/office/officeart/2008/layout/LinedList"/>
    <dgm:cxn modelId="{088B9DA7-83C5-394F-8B10-6626173020FE}" type="presParOf" srcId="{60AAEEBB-DDDB-1941-8C00-73D64F68035F}" destId="{B21B491C-30C9-164D-91FF-B6DB26365E63}" srcOrd="0" destOrd="0" presId="urn:microsoft.com/office/officeart/2008/layout/LinedList"/>
    <dgm:cxn modelId="{15C1FACD-0A0C-6F48-BECC-2A3F1F68675A}" type="presParOf" srcId="{60AAEEBB-DDDB-1941-8C00-73D64F68035F}" destId="{7BF7EAAC-AD57-BC43-9B3E-AB390D2F857C}" srcOrd="1" destOrd="0" presId="urn:microsoft.com/office/officeart/2008/layout/LinedList"/>
    <dgm:cxn modelId="{0D718895-DEF2-474D-9EA0-DA3234D9D71D}" type="presParOf" srcId="{DA45844E-35B3-3148-9B2C-6AFA75D4311A}" destId="{7A21DCF2-3608-7849-96E5-A778CD24D84F}" srcOrd="14" destOrd="0" presId="urn:microsoft.com/office/officeart/2008/layout/LinedList"/>
    <dgm:cxn modelId="{855E7701-698A-7A45-9210-2F111AC60261}" type="presParOf" srcId="{DA45844E-35B3-3148-9B2C-6AFA75D4311A}" destId="{B8D03D0D-C801-B34B-83A9-1CAD68A07E95}" srcOrd="15" destOrd="0" presId="urn:microsoft.com/office/officeart/2008/layout/LinedList"/>
    <dgm:cxn modelId="{E9741BE4-25C8-C645-BABA-D8191E8B3998}" type="presParOf" srcId="{B8D03D0D-C801-B34B-83A9-1CAD68A07E95}" destId="{4B10CB21-57DA-1947-8D4B-886C530FF6AE}" srcOrd="0" destOrd="0" presId="urn:microsoft.com/office/officeart/2008/layout/LinedList"/>
    <dgm:cxn modelId="{85DC3A12-E77A-C646-A787-4CFC03993957}" type="presParOf" srcId="{B8D03D0D-C801-B34B-83A9-1CAD68A07E95}" destId="{06640A3A-4734-8E47-A375-917C9A2DBE83}" srcOrd="1" destOrd="0" presId="urn:microsoft.com/office/officeart/2008/layout/LinedList"/>
    <dgm:cxn modelId="{7FA1306E-AF42-C242-8BAE-A5C2D08BFA61}" type="presParOf" srcId="{DA45844E-35B3-3148-9B2C-6AFA75D4311A}" destId="{62F2D648-25A2-164F-987E-6B74FF535488}" srcOrd="16" destOrd="0" presId="urn:microsoft.com/office/officeart/2008/layout/LinedList"/>
    <dgm:cxn modelId="{9F0D0356-D74C-8D4C-B0F5-C3E5B5E4551A}" type="presParOf" srcId="{DA45844E-35B3-3148-9B2C-6AFA75D4311A}" destId="{9295B3AD-2C10-5C46-A71E-106937567FB2}" srcOrd="17" destOrd="0" presId="urn:microsoft.com/office/officeart/2008/layout/LinedList"/>
    <dgm:cxn modelId="{84565F3B-BF25-EC44-A366-EF706BD5824B}" type="presParOf" srcId="{9295B3AD-2C10-5C46-A71E-106937567FB2}" destId="{BFC2BC21-9A3C-6248-B66B-33E1847D1EEA}" srcOrd="0" destOrd="0" presId="urn:microsoft.com/office/officeart/2008/layout/LinedList"/>
    <dgm:cxn modelId="{697B751A-E1C4-454E-8845-911A6C189229}" type="presParOf" srcId="{9295B3AD-2C10-5C46-A71E-106937567FB2}" destId="{051F9358-938E-854A-ADCD-9F96E0394F1F}" srcOrd="1" destOrd="0" presId="urn:microsoft.com/office/officeart/2008/layout/LinedList"/>
    <dgm:cxn modelId="{711C0404-A456-F34B-9236-FA7D95F7B8F0}" type="presParOf" srcId="{DA45844E-35B3-3148-9B2C-6AFA75D4311A}" destId="{DC80B345-5CBF-C741-A712-47B395FF1350}" srcOrd="18" destOrd="0" presId="urn:microsoft.com/office/officeart/2008/layout/LinedList"/>
    <dgm:cxn modelId="{96FE2E27-7ADB-E243-96E7-AE3E7127739A}" type="presParOf" srcId="{DA45844E-35B3-3148-9B2C-6AFA75D4311A}" destId="{0CBF8353-2691-AA4C-B6D6-72AAD64B8539}" srcOrd="19" destOrd="0" presId="urn:microsoft.com/office/officeart/2008/layout/LinedList"/>
    <dgm:cxn modelId="{C977054C-7918-AE47-BCFF-FB598D888C02}" type="presParOf" srcId="{0CBF8353-2691-AA4C-B6D6-72AAD64B8539}" destId="{AB35BDE6-FA2F-5942-B42F-3BDD45905DD5}" srcOrd="0" destOrd="0" presId="urn:microsoft.com/office/officeart/2008/layout/LinedList"/>
    <dgm:cxn modelId="{5863A4A0-E7F6-C640-8968-9D977712D703}" type="presParOf" srcId="{0CBF8353-2691-AA4C-B6D6-72AAD64B8539}" destId="{89273605-3076-1A49-B7C6-93946F40EC1F}" srcOrd="1" destOrd="0" presId="urn:microsoft.com/office/officeart/2008/layout/LinedList"/>
    <dgm:cxn modelId="{A798B868-9BA1-0545-A14C-EBD156954DAD}" type="presParOf" srcId="{DA45844E-35B3-3148-9B2C-6AFA75D4311A}" destId="{107B0BCC-0212-F24B-9572-BA1D97B21891}" srcOrd="20" destOrd="0" presId="urn:microsoft.com/office/officeart/2008/layout/LinedList"/>
    <dgm:cxn modelId="{28AE3879-5420-AA42-BF6E-8469CA3B6063}" type="presParOf" srcId="{DA45844E-35B3-3148-9B2C-6AFA75D4311A}" destId="{221BAB71-1EF4-F344-9972-C3E35ECF859F}" srcOrd="21" destOrd="0" presId="urn:microsoft.com/office/officeart/2008/layout/LinedList"/>
    <dgm:cxn modelId="{97DBB6F4-174E-E343-AC59-A3AB8B51E39E}" type="presParOf" srcId="{221BAB71-1EF4-F344-9972-C3E35ECF859F}" destId="{F8395A36-3090-344D-901D-A88844218DF3}" srcOrd="0" destOrd="0" presId="urn:microsoft.com/office/officeart/2008/layout/LinedList"/>
    <dgm:cxn modelId="{1CA1EB5E-A53F-C54B-9A36-BD4464B9C02B}" type="presParOf" srcId="{221BAB71-1EF4-F344-9972-C3E35ECF859F}" destId="{C88152F6-40B5-1F4A-85D8-B7F9E5F0098A}" srcOrd="1" destOrd="0" presId="urn:microsoft.com/office/officeart/2008/layout/LinedList"/>
    <dgm:cxn modelId="{993821CB-E8A4-6F47-B10C-A82ACE77FB5A}" type="presParOf" srcId="{DA45844E-35B3-3148-9B2C-6AFA75D4311A}" destId="{8C905CEE-6F1E-D84B-9D37-D5EA2DED8CFC}" srcOrd="22" destOrd="0" presId="urn:microsoft.com/office/officeart/2008/layout/LinedList"/>
    <dgm:cxn modelId="{EE0E5FEE-B648-F941-8BBD-D360919D2DEF}" type="presParOf" srcId="{DA45844E-35B3-3148-9B2C-6AFA75D4311A}" destId="{87866C1D-9B6A-2F4C-961C-B915308A3C4B}" srcOrd="23" destOrd="0" presId="urn:microsoft.com/office/officeart/2008/layout/LinedList"/>
    <dgm:cxn modelId="{3A040974-D04A-E341-9789-010D08130946}" type="presParOf" srcId="{87866C1D-9B6A-2F4C-961C-B915308A3C4B}" destId="{76FCA210-9EFB-6441-928A-62A4C47E4FB0}" srcOrd="0" destOrd="0" presId="urn:microsoft.com/office/officeart/2008/layout/LinedList"/>
    <dgm:cxn modelId="{6F7CAF75-E077-8640-A67D-EC69B610EF49}" type="presParOf" srcId="{87866C1D-9B6A-2F4C-961C-B915308A3C4B}" destId="{28EAC185-9183-4647-9F9D-A883D39DE443}" srcOrd="1" destOrd="0" presId="urn:microsoft.com/office/officeart/2008/layout/LinedList"/>
    <dgm:cxn modelId="{131DF596-D41C-C145-A0D6-D8076AA996BA}" type="presParOf" srcId="{DA45844E-35B3-3148-9B2C-6AFA75D4311A}" destId="{358F53AC-C11D-C24A-8038-3EA3698198FF}" srcOrd="24" destOrd="0" presId="urn:microsoft.com/office/officeart/2008/layout/LinedList"/>
    <dgm:cxn modelId="{0D0B2C3E-816C-B94C-A5D4-4598ED34ABF7}" type="presParOf" srcId="{DA45844E-35B3-3148-9B2C-6AFA75D4311A}" destId="{9685A94D-7ED3-4248-A33F-5BEA49E75768}" srcOrd="25" destOrd="0" presId="urn:microsoft.com/office/officeart/2008/layout/LinedList"/>
    <dgm:cxn modelId="{9EE2E979-041B-304D-AA88-99D85C236CCB}" type="presParOf" srcId="{9685A94D-7ED3-4248-A33F-5BEA49E75768}" destId="{46F6EC2E-2AC4-7A4C-9084-618DDF45DCB3}" srcOrd="0" destOrd="0" presId="urn:microsoft.com/office/officeart/2008/layout/LinedList"/>
    <dgm:cxn modelId="{E5001C67-6B9D-F44B-96E6-25441A9CBA8B}" type="presParOf" srcId="{9685A94D-7ED3-4248-A33F-5BEA49E75768}" destId="{40B37B3E-787A-7943-8A76-229798AE1F4E}" srcOrd="1" destOrd="0" presId="urn:microsoft.com/office/officeart/2008/layout/LinedList"/>
    <dgm:cxn modelId="{58EB16B4-5922-374A-84E2-08346271AE4F}" type="presParOf" srcId="{DA45844E-35B3-3148-9B2C-6AFA75D4311A}" destId="{0D830BD8-2915-0F45-AB00-FF14101A9B53}" srcOrd="26" destOrd="0" presId="urn:microsoft.com/office/officeart/2008/layout/LinedList"/>
    <dgm:cxn modelId="{91BFE587-16E9-624A-B54F-23550093A69B}" type="presParOf" srcId="{DA45844E-35B3-3148-9B2C-6AFA75D4311A}" destId="{FB52F90D-D8C2-5347-9A5B-BFD6EFFD85B8}" srcOrd="27" destOrd="0" presId="urn:microsoft.com/office/officeart/2008/layout/LinedList"/>
    <dgm:cxn modelId="{20B69806-75EA-DC47-B666-46A2E11EEC83}" type="presParOf" srcId="{FB52F90D-D8C2-5347-9A5B-BFD6EFFD85B8}" destId="{2428F284-303E-FB4E-AC8B-96033182AD27}" srcOrd="0" destOrd="0" presId="urn:microsoft.com/office/officeart/2008/layout/LinedList"/>
    <dgm:cxn modelId="{803E50F3-3AE1-7A4D-8895-EC7F9070FC78}" type="presParOf" srcId="{FB52F90D-D8C2-5347-9A5B-BFD6EFFD85B8}" destId="{BE66CB32-A22A-D241-B6B5-E0E38EB5A1B9}" srcOrd="1" destOrd="0" presId="urn:microsoft.com/office/officeart/2008/layout/LinedList"/>
    <dgm:cxn modelId="{5D1A2A67-9EDB-314A-A98C-8BDCF7572932}" type="presParOf" srcId="{DA45844E-35B3-3148-9B2C-6AFA75D4311A}" destId="{88455601-611D-4C49-AB4B-0358D08C78BF}" srcOrd="28" destOrd="0" presId="urn:microsoft.com/office/officeart/2008/layout/LinedList"/>
    <dgm:cxn modelId="{243A13F5-29E6-AD49-8093-5D34B9026732}" type="presParOf" srcId="{DA45844E-35B3-3148-9B2C-6AFA75D4311A}" destId="{6471015C-5D63-A645-8F5A-67D3C2B4A4D4}" srcOrd="29" destOrd="0" presId="urn:microsoft.com/office/officeart/2008/layout/LinedList"/>
    <dgm:cxn modelId="{7E494C59-89A4-8D4C-B61A-5B7CC5876CDA}" type="presParOf" srcId="{6471015C-5D63-A645-8F5A-67D3C2B4A4D4}" destId="{8F077D96-13BD-C14F-ABA0-FACB52D9E1B7}" srcOrd="0" destOrd="0" presId="urn:microsoft.com/office/officeart/2008/layout/LinedList"/>
    <dgm:cxn modelId="{B9524684-D299-E546-859D-520EF801FD83}" type="presParOf" srcId="{6471015C-5D63-A645-8F5A-67D3C2B4A4D4}" destId="{EAC2A64E-7BD9-E646-A681-233FCE6BE812}" srcOrd="1" destOrd="0" presId="urn:microsoft.com/office/officeart/2008/layout/LinedList"/>
    <dgm:cxn modelId="{4829299B-CDF7-9548-97C9-DD4766BBD7B0}" type="presParOf" srcId="{DA45844E-35B3-3148-9B2C-6AFA75D4311A}" destId="{9CDCA818-1673-0044-9BAA-7E70FE94D0AB}" srcOrd="30" destOrd="0" presId="urn:microsoft.com/office/officeart/2008/layout/LinedList"/>
    <dgm:cxn modelId="{42FFC0D4-0CFB-204E-8CF2-B74D8AC2119F}" type="presParOf" srcId="{DA45844E-35B3-3148-9B2C-6AFA75D4311A}" destId="{722F93EE-0D5E-FE41-8880-B14EAE2C366E}" srcOrd="31" destOrd="0" presId="urn:microsoft.com/office/officeart/2008/layout/LinedList"/>
    <dgm:cxn modelId="{95AC4E11-0C99-4840-8188-CAE0D63D9ABE}" type="presParOf" srcId="{722F93EE-0D5E-FE41-8880-B14EAE2C366E}" destId="{B143F331-0493-724C-830A-C014E4F59E01}" srcOrd="0" destOrd="0" presId="urn:microsoft.com/office/officeart/2008/layout/LinedList"/>
    <dgm:cxn modelId="{537FA0CE-4265-D647-AC9D-6135852145AA}" type="presParOf" srcId="{722F93EE-0D5E-FE41-8880-B14EAE2C366E}" destId="{F67C16C0-FE32-FD48-B436-FA50441259B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42AD85-FC27-4FB0-9BDC-5FE8A3E4C5AB}">
      <dsp:nvSpPr>
        <dsp:cNvPr id="0" name=""/>
        <dsp:cNvSpPr/>
      </dsp:nvSpPr>
      <dsp:spPr>
        <a:xfrm>
          <a:off x="0" y="800735"/>
          <a:ext cx="5607050" cy="14782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5B0CC4-B6C1-4CD5-9A81-3FB5ADF002BE}">
      <dsp:nvSpPr>
        <dsp:cNvPr id="0" name=""/>
        <dsp:cNvSpPr/>
      </dsp:nvSpPr>
      <dsp:spPr>
        <a:xfrm>
          <a:off x="447179" y="1133348"/>
          <a:ext cx="813054" cy="8130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BFC5456-96FE-4515-AB75-B7432113D7C7}">
      <dsp:nvSpPr>
        <dsp:cNvPr id="0" name=""/>
        <dsp:cNvSpPr/>
      </dsp:nvSpPr>
      <dsp:spPr>
        <a:xfrm>
          <a:off x="1707413" y="800735"/>
          <a:ext cx="3899636" cy="1478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51" tIns="156451" rIns="156451" bIns="156451" numCol="1" spcCol="1270" anchor="ctr" anchorCtr="0">
          <a:noAutofit/>
        </a:bodyPr>
        <a:lstStyle/>
        <a:p>
          <a:pPr marL="0" lvl="0" indent="0" algn="l" defTabSz="1111250">
            <a:lnSpc>
              <a:spcPct val="90000"/>
            </a:lnSpc>
            <a:spcBef>
              <a:spcPct val="0"/>
            </a:spcBef>
            <a:spcAft>
              <a:spcPct val="35000"/>
            </a:spcAft>
            <a:buNone/>
          </a:pPr>
          <a:r>
            <a:rPr lang="en-US" sz="2500" kern="1200" dirty="0"/>
            <a:t>PART I</a:t>
          </a:r>
          <a:br>
            <a:rPr lang="en-US" sz="2500" kern="1200" dirty="0"/>
          </a:br>
          <a:endParaRPr lang="en-US" sz="2500" kern="1200" dirty="0"/>
        </a:p>
      </dsp:txBody>
      <dsp:txXfrm>
        <a:off x="1707413" y="800735"/>
        <a:ext cx="3899636" cy="1478279"/>
      </dsp:txXfrm>
    </dsp:sp>
    <dsp:sp modelId="{7D14D551-EDE2-458B-B6BB-6C6B53A74E4E}">
      <dsp:nvSpPr>
        <dsp:cNvPr id="0" name=""/>
        <dsp:cNvSpPr/>
      </dsp:nvSpPr>
      <dsp:spPr>
        <a:xfrm>
          <a:off x="0" y="2648585"/>
          <a:ext cx="5607050" cy="14782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F929C3-5E91-414E-8131-4D8893310602}">
      <dsp:nvSpPr>
        <dsp:cNvPr id="0" name=""/>
        <dsp:cNvSpPr/>
      </dsp:nvSpPr>
      <dsp:spPr>
        <a:xfrm>
          <a:off x="447179" y="2981198"/>
          <a:ext cx="813054" cy="8130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A2D2D43-A931-42A3-86A1-83ABEA590499}">
      <dsp:nvSpPr>
        <dsp:cNvPr id="0" name=""/>
        <dsp:cNvSpPr/>
      </dsp:nvSpPr>
      <dsp:spPr>
        <a:xfrm>
          <a:off x="1707413" y="2648585"/>
          <a:ext cx="3899636" cy="1478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51" tIns="156451" rIns="156451" bIns="156451" numCol="1" spcCol="1270" anchor="ctr" anchorCtr="0">
          <a:noAutofit/>
        </a:bodyPr>
        <a:lstStyle/>
        <a:p>
          <a:pPr marL="0" lvl="0" indent="0" algn="l" defTabSz="1111250">
            <a:lnSpc>
              <a:spcPct val="90000"/>
            </a:lnSpc>
            <a:spcBef>
              <a:spcPct val="0"/>
            </a:spcBef>
            <a:spcAft>
              <a:spcPct val="35000"/>
            </a:spcAft>
            <a:buNone/>
          </a:pPr>
          <a:r>
            <a:rPr lang="en-US" sz="2500" u="sng" kern="1200"/>
            <a:t>Context and Motivation</a:t>
          </a:r>
          <a:br>
            <a:rPr lang="en-US" sz="2500" u="sng" kern="1200"/>
          </a:br>
          <a:r>
            <a:rPr lang="en-US" sz="2500" kern="1200"/>
            <a:t>The Central Question in Solving</a:t>
          </a:r>
        </a:p>
      </dsp:txBody>
      <dsp:txXfrm>
        <a:off x="1707413" y="2648585"/>
        <a:ext cx="3899636" cy="147827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901FB4-C367-465A-B07F-F91F2A1B0C67}">
      <dsp:nvSpPr>
        <dsp:cNvPr id="0" name=""/>
        <dsp:cNvSpPr/>
      </dsp:nvSpPr>
      <dsp:spPr>
        <a:xfrm>
          <a:off x="0" y="800735"/>
          <a:ext cx="5607050" cy="14782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EC6D53-B087-4AEE-AD2C-E3C895D73A32}">
      <dsp:nvSpPr>
        <dsp:cNvPr id="0" name=""/>
        <dsp:cNvSpPr/>
      </dsp:nvSpPr>
      <dsp:spPr>
        <a:xfrm>
          <a:off x="447179" y="1133348"/>
          <a:ext cx="813054" cy="8130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9836A88-E9A0-40BE-9341-89706C76C4B8}">
      <dsp:nvSpPr>
        <dsp:cNvPr id="0" name=""/>
        <dsp:cNvSpPr/>
      </dsp:nvSpPr>
      <dsp:spPr>
        <a:xfrm>
          <a:off x="1707413" y="800735"/>
          <a:ext cx="3899636" cy="1478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51" tIns="156451" rIns="156451" bIns="156451" numCol="1" spcCol="1270" anchor="ctr" anchorCtr="0">
          <a:noAutofit/>
        </a:bodyPr>
        <a:lstStyle/>
        <a:p>
          <a:pPr marL="0" lvl="0" indent="0" algn="l" defTabSz="1111250">
            <a:lnSpc>
              <a:spcPct val="90000"/>
            </a:lnSpc>
            <a:spcBef>
              <a:spcPct val="0"/>
            </a:spcBef>
            <a:spcAft>
              <a:spcPct val="35000"/>
            </a:spcAft>
            <a:buNone/>
          </a:pPr>
          <a:r>
            <a:rPr lang="en-US" sz="2500" kern="1200"/>
            <a:t>PART II</a:t>
          </a:r>
        </a:p>
      </dsp:txBody>
      <dsp:txXfrm>
        <a:off x="1707413" y="800735"/>
        <a:ext cx="3899636" cy="1478279"/>
      </dsp:txXfrm>
    </dsp:sp>
    <dsp:sp modelId="{B3BFC06B-8C4D-4879-B6C1-8DB8E0906A99}">
      <dsp:nvSpPr>
        <dsp:cNvPr id="0" name=""/>
        <dsp:cNvSpPr/>
      </dsp:nvSpPr>
      <dsp:spPr>
        <a:xfrm>
          <a:off x="0" y="2648585"/>
          <a:ext cx="5607050" cy="14782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CE873C-5146-4A19-9EFF-7018FEE99918}">
      <dsp:nvSpPr>
        <dsp:cNvPr id="0" name=""/>
        <dsp:cNvSpPr/>
      </dsp:nvSpPr>
      <dsp:spPr>
        <a:xfrm>
          <a:off x="447179" y="2981198"/>
          <a:ext cx="813054" cy="8130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3570100-2A82-4A8C-B402-E943E29C8E83}">
      <dsp:nvSpPr>
        <dsp:cNvPr id="0" name=""/>
        <dsp:cNvSpPr/>
      </dsp:nvSpPr>
      <dsp:spPr>
        <a:xfrm>
          <a:off x="1707413" y="2648585"/>
          <a:ext cx="3899636" cy="1478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51" tIns="156451" rIns="156451" bIns="156451" numCol="1" spcCol="1270" anchor="ctr" anchorCtr="0">
          <a:noAutofit/>
        </a:bodyPr>
        <a:lstStyle/>
        <a:p>
          <a:pPr marL="0" lvl="0" indent="0" algn="l" defTabSz="1111250">
            <a:lnSpc>
              <a:spcPct val="90000"/>
            </a:lnSpc>
            <a:spcBef>
              <a:spcPct val="0"/>
            </a:spcBef>
            <a:spcAft>
              <a:spcPct val="35000"/>
            </a:spcAft>
            <a:buNone/>
          </a:pPr>
          <a:r>
            <a:rPr lang="en-US" sz="2500" kern="1200"/>
            <a:t>In Search of Empirical Understanding of Solvers via Parameters</a:t>
          </a:r>
        </a:p>
      </dsp:txBody>
      <dsp:txXfrm>
        <a:off x="1707413" y="2648585"/>
        <a:ext cx="3899636" cy="147827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E1AD4C-C93F-4B2A-8604-B2BA4CC96455}">
      <dsp:nvSpPr>
        <dsp:cNvPr id="0" name=""/>
        <dsp:cNvSpPr/>
      </dsp:nvSpPr>
      <dsp:spPr>
        <a:xfrm>
          <a:off x="0" y="800735"/>
          <a:ext cx="5607050" cy="14782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C25772-591F-430C-96DE-E1E6B251D651}">
      <dsp:nvSpPr>
        <dsp:cNvPr id="0" name=""/>
        <dsp:cNvSpPr/>
      </dsp:nvSpPr>
      <dsp:spPr>
        <a:xfrm>
          <a:off x="447179" y="1133348"/>
          <a:ext cx="813054" cy="8130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2D4174-9451-4A0D-9151-743ACC305302}">
      <dsp:nvSpPr>
        <dsp:cNvPr id="0" name=""/>
        <dsp:cNvSpPr/>
      </dsp:nvSpPr>
      <dsp:spPr>
        <a:xfrm>
          <a:off x="1707413" y="800735"/>
          <a:ext cx="3899636" cy="1478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51" tIns="156451" rIns="156451" bIns="156451" numCol="1" spcCol="1270" anchor="ctr" anchorCtr="0">
          <a:noAutofit/>
        </a:bodyPr>
        <a:lstStyle/>
        <a:p>
          <a:pPr marL="0" lvl="0" indent="0" algn="l" defTabSz="1111250">
            <a:lnSpc>
              <a:spcPct val="90000"/>
            </a:lnSpc>
            <a:spcBef>
              <a:spcPct val="0"/>
            </a:spcBef>
            <a:spcAft>
              <a:spcPct val="35000"/>
            </a:spcAft>
            <a:buNone/>
          </a:pPr>
          <a:r>
            <a:rPr lang="en-US" sz="2500" kern="1200"/>
            <a:t>PART III</a:t>
          </a:r>
        </a:p>
      </dsp:txBody>
      <dsp:txXfrm>
        <a:off x="1707413" y="800735"/>
        <a:ext cx="3899636" cy="1478279"/>
      </dsp:txXfrm>
    </dsp:sp>
    <dsp:sp modelId="{042ACAB1-8062-4E1F-8636-905EFE6757DC}">
      <dsp:nvSpPr>
        <dsp:cNvPr id="0" name=""/>
        <dsp:cNvSpPr/>
      </dsp:nvSpPr>
      <dsp:spPr>
        <a:xfrm>
          <a:off x="0" y="2648585"/>
          <a:ext cx="5607050" cy="14782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4709D5-5A34-48E9-A7BF-C2336715EFA4}">
      <dsp:nvSpPr>
        <dsp:cNvPr id="0" name=""/>
        <dsp:cNvSpPr/>
      </dsp:nvSpPr>
      <dsp:spPr>
        <a:xfrm>
          <a:off x="447179" y="2981198"/>
          <a:ext cx="813054" cy="8130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648AB8-719D-4B8C-B8D7-416D4F07D081}">
      <dsp:nvSpPr>
        <dsp:cNvPr id="0" name=""/>
        <dsp:cNvSpPr/>
      </dsp:nvSpPr>
      <dsp:spPr>
        <a:xfrm>
          <a:off x="1707413" y="2648585"/>
          <a:ext cx="3899636" cy="1478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51" tIns="156451" rIns="156451" bIns="156451" numCol="1" spcCol="1270" anchor="ctr" anchorCtr="0">
          <a:noAutofit/>
        </a:bodyPr>
        <a:lstStyle/>
        <a:p>
          <a:pPr marL="0" lvl="0" indent="0" algn="l" defTabSz="1111250">
            <a:lnSpc>
              <a:spcPct val="90000"/>
            </a:lnSpc>
            <a:spcBef>
              <a:spcPct val="0"/>
            </a:spcBef>
            <a:spcAft>
              <a:spcPct val="35000"/>
            </a:spcAft>
            <a:buNone/>
          </a:pPr>
          <a:r>
            <a:rPr lang="en-US" sz="2500" kern="1200"/>
            <a:t>Solvers = Proof Systems + Machine Learning</a:t>
          </a:r>
        </a:p>
      </dsp:txBody>
      <dsp:txXfrm>
        <a:off x="1707413" y="2648585"/>
        <a:ext cx="3899636" cy="14782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FC7D81-F15D-4104-947C-77AAF0FAC1C2}">
      <dsp:nvSpPr>
        <dsp:cNvPr id="0" name=""/>
        <dsp:cNvSpPr/>
      </dsp:nvSpPr>
      <dsp:spPr>
        <a:xfrm>
          <a:off x="0" y="800735"/>
          <a:ext cx="5607050" cy="14782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B93D9F-292A-444B-BEB9-6BD0CC3566A8}">
      <dsp:nvSpPr>
        <dsp:cNvPr id="0" name=""/>
        <dsp:cNvSpPr/>
      </dsp:nvSpPr>
      <dsp:spPr>
        <a:xfrm>
          <a:off x="447179" y="1133348"/>
          <a:ext cx="813054" cy="8130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B479711-08B7-4900-A775-D6ACDDE4D8D6}">
      <dsp:nvSpPr>
        <dsp:cNvPr id="0" name=""/>
        <dsp:cNvSpPr/>
      </dsp:nvSpPr>
      <dsp:spPr>
        <a:xfrm>
          <a:off x="1707413" y="800735"/>
          <a:ext cx="3899636" cy="1478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51" tIns="156451" rIns="156451" bIns="156451" numCol="1" spcCol="1270" anchor="ctr" anchorCtr="0">
          <a:noAutofit/>
        </a:bodyPr>
        <a:lstStyle/>
        <a:p>
          <a:pPr marL="0" lvl="0" indent="0" algn="l" defTabSz="1111250">
            <a:lnSpc>
              <a:spcPct val="90000"/>
            </a:lnSpc>
            <a:spcBef>
              <a:spcPct val="0"/>
            </a:spcBef>
            <a:spcAft>
              <a:spcPct val="35000"/>
            </a:spcAft>
            <a:buNone/>
          </a:pPr>
          <a:r>
            <a:rPr lang="en-US" sz="2500" kern="1200"/>
            <a:t>PART IV</a:t>
          </a:r>
        </a:p>
      </dsp:txBody>
      <dsp:txXfrm>
        <a:off x="1707413" y="800735"/>
        <a:ext cx="3899636" cy="1478279"/>
      </dsp:txXfrm>
    </dsp:sp>
    <dsp:sp modelId="{3DEA843A-E07D-4F2B-854A-DF72572A75BC}">
      <dsp:nvSpPr>
        <dsp:cNvPr id="0" name=""/>
        <dsp:cNvSpPr/>
      </dsp:nvSpPr>
      <dsp:spPr>
        <a:xfrm>
          <a:off x="0" y="2648585"/>
          <a:ext cx="5607050" cy="14782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9ABDE5-9ED2-4E9C-A00B-19C88307B2FA}">
      <dsp:nvSpPr>
        <dsp:cNvPr id="0" name=""/>
        <dsp:cNvSpPr/>
      </dsp:nvSpPr>
      <dsp:spPr>
        <a:xfrm>
          <a:off x="447179" y="2981198"/>
          <a:ext cx="813054" cy="8130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9F44DA-3816-48D3-8E94-AC93AFD641E4}">
      <dsp:nvSpPr>
        <dsp:cNvPr id="0" name=""/>
        <dsp:cNvSpPr/>
      </dsp:nvSpPr>
      <dsp:spPr>
        <a:xfrm>
          <a:off x="1707413" y="2648585"/>
          <a:ext cx="3899636" cy="1478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51" tIns="156451" rIns="156451" bIns="156451" numCol="1" spcCol="1270" anchor="ctr" anchorCtr="0">
          <a:noAutofit/>
        </a:bodyPr>
        <a:lstStyle/>
        <a:p>
          <a:pPr marL="0" lvl="0" indent="0" algn="l" defTabSz="1111250">
            <a:lnSpc>
              <a:spcPct val="90000"/>
            </a:lnSpc>
            <a:spcBef>
              <a:spcPct val="0"/>
            </a:spcBef>
            <a:spcAft>
              <a:spcPct val="35000"/>
            </a:spcAft>
            <a:buNone/>
          </a:pPr>
          <a:r>
            <a:rPr lang="en-US" sz="2500" u="sng" kern="1200"/>
            <a:t>Understanding CDCL Solver Configurations </a:t>
          </a:r>
          <a:r>
            <a:rPr lang="en-US" sz="2500" kern="1200"/>
            <a:t>Restarts</a:t>
          </a:r>
        </a:p>
      </dsp:txBody>
      <dsp:txXfrm>
        <a:off x="1707413" y="2648585"/>
        <a:ext cx="3899636" cy="147827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7EC99D-245F-45B6-813F-9D3381745727}">
      <dsp:nvSpPr>
        <dsp:cNvPr id="0" name=""/>
        <dsp:cNvSpPr/>
      </dsp:nvSpPr>
      <dsp:spPr>
        <a:xfrm>
          <a:off x="0" y="601"/>
          <a:ext cx="5607050" cy="14075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D69E22AC-F028-4DD6-8631-D687947EBF4F}">
      <dsp:nvSpPr>
        <dsp:cNvPr id="0" name=""/>
        <dsp:cNvSpPr/>
      </dsp:nvSpPr>
      <dsp:spPr>
        <a:xfrm>
          <a:off x="425781" y="317298"/>
          <a:ext cx="774148" cy="7741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56565B7A-E568-435C-816F-412BCEC780AC}">
      <dsp:nvSpPr>
        <dsp:cNvPr id="0" name=""/>
        <dsp:cNvSpPr/>
      </dsp:nvSpPr>
      <dsp:spPr>
        <a:xfrm>
          <a:off x="1625711" y="601"/>
          <a:ext cx="3981338" cy="1407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965" tIns="148965" rIns="148965" bIns="148965" numCol="1" spcCol="1270" anchor="ctr" anchorCtr="0">
          <a:noAutofit/>
        </a:bodyPr>
        <a:lstStyle/>
        <a:p>
          <a:pPr marL="0" lvl="0" indent="0" algn="l" defTabSz="1111250">
            <a:lnSpc>
              <a:spcPct val="100000"/>
            </a:lnSpc>
            <a:spcBef>
              <a:spcPct val="0"/>
            </a:spcBef>
            <a:spcAft>
              <a:spcPct val="35000"/>
            </a:spcAft>
            <a:buNone/>
          </a:pPr>
          <a:r>
            <a:rPr lang="en-US" sz="2500" kern="1200"/>
            <a:t>PART V</a:t>
          </a:r>
        </a:p>
      </dsp:txBody>
      <dsp:txXfrm>
        <a:off x="1625711" y="601"/>
        <a:ext cx="3981338" cy="1407541"/>
      </dsp:txXfrm>
    </dsp:sp>
    <dsp:sp modelId="{C1E3F3C0-5842-4812-99C8-F7E2A6346543}">
      <dsp:nvSpPr>
        <dsp:cNvPr id="0" name=""/>
        <dsp:cNvSpPr/>
      </dsp:nvSpPr>
      <dsp:spPr>
        <a:xfrm>
          <a:off x="0" y="1760029"/>
          <a:ext cx="5607050" cy="14075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A99E5A4B-7982-46AE-A59D-289F7B908282}">
      <dsp:nvSpPr>
        <dsp:cNvPr id="0" name=""/>
        <dsp:cNvSpPr/>
      </dsp:nvSpPr>
      <dsp:spPr>
        <a:xfrm>
          <a:off x="425781" y="2076725"/>
          <a:ext cx="774148" cy="7741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15AC2CE-EA08-4C31-9739-F617439FD66D}">
      <dsp:nvSpPr>
        <dsp:cNvPr id="0" name=""/>
        <dsp:cNvSpPr/>
      </dsp:nvSpPr>
      <dsp:spPr>
        <a:xfrm>
          <a:off x="1625711" y="1760029"/>
          <a:ext cx="3981338" cy="1407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965" tIns="148965" rIns="148965" bIns="148965" numCol="1" spcCol="1270" anchor="ctr" anchorCtr="0">
          <a:noAutofit/>
        </a:bodyPr>
        <a:lstStyle/>
        <a:p>
          <a:pPr marL="0" lvl="0" indent="0" algn="l" defTabSz="1111250">
            <a:lnSpc>
              <a:spcPct val="100000"/>
            </a:lnSpc>
            <a:spcBef>
              <a:spcPct val="0"/>
            </a:spcBef>
            <a:spcAft>
              <a:spcPct val="35000"/>
            </a:spcAft>
            <a:buNone/>
          </a:pPr>
          <a:r>
            <a:rPr lang="en-US" sz="2500" u="sng" kern="1200"/>
            <a:t>From Practice to Theory </a:t>
          </a:r>
          <a:endParaRPr lang="en-US" sz="2500" kern="1200"/>
        </a:p>
      </dsp:txBody>
      <dsp:txXfrm>
        <a:off x="1625711" y="1760029"/>
        <a:ext cx="3981338" cy="1407541"/>
      </dsp:txXfrm>
    </dsp:sp>
    <dsp:sp modelId="{D52315D7-F846-4E4D-8E80-0B45EFA19DE5}">
      <dsp:nvSpPr>
        <dsp:cNvPr id="0" name=""/>
        <dsp:cNvSpPr/>
      </dsp:nvSpPr>
      <dsp:spPr>
        <a:xfrm>
          <a:off x="0" y="3519456"/>
          <a:ext cx="5607050" cy="140754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F3C5DEF-867D-463A-AF3E-5ED4833E373F}">
      <dsp:nvSpPr>
        <dsp:cNvPr id="0" name=""/>
        <dsp:cNvSpPr/>
      </dsp:nvSpPr>
      <dsp:spPr>
        <a:xfrm>
          <a:off x="425781" y="3836153"/>
          <a:ext cx="774148" cy="7741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38C69DF-CDC1-496C-AF8F-406A3475EFAE}">
      <dsp:nvSpPr>
        <dsp:cNvPr id="0" name=""/>
        <dsp:cNvSpPr/>
      </dsp:nvSpPr>
      <dsp:spPr>
        <a:xfrm>
          <a:off x="1625711" y="3519456"/>
          <a:ext cx="3981338" cy="1407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965" tIns="148965" rIns="148965" bIns="148965" numCol="1" spcCol="1270" anchor="ctr" anchorCtr="0">
          <a:noAutofit/>
        </a:bodyPr>
        <a:lstStyle/>
        <a:p>
          <a:pPr marL="0" lvl="0" indent="0" algn="l" defTabSz="1111250">
            <a:lnSpc>
              <a:spcPct val="100000"/>
            </a:lnSpc>
            <a:spcBef>
              <a:spcPct val="0"/>
            </a:spcBef>
            <a:spcAft>
              <a:spcPct val="35000"/>
            </a:spcAft>
            <a:buNone/>
          </a:pPr>
          <a:r>
            <a:rPr lang="en-US" sz="2500" kern="1200"/>
            <a:t>Using Solvers for Solving Complexity Questions</a:t>
          </a:r>
        </a:p>
      </dsp:txBody>
      <dsp:txXfrm>
        <a:off x="1625711" y="3519456"/>
        <a:ext cx="3981338" cy="140754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E1AD4C-C93F-4B2A-8604-B2BA4CC96455}">
      <dsp:nvSpPr>
        <dsp:cNvPr id="0" name=""/>
        <dsp:cNvSpPr/>
      </dsp:nvSpPr>
      <dsp:spPr>
        <a:xfrm>
          <a:off x="0" y="800735"/>
          <a:ext cx="5607050" cy="14782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C25772-591F-430C-96DE-E1E6B251D651}">
      <dsp:nvSpPr>
        <dsp:cNvPr id="0" name=""/>
        <dsp:cNvSpPr/>
      </dsp:nvSpPr>
      <dsp:spPr>
        <a:xfrm>
          <a:off x="447179" y="1133348"/>
          <a:ext cx="813054" cy="8130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2D4174-9451-4A0D-9151-743ACC305302}">
      <dsp:nvSpPr>
        <dsp:cNvPr id="0" name=""/>
        <dsp:cNvSpPr/>
      </dsp:nvSpPr>
      <dsp:spPr>
        <a:xfrm>
          <a:off x="1707413" y="800735"/>
          <a:ext cx="3899636" cy="1478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51" tIns="156451" rIns="156451" bIns="156451" numCol="1" spcCol="1270" anchor="ctr" anchorCtr="0">
          <a:noAutofit/>
        </a:bodyPr>
        <a:lstStyle/>
        <a:p>
          <a:pPr marL="0" lvl="0" indent="0" algn="l" defTabSz="1111250">
            <a:lnSpc>
              <a:spcPct val="90000"/>
            </a:lnSpc>
            <a:spcBef>
              <a:spcPct val="0"/>
            </a:spcBef>
            <a:spcAft>
              <a:spcPct val="35000"/>
            </a:spcAft>
            <a:buNone/>
          </a:pPr>
          <a:r>
            <a:rPr lang="en-US" sz="2500" kern="1200" dirty="0"/>
            <a:t>PART V</a:t>
          </a:r>
        </a:p>
      </dsp:txBody>
      <dsp:txXfrm>
        <a:off x="1707413" y="800735"/>
        <a:ext cx="3899636" cy="1478279"/>
      </dsp:txXfrm>
    </dsp:sp>
    <dsp:sp modelId="{042ACAB1-8062-4E1F-8636-905EFE6757DC}">
      <dsp:nvSpPr>
        <dsp:cNvPr id="0" name=""/>
        <dsp:cNvSpPr/>
      </dsp:nvSpPr>
      <dsp:spPr>
        <a:xfrm>
          <a:off x="0" y="2648585"/>
          <a:ext cx="5607050" cy="14782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4709D5-5A34-48E9-A7BF-C2336715EFA4}">
      <dsp:nvSpPr>
        <dsp:cNvPr id="0" name=""/>
        <dsp:cNvSpPr/>
      </dsp:nvSpPr>
      <dsp:spPr>
        <a:xfrm>
          <a:off x="447179" y="2981198"/>
          <a:ext cx="813054" cy="813054"/>
        </a:xfrm>
        <a:prstGeom prst="rect">
          <a:avLst/>
        </a:prstGeom>
        <a:blipFill rotWithShape="1">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9648AB8-719D-4B8C-B8D7-416D4F07D081}">
      <dsp:nvSpPr>
        <dsp:cNvPr id="0" name=""/>
        <dsp:cNvSpPr/>
      </dsp:nvSpPr>
      <dsp:spPr>
        <a:xfrm>
          <a:off x="1707413" y="2648585"/>
          <a:ext cx="3899636" cy="1478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51" tIns="156451" rIns="156451" bIns="156451" numCol="1" spcCol="1270" anchor="ctr" anchorCtr="0">
          <a:noAutofit/>
        </a:bodyPr>
        <a:lstStyle/>
        <a:p>
          <a:pPr marL="0" lvl="0" indent="0" algn="l" defTabSz="1111250">
            <a:lnSpc>
              <a:spcPct val="90000"/>
            </a:lnSpc>
            <a:spcBef>
              <a:spcPct val="0"/>
            </a:spcBef>
            <a:spcAft>
              <a:spcPct val="35000"/>
            </a:spcAft>
            <a:buNone/>
          </a:pPr>
          <a:r>
            <a:rPr lang="en-US" sz="2500" kern="1200" dirty="0"/>
            <a:t>Open</a:t>
          </a:r>
          <a:r>
            <a:rPr lang="en-US" sz="2500" kern="1200" baseline="0" dirty="0"/>
            <a:t> Problems</a:t>
          </a:r>
          <a:endParaRPr lang="en-US" sz="2500" kern="1200" dirty="0"/>
        </a:p>
      </dsp:txBody>
      <dsp:txXfrm>
        <a:off x="1707413" y="2648585"/>
        <a:ext cx="3899636" cy="147827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7BCB48-A19A-4E74-AF83-839084618BCC}">
      <dsp:nvSpPr>
        <dsp:cNvPr id="0" name=""/>
        <dsp:cNvSpPr/>
      </dsp:nvSpPr>
      <dsp:spPr>
        <a:xfrm>
          <a:off x="0" y="800735"/>
          <a:ext cx="5607050" cy="14782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125D70-8542-44C9-BFA4-064E3FDBE3B5}">
      <dsp:nvSpPr>
        <dsp:cNvPr id="0" name=""/>
        <dsp:cNvSpPr/>
      </dsp:nvSpPr>
      <dsp:spPr>
        <a:xfrm>
          <a:off x="447179" y="1133348"/>
          <a:ext cx="813054" cy="8130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BDD3412-E700-416B-9909-792E51358A6E}">
      <dsp:nvSpPr>
        <dsp:cNvPr id="0" name=""/>
        <dsp:cNvSpPr/>
      </dsp:nvSpPr>
      <dsp:spPr>
        <a:xfrm>
          <a:off x="1707413" y="800735"/>
          <a:ext cx="3899636" cy="1478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51" tIns="156451" rIns="156451" bIns="156451" numCol="1" spcCol="1270" anchor="ctr" anchorCtr="0">
          <a:noAutofit/>
        </a:bodyPr>
        <a:lstStyle/>
        <a:p>
          <a:pPr marL="0" lvl="0" indent="0" algn="l" defTabSz="1111250">
            <a:lnSpc>
              <a:spcPct val="90000"/>
            </a:lnSpc>
            <a:spcBef>
              <a:spcPct val="0"/>
            </a:spcBef>
            <a:spcAft>
              <a:spcPct val="35000"/>
            </a:spcAft>
            <a:buNone/>
          </a:pPr>
          <a:r>
            <a:rPr lang="en-US" sz="2500" kern="1200"/>
            <a:t>PART VI</a:t>
          </a:r>
        </a:p>
      </dsp:txBody>
      <dsp:txXfrm>
        <a:off x="1707413" y="800735"/>
        <a:ext cx="3899636" cy="1478279"/>
      </dsp:txXfrm>
    </dsp:sp>
    <dsp:sp modelId="{991A6CF8-FBF6-45D2-9E2E-997234EC5905}">
      <dsp:nvSpPr>
        <dsp:cNvPr id="0" name=""/>
        <dsp:cNvSpPr/>
      </dsp:nvSpPr>
      <dsp:spPr>
        <a:xfrm>
          <a:off x="0" y="2648585"/>
          <a:ext cx="5607050" cy="147827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29A36A-9904-4CB7-853B-DA0E174B8178}">
      <dsp:nvSpPr>
        <dsp:cNvPr id="0" name=""/>
        <dsp:cNvSpPr/>
      </dsp:nvSpPr>
      <dsp:spPr>
        <a:xfrm>
          <a:off x="447179" y="2981198"/>
          <a:ext cx="813054" cy="8130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C374991-59DD-4121-B99E-A83D3421C47E}">
      <dsp:nvSpPr>
        <dsp:cNvPr id="0" name=""/>
        <dsp:cNvSpPr/>
      </dsp:nvSpPr>
      <dsp:spPr>
        <a:xfrm>
          <a:off x="1707413" y="2648585"/>
          <a:ext cx="3899636" cy="14782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51" tIns="156451" rIns="156451" bIns="156451" numCol="1" spcCol="1270" anchor="ctr" anchorCtr="0">
          <a:noAutofit/>
        </a:bodyPr>
        <a:lstStyle/>
        <a:p>
          <a:pPr marL="0" lvl="0" indent="0" algn="l" defTabSz="1111250">
            <a:lnSpc>
              <a:spcPct val="90000"/>
            </a:lnSpc>
            <a:spcBef>
              <a:spcPct val="0"/>
            </a:spcBef>
            <a:spcAft>
              <a:spcPct val="35000"/>
            </a:spcAft>
            <a:buNone/>
          </a:pPr>
          <a:r>
            <a:rPr lang="en-US" sz="2500" kern="1200"/>
            <a:t>Workshop Talks</a:t>
          </a:r>
        </a:p>
      </dsp:txBody>
      <dsp:txXfrm>
        <a:off x="1707413" y="2648585"/>
        <a:ext cx="3899636" cy="147827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57274-22A5-474D-AD1B-22258F0F14F2}">
      <dsp:nvSpPr>
        <dsp:cNvPr id="0" name=""/>
        <dsp:cNvSpPr/>
      </dsp:nvSpPr>
      <dsp:spPr>
        <a:xfrm>
          <a:off x="0" y="0"/>
          <a:ext cx="5607050" cy="0"/>
        </a:xfrm>
        <a:prstGeom prst="line">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w="6350"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A8BFEA4C-5001-BF40-8C9A-36B21FDA996F}">
      <dsp:nvSpPr>
        <dsp:cNvPr id="0" name=""/>
        <dsp:cNvSpPr/>
      </dsp:nvSpPr>
      <dsp:spPr>
        <a:xfrm>
          <a:off x="0" y="0"/>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[DPLL62] Davis, M., Putnam, H., Logemann, G. and Loveland, D. A Machine Program for Theorem Proving. CACM 1962</a:t>
          </a:r>
        </a:p>
      </dsp:txBody>
      <dsp:txXfrm>
        <a:off x="0" y="0"/>
        <a:ext cx="5607050" cy="307974"/>
      </dsp:txXfrm>
    </dsp:sp>
    <dsp:sp modelId="{11C7D5A5-B3DC-5645-9F40-8F2E2C16B416}">
      <dsp:nvSpPr>
        <dsp:cNvPr id="0" name=""/>
        <dsp:cNvSpPr/>
      </dsp:nvSpPr>
      <dsp:spPr>
        <a:xfrm>
          <a:off x="0" y="307974"/>
          <a:ext cx="5607050" cy="0"/>
        </a:xfrm>
        <a:prstGeom prst="line">
          <a:avLst/>
        </a:prstGeom>
        <a:gradFill rotWithShape="0">
          <a:gsLst>
            <a:gs pos="0">
              <a:schemeClr val="accent3">
                <a:hueOff val="0"/>
                <a:satOff val="0"/>
                <a:lumOff val="0"/>
                <a:alphaOff val="0"/>
                <a:tint val="97000"/>
                <a:satMod val="100000"/>
                <a:lumMod val="102000"/>
              </a:schemeClr>
            </a:gs>
            <a:gs pos="50000">
              <a:schemeClr val="accent3">
                <a:hueOff val="0"/>
                <a:satOff val="0"/>
                <a:lumOff val="0"/>
                <a:alphaOff val="0"/>
                <a:shade val="100000"/>
                <a:satMod val="103000"/>
                <a:lumMod val="100000"/>
              </a:schemeClr>
            </a:gs>
            <a:gs pos="100000">
              <a:schemeClr val="accent3">
                <a:hueOff val="0"/>
                <a:satOff val="0"/>
                <a:lumOff val="0"/>
                <a:alphaOff val="0"/>
                <a:shade val="93000"/>
                <a:satMod val="110000"/>
                <a:lumMod val="99000"/>
              </a:schemeClr>
            </a:gs>
          </a:gsLst>
          <a:lin ang="5400000" scaled="0"/>
        </a:gradFill>
        <a:ln w="6350" cap="flat" cmpd="sng" algn="ctr">
          <a:solidFill>
            <a:schemeClr val="accent3">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3B70742C-B759-304C-9679-0BA523A2DD24}">
      <dsp:nvSpPr>
        <dsp:cNvPr id="0" name=""/>
        <dsp:cNvSpPr/>
      </dsp:nvSpPr>
      <dsp:spPr>
        <a:xfrm>
          <a:off x="0" y="307974"/>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[MS96] Marques-Silva, J.P. and Sakallah, K.A. GRASP: A New Search Algorithm for Satisfiability. ICCAD 1996</a:t>
          </a:r>
        </a:p>
      </dsp:txBody>
      <dsp:txXfrm>
        <a:off x="0" y="307974"/>
        <a:ext cx="5607050" cy="307974"/>
      </dsp:txXfrm>
    </dsp:sp>
    <dsp:sp modelId="{C3637A14-9429-C64D-82AD-01DC1BB43A07}">
      <dsp:nvSpPr>
        <dsp:cNvPr id="0" name=""/>
        <dsp:cNvSpPr/>
      </dsp:nvSpPr>
      <dsp:spPr>
        <a:xfrm>
          <a:off x="0" y="615949"/>
          <a:ext cx="5607050" cy="0"/>
        </a:xfrm>
        <a:prstGeom prst="line">
          <a:avLst/>
        </a:prstGeom>
        <a:gradFill rotWithShape="0">
          <a:gsLst>
            <a:gs pos="0">
              <a:schemeClr val="accent4">
                <a:hueOff val="0"/>
                <a:satOff val="0"/>
                <a:lumOff val="0"/>
                <a:alphaOff val="0"/>
                <a:tint val="97000"/>
                <a:satMod val="100000"/>
                <a:lumMod val="102000"/>
              </a:schemeClr>
            </a:gs>
            <a:gs pos="50000">
              <a:schemeClr val="accent4">
                <a:hueOff val="0"/>
                <a:satOff val="0"/>
                <a:lumOff val="0"/>
                <a:alphaOff val="0"/>
                <a:shade val="100000"/>
                <a:satMod val="103000"/>
                <a:lumMod val="100000"/>
              </a:schemeClr>
            </a:gs>
            <a:gs pos="100000">
              <a:schemeClr val="accent4">
                <a:hueOff val="0"/>
                <a:satOff val="0"/>
                <a:lumOff val="0"/>
                <a:alphaOff val="0"/>
                <a:shade val="93000"/>
                <a:satMod val="110000"/>
                <a:lumMod val="99000"/>
              </a:schemeClr>
            </a:gs>
          </a:gsLst>
          <a:lin ang="5400000" scaled="0"/>
        </a:gradFill>
        <a:ln w="6350" cap="flat" cmpd="sng" algn="ctr">
          <a:solidFill>
            <a:schemeClr val="accent4">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F13D4736-C257-2645-8614-9ABC0AE9DAE8}">
      <dsp:nvSpPr>
        <dsp:cNvPr id="0" name=""/>
        <dsp:cNvSpPr/>
      </dsp:nvSpPr>
      <dsp:spPr>
        <a:xfrm>
          <a:off x="0" y="615949"/>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[MMZZM01] Moskewicz, M.W., Madigan, C.F., Zhao, Y., Zhang, L. and Malik, S. Chaff: Engineering an efficient SAT solver. DAC 2001</a:t>
          </a:r>
        </a:p>
      </dsp:txBody>
      <dsp:txXfrm>
        <a:off x="0" y="615949"/>
        <a:ext cx="5607050" cy="307974"/>
      </dsp:txXfrm>
    </dsp:sp>
    <dsp:sp modelId="{D7A24A41-01ED-5A45-BD1F-1BE64911E8A1}">
      <dsp:nvSpPr>
        <dsp:cNvPr id="0" name=""/>
        <dsp:cNvSpPr/>
      </dsp:nvSpPr>
      <dsp:spPr>
        <a:xfrm>
          <a:off x="0" y="923924"/>
          <a:ext cx="5607050" cy="0"/>
        </a:xfrm>
        <a:prstGeom prst="line">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3000"/>
                <a:lumMod val="100000"/>
              </a:schemeClr>
            </a:gs>
            <a:gs pos="100000">
              <a:schemeClr val="accent5">
                <a:hueOff val="0"/>
                <a:satOff val="0"/>
                <a:lumOff val="0"/>
                <a:alphaOff val="0"/>
                <a:shade val="93000"/>
                <a:satMod val="110000"/>
                <a:lumMod val="99000"/>
              </a:schemeClr>
            </a:gs>
          </a:gsLst>
          <a:lin ang="5400000" scaled="0"/>
        </a:gradFill>
        <a:ln w="6350" cap="flat"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520ACFCD-6284-3948-A45F-6265AC59ADEB}">
      <dsp:nvSpPr>
        <dsp:cNvPr id="0" name=""/>
        <dsp:cNvSpPr/>
      </dsp:nvSpPr>
      <dsp:spPr>
        <a:xfrm>
          <a:off x="0" y="923924"/>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[BKS03] Beame, P., Kautz, H., Sabharwal, A. Understanding the Power of Clause Learning. IJCAI 2003</a:t>
          </a:r>
        </a:p>
      </dsp:txBody>
      <dsp:txXfrm>
        <a:off x="0" y="923924"/>
        <a:ext cx="5607050" cy="307974"/>
      </dsp:txXfrm>
    </dsp:sp>
    <dsp:sp modelId="{6FF3DF29-F0B7-D74F-ADC5-1145EEA332BD}">
      <dsp:nvSpPr>
        <dsp:cNvPr id="0" name=""/>
        <dsp:cNvSpPr/>
      </dsp:nvSpPr>
      <dsp:spPr>
        <a:xfrm>
          <a:off x="0" y="1231899"/>
          <a:ext cx="5607050" cy="0"/>
        </a:xfrm>
        <a:prstGeom prst="line">
          <a:avLst/>
        </a:prstGeom>
        <a:gradFill rotWithShape="0">
          <a:gsLst>
            <a:gs pos="0">
              <a:schemeClr val="accent6">
                <a:hueOff val="0"/>
                <a:satOff val="0"/>
                <a:lumOff val="0"/>
                <a:alphaOff val="0"/>
                <a:tint val="97000"/>
                <a:satMod val="100000"/>
                <a:lumMod val="102000"/>
              </a:schemeClr>
            </a:gs>
            <a:gs pos="50000">
              <a:schemeClr val="accent6">
                <a:hueOff val="0"/>
                <a:satOff val="0"/>
                <a:lumOff val="0"/>
                <a:alphaOff val="0"/>
                <a:shade val="100000"/>
                <a:satMod val="103000"/>
                <a:lumMod val="100000"/>
              </a:schemeClr>
            </a:gs>
            <a:gs pos="100000">
              <a:schemeClr val="accent6">
                <a:hueOff val="0"/>
                <a:satOff val="0"/>
                <a:lumOff val="0"/>
                <a:alphaOff val="0"/>
                <a:shade val="93000"/>
                <a:satMod val="110000"/>
                <a:lumMod val="99000"/>
              </a:schemeClr>
            </a:gs>
          </a:gsLst>
          <a:lin ang="5400000" scaled="0"/>
        </a:gradFill>
        <a:ln w="6350" cap="flat" cmpd="sng" algn="ctr">
          <a:solidFill>
            <a:schemeClr val="accent6">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516133CB-06AB-254D-889A-78BD491866B8}">
      <dsp:nvSpPr>
        <dsp:cNvPr id="0" name=""/>
        <dsp:cNvSpPr/>
      </dsp:nvSpPr>
      <dsp:spPr>
        <a:xfrm>
          <a:off x="0" y="1231899"/>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[WGS03] Williams, R., Gomes, C.P. and Selman, B. Backdoors to typical case complexity. IJCAI 2003</a:t>
          </a:r>
        </a:p>
      </dsp:txBody>
      <dsp:txXfrm>
        <a:off x="0" y="1231899"/>
        <a:ext cx="5607050" cy="307974"/>
      </dsp:txXfrm>
    </dsp:sp>
    <dsp:sp modelId="{293F799F-EACB-BE4D-A239-838DF82703BA}">
      <dsp:nvSpPr>
        <dsp:cNvPr id="0" name=""/>
        <dsp:cNvSpPr/>
      </dsp:nvSpPr>
      <dsp:spPr>
        <a:xfrm>
          <a:off x="0" y="1539874"/>
          <a:ext cx="5607050" cy="0"/>
        </a:xfrm>
        <a:prstGeom prst="line">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w="6350"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EE11B5F5-2FA9-F446-9F4E-58AA3E978D06}">
      <dsp:nvSpPr>
        <dsp:cNvPr id="0" name=""/>
        <dsp:cNvSpPr/>
      </dsp:nvSpPr>
      <dsp:spPr>
        <a:xfrm>
          <a:off x="0" y="1539874"/>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[BSG09] Dilkina, B., Gomes, C.P. and Sabharwal, A. Backdoors in the context of learning. SAT 2009</a:t>
          </a:r>
        </a:p>
      </dsp:txBody>
      <dsp:txXfrm>
        <a:off x="0" y="1539874"/>
        <a:ext cx="5607050" cy="307974"/>
      </dsp:txXfrm>
    </dsp:sp>
    <dsp:sp modelId="{E86776EC-1D07-FD41-89E6-B7716336CFC7}">
      <dsp:nvSpPr>
        <dsp:cNvPr id="0" name=""/>
        <dsp:cNvSpPr/>
      </dsp:nvSpPr>
      <dsp:spPr>
        <a:xfrm>
          <a:off x="0" y="1847849"/>
          <a:ext cx="5607050" cy="0"/>
        </a:xfrm>
        <a:prstGeom prst="line">
          <a:avLst/>
        </a:prstGeom>
        <a:gradFill rotWithShape="0">
          <a:gsLst>
            <a:gs pos="0">
              <a:schemeClr val="accent3">
                <a:hueOff val="0"/>
                <a:satOff val="0"/>
                <a:lumOff val="0"/>
                <a:alphaOff val="0"/>
                <a:tint val="97000"/>
                <a:satMod val="100000"/>
                <a:lumMod val="102000"/>
              </a:schemeClr>
            </a:gs>
            <a:gs pos="50000">
              <a:schemeClr val="accent3">
                <a:hueOff val="0"/>
                <a:satOff val="0"/>
                <a:lumOff val="0"/>
                <a:alphaOff val="0"/>
                <a:shade val="100000"/>
                <a:satMod val="103000"/>
                <a:lumMod val="100000"/>
              </a:schemeClr>
            </a:gs>
            <a:gs pos="100000">
              <a:schemeClr val="accent3">
                <a:hueOff val="0"/>
                <a:satOff val="0"/>
                <a:lumOff val="0"/>
                <a:alphaOff val="0"/>
                <a:shade val="93000"/>
                <a:satMod val="110000"/>
                <a:lumMod val="99000"/>
              </a:schemeClr>
            </a:gs>
          </a:gsLst>
          <a:lin ang="5400000" scaled="0"/>
        </a:gradFill>
        <a:ln w="6350" cap="flat" cmpd="sng" algn="ctr">
          <a:solidFill>
            <a:schemeClr val="accent3">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21B491C-30C9-164D-91FF-B6DB26365E63}">
      <dsp:nvSpPr>
        <dsp:cNvPr id="0" name=""/>
        <dsp:cNvSpPr/>
      </dsp:nvSpPr>
      <dsp:spPr>
        <a:xfrm>
          <a:off x="0" y="1847849"/>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[KSM11] Katebi, H., Sakallah, K.A. and Marques-Silva, J.P. Empirical study of the anatomy of modern SAT solvers. SAT 2011</a:t>
          </a:r>
        </a:p>
      </dsp:txBody>
      <dsp:txXfrm>
        <a:off x="0" y="1847849"/>
        <a:ext cx="5607050" cy="307974"/>
      </dsp:txXfrm>
    </dsp:sp>
    <dsp:sp modelId="{7A21DCF2-3608-7849-96E5-A778CD24D84F}">
      <dsp:nvSpPr>
        <dsp:cNvPr id="0" name=""/>
        <dsp:cNvSpPr/>
      </dsp:nvSpPr>
      <dsp:spPr>
        <a:xfrm>
          <a:off x="0" y="2155824"/>
          <a:ext cx="5607050" cy="0"/>
        </a:xfrm>
        <a:prstGeom prst="line">
          <a:avLst/>
        </a:prstGeom>
        <a:gradFill rotWithShape="0">
          <a:gsLst>
            <a:gs pos="0">
              <a:schemeClr val="accent4">
                <a:hueOff val="0"/>
                <a:satOff val="0"/>
                <a:lumOff val="0"/>
                <a:alphaOff val="0"/>
                <a:tint val="97000"/>
                <a:satMod val="100000"/>
                <a:lumMod val="102000"/>
              </a:schemeClr>
            </a:gs>
            <a:gs pos="50000">
              <a:schemeClr val="accent4">
                <a:hueOff val="0"/>
                <a:satOff val="0"/>
                <a:lumOff val="0"/>
                <a:alphaOff val="0"/>
                <a:shade val="100000"/>
                <a:satMod val="103000"/>
                <a:lumMod val="100000"/>
              </a:schemeClr>
            </a:gs>
            <a:gs pos="100000">
              <a:schemeClr val="accent4">
                <a:hueOff val="0"/>
                <a:satOff val="0"/>
                <a:lumOff val="0"/>
                <a:alphaOff val="0"/>
                <a:shade val="93000"/>
                <a:satMod val="110000"/>
                <a:lumMod val="99000"/>
              </a:schemeClr>
            </a:gs>
          </a:gsLst>
          <a:lin ang="5400000" scaled="0"/>
        </a:gradFill>
        <a:ln w="6350" cap="flat" cmpd="sng" algn="ctr">
          <a:solidFill>
            <a:schemeClr val="accent4">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4B10CB21-57DA-1947-8D4B-886C530FF6AE}">
      <dsp:nvSpPr>
        <dsp:cNvPr id="0" name=""/>
        <dsp:cNvSpPr/>
      </dsp:nvSpPr>
      <dsp:spPr>
        <a:xfrm>
          <a:off x="0" y="2155824"/>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[AFT11] Atserias, A., Fichte, J., and Thurley, M. Clause Learning Algorithms with Many Restarts and Bounded-width Resolution. JAIR 2011</a:t>
          </a:r>
        </a:p>
      </dsp:txBody>
      <dsp:txXfrm>
        <a:off x="0" y="2155824"/>
        <a:ext cx="5607050" cy="307974"/>
      </dsp:txXfrm>
    </dsp:sp>
    <dsp:sp modelId="{62F2D648-25A2-164F-987E-6B74FF535488}">
      <dsp:nvSpPr>
        <dsp:cNvPr id="0" name=""/>
        <dsp:cNvSpPr/>
      </dsp:nvSpPr>
      <dsp:spPr>
        <a:xfrm>
          <a:off x="0" y="2463799"/>
          <a:ext cx="5607050" cy="0"/>
        </a:xfrm>
        <a:prstGeom prst="line">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3000"/>
                <a:lumMod val="100000"/>
              </a:schemeClr>
            </a:gs>
            <a:gs pos="100000">
              <a:schemeClr val="accent5">
                <a:hueOff val="0"/>
                <a:satOff val="0"/>
                <a:lumOff val="0"/>
                <a:alphaOff val="0"/>
                <a:shade val="93000"/>
                <a:satMod val="110000"/>
                <a:lumMod val="99000"/>
              </a:schemeClr>
            </a:gs>
          </a:gsLst>
          <a:lin ang="5400000" scaled="0"/>
        </a:gradFill>
        <a:ln w="6350" cap="flat"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FC2BC21-9A3C-6248-B66B-33E1847D1EEA}">
      <dsp:nvSpPr>
        <dsp:cNvPr id="0" name=""/>
        <dsp:cNvSpPr/>
      </dsp:nvSpPr>
      <dsp:spPr>
        <a:xfrm>
          <a:off x="0" y="2463799"/>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[PD11] Pipatsrisawat, K., and Darwiche, A. On the Power of Clause-learning SAT Solvers as Resolution Engines. AI 2011</a:t>
          </a:r>
        </a:p>
      </dsp:txBody>
      <dsp:txXfrm>
        <a:off x="0" y="2463799"/>
        <a:ext cx="5607050" cy="307974"/>
      </dsp:txXfrm>
    </dsp:sp>
    <dsp:sp modelId="{DC80B345-5CBF-C741-A712-47B395FF1350}">
      <dsp:nvSpPr>
        <dsp:cNvPr id="0" name=""/>
        <dsp:cNvSpPr/>
      </dsp:nvSpPr>
      <dsp:spPr>
        <a:xfrm>
          <a:off x="0" y="2771774"/>
          <a:ext cx="5607050" cy="0"/>
        </a:xfrm>
        <a:prstGeom prst="line">
          <a:avLst/>
        </a:prstGeom>
        <a:gradFill rotWithShape="0">
          <a:gsLst>
            <a:gs pos="0">
              <a:schemeClr val="accent6">
                <a:hueOff val="0"/>
                <a:satOff val="0"/>
                <a:lumOff val="0"/>
                <a:alphaOff val="0"/>
                <a:tint val="97000"/>
                <a:satMod val="100000"/>
                <a:lumMod val="102000"/>
              </a:schemeClr>
            </a:gs>
            <a:gs pos="50000">
              <a:schemeClr val="accent6">
                <a:hueOff val="0"/>
                <a:satOff val="0"/>
                <a:lumOff val="0"/>
                <a:alphaOff val="0"/>
                <a:shade val="100000"/>
                <a:satMod val="103000"/>
                <a:lumMod val="100000"/>
              </a:schemeClr>
            </a:gs>
            <a:gs pos="100000">
              <a:schemeClr val="accent6">
                <a:hueOff val="0"/>
                <a:satOff val="0"/>
                <a:lumOff val="0"/>
                <a:alphaOff val="0"/>
                <a:shade val="93000"/>
                <a:satMod val="110000"/>
                <a:lumMod val="99000"/>
              </a:schemeClr>
            </a:gs>
          </a:gsLst>
          <a:lin ang="5400000" scaled="0"/>
        </a:gradFill>
        <a:ln w="6350" cap="flat" cmpd="sng" algn="ctr">
          <a:solidFill>
            <a:schemeClr val="accent6">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AB35BDE6-FA2F-5942-B42F-3BDD45905DD5}">
      <dsp:nvSpPr>
        <dsp:cNvPr id="0" name=""/>
        <dsp:cNvSpPr/>
      </dsp:nvSpPr>
      <dsp:spPr>
        <a:xfrm>
          <a:off x="0" y="2771774"/>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[NGFAS14] Newsham, Z., Ganesh, V., Audemard, G. and Simon, L. Impact of community structure on SAT solver performance. SAT 2014</a:t>
          </a:r>
        </a:p>
      </dsp:txBody>
      <dsp:txXfrm>
        <a:off x="0" y="2771774"/>
        <a:ext cx="5607050" cy="307974"/>
      </dsp:txXfrm>
    </dsp:sp>
    <dsp:sp modelId="{107B0BCC-0212-F24B-9572-BA1D97B21891}">
      <dsp:nvSpPr>
        <dsp:cNvPr id="0" name=""/>
        <dsp:cNvSpPr/>
      </dsp:nvSpPr>
      <dsp:spPr>
        <a:xfrm>
          <a:off x="0" y="3079749"/>
          <a:ext cx="5607050" cy="0"/>
        </a:xfrm>
        <a:prstGeom prst="line">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w="6350"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F8395A36-3090-344D-901D-A88844218DF3}">
      <dsp:nvSpPr>
        <dsp:cNvPr id="0" name=""/>
        <dsp:cNvSpPr/>
      </dsp:nvSpPr>
      <dsp:spPr>
        <a:xfrm>
          <a:off x="0" y="3079749"/>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[LGZC15] Liang, J.H., Ganesh, V., Zulkoski, E., and Czarnecki, K. Understanding VSIDS branching heuristics in SAT solvers. HVC 2015.</a:t>
          </a:r>
        </a:p>
      </dsp:txBody>
      <dsp:txXfrm>
        <a:off x="0" y="3079749"/>
        <a:ext cx="5607050" cy="307974"/>
      </dsp:txXfrm>
    </dsp:sp>
    <dsp:sp modelId="{8C905CEE-6F1E-D84B-9D37-D5EA2DED8CFC}">
      <dsp:nvSpPr>
        <dsp:cNvPr id="0" name=""/>
        <dsp:cNvSpPr/>
      </dsp:nvSpPr>
      <dsp:spPr>
        <a:xfrm>
          <a:off x="0" y="3387724"/>
          <a:ext cx="5607050" cy="0"/>
        </a:xfrm>
        <a:prstGeom prst="line">
          <a:avLst/>
        </a:prstGeom>
        <a:gradFill rotWithShape="0">
          <a:gsLst>
            <a:gs pos="0">
              <a:schemeClr val="accent3">
                <a:hueOff val="0"/>
                <a:satOff val="0"/>
                <a:lumOff val="0"/>
                <a:alphaOff val="0"/>
                <a:tint val="97000"/>
                <a:satMod val="100000"/>
                <a:lumMod val="102000"/>
              </a:schemeClr>
            </a:gs>
            <a:gs pos="50000">
              <a:schemeClr val="accent3">
                <a:hueOff val="0"/>
                <a:satOff val="0"/>
                <a:lumOff val="0"/>
                <a:alphaOff val="0"/>
                <a:shade val="100000"/>
                <a:satMod val="103000"/>
                <a:lumMod val="100000"/>
              </a:schemeClr>
            </a:gs>
            <a:gs pos="100000">
              <a:schemeClr val="accent3">
                <a:hueOff val="0"/>
                <a:satOff val="0"/>
                <a:lumOff val="0"/>
                <a:alphaOff val="0"/>
                <a:shade val="93000"/>
                <a:satMod val="110000"/>
                <a:lumMod val="99000"/>
              </a:schemeClr>
            </a:gs>
          </a:gsLst>
          <a:lin ang="5400000" scaled="0"/>
        </a:gradFill>
        <a:ln w="6350" cap="flat" cmpd="sng" algn="ctr">
          <a:solidFill>
            <a:schemeClr val="accent3">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76FCA210-9EFB-6441-928A-62A4C47E4FB0}">
      <dsp:nvSpPr>
        <dsp:cNvPr id="0" name=""/>
        <dsp:cNvSpPr/>
      </dsp:nvSpPr>
      <dsp:spPr>
        <a:xfrm>
          <a:off x="0" y="3387724"/>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[LGPC16] Liang, J.H., Ganesh, V., Poupart, P., and Czarnecki, K. Learning Rate Based Branching Heuristic for SAT Solvers. SAT 2016</a:t>
          </a:r>
        </a:p>
      </dsp:txBody>
      <dsp:txXfrm>
        <a:off x="0" y="3387724"/>
        <a:ext cx="5607050" cy="307974"/>
      </dsp:txXfrm>
    </dsp:sp>
    <dsp:sp modelId="{358F53AC-C11D-C24A-8038-3EA3698198FF}">
      <dsp:nvSpPr>
        <dsp:cNvPr id="0" name=""/>
        <dsp:cNvSpPr/>
      </dsp:nvSpPr>
      <dsp:spPr>
        <a:xfrm>
          <a:off x="0" y="3695699"/>
          <a:ext cx="5607050" cy="0"/>
        </a:xfrm>
        <a:prstGeom prst="line">
          <a:avLst/>
        </a:prstGeom>
        <a:gradFill rotWithShape="0">
          <a:gsLst>
            <a:gs pos="0">
              <a:schemeClr val="accent4">
                <a:hueOff val="0"/>
                <a:satOff val="0"/>
                <a:lumOff val="0"/>
                <a:alphaOff val="0"/>
                <a:tint val="97000"/>
                <a:satMod val="100000"/>
                <a:lumMod val="102000"/>
              </a:schemeClr>
            </a:gs>
            <a:gs pos="50000">
              <a:schemeClr val="accent4">
                <a:hueOff val="0"/>
                <a:satOff val="0"/>
                <a:lumOff val="0"/>
                <a:alphaOff val="0"/>
                <a:shade val="100000"/>
                <a:satMod val="103000"/>
                <a:lumMod val="100000"/>
              </a:schemeClr>
            </a:gs>
            <a:gs pos="100000">
              <a:schemeClr val="accent4">
                <a:hueOff val="0"/>
                <a:satOff val="0"/>
                <a:lumOff val="0"/>
                <a:alphaOff val="0"/>
                <a:shade val="93000"/>
                <a:satMod val="110000"/>
                <a:lumMod val="99000"/>
              </a:schemeClr>
            </a:gs>
          </a:gsLst>
          <a:lin ang="5400000" scaled="0"/>
        </a:gradFill>
        <a:ln w="6350" cap="flat" cmpd="sng" algn="ctr">
          <a:solidFill>
            <a:schemeClr val="accent4">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46F6EC2E-2AC4-7A4C-9084-618DDF45DCB3}">
      <dsp:nvSpPr>
        <dsp:cNvPr id="0" name=""/>
        <dsp:cNvSpPr/>
      </dsp:nvSpPr>
      <dsp:spPr>
        <a:xfrm>
          <a:off x="0" y="3695699"/>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[LGPC+16] Liang, J.H., Ganesh, V., Poupart, P., and Czarnecki, K. Conflict-history Based Branching Heuristic for SAT Solvers. AAAI 2016</a:t>
          </a:r>
        </a:p>
      </dsp:txBody>
      <dsp:txXfrm>
        <a:off x="0" y="3695699"/>
        <a:ext cx="5607050" cy="307974"/>
      </dsp:txXfrm>
    </dsp:sp>
    <dsp:sp modelId="{0D830BD8-2915-0F45-AB00-FF14101A9B53}">
      <dsp:nvSpPr>
        <dsp:cNvPr id="0" name=""/>
        <dsp:cNvSpPr/>
      </dsp:nvSpPr>
      <dsp:spPr>
        <a:xfrm>
          <a:off x="0" y="4003674"/>
          <a:ext cx="5607050" cy="0"/>
        </a:xfrm>
        <a:prstGeom prst="line">
          <a:avLst/>
        </a:prstGeom>
        <a:gradFill rotWithShape="0">
          <a:gsLst>
            <a:gs pos="0">
              <a:schemeClr val="accent5">
                <a:hueOff val="0"/>
                <a:satOff val="0"/>
                <a:lumOff val="0"/>
                <a:alphaOff val="0"/>
                <a:tint val="97000"/>
                <a:satMod val="100000"/>
                <a:lumMod val="102000"/>
              </a:schemeClr>
            </a:gs>
            <a:gs pos="50000">
              <a:schemeClr val="accent5">
                <a:hueOff val="0"/>
                <a:satOff val="0"/>
                <a:lumOff val="0"/>
                <a:alphaOff val="0"/>
                <a:shade val="100000"/>
                <a:satMod val="103000"/>
                <a:lumMod val="100000"/>
              </a:schemeClr>
            </a:gs>
            <a:gs pos="100000">
              <a:schemeClr val="accent5">
                <a:hueOff val="0"/>
                <a:satOff val="0"/>
                <a:lumOff val="0"/>
                <a:alphaOff val="0"/>
                <a:shade val="93000"/>
                <a:satMod val="110000"/>
                <a:lumMod val="99000"/>
              </a:schemeClr>
            </a:gs>
          </a:gsLst>
          <a:lin ang="5400000" scaled="0"/>
        </a:gradFill>
        <a:ln w="6350" cap="flat" cmpd="sng" algn="ctr">
          <a:solidFill>
            <a:schemeClr val="accent5">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2428F284-303E-FB4E-AC8B-96033182AD27}">
      <dsp:nvSpPr>
        <dsp:cNvPr id="0" name=""/>
        <dsp:cNvSpPr/>
      </dsp:nvSpPr>
      <dsp:spPr>
        <a:xfrm>
          <a:off x="0" y="4003674"/>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[RKG18] Robere, R., Kolkolova, A., Ganesh, V. Proof Complexity of SMT Solvers. CAV 2018</a:t>
          </a:r>
        </a:p>
      </dsp:txBody>
      <dsp:txXfrm>
        <a:off x="0" y="4003674"/>
        <a:ext cx="5607050" cy="307974"/>
      </dsp:txXfrm>
    </dsp:sp>
    <dsp:sp modelId="{88455601-611D-4C49-AB4B-0358D08C78BF}">
      <dsp:nvSpPr>
        <dsp:cNvPr id="0" name=""/>
        <dsp:cNvSpPr/>
      </dsp:nvSpPr>
      <dsp:spPr>
        <a:xfrm>
          <a:off x="0" y="4311649"/>
          <a:ext cx="5607050" cy="0"/>
        </a:xfrm>
        <a:prstGeom prst="line">
          <a:avLst/>
        </a:prstGeom>
        <a:gradFill rotWithShape="0">
          <a:gsLst>
            <a:gs pos="0">
              <a:schemeClr val="accent6">
                <a:hueOff val="0"/>
                <a:satOff val="0"/>
                <a:lumOff val="0"/>
                <a:alphaOff val="0"/>
                <a:tint val="97000"/>
                <a:satMod val="100000"/>
                <a:lumMod val="102000"/>
              </a:schemeClr>
            </a:gs>
            <a:gs pos="50000">
              <a:schemeClr val="accent6">
                <a:hueOff val="0"/>
                <a:satOff val="0"/>
                <a:lumOff val="0"/>
                <a:alphaOff val="0"/>
                <a:shade val="100000"/>
                <a:satMod val="103000"/>
                <a:lumMod val="100000"/>
              </a:schemeClr>
            </a:gs>
            <a:gs pos="100000">
              <a:schemeClr val="accent6">
                <a:hueOff val="0"/>
                <a:satOff val="0"/>
                <a:lumOff val="0"/>
                <a:alphaOff val="0"/>
                <a:shade val="93000"/>
                <a:satMod val="110000"/>
                <a:lumMod val="99000"/>
              </a:schemeClr>
            </a:gs>
          </a:gsLst>
          <a:lin ang="5400000" scaled="0"/>
        </a:gradFill>
        <a:ln w="6350" cap="flat" cmpd="sng" algn="ctr">
          <a:solidFill>
            <a:schemeClr val="accent6">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8F077D96-13BD-C14F-ABA0-FACB52D9E1B7}">
      <dsp:nvSpPr>
        <dsp:cNvPr id="0" name=""/>
        <dsp:cNvSpPr/>
      </dsp:nvSpPr>
      <dsp:spPr>
        <a:xfrm>
          <a:off x="0" y="4311649"/>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[SPG20] Scott, J., Panju, M., and Ganesh, V. Logic Guided Machine Learning AAAI 2020</a:t>
          </a:r>
        </a:p>
      </dsp:txBody>
      <dsp:txXfrm>
        <a:off x="0" y="4311649"/>
        <a:ext cx="5607050" cy="307974"/>
      </dsp:txXfrm>
    </dsp:sp>
    <dsp:sp modelId="{9CDCA818-1673-0044-9BAA-7E70FE94D0AB}">
      <dsp:nvSpPr>
        <dsp:cNvPr id="0" name=""/>
        <dsp:cNvSpPr/>
      </dsp:nvSpPr>
      <dsp:spPr>
        <a:xfrm>
          <a:off x="0" y="4619624"/>
          <a:ext cx="5607050" cy="0"/>
        </a:xfrm>
        <a:prstGeom prst="line">
          <a:avLst/>
        </a:prstGeom>
        <a:gradFill rotWithShape="0">
          <a:gsLst>
            <a:gs pos="0">
              <a:schemeClr val="accent2">
                <a:hueOff val="0"/>
                <a:satOff val="0"/>
                <a:lumOff val="0"/>
                <a:alphaOff val="0"/>
                <a:tint val="97000"/>
                <a:satMod val="100000"/>
                <a:lumMod val="102000"/>
              </a:schemeClr>
            </a:gs>
            <a:gs pos="50000">
              <a:schemeClr val="accent2">
                <a:hueOff val="0"/>
                <a:satOff val="0"/>
                <a:lumOff val="0"/>
                <a:alphaOff val="0"/>
                <a:shade val="100000"/>
                <a:satMod val="103000"/>
                <a:lumMod val="100000"/>
              </a:schemeClr>
            </a:gs>
            <a:gs pos="100000">
              <a:schemeClr val="accent2">
                <a:hueOff val="0"/>
                <a:satOff val="0"/>
                <a:lumOff val="0"/>
                <a:alphaOff val="0"/>
                <a:shade val="93000"/>
                <a:satMod val="110000"/>
                <a:lumMod val="99000"/>
              </a:schemeClr>
            </a:gs>
          </a:gsLst>
          <a:lin ang="5400000" scaled="0"/>
        </a:gradFill>
        <a:ln w="6350" cap="flat" cmpd="sng" algn="ctr">
          <a:solidFill>
            <a:schemeClr val="accent2">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sp>
    <dsp:sp modelId="{B143F331-0493-724C-830A-C014E4F59E01}">
      <dsp:nvSpPr>
        <dsp:cNvPr id="0" name=""/>
        <dsp:cNvSpPr/>
      </dsp:nvSpPr>
      <dsp:spPr>
        <a:xfrm>
          <a:off x="0" y="4619624"/>
          <a:ext cx="5607050" cy="3079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t" anchorCtr="0">
          <a:noAutofit/>
        </a:bodyPr>
        <a:lstStyle/>
        <a:p>
          <a:pPr marL="0" lvl="0" indent="0" algn="l" defTabSz="400050">
            <a:lnSpc>
              <a:spcPct val="90000"/>
            </a:lnSpc>
            <a:spcBef>
              <a:spcPct val="0"/>
            </a:spcBef>
            <a:spcAft>
              <a:spcPct val="35000"/>
            </a:spcAft>
            <a:buNone/>
          </a:pPr>
          <a:r>
            <a:rPr lang="en-US" sz="900" kern="1200"/>
            <a:t>[BBCGKV13] Babka et al. Complexity Issues related to Propagation Completeness. JAIR 2013</a:t>
          </a:r>
        </a:p>
      </dsp:txBody>
      <dsp:txXfrm>
        <a:off x="0" y="4619624"/>
        <a:ext cx="5607050" cy="30797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118C9F-8A5F-4DC0-B2B8-18A6B15B3644}" type="datetimeFigureOut">
              <a:rPr lang="en-US" smtClean="0"/>
              <a:t>9/29/25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E9E863-F62F-4498-8208-B411469B62F1}" type="slidenum">
              <a:rPr lang="en-US" smtClean="0"/>
              <a:t>‹#›</a:t>
            </a:fld>
            <a:endParaRPr lang="en-US"/>
          </a:p>
        </p:txBody>
      </p:sp>
    </p:spTree>
    <p:extLst>
      <p:ext uri="{BB962C8B-B14F-4D97-AF65-F5344CB8AC3E}">
        <p14:creationId xmlns:p14="http://schemas.microsoft.com/office/powerpoint/2010/main" val="1559446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E9E863-F62F-4498-8208-B411469B62F1}" type="slidenum">
              <a:rPr lang="en-US" smtClean="0"/>
              <a:t>1</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2135261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E9E863-F62F-4498-8208-B411469B62F1}" type="slidenum">
              <a:rPr lang="en-US" smtClean="0"/>
              <a:t>2</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4151950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E9E863-F62F-4498-8208-B411469B62F1}" type="slidenum">
              <a:rPr lang="en-US" smtClean="0"/>
              <a:t>4</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1147207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E9E863-F62F-4498-8208-B411469B62F1}" type="slidenum">
              <a:rPr lang="en-US" smtClean="0"/>
              <a:t>5</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7188432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E9E863-F62F-4498-8208-B411469B62F1}" type="slidenum">
              <a:rPr lang="en-US" smtClean="0"/>
              <a:t>6</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11078030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E9E863-F62F-4498-8208-B411469B62F1}" type="slidenum">
              <a:rPr lang="en-US" smtClean="0"/>
              <a:t>7</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2357213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9</a:t>
            </a:fld>
            <a:endParaRPr lang="en-CA"/>
          </a:p>
        </p:txBody>
      </p:sp>
    </p:spTree>
    <p:extLst>
      <p:ext uri="{BB962C8B-B14F-4D97-AF65-F5344CB8AC3E}">
        <p14:creationId xmlns:p14="http://schemas.microsoft.com/office/powerpoint/2010/main" val="39190443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D8796-723D-D65D-DDAA-8DCD7FC89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C1447-ADBF-F830-F0B3-36415A6D29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2747B3-559C-696E-8B28-F55DD5EE44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D919CD-0CE4-AB00-0765-C785BEB3A43D}"/>
              </a:ext>
            </a:extLst>
          </p:cNvPr>
          <p:cNvSpPr>
            <a:spLocks noGrp="1"/>
          </p:cNvSpPr>
          <p:nvPr>
            <p:ph type="sldNum" sz="quarter" idx="10"/>
          </p:nvPr>
        </p:nvSpPr>
        <p:spPr/>
        <p:txBody>
          <a:bodyPr/>
          <a:lstStyle/>
          <a:p>
            <a:fld id="{F45D18AF-2FFA-425D-B1D6-4D97903E7CA7}" type="slidenum">
              <a:rPr lang="en-CA" smtClean="0"/>
              <a:t>10</a:t>
            </a:fld>
            <a:endParaRPr lang="en-CA"/>
          </a:p>
        </p:txBody>
      </p:sp>
    </p:spTree>
    <p:extLst>
      <p:ext uri="{BB962C8B-B14F-4D97-AF65-F5344CB8AC3E}">
        <p14:creationId xmlns:p14="http://schemas.microsoft.com/office/powerpoint/2010/main" val="12992128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11</a:t>
            </a:fld>
            <a:endParaRPr lang="en-CA"/>
          </a:p>
        </p:txBody>
      </p:sp>
    </p:spTree>
    <p:extLst>
      <p:ext uri="{BB962C8B-B14F-4D97-AF65-F5344CB8AC3E}">
        <p14:creationId xmlns:p14="http://schemas.microsoft.com/office/powerpoint/2010/main" val="657918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12</a:t>
            </a:fld>
            <a:endParaRPr lang="en-CA"/>
          </a:p>
        </p:txBody>
      </p:sp>
    </p:spTree>
    <p:extLst>
      <p:ext uri="{BB962C8B-B14F-4D97-AF65-F5344CB8AC3E}">
        <p14:creationId xmlns:p14="http://schemas.microsoft.com/office/powerpoint/2010/main" val="5466632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2DBED-BEB8-5DF9-7661-816854FCA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47A49C-29A6-CB72-30A9-3316AE2BE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45E523-AC15-E4A1-B58C-DF30662B031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33E1DB5-79C2-D50F-CA88-359B98AA3D91}"/>
              </a:ext>
            </a:extLst>
          </p:cNvPr>
          <p:cNvSpPr>
            <a:spLocks noGrp="1"/>
          </p:cNvSpPr>
          <p:nvPr>
            <p:ph type="sldNum" sz="quarter" idx="10"/>
          </p:nvPr>
        </p:nvSpPr>
        <p:spPr/>
        <p:txBody>
          <a:bodyPr/>
          <a:lstStyle/>
          <a:p>
            <a:fld id="{F45D18AF-2FFA-425D-B1D6-4D97903E7CA7}" type="slidenum">
              <a:rPr lang="en-CA" smtClean="0"/>
              <a:t>13</a:t>
            </a:fld>
            <a:endParaRPr lang="en-CA"/>
          </a:p>
        </p:txBody>
      </p:sp>
    </p:spTree>
    <p:extLst>
      <p:ext uri="{BB962C8B-B14F-4D97-AF65-F5344CB8AC3E}">
        <p14:creationId xmlns:p14="http://schemas.microsoft.com/office/powerpoint/2010/main" val="540849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BE9E863-F62F-4498-8208-B411469B62F1}" type="slidenum">
              <a:rPr lang="en-US" smtClean="0"/>
              <a:t>17</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8633588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BE9E863-F62F-4498-8208-B411469B62F1}" type="slidenum">
              <a:rPr lang="en-US" smtClean="0"/>
              <a:t>18</a:t>
            </a:fld>
            <a:endParaRPr lang="en-US"/>
          </a:p>
        </p:txBody>
      </p:sp>
      <p:sp>
        <p:nvSpPr>
          <p:cNvPr id="5" name="Footer Placeholder 4"/>
          <p:cNvSpPr>
            <a:spLocks noGrp="1"/>
          </p:cNvSpPr>
          <p:nvPr>
            <p:ph type="ftr" sz="quarter" idx="11"/>
          </p:nvPr>
        </p:nvSpPr>
        <p:spPr/>
        <p:txBody>
          <a:bodyPr/>
          <a:lstStyle/>
          <a:p>
            <a:r>
              <a:rPr lang="en-US"/>
              <a:t>Vijay Ganesh</a:t>
            </a:r>
          </a:p>
        </p:txBody>
      </p:sp>
    </p:spTree>
    <p:extLst>
      <p:ext uri="{BB962C8B-B14F-4D97-AF65-F5344CB8AC3E}">
        <p14:creationId xmlns:p14="http://schemas.microsoft.com/office/powerpoint/2010/main" val="9611858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that observation, we can abstract the CDCL SAT solver into two boxes. The box on the left consists of the branching heuristic and BCP is responsible for constructing the partial assignment. If the assignment it comes up with assignment, it passes the assignment to the box on the right to perform conflict analysis. Conflict analysis then examines the partial assignment and returns feedback in the form a learnt clause to describe why the partial assignment is unsatisfying. This feedback loop between the two boxes is reminiscent of the feedback loop between the agent and environment in reinforcement learning. In fact, this analogy will inspire our new machine learning based branching heuristic that I will present later.</a:t>
            </a:r>
          </a:p>
        </p:txBody>
      </p:sp>
      <p:sp>
        <p:nvSpPr>
          <p:cNvPr id="4" name="Slide Number Placeholder 3"/>
          <p:cNvSpPr>
            <a:spLocks noGrp="1"/>
          </p:cNvSpPr>
          <p:nvPr>
            <p:ph type="sldNum" sz="quarter" idx="10"/>
          </p:nvPr>
        </p:nvSpPr>
        <p:spPr/>
        <p:txBody>
          <a:bodyPr/>
          <a:lstStyle/>
          <a:p>
            <a:fld id="{4EF30A0B-A8F8-4DAD-A596-AA05A9FD8E53}" type="slidenum">
              <a:rPr lang="en-US" smtClean="0"/>
              <a:t>19</a:t>
            </a:fld>
            <a:endParaRPr lang="en-US"/>
          </a:p>
        </p:txBody>
      </p:sp>
    </p:spTree>
    <p:extLst>
      <p:ext uri="{BB962C8B-B14F-4D97-AF65-F5344CB8AC3E}">
        <p14:creationId xmlns:p14="http://schemas.microsoft.com/office/powerpoint/2010/main" val="21099703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21</a:t>
            </a:fld>
            <a:endParaRPr lang="en-CA"/>
          </a:p>
        </p:txBody>
      </p:sp>
    </p:spTree>
    <p:extLst>
      <p:ext uri="{BB962C8B-B14F-4D97-AF65-F5344CB8AC3E}">
        <p14:creationId xmlns:p14="http://schemas.microsoft.com/office/powerpoint/2010/main" val="780436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23</a:t>
            </a:fld>
            <a:endParaRPr lang="en-CA"/>
          </a:p>
        </p:txBody>
      </p:sp>
    </p:spTree>
    <p:extLst>
      <p:ext uri="{BB962C8B-B14F-4D97-AF65-F5344CB8AC3E}">
        <p14:creationId xmlns:p14="http://schemas.microsoft.com/office/powerpoint/2010/main" val="716900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25</a:t>
            </a:fld>
            <a:endParaRPr lang="en-CA"/>
          </a:p>
        </p:txBody>
      </p:sp>
    </p:spTree>
    <p:extLst>
      <p:ext uri="{BB962C8B-B14F-4D97-AF65-F5344CB8AC3E}">
        <p14:creationId xmlns:p14="http://schemas.microsoft.com/office/powerpoint/2010/main" val="9824547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45D18AF-2FFA-425D-B1D6-4D97903E7CA7}" type="slidenum">
              <a:rPr lang="en-CA" smtClean="0"/>
              <a:t>27</a:t>
            </a:fld>
            <a:endParaRPr lang="en-CA"/>
          </a:p>
        </p:txBody>
      </p:sp>
    </p:spTree>
    <p:extLst>
      <p:ext uri="{BB962C8B-B14F-4D97-AF65-F5344CB8AC3E}">
        <p14:creationId xmlns:p14="http://schemas.microsoft.com/office/powerpoint/2010/main" val="28473062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68865777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351362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9389789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477701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53785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358720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987961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08721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415981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319585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16757829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270418"/>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dirty="0"/>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17495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743470935"/>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p:hf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50.png"/><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120.png"/></Relationships>
</file>

<file path=ppt/slides/_rels/slide1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43" name="Rectangle 39942">
            <a:extLst>
              <a:ext uri="{FF2B5EF4-FFF2-40B4-BE49-F238E27FC236}">
                <a16:creationId xmlns:a16="http://schemas.microsoft.com/office/drawing/2014/main" id="{6AD85578-1E4B-4014-9D52-E76894750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accent2">
              <a:alpha val="5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9945" name="Rectangle 39944">
            <a:extLst>
              <a:ext uri="{FF2B5EF4-FFF2-40B4-BE49-F238E27FC236}">
                <a16:creationId xmlns:a16="http://schemas.microsoft.com/office/drawing/2014/main" id="{48550B3F-9390-4CA1-B3C8-91529289DC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4653776"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37" name="Rectangle 1"/>
          <p:cNvSpPr>
            <a:spLocks noGrp="1" noChangeArrowheads="1"/>
          </p:cNvSpPr>
          <p:nvPr>
            <p:ph type="title"/>
          </p:nvPr>
        </p:nvSpPr>
        <p:spPr>
          <a:xfrm>
            <a:off x="1949518" y="1059838"/>
            <a:ext cx="3632052" cy="4738324"/>
          </a:xfrm>
          <a:noFill/>
          <a:ln>
            <a:noFill/>
          </a:ln>
        </p:spPr>
        <p:txBody>
          <a:bodyPr>
            <a:normAutofit/>
          </a:bodyPr>
          <a:lstStyle/>
          <a:p>
            <a:pPr eaLnBrk="1" hangingPunct="1">
              <a:defRPr/>
            </a:pPr>
            <a:r>
              <a:rPr lang="en-US" sz="3600" u="sng" cap="none">
                <a:solidFill>
                  <a:schemeClr val="bg1"/>
                </a:solidFill>
                <a:effectLst>
                  <a:outerShdw blurRad="50800" dist="38100" dir="2700000" algn="tl" rotWithShape="0">
                    <a:srgbClr val="000000">
                      <a:alpha val="43000"/>
                    </a:srgbClr>
                  </a:outerShdw>
                </a:effectLst>
                <a:latin typeface="Times"/>
                <a:cs typeface="Times"/>
              </a:rPr>
              <a:t>Perspectives on Practice and Theory of SAT Solving</a:t>
            </a:r>
            <a:endParaRPr lang="en-US" sz="3600" cap="none" dirty="0">
              <a:solidFill>
                <a:schemeClr val="bg1"/>
              </a:solidFill>
              <a:effectLst>
                <a:outerShdw blurRad="50800" dist="38100" dir="2700000" algn="tl" rotWithShape="0">
                  <a:srgbClr val="000000">
                    <a:alpha val="43000"/>
                  </a:srgbClr>
                </a:outerShdw>
              </a:effectLst>
              <a:latin typeface="Times"/>
              <a:cs typeface="Times"/>
            </a:endParaRPr>
          </a:p>
        </p:txBody>
      </p:sp>
      <p:sp>
        <p:nvSpPr>
          <p:cNvPr id="39938" name="Rectangle 2"/>
          <p:cNvSpPr>
            <a:spLocks noGrp="1" noChangeArrowheads="1"/>
          </p:cNvSpPr>
          <p:nvPr>
            <p:ph type="body" idx="1"/>
          </p:nvPr>
        </p:nvSpPr>
        <p:spPr>
          <a:xfrm>
            <a:off x="6679109" y="1059838"/>
            <a:ext cx="4665397" cy="4738323"/>
          </a:xfrm>
        </p:spPr>
        <p:txBody>
          <a:bodyPr anchor="ctr">
            <a:normAutofit/>
          </a:bodyPr>
          <a:lstStyle/>
          <a:p>
            <a:pPr marL="0" indent="0">
              <a:buNone/>
              <a:defRPr/>
            </a:pPr>
            <a:r>
              <a:rPr lang="en-US" b="1">
                <a:effectLst>
                  <a:innerShdw blurRad="63500" dist="50800" dir="13500000">
                    <a:srgbClr val="000000">
                      <a:alpha val="50000"/>
                    </a:srgbClr>
                  </a:innerShdw>
                </a:effectLst>
                <a:latin typeface="Georgia" charset="0"/>
                <a:ea typeface="Georgia" charset="0"/>
                <a:cs typeface="Georgia" charset="0"/>
              </a:rPr>
              <a:t>Vijay Ganesh</a:t>
            </a:r>
            <a:br>
              <a:rPr lang="en-US" b="1">
                <a:effectLst>
                  <a:innerShdw blurRad="63500" dist="50800" dir="13500000">
                    <a:srgbClr val="000000">
                      <a:alpha val="50000"/>
                    </a:srgbClr>
                  </a:innerShdw>
                </a:effectLst>
                <a:latin typeface="Georgia" charset="0"/>
                <a:ea typeface="Georgia" charset="0"/>
                <a:cs typeface="Georgia" charset="0"/>
              </a:rPr>
            </a:br>
            <a:r>
              <a:rPr lang="en-US" b="1">
                <a:effectLst>
                  <a:innerShdw blurRad="63500" dist="50800" dir="13500000">
                    <a:srgbClr val="000000">
                      <a:alpha val="50000"/>
                    </a:srgbClr>
                  </a:innerShdw>
                </a:effectLst>
                <a:latin typeface="Georgia" charset="0"/>
                <a:ea typeface="Georgia" charset="0"/>
                <a:cs typeface="Georgia" charset="0"/>
              </a:rPr>
              <a:t>University of  Waterloo, Canada</a:t>
            </a:r>
          </a:p>
          <a:p>
            <a:pPr marL="0" indent="0">
              <a:buNone/>
              <a:defRPr/>
            </a:pPr>
            <a:endParaRPr lang="en-US" b="1">
              <a:effectLst>
                <a:innerShdw blurRad="63500" dist="50800" dir="13500000">
                  <a:srgbClr val="000000">
                    <a:alpha val="50000"/>
                  </a:srgbClr>
                </a:innerShdw>
              </a:effectLst>
              <a:latin typeface="Georgia" charset="0"/>
              <a:ea typeface="Georgia" charset="0"/>
              <a:cs typeface="Georgia" charset="0"/>
            </a:endParaRPr>
          </a:p>
          <a:p>
            <a:pPr marL="0" indent="0">
              <a:buNone/>
              <a:defRPr/>
            </a:pPr>
            <a:r>
              <a:rPr lang="en-US" b="1">
                <a:effectLst>
                  <a:innerShdw blurRad="63500" dist="50800" dir="13500000">
                    <a:srgbClr val="000000">
                      <a:alpha val="50000"/>
                    </a:srgbClr>
                  </a:innerShdw>
                </a:effectLst>
                <a:latin typeface="Georgia" charset="0"/>
                <a:ea typeface="Georgia" charset="0"/>
                <a:cs typeface="Georgia" charset="0"/>
              </a:rPr>
              <a:t>SAT Semester @ Simons Institute, Berkeley</a:t>
            </a:r>
            <a:br>
              <a:rPr lang="en-US" b="1">
                <a:effectLst>
                  <a:innerShdw blurRad="63500" dist="50800" dir="13500000">
                    <a:srgbClr val="000000">
                      <a:alpha val="50000"/>
                    </a:srgbClr>
                  </a:innerShdw>
                </a:effectLst>
                <a:latin typeface="Georgia" charset="0"/>
                <a:ea typeface="Georgia" charset="0"/>
                <a:cs typeface="Georgia" charset="0"/>
              </a:rPr>
            </a:br>
            <a:r>
              <a:rPr lang="en-US" b="1">
                <a:effectLst>
                  <a:innerShdw blurRad="63500" dist="50800" dir="13500000">
                    <a:srgbClr val="000000">
                      <a:alpha val="50000"/>
                    </a:srgbClr>
                  </a:innerShdw>
                </a:effectLst>
                <a:latin typeface="Georgia" charset="0"/>
                <a:ea typeface="Georgia" charset="0"/>
                <a:cs typeface="Georgia" charset="0"/>
              </a:rPr>
              <a:t>Feb 10</a:t>
            </a:r>
            <a:r>
              <a:rPr lang="en-US" b="1" baseline="30000">
                <a:effectLst>
                  <a:innerShdw blurRad="63500" dist="50800" dir="13500000">
                    <a:srgbClr val="000000">
                      <a:alpha val="50000"/>
                    </a:srgbClr>
                  </a:innerShdw>
                </a:effectLst>
                <a:latin typeface="Georgia" charset="0"/>
                <a:ea typeface="Georgia" charset="0"/>
                <a:cs typeface="Georgia" charset="0"/>
              </a:rPr>
              <a:t>th</a:t>
            </a:r>
            <a:r>
              <a:rPr lang="en-US" b="1">
                <a:effectLst>
                  <a:innerShdw blurRad="63500" dist="50800" dir="13500000">
                    <a:srgbClr val="000000">
                      <a:alpha val="50000"/>
                    </a:srgbClr>
                  </a:innerShdw>
                </a:effectLst>
                <a:latin typeface="Georgia" charset="0"/>
                <a:ea typeface="Georgia" charset="0"/>
                <a:cs typeface="Georgia" charset="0"/>
              </a:rPr>
              <a:t>, 2021</a:t>
            </a:r>
          </a:p>
        </p:txBody>
      </p:sp>
    </p:spTree>
    <p:extLst>
      <p:ext uri="{BB962C8B-B14F-4D97-AF65-F5344CB8AC3E}">
        <p14:creationId xmlns:p14="http://schemas.microsoft.com/office/powerpoint/2010/main" val="175815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12" name="Rectangle 47111">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114" name="Rectangle 47113">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09" name="Oval 47108">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chemeClr val="accent2">
              <a:lumMod val="75000"/>
            </a:schemeClr>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a:spLocks noGrp="1"/>
          </p:cNvSpPr>
          <p:nvPr>
            <p:ph type="title"/>
          </p:nvPr>
        </p:nvSpPr>
        <p:spPr>
          <a:xfrm>
            <a:off x="1260873" y="1586484"/>
            <a:ext cx="3685032" cy="3685032"/>
          </a:xfrm>
          <a:prstGeom prst="ellipse">
            <a:avLst/>
          </a:prstGeom>
          <a:noFill/>
          <a:ln>
            <a:noFill/>
          </a:ln>
        </p:spPr>
        <p:txBody>
          <a:bodyPr>
            <a:normAutofit/>
          </a:bodyPr>
          <a:lstStyle/>
          <a:p>
            <a:r>
              <a:rPr lang="en-US" sz="3000" cap="none">
                <a:solidFill>
                  <a:srgbClr val="FFFFFF"/>
                </a:solidFill>
                <a:latin typeface="Times" charset="0"/>
                <a:ea typeface="Times" charset="0"/>
                <a:cs typeface="Times" charset="0"/>
              </a:rPr>
              <a:t>Talk Outline</a:t>
            </a:r>
          </a:p>
        </p:txBody>
      </p:sp>
      <p:sp>
        <p:nvSpPr>
          <p:cNvPr id="47107" name="Rectangle 3"/>
          <p:cNvSpPr>
            <a:spLocks noGrp="1" noChangeArrowheads="1"/>
          </p:cNvSpPr>
          <p:nvPr>
            <p:ph type="body" idx="1"/>
          </p:nvPr>
        </p:nvSpPr>
        <p:spPr>
          <a:xfrm>
            <a:off x="5232805" y="80387"/>
            <a:ext cx="6744830" cy="6777613"/>
          </a:xfrm>
        </p:spPr>
        <p:txBody>
          <a:bodyPr anchor="ctr" anchorCtr="0">
            <a:noAutofit/>
          </a:bodyPr>
          <a:lstStyle/>
          <a:p>
            <a:pPr>
              <a:lnSpc>
                <a:spcPct val="90000"/>
              </a:lnSpc>
              <a:buFont typeface="Wingdings" pitchFamily="2" charset="2"/>
              <a:buChar char="Ø"/>
              <a:defRPr/>
            </a:pPr>
            <a:r>
              <a:rPr lang="en-US" dirty="0">
                <a:latin typeface="Times" pitchFamily="2" charset="0"/>
                <a:ea typeface="Times" charset="0"/>
                <a:cs typeface="Times" charset="0"/>
              </a:rPr>
              <a:t>The central question in SAT/SMT solving – “Unreasonable Effectiveness of SAT/SMT Solvers” for many classes of industrial instances. At the same time, slow for others (e.g., crypto)</a:t>
            </a:r>
          </a:p>
          <a:p>
            <a:pPr>
              <a:lnSpc>
                <a:spcPct val="90000"/>
              </a:lnSpc>
              <a:buFont typeface="Wingdings" pitchFamily="2" charset="2"/>
              <a:buChar char="Ø"/>
              <a:defRPr/>
            </a:pPr>
            <a:endParaRPr lang="en-US" dirty="0">
              <a:latin typeface="Times" pitchFamily="2" charset="0"/>
              <a:ea typeface="Times" charset="0"/>
              <a:cs typeface="Times" charset="0"/>
            </a:endParaRPr>
          </a:p>
          <a:p>
            <a:pPr>
              <a:lnSpc>
                <a:spcPct val="90000"/>
              </a:lnSpc>
              <a:buFont typeface="Wingdings" pitchFamily="2" charset="2"/>
              <a:buChar char="Ø"/>
              <a:defRPr/>
            </a:pPr>
            <a:r>
              <a:rPr lang="en-US" dirty="0">
                <a:latin typeface="Times" pitchFamily="2" charset="0"/>
                <a:ea typeface="Times" charset="0"/>
                <a:cs typeface="Times" charset="0"/>
              </a:rPr>
              <a:t>Structural view of industrial instances. Current-best understanding and pitfalls</a:t>
            </a:r>
          </a:p>
          <a:p>
            <a:pPr>
              <a:lnSpc>
                <a:spcPct val="90000"/>
              </a:lnSpc>
              <a:buFont typeface="Wingdings" pitchFamily="2" charset="2"/>
              <a:buChar char="Ø"/>
              <a:defRPr/>
            </a:pPr>
            <a:endParaRPr lang="en-US" dirty="0">
              <a:latin typeface="Times" pitchFamily="2" charset="0"/>
              <a:ea typeface="Times" charset="0"/>
              <a:cs typeface="Times" charset="0"/>
            </a:endParaRPr>
          </a:p>
          <a:p>
            <a:pPr>
              <a:lnSpc>
                <a:spcPct val="90000"/>
              </a:lnSpc>
              <a:buFont typeface="Wingdings" pitchFamily="2" charset="2"/>
              <a:buChar char="Ø"/>
              <a:defRPr/>
            </a:pPr>
            <a:r>
              <a:rPr lang="en-US" dirty="0">
                <a:latin typeface="Times" pitchFamily="2" charset="0"/>
                <a:ea typeface="Times" charset="0"/>
                <a:cs typeface="Times" charset="0"/>
              </a:rPr>
              <a:t>Solvers = proof systems + machine learning view</a:t>
            </a:r>
          </a:p>
          <a:p>
            <a:pPr>
              <a:lnSpc>
                <a:spcPct val="90000"/>
              </a:lnSpc>
              <a:buFont typeface="Wingdings" pitchFamily="2" charset="2"/>
              <a:buChar char="Ø"/>
              <a:defRPr/>
            </a:pPr>
            <a:endParaRPr lang="en-US" dirty="0">
              <a:latin typeface="Times" pitchFamily="2" charset="0"/>
              <a:ea typeface="Times" charset="0"/>
              <a:cs typeface="Times" charset="0"/>
            </a:endParaRPr>
          </a:p>
          <a:p>
            <a:pPr>
              <a:lnSpc>
                <a:spcPct val="90000"/>
              </a:lnSpc>
              <a:buFont typeface="Wingdings" pitchFamily="2" charset="2"/>
              <a:buChar char="Ø"/>
              <a:defRPr/>
            </a:pPr>
            <a:r>
              <a:rPr lang="en-US" dirty="0">
                <a:latin typeface="Times" pitchFamily="2" charset="0"/>
                <a:ea typeface="Times" charset="0"/>
                <a:cs typeface="Times" charset="0"/>
              </a:rPr>
              <a:t> Separation results for solver configurations (e.g., CDCL with restarts and without restarts)</a:t>
            </a:r>
          </a:p>
          <a:p>
            <a:pPr>
              <a:lnSpc>
                <a:spcPct val="90000"/>
              </a:lnSpc>
              <a:buFont typeface="Wingdings" pitchFamily="2" charset="2"/>
              <a:buChar char="Ø"/>
              <a:defRPr/>
            </a:pPr>
            <a:endParaRPr lang="en-US" dirty="0">
              <a:latin typeface="Times" pitchFamily="2" charset="0"/>
              <a:ea typeface="Times" charset="0"/>
              <a:cs typeface="Times" charset="0"/>
            </a:endParaRPr>
          </a:p>
          <a:p>
            <a:pPr>
              <a:lnSpc>
                <a:spcPct val="90000"/>
              </a:lnSpc>
              <a:buFont typeface="Wingdings" pitchFamily="2" charset="2"/>
              <a:buChar char="Ø"/>
              <a:defRPr/>
            </a:pPr>
            <a:r>
              <a:rPr lang="en-US" dirty="0">
                <a:latin typeface="Times" pitchFamily="2" charset="0"/>
                <a:ea typeface="Times" charset="0"/>
                <a:cs typeface="Times" charset="0"/>
              </a:rPr>
              <a:t> From practice to theory – leveraging solvers for theory</a:t>
            </a:r>
          </a:p>
          <a:p>
            <a:pPr>
              <a:lnSpc>
                <a:spcPct val="90000"/>
              </a:lnSpc>
              <a:buFont typeface="Wingdings" pitchFamily="2" charset="2"/>
              <a:buChar char="Ø"/>
              <a:defRPr/>
            </a:pPr>
            <a:endParaRPr lang="en-US" dirty="0">
              <a:latin typeface="Times" pitchFamily="2" charset="0"/>
              <a:ea typeface="Times" charset="0"/>
              <a:cs typeface="Times" charset="0"/>
            </a:endParaRPr>
          </a:p>
          <a:p>
            <a:pPr>
              <a:lnSpc>
                <a:spcPct val="90000"/>
              </a:lnSpc>
              <a:buFont typeface="Wingdings" pitchFamily="2" charset="2"/>
              <a:buChar char="Ø"/>
              <a:defRPr/>
            </a:pPr>
            <a:r>
              <a:rPr lang="en-US" dirty="0">
                <a:latin typeface="Times" pitchFamily="2" charset="0"/>
                <a:ea typeface="Times" charset="0"/>
                <a:cs typeface="Times" charset="0"/>
              </a:rPr>
              <a:t>Open problems and directions</a:t>
            </a:r>
          </a:p>
          <a:p>
            <a:pPr>
              <a:lnSpc>
                <a:spcPct val="90000"/>
              </a:lnSpc>
              <a:buFont typeface="Wingdings" pitchFamily="2" charset="2"/>
              <a:buChar char="Ø"/>
              <a:defRPr/>
            </a:pPr>
            <a:endParaRPr lang="en-US" dirty="0">
              <a:latin typeface="Times" pitchFamily="2" charset="0"/>
              <a:ea typeface="Times" charset="0"/>
              <a:cs typeface="Times" charset="0"/>
            </a:endParaRPr>
          </a:p>
          <a:p>
            <a:pPr>
              <a:lnSpc>
                <a:spcPct val="90000"/>
              </a:lnSpc>
              <a:buFont typeface="Wingdings" pitchFamily="2" charset="2"/>
              <a:buChar char="Ø"/>
              <a:defRPr/>
            </a:pPr>
            <a:r>
              <a:rPr lang="en-US" dirty="0">
                <a:latin typeface="Times" pitchFamily="2" charset="0"/>
                <a:ea typeface="Times" charset="0"/>
                <a:cs typeface="Times" charset="0"/>
              </a:rPr>
              <a:t>Workshop talks</a:t>
            </a:r>
          </a:p>
          <a:p>
            <a:pPr marL="457200" indent="-457200">
              <a:lnSpc>
                <a:spcPct val="90000"/>
              </a:lnSpc>
              <a:buFont typeface="+mj-lt"/>
              <a:buAutoNum type="arabicPeriod"/>
              <a:defRPr/>
            </a:pPr>
            <a:endParaRPr lang="en-US" dirty="0">
              <a:latin typeface="Times" pitchFamily="2" charset="0"/>
              <a:ea typeface="Times" charset="0"/>
              <a:cs typeface="Times" charset="0"/>
            </a:endParaRPr>
          </a:p>
        </p:txBody>
      </p:sp>
      <p:sp>
        <p:nvSpPr>
          <p:cNvPr id="7" name="Slide Number Placeholder 6"/>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8A7A6979-0714-4377-B894-6BE4C2D6E202}" type="slidenum">
              <a:rPr lang="en-US" smtClean="0"/>
              <a:pPr>
                <a:lnSpc>
                  <a:spcPct val="90000"/>
                </a:lnSpc>
                <a:spcAft>
                  <a:spcPts val="600"/>
                </a:spcAft>
              </a:pPr>
              <a:t>2</a:t>
            </a:fld>
            <a:endParaRPr lang="en-US"/>
          </a:p>
        </p:txBody>
      </p:sp>
    </p:spTree>
    <p:extLst>
      <p:ext uri="{BB962C8B-B14F-4D97-AF65-F5344CB8AC3E}">
        <p14:creationId xmlns:p14="http://schemas.microsoft.com/office/powerpoint/2010/main" val="2812580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7">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4325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12" name="Rectangle 47111">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114" name="Rectangle 47113">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16" name="Oval 47115">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chemeClr val="accent2">
              <a:lumMod val="75000"/>
            </a:schemeClr>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a:spLocks noGrp="1"/>
          </p:cNvSpPr>
          <p:nvPr>
            <p:ph type="title"/>
          </p:nvPr>
        </p:nvSpPr>
        <p:spPr>
          <a:xfrm>
            <a:off x="1260873" y="1586484"/>
            <a:ext cx="3685032" cy="3685032"/>
          </a:xfrm>
          <a:prstGeom prst="ellipse">
            <a:avLst/>
          </a:prstGeom>
          <a:noFill/>
          <a:ln>
            <a:noFill/>
          </a:ln>
        </p:spPr>
        <p:txBody>
          <a:bodyPr>
            <a:normAutofit/>
          </a:bodyPr>
          <a:lstStyle/>
          <a:p>
            <a:r>
              <a:rPr lang="en-US" sz="2300" u="sng" cap="none" dirty="0">
                <a:solidFill>
                  <a:srgbClr val="FFFFFF"/>
                </a:solidFill>
                <a:latin typeface="Times" charset="0"/>
                <a:ea typeface="Times" charset="0"/>
                <a:cs typeface="Times" charset="0"/>
              </a:rPr>
              <a:t>The Central Question in Solver Research</a:t>
            </a:r>
            <a:br>
              <a:rPr lang="en-US" sz="2300" u="sng" cap="none" dirty="0">
                <a:solidFill>
                  <a:srgbClr val="FFFFFF"/>
                </a:solidFill>
                <a:latin typeface="Times" charset="0"/>
                <a:ea typeface="Times" charset="0"/>
                <a:cs typeface="Times" charset="0"/>
              </a:rPr>
            </a:br>
            <a:r>
              <a:rPr lang="en-US" sz="2300" cap="none" dirty="0">
                <a:solidFill>
                  <a:srgbClr val="FFFFFF"/>
                </a:solidFill>
                <a:latin typeface="Times" charset="0"/>
                <a:ea typeface="Times" charset="0"/>
                <a:cs typeface="Times" charset="0"/>
              </a:rPr>
              <a:t>Why are Solvers Efficient?</a:t>
            </a:r>
          </a:p>
        </p:txBody>
      </p:sp>
      <p:sp>
        <p:nvSpPr>
          <p:cNvPr id="47107" name="Rectangle 3"/>
          <p:cNvSpPr>
            <a:spLocks noGrp="1" noChangeArrowheads="1"/>
          </p:cNvSpPr>
          <p:nvPr>
            <p:ph type="body" idx="1"/>
          </p:nvPr>
        </p:nvSpPr>
        <p:spPr>
          <a:xfrm>
            <a:off x="5315578" y="100484"/>
            <a:ext cx="6702251" cy="6757516"/>
          </a:xfrm>
        </p:spPr>
        <p:txBody>
          <a:bodyPr anchor="ctr" anchorCtr="0">
            <a:noAutofit/>
          </a:bodyPr>
          <a:lstStyle/>
          <a:p>
            <a:pPr>
              <a:lnSpc>
                <a:spcPct val="90000"/>
              </a:lnSpc>
              <a:buFont typeface="Wingdings" pitchFamily="2" charset="2"/>
              <a:buChar char="Ø"/>
              <a:defRPr/>
            </a:pPr>
            <a:r>
              <a:rPr lang="en-US" sz="2000" dirty="0">
                <a:solidFill>
                  <a:srgbClr val="000000"/>
                </a:solidFill>
                <a:latin typeface="Times" pitchFamily="2" charset="0"/>
                <a:ea typeface="Times" charset="0"/>
                <a:cs typeface="Times" charset="0"/>
              </a:rPr>
              <a:t>Why are SAT solvers efficient? </a:t>
            </a:r>
            <a:r>
              <a:rPr lang="en-US" sz="2000" dirty="0">
                <a:latin typeface="Times" pitchFamily="2" charset="0"/>
                <a:ea typeface="Times" charset="0"/>
                <a:cs typeface="Times" charset="0"/>
              </a:rPr>
              <a:t>After all, the Boolean SAT problem is NP-complete, believed to be intractable.</a:t>
            </a:r>
            <a:br>
              <a:rPr lang="en-US" sz="2000" dirty="0">
                <a:latin typeface="Times" pitchFamily="2" charset="0"/>
                <a:ea typeface="Times" charset="0"/>
                <a:cs typeface="Times" charset="0"/>
              </a:rPr>
            </a:br>
            <a:endParaRPr lang="en-US" sz="2000" dirty="0">
              <a:latin typeface="Times" pitchFamily="2" charset="0"/>
              <a:ea typeface="Times" charset="0"/>
              <a:cs typeface="Times" charset="0"/>
            </a:endParaRPr>
          </a:p>
          <a:p>
            <a:pPr>
              <a:lnSpc>
                <a:spcPct val="90000"/>
              </a:lnSpc>
              <a:buFont typeface="Wingdings" pitchFamily="2" charset="2"/>
              <a:buChar char="Ø"/>
              <a:defRPr/>
            </a:pPr>
            <a:r>
              <a:rPr lang="en-US" sz="2000" dirty="0">
                <a:solidFill>
                  <a:srgbClr val="000000"/>
                </a:solidFill>
                <a:latin typeface="Times" pitchFamily="2" charset="0"/>
                <a:ea typeface="Times" charset="0"/>
                <a:cs typeface="Times" charset="0"/>
              </a:rPr>
              <a:t>Clearly there is a gap between the map (complexity theory) and the territory (algorithm). </a:t>
            </a:r>
            <a:r>
              <a:rPr lang="en-US" sz="2000" dirty="0">
                <a:latin typeface="Times" pitchFamily="2" charset="0"/>
                <a:ea typeface="Times" charset="0"/>
                <a:cs typeface="Times" charset="0"/>
              </a:rPr>
              <a:t>Can we close this gap between theory and practice in a way that not only </a:t>
            </a:r>
            <a:r>
              <a:rPr lang="en-US" sz="2000" dirty="0">
                <a:solidFill>
                  <a:srgbClr val="000000"/>
                </a:solidFill>
                <a:latin typeface="Times" pitchFamily="2" charset="0"/>
                <a:ea typeface="Times" charset="0"/>
                <a:cs typeface="Times" charset="0"/>
              </a:rPr>
              <a:t>deepens our theoretical understanding</a:t>
            </a:r>
            <a:r>
              <a:rPr lang="en-US" sz="2000" dirty="0">
                <a:latin typeface="Times" pitchFamily="2" charset="0"/>
                <a:ea typeface="Times" charset="0"/>
                <a:cs typeface="Times" charset="0"/>
              </a:rPr>
              <a:t>, but also paves way for </a:t>
            </a:r>
            <a:r>
              <a:rPr lang="en-US" sz="2000" dirty="0">
                <a:solidFill>
                  <a:srgbClr val="000000"/>
                </a:solidFill>
                <a:latin typeface="Times" pitchFamily="2" charset="0"/>
                <a:ea typeface="Times" charset="0"/>
                <a:cs typeface="Times" charset="0"/>
              </a:rPr>
              <a:t>better solver design</a:t>
            </a:r>
            <a:r>
              <a:rPr lang="en-US" sz="2000" dirty="0">
                <a:latin typeface="Times" pitchFamily="2" charset="0"/>
                <a:ea typeface="Times" charset="0"/>
                <a:cs typeface="Times" charset="0"/>
              </a:rPr>
              <a:t>? (We can leverage already well-developed complexity-theoretic tools such as parameterized complexity to close this gap.)</a:t>
            </a:r>
            <a:br>
              <a:rPr lang="en-US" sz="2000" dirty="0">
                <a:latin typeface="Times" pitchFamily="2" charset="0"/>
                <a:ea typeface="Times" charset="0"/>
                <a:cs typeface="Times" charset="0"/>
              </a:rPr>
            </a:br>
            <a:endParaRPr lang="en-US" sz="2000" dirty="0">
              <a:latin typeface="Times" pitchFamily="2" charset="0"/>
              <a:ea typeface="Times" charset="0"/>
              <a:cs typeface="Times" charset="0"/>
            </a:endParaRPr>
          </a:p>
          <a:p>
            <a:pPr>
              <a:lnSpc>
                <a:spcPct val="90000"/>
              </a:lnSpc>
              <a:buFont typeface="Wingdings" pitchFamily="2" charset="2"/>
              <a:buChar char="Ø"/>
              <a:defRPr/>
            </a:pPr>
            <a:r>
              <a:rPr lang="en-US" sz="2000" dirty="0">
                <a:latin typeface="Times" pitchFamily="2" charset="0"/>
                <a:ea typeface="Times" charset="0"/>
                <a:cs typeface="Times" charset="0"/>
              </a:rPr>
              <a:t>Finally, we know of classes of instances obtained from applications that are </a:t>
            </a:r>
            <a:r>
              <a:rPr lang="en-US" sz="2000" dirty="0">
                <a:solidFill>
                  <a:srgbClr val="000000"/>
                </a:solidFill>
                <a:latin typeface="Times" pitchFamily="2" charset="0"/>
                <a:ea typeface="Times" charset="0"/>
                <a:cs typeface="Times" charset="0"/>
              </a:rPr>
              <a:t>hard for solvers (e.g., Crypto). </a:t>
            </a:r>
            <a:r>
              <a:rPr lang="en-US" sz="2000" dirty="0">
                <a:latin typeface="Times" pitchFamily="2" charset="0"/>
                <a:ea typeface="Times" charset="0"/>
                <a:cs typeface="Times" charset="0"/>
              </a:rPr>
              <a:t>How do we explain the difficulty of solving such instances?</a:t>
            </a:r>
          </a:p>
          <a:p>
            <a:pPr>
              <a:lnSpc>
                <a:spcPct val="90000"/>
              </a:lnSpc>
              <a:buFont typeface="Wingdings" pitchFamily="2" charset="2"/>
              <a:buChar char="Ø"/>
              <a:defRPr/>
            </a:pPr>
            <a:endParaRPr lang="en-US" sz="2000" dirty="0">
              <a:latin typeface="Times" pitchFamily="2" charset="0"/>
              <a:ea typeface="Times" charset="0"/>
              <a:cs typeface="Times" charset="0"/>
            </a:endParaRPr>
          </a:p>
          <a:p>
            <a:pPr>
              <a:lnSpc>
                <a:spcPct val="90000"/>
              </a:lnSpc>
              <a:buFont typeface="Wingdings" pitchFamily="2" charset="2"/>
              <a:buChar char="Ø"/>
              <a:defRPr/>
            </a:pPr>
            <a:r>
              <a:rPr lang="en-US" sz="2000" dirty="0">
                <a:solidFill>
                  <a:srgbClr val="000000"/>
                </a:solidFill>
                <a:latin typeface="Times" pitchFamily="2" charset="0"/>
                <a:ea typeface="Times" charset="0"/>
                <a:cs typeface="Times" charset="0"/>
              </a:rPr>
              <a:t>Many of these questions have been open for over two decades.</a:t>
            </a:r>
          </a:p>
        </p:txBody>
      </p:sp>
      <p:sp>
        <p:nvSpPr>
          <p:cNvPr id="7" name="Slide Number Placeholder 6"/>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8A7A6979-0714-4377-B894-6BE4C2D6E202}" type="slidenum">
              <a:rPr lang="en-US" smtClean="0"/>
              <a:pPr>
                <a:lnSpc>
                  <a:spcPct val="90000"/>
                </a:lnSpc>
                <a:spcAft>
                  <a:spcPts val="600"/>
                </a:spcAft>
              </a:pPr>
              <a:t>4</a:t>
            </a:fld>
            <a:endParaRPr lang="en-US"/>
          </a:p>
        </p:txBody>
      </p:sp>
    </p:spTree>
    <p:extLst>
      <p:ext uri="{BB962C8B-B14F-4D97-AF65-F5344CB8AC3E}">
        <p14:creationId xmlns:p14="http://schemas.microsoft.com/office/powerpoint/2010/main" val="457681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12" name="Rectangle 47111">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114" name="Rectangle 47113">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16" name="Oval 47115">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chemeClr val="accent2">
              <a:lumMod val="75000"/>
            </a:schemeClr>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a:spLocks noGrp="1"/>
          </p:cNvSpPr>
          <p:nvPr>
            <p:ph type="title"/>
          </p:nvPr>
        </p:nvSpPr>
        <p:spPr>
          <a:xfrm>
            <a:off x="1260873" y="1586484"/>
            <a:ext cx="3685032" cy="3685032"/>
          </a:xfrm>
          <a:prstGeom prst="ellipse">
            <a:avLst/>
          </a:prstGeom>
          <a:noFill/>
          <a:ln>
            <a:noFill/>
          </a:ln>
        </p:spPr>
        <p:txBody>
          <a:bodyPr>
            <a:normAutofit/>
          </a:bodyPr>
          <a:lstStyle/>
          <a:p>
            <a:r>
              <a:rPr lang="en-US" sz="2300" u="sng" cap="none">
                <a:solidFill>
                  <a:srgbClr val="FFFFFF"/>
                </a:solidFill>
                <a:latin typeface="Times" charset="0"/>
                <a:ea typeface="Times" charset="0"/>
                <a:cs typeface="Times" charset="0"/>
              </a:rPr>
              <a:t>The Generality of the Central Question</a:t>
            </a:r>
            <a:br>
              <a:rPr lang="en-US" sz="2300" u="sng" cap="none">
                <a:solidFill>
                  <a:srgbClr val="FFFFFF"/>
                </a:solidFill>
                <a:latin typeface="Times" charset="0"/>
                <a:ea typeface="Times" charset="0"/>
                <a:cs typeface="Times" charset="0"/>
              </a:rPr>
            </a:br>
            <a:r>
              <a:rPr lang="en-US" sz="2300" cap="none">
                <a:solidFill>
                  <a:srgbClr val="FFFFFF"/>
                </a:solidFill>
                <a:latin typeface="Times" charset="0"/>
                <a:ea typeface="Times" charset="0"/>
                <a:cs typeface="Times" charset="0"/>
              </a:rPr>
              <a:t>This question also applies to SMT, CP,…</a:t>
            </a:r>
          </a:p>
        </p:txBody>
      </p:sp>
      <p:sp>
        <p:nvSpPr>
          <p:cNvPr id="47107" name="Rectangle 3"/>
          <p:cNvSpPr>
            <a:spLocks noGrp="1" noChangeArrowheads="1"/>
          </p:cNvSpPr>
          <p:nvPr>
            <p:ph type="body" idx="1"/>
          </p:nvPr>
        </p:nvSpPr>
        <p:spPr>
          <a:xfrm>
            <a:off x="5232805" y="365760"/>
            <a:ext cx="6497641" cy="5730240"/>
          </a:xfrm>
        </p:spPr>
        <p:txBody>
          <a:bodyPr anchor="ctr" anchorCtr="0">
            <a:noAutofit/>
          </a:bodyPr>
          <a:lstStyle/>
          <a:p>
            <a:pPr>
              <a:lnSpc>
                <a:spcPct val="90000"/>
              </a:lnSpc>
              <a:buFont typeface="Wingdings" pitchFamily="2" charset="2"/>
              <a:buChar char="Ø"/>
              <a:defRPr/>
            </a:pPr>
            <a:r>
              <a:rPr lang="en-US" dirty="0">
                <a:latin typeface="Times" pitchFamily="2" charset="0"/>
                <a:ea typeface="Times" charset="0"/>
                <a:cs typeface="Times" charset="0"/>
              </a:rPr>
              <a:t>Answering this question for SAT would also impact more general settings, since this phenomena applies to many formal reasoning systems, e.g., CP, QBF, model checkers, SMT solvers, first-order provers,…, where problems range from NP-complete, PSPACE-complete, NEXPTIME-complete,… (Also applies to optimization cousins ILP, MAXSAT,…)</a:t>
            </a:r>
          </a:p>
          <a:p>
            <a:pPr>
              <a:lnSpc>
                <a:spcPct val="90000"/>
              </a:lnSpc>
              <a:buFont typeface="Wingdings" pitchFamily="2" charset="2"/>
              <a:buChar char="Ø"/>
              <a:defRPr/>
            </a:pPr>
            <a:endParaRPr lang="en-US" dirty="0">
              <a:latin typeface="Times" pitchFamily="2" charset="0"/>
              <a:ea typeface="Times" charset="0"/>
              <a:cs typeface="Times" charset="0"/>
            </a:endParaRPr>
          </a:p>
          <a:p>
            <a:pPr>
              <a:lnSpc>
                <a:spcPct val="90000"/>
              </a:lnSpc>
              <a:buFont typeface="Wingdings" pitchFamily="2" charset="2"/>
              <a:buChar char="Ø"/>
              <a:defRPr/>
            </a:pPr>
            <a:r>
              <a:rPr lang="en-US" dirty="0">
                <a:latin typeface="Times" pitchFamily="2" charset="0"/>
                <a:ea typeface="Times" charset="0"/>
                <a:cs typeface="Times" charset="0"/>
              </a:rPr>
              <a:t>This phenomenon extends to many other settings, where “practical” algorithms seem to defy theoretical expectations set by worst-case analysis</a:t>
            </a:r>
          </a:p>
          <a:p>
            <a:pPr>
              <a:lnSpc>
                <a:spcPct val="90000"/>
              </a:lnSpc>
              <a:buFont typeface="Wingdings" pitchFamily="2" charset="2"/>
              <a:buChar char="Ø"/>
              <a:defRPr/>
            </a:pPr>
            <a:endParaRPr lang="en-US" dirty="0">
              <a:latin typeface="Times" pitchFamily="2" charset="0"/>
              <a:ea typeface="Times" charset="0"/>
              <a:cs typeface="Times" charset="0"/>
            </a:endParaRPr>
          </a:p>
          <a:p>
            <a:pPr>
              <a:lnSpc>
                <a:spcPct val="90000"/>
              </a:lnSpc>
              <a:buFont typeface="Wingdings" pitchFamily="2" charset="2"/>
              <a:buChar char="Ø"/>
              <a:defRPr/>
            </a:pPr>
            <a:r>
              <a:rPr lang="en-US" dirty="0">
                <a:solidFill>
                  <a:srgbClr val="000000"/>
                </a:solidFill>
                <a:latin typeface="Times" pitchFamily="2" charset="0"/>
                <a:ea typeface="Times" charset="0"/>
                <a:cs typeface="Times" charset="0"/>
              </a:rPr>
              <a:t>Richard Karp and many other researchers have suggested that this gap between the success of “practical” algorithms and the worst-case complexity-theoretic view of algorithms is one of the most important questions in the context of algorithm design and complexity</a:t>
            </a:r>
            <a:endParaRPr lang="en-CA" dirty="0">
              <a:solidFill>
                <a:schemeClr val="accent3"/>
              </a:solidFill>
              <a:latin typeface="Times" pitchFamily="2" charset="0"/>
            </a:endParaRPr>
          </a:p>
          <a:p>
            <a:pPr>
              <a:lnSpc>
                <a:spcPct val="90000"/>
              </a:lnSpc>
              <a:defRPr/>
            </a:pPr>
            <a:endParaRPr lang="en-US" dirty="0">
              <a:latin typeface="Times" charset="0"/>
              <a:ea typeface="Times" charset="0"/>
              <a:cs typeface="Times" charset="0"/>
            </a:endParaRPr>
          </a:p>
        </p:txBody>
      </p:sp>
      <p:sp>
        <p:nvSpPr>
          <p:cNvPr id="7" name="Slide Number Placeholder 6"/>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8A7A6979-0714-4377-B894-6BE4C2D6E202}" type="slidenum">
              <a:rPr lang="en-US" smtClean="0"/>
              <a:pPr>
                <a:lnSpc>
                  <a:spcPct val="90000"/>
                </a:lnSpc>
                <a:spcAft>
                  <a:spcPts val="600"/>
                </a:spcAft>
              </a:pPr>
              <a:t>5</a:t>
            </a:fld>
            <a:endParaRPr lang="en-US"/>
          </a:p>
        </p:txBody>
      </p:sp>
    </p:spTree>
    <p:extLst>
      <p:ext uri="{BB962C8B-B14F-4D97-AF65-F5344CB8AC3E}">
        <p14:creationId xmlns:p14="http://schemas.microsoft.com/office/powerpoint/2010/main" val="2513103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12" name="Rectangle 47111">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114" name="Rectangle 47113">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16" name="Oval 47115">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chemeClr val="accent2">
              <a:lumMod val="75000"/>
            </a:schemeClr>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a:spLocks noGrp="1"/>
          </p:cNvSpPr>
          <p:nvPr>
            <p:ph type="title"/>
          </p:nvPr>
        </p:nvSpPr>
        <p:spPr>
          <a:xfrm>
            <a:off x="1260873" y="1586484"/>
            <a:ext cx="3685032" cy="3685032"/>
          </a:xfrm>
          <a:prstGeom prst="ellipse">
            <a:avLst/>
          </a:prstGeom>
          <a:noFill/>
          <a:ln>
            <a:noFill/>
          </a:ln>
        </p:spPr>
        <p:txBody>
          <a:bodyPr>
            <a:normAutofit/>
          </a:bodyPr>
          <a:lstStyle/>
          <a:p>
            <a:r>
              <a:rPr lang="en-US" sz="3000" u="sng" cap="none">
                <a:solidFill>
                  <a:srgbClr val="FFFFFF"/>
                </a:solidFill>
                <a:latin typeface="Times" charset="0"/>
                <a:ea typeface="Times" charset="0"/>
                <a:cs typeface="Times" charset="0"/>
              </a:rPr>
              <a:t>Sub-questions</a:t>
            </a:r>
            <a:br>
              <a:rPr lang="en-US" sz="3000" u="sng" cap="none">
                <a:solidFill>
                  <a:srgbClr val="FFFFFF"/>
                </a:solidFill>
                <a:latin typeface="Times" charset="0"/>
                <a:ea typeface="Times" charset="0"/>
                <a:cs typeface="Times" charset="0"/>
              </a:rPr>
            </a:br>
            <a:r>
              <a:rPr lang="en-US" sz="3000" cap="none">
                <a:solidFill>
                  <a:srgbClr val="FFFFFF"/>
                </a:solidFill>
                <a:latin typeface="Times" charset="0"/>
                <a:ea typeface="Times" charset="0"/>
                <a:cs typeface="Times" charset="0"/>
              </a:rPr>
              <a:t>Why are Solvers Efficient?</a:t>
            </a:r>
          </a:p>
        </p:txBody>
      </p:sp>
      <p:sp>
        <p:nvSpPr>
          <p:cNvPr id="47107" name="Rectangle 3"/>
          <p:cNvSpPr>
            <a:spLocks noGrp="1" noChangeArrowheads="1"/>
          </p:cNvSpPr>
          <p:nvPr>
            <p:ph type="body" idx="1"/>
          </p:nvPr>
        </p:nvSpPr>
        <p:spPr>
          <a:xfrm>
            <a:off x="5232804" y="274320"/>
            <a:ext cx="6560877" cy="6309360"/>
          </a:xfrm>
        </p:spPr>
        <p:txBody>
          <a:bodyPr anchor="ctr" anchorCtr="0">
            <a:noAutofit/>
          </a:bodyPr>
          <a:lstStyle/>
          <a:p>
            <a:pPr>
              <a:lnSpc>
                <a:spcPct val="90000"/>
              </a:lnSpc>
              <a:buFont typeface="Wingdings" pitchFamily="2" charset="2"/>
              <a:buChar char="Ø"/>
              <a:defRPr/>
            </a:pPr>
            <a:r>
              <a:rPr lang="en-US" dirty="0">
                <a:solidFill>
                  <a:srgbClr val="000000"/>
                </a:solidFill>
                <a:latin typeface="Times" charset="0"/>
                <a:ea typeface="Times" charset="0"/>
                <a:cs typeface="Times" charset="0"/>
              </a:rPr>
              <a:t>As has been discussed already during the bootcamp (see talks by Sam Buss and others), CDCL solvers are best modelled as proof search systems</a:t>
            </a:r>
          </a:p>
          <a:p>
            <a:pPr lvl="1">
              <a:lnSpc>
                <a:spcPct val="90000"/>
              </a:lnSpc>
              <a:buFont typeface="Wingdings" pitchFamily="2" charset="2"/>
              <a:buChar char="Ø"/>
              <a:defRPr/>
            </a:pPr>
            <a:r>
              <a:rPr lang="en-US" sz="1800" dirty="0">
                <a:latin typeface="Times" charset="0"/>
                <a:ea typeface="Times" charset="0"/>
                <a:cs typeface="Times" charset="0"/>
              </a:rPr>
              <a:t>Key result: CDCL solvers are </a:t>
            </a:r>
            <a:r>
              <a:rPr lang="en-US" sz="1800" dirty="0" err="1">
                <a:latin typeface="Times" charset="0"/>
                <a:ea typeface="Times" charset="0"/>
                <a:cs typeface="Times" charset="0"/>
              </a:rPr>
              <a:t>polynomially</a:t>
            </a:r>
            <a:r>
              <a:rPr lang="en-US" sz="1800" dirty="0">
                <a:latin typeface="Times" charset="0"/>
                <a:ea typeface="Times" charset="0"/>
                <a:cs typeface="Times" charset="0"/>
              </a:rPr>
              <a:t> equivalent to general resolution [PD’11, AFT’11]</a:t>
            </a:r>
          </a:p>
          <a:p>
            <a:pPr lvl="1">
              <a:lnSpc>
                <a:spcPct val="90000"/>
              </a:lnSpc>
              <a:buFont typeface="Wingdings" pitchFamily="2" charset="2"/>
              <a:buChar char="Ø"/>
              <a:defRPr/>
            </a:pPr>
            <a:r>
              <a:rPr lang="en-US" sz="1800" dirty="0">
                <a:latin typeface="Times" charset="0"/>
                <a:ea typeface="Times" charset="0"/>
                <a:cs typeface="Times" charset="0"/>
              </a:rPr>
              <a:t>While this equivalence provides a framework for analysis of CDCL solvers, it doesn’t answer the question of why solvers are efficient on some classes of instances </a:t>
            </a:r>
          </a:p>
          <a:p>
            <a:pPr>
              <a:lnSpc>
                <a:spcPct val="90000"/>
              </a:lnSpc>
              <a:buFont typeface="Wingdings" pitchFamily="2" charset="2"/>
              <a:buChar char="Ø"/>
              <a:defRPr/>
            </a:pPr>
            <a:r>
              <a:rPr lang="en-US" dirty="0">
                <a:solidFill>
                  <a:srgbClr val="000000"/>
                </a:solidFill>
                <a:latin typeface="Times" charset="0"/>
                <a:ea typeface="Times" charset="0"/>
                <a:cs typeface="Times" charset="0"/>
              </a:rPr>
              <a:t>Hence, the question of “why solvers are efficient” can be pared down to:</a:t>
            </a:r>
          </a:p>
          <a:p>
            <a:pPr lvl="1">
              <a:lnSpc>
                <a:spcPct val="90000"/>
              </a:lnSpc>
              <a:buFont typeface="Wingdings" pitchFamily="2" charset="2"/>
              <a:buChar char="Ø"/>
              <a:defRPr/>
            </a:pPr>
            <a:r>
              <a:rPr lang="en-US" sz="1800" dirty="0">
                <a:latin typeface="Times" charset="0"/>
                <a:ea typeface="Times" charset="0"/>
                <a:cs typeface="Times" charset="0"/>
              </a:rPr>
              <a:t>What formula structure/parameters (and range of values for them) result in short proofs (for UNSAT formulas)?</a:t>
            </a:r>
          </a:p>
          <a:p>
            <a:pPr lvl="1">
              <a:lnSpc>
                <a:spcPct val="90000"/>
              </a:lnSpc>
              <a:buFont typeface="Wingdings" pitchFamily="2" charset="2"/>
              <a:buChar char="Ø"/>
              <a:defRPr/>
            </a:pPr>
            <a:r>
              <a:rPr lang="en-US" sz="1800" dirty="0">
                <a:latin typeface="Times" charset="0"/>
                <a:ea typeface="Times" charset="0"/>
                <a:cs typeface="Times" charset="0"/>
              </a:rPr>
              <a:t>Why is it possible for CDCL solvers to find such short proofs efficiently (i.e., automatable under appropriate parameterization)</a:t>
            </a:r>
          </a:p>
          <a:p>
            <a:pPr lvl="1">
              <a:lnSpc>
                <a:spcPct val="90000"/>
              </a:lnSpc>
              <a:buFont typeface="Wingdings" pitchFamily="2" charset="2"/>
              <a:buChar char="Ø"/>
              <a:defRPr/>
            </a:pPr>
            <a:r>
              <a:rPr lang="en-US" sz="1800" dirty="0">
                <a:latin typeface="Times" charset="0"/>
                <a:ea typeface="Times" charset="0"/>
                <a:cs typeface="Times" charset="0"/>
              </a:rPr>
              <a:t>Recent interesting result: Resolution is not automatable, unless P=NP [AM’20]</a:t>
            </a:r>
          </a:p>
        </p:txBody>
      </p:sp>
      <p:sp>
        <p:nvSpPr>
          <p:cNvPr id="7" name="Slide Number Placeholder 6"/>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8A7A6979-0714-4377-B894-6BE4C2D6E202}" type="slidenum">
              <a:rPr lang="en-US" smtClean="0"/>
              <a:pPr>
                <a:lnSpc>
                  <a:spcPct val="90000"/>
                </a:lnSpc>
                <a:spcAft>
                  <a:spcPts val="600"/>
                </a:spcAft>
              </a:pPr>
              <a:t>6</a:t>
            </a:fld>
            <a:endParaRPr lang="en-US"/>
          </a:p>
        </p:txBody>
      </p:sp>
    </p:spTree>
    <p:extLst>
      <p:ext uri="{BB962C8B-B14F-4D97-AF65-F5344CB8AC3E}">
        <p14:creationId xmlns:p14="http://schemas.microsoft.com/office/powerpoint/2010/main" val="828484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12" name="Rectangle 47111">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114" name="Rectangle 47113">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16" name="Oval 47115">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chemeClr val="accent2">
              <a:lumMod val="75000"/>
            </a:schemeClr>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a:spLocks noGrp="1"/>
          </p:cNvSpPr>
          <p:nvPr>
            <p:ph type="title"/>
          </p:nvPr>
        </p:nvSpPr>
        <p:spPr>
          <a:xfrm>
            <a:off x="1260873" y="1586484"/>
            <a:ext cx="3685032" cy="3685032"/>
          </a:xfrm>
          <a:prstGeom prst="ellipse">
            <a:avLst/>
          </a:prstGeom>
          <a:noFill/>
          <a:ln>
            <a:noFill/>
          </a:ln>
        </p:spPr>
        <p:txBody>
          <a:bodyPr>
            <a:normAutofit/>
          </a:bodyPr>
          <a:lstStyle/>
          <a:p>
            <a:r>
              <a:rPr lang="en-US" sz="2600" u="sng" cap="none">
                <a:solidFill>
                  <a:srgbClr val="FFFFFF"/>
                </a:solidFill>
                <a:latin typeface="Times" charset="0"/>
                <a:ea typeface="Times" charset="0"/>
                <a:cs typeface="Times" charset="0"/>
              </a:rPr>
              <a:t>Target Conjectures and Results</a:t>
            </a:r>
            <a:br>
              <a:rPr lang="en-US" sz="2600" u="sng" cap="none">
                <a:solidFill>
                  <a:srgbClr val="FFFFFF"/>
                </a:solidFill>
                <a:latin typeface="Times" charset="0"/>
                <a:ea typeface="Times" charset="0"/>
                <a:cs typeface="Times" charset="0"/>
              </a:rPr>
            </a:br>
            <a:r>
              <a:rPr lang="en-US" sz="2600" cap="none">
                <a:solidFill>
                  <a:srgbClr val="FFFFFF"/>
                </a:solidFill>
                <a:latin typeface="Times" charset="0"/>
                <a:ea typeface="Times" charset="0"/>
                <a:cs typeface="Times" charset="0"/>
              </a:rPr>
              <a:t>Why are Solvers Efficient?</a:t>
            </a:r>
          </a:p>
        </p:txBody>
      </p:sp>
      <mc:AlternateContent xmlns:mc="http://schemas.openxmlformats.org/markup-compatibility/2006">
        <mc:Choice xmlns:a14="http://schemas.microsoft.com/office/drawing/2010/main" Requires="a14">
          <p:sp>
            <p:nvSpPr>
              <p:cNvPr id="47107" name="Rectangle 3"/>
              <p:cNvSpPr>
                <a:spLocks noGrp="1" noChangeArrowheads="1"/>
              </p:cNvSpPr>
              <p:nvPr>
                <p:ph type="body" idx="1"/>
              </p:nvPr>
            </p:nvSpPr>
            <p:spPr>
              <a:xfrm>
                <a:off x="5232804" y="274320"/>
                <a:ext cx="6581659" cy="6168044"/>
              </a:xfrm>
            </p:spPr>
            <p:txBody>
              <a:bodyPr anchor="ctr" anchorCtr="0">
                <a:noAutofit/>
              </a:bodyPr>
              <a:lstStyle/>
              <a:p>
                <a:pPr>
                  <a:lnSpc>
                    <a:spcPct val="90000"/>
                  </a:lnSpc>
                  <a:buFont typeface="Wingdings" pitchFamily="2" charset="2"/>
                  <a:buChar char="Ø"/>
                  <a:defRPr/>
                </a:pPr>
                <a:r>
                  <a:rPr lang="en-US" dirty="0">
                    <a:latin typeface="Times" pitchFamily="2" charset="0"/>
                    <a:ea typeface="Times" charset="0"/>
                    <a:cs typeface="Times" charset="0"/>
                  </a:rPr>
                  <a:t>Parameterized upper bounds for CDCL algorithm</a:t>
                </a:r>
              </a:p>
              <a:p>
                <a:pPr lvl="2">
                  <a:lnSpc>
                    <a:spcPct val="90000"/>
                  </a:lnSpc>
                  <a:buFont typeface="Wingdings" pitchFamily="2" charset="2"/>
                  <a:buChar char="Ø"/>
                  <a:defRPr/>
                </a:pPr>
                <a:r>
                  <a:rPr lang="en-US" sz="1800" b="0" dirty="0">
                    <a:latin typeface="Times" pitchFamily="2" charset="0"/>
                    <a:ea typeface="Times" charset="0"/>
                    <a:cs typeface="Times" charset="0"/>
                  </a:rPr>
                  <a:t>One possibility is </a:t>
                </a:r>
                <a14:m>
                  <m:oMath xmlns:m="http://schemas.openxmlformats.org/officeDocument/2006/math">
                    <m:sSup>
                      <m:sSupPr>
                        <m:ctrlPr>
                          <a:rPr lang="en-US" sz="1800" i="1">
                            <a:latin typeface="Cambria Math" panose="02040503050406030204" pitchFamily="18" charset="0"/>
                            <a:ea typeface="Times" charset="0"/>
                            <a:cs typeface="Times" charset="0"/>
                          </a:rPr>
                        </m:ctrlPr>
                      </m:sSupPr>
                      <m:e>
                        <m:r>
                          <a:rPr lang="en-US" sz="1800" i="1">
                            <a:latin typeface="Cambria Math" panose="02040503050406030204" pitchFamily="18" charset="0"/>
                            <a:ea typeface="Times" charset="0"/>
                            <a:cs typeface="Times" charset="0"/>
                          </a:rPr>
                          <m:t>2</m:t>
                        </m:r>
                      </m:e>
                      <m:sup>
                        <m:r>
                          <a:rPr lang="en-US" sz="1800" i="1">
                            <a:latin typeface="Cambria Math" panose="02040503050406030204" pitchFamily="18" charset="0"/>
                            <a:ea typeface="Times" charset="0"/>
                            <a:cs typeface="Times" charset="0"/>
                          </a:rPr>
                          <m:t>𝑓</m:t>
                        </m:r>
                        <m:d>
                          <m:dPr>
                            <m:ctrlPr>
                              <a:rPr lang="en-US" sz="1800" i="1">
                                <a:latin typeface="Cambria Math" panose="02040503050406030204" pitchFamily="18" charset="0"/>
                                <a:ea typeface="Times" charset="0"/>
                                <a:cs typeface="Times" charset="0"/>
                              </a:rPr>
                            </m:ctrlPr>
                          </m:dPr>
                          <m:e>
                            <m:sSub>
                              <m:sSubPr>
                                <m:ctrlPr>
                                  <a:rPr lang="en-US" sz="1800" i="1">
                                    <a:latin typeface="Cambria Math" panose="02040503050406030204" pitchFamily="18" charset="0"/>
                                    <a:ea typeface="Times" charset="0"/>
                                    <a:cs typeface="Times" charset="0"/>
                                  </a:rPr>
                                </m:ctrlPr>
                              </m:sSubPr>
                              <m:e>
                                <m:r>
                                  <a:rPr lang="en-US" sz="1800" i="1">
                                    <a:latin typeface="Cambria Math" panose="02040503050406030204" pitchFamily="18" charset="0"/>
                                    <a:ea typeface="Times" charset="0"/>
                                    <a:cs typeface="Times" charset="0"/>
                                  </a:rPr>
                                  <m:t>𝑝</m:t>
                                </m:r>
                              </m:e>
                              <m:sub>
                                <m:r>
                                  <a:rPr lang="en-US" sz="1800" i="1">
                                    <a:latin typeface="Cambria Math" panose="02040503050406030204" pitchFamily="18" charset="0"/>
                                    <a:ea typeface="Times" charset="0"/>
                                    <a:cs typeface="Times" charset="0"/>
                                  </a:rPr>
                                  <m:t>1</m:t>
                                </m:r>
                              </m:sub>
                            </m:sSub>
                            <m:r>
                              <a:rPr lang="en-US" sz="1800" i="1">
                                <a:latin typeface="Cambria Math" panose="02040503050406030204" pitchFamily="18" charset="0"/>
                                <a:ea typeface="Times" charset="0"/>
                                <a:cs typeface="Times" charset="0"/>
                              </a:rPr>
                              <m:t>,</m:t>
                            </m:r>
                            <m:sSub>
                              <m:sSubPr>
                                <m:ctrlPr>
                                  <a:rPr lang="en-US" sz="1800" i="1">
                                    <a:latin typeface="Cambria Math" panose="02040503050406030204" pitchFamily="18" charset="0"/>
                                    <a:ea typeface="Times" charset="0"/>
                                    <a:cs typeface="Times" charset="0"/>
                                  </a:rPr>
                                </m:ctrlPr>
                              </m:sSubPr>
                              <m:e>
                                <m:r>
                                  <a:rPr lang="en-US" sz="1800" i="1">
                                    <a:latin typeface="Cambria Math" panose="02040503050406030204" pitchFamily="18" charset="0"/>
                                    <a:ea typeface="Times" charset="0"/>
                                    <a:cs typeface="Times" charset="0"/>
                                  </a:rPr>
                                  <m:t>𝑝</m:t>
                                </m:r>
                              </m:e>
                              <m:sub>
                                <m:r>
                                  <a:rPr lang="en-US" sz="1800" i="1">
                                    <a:latin typeface="Cambria Math" panose="02040503050406030204" pitchFamily="18" charset="0"/>
                                    <a:ea typeface="Times" charset="0"/>
                                    <a:cs typeface="Times" charset="0"/>
                                  </a:rPr>
                                  <m:t>2</m:t>
                                </m:r>
                              </m:sub>
                            </m:sSub>
                            <m:r>
                              <a:rPr lang="en-US" sz="1800" i="1">
                                <a:latin typeface="Cambria Math" panose="02040503050406030204" pitchFamily="18" charset="0"/>
                                <a:ea typeface="Times" charset="0"/>
                                <a:cs typeface="Times" charset="0"/>
                              </a:rPr>
                              <m:t> </m:t>
                            </m:r>
                          </m:e>
                        </m:d>
                      </m:sup>
                    </m:sSup>
                    <m:r>
                      <a:rPr lang="en-US" sz="1800" i="1">
                        <a:latin typeface="Cambria Math" panose="02040503050406030204" pitchFamily="18" charset="0"/>
                        <a:ea typeface="Times" charset="0"/>
                        <a:cs typeface="Times" charset="0"/>
                      </a:rPr>
                      <m:t>.</m:t>
                    </m:r>
                    <m:r>
                      <a:rPr lang="en-US" sz="1800" i="1">
                        <a:latin typeface="Cambria Math" panose="02040503050406030204" pitchFamily="18" charset="0"/>
                        <a:ea typeface="Times" charset="0"/>
                        <a:cs typeface="Times" charset="0"/>
                      </a:rPr>
                      <m:t>𝑝𝑜𝑙𝑦</m:t>
                    </m:r>
                    <m:r>
                      <a:rPr lang="en-US" sz="1800" i="1">
                        <a:latin typeface="Cambria Math" panose="02040503050406030204" pitchFamily="18" charset="0"/>
                        <a:ea typeface="Times" charset="0"/>
                        <a:cs typeface="Times" charset="0"/>
                      </a:rPr>
                      <m:t>(</m:t>
                    </m:r>
                    <m:r>
                      <a:rPr lang="en-US" sz="1800" i="1">
                        <a:latin typeface="Cambria Math" panose="02040503050406030204" pitchFamily="18" charset="0"/>
                        <a:ea typeface="Times" charset="0"/>
                        <a:cs typeface="Times" charset="0"/>
                      </a:rPr>
                      <m:t>𝑛</m:t>
                    </m:r>
                    <m:r>
                      <a:rPr lang="en-US" sz="1800" i="1">
                        <a:latin typeface="Cambria Math" panose="02040503050406030204" pitchFamily="18" charset="0"/>
                        <a:ea typeface="Times" charset="0"/>
                        <a:cs typeface="Times" charset="0"/>
                      </a:rPr>
                      <m:t>)</m:t>
                    </m:r>
                  </m:oMath>
                </a14:m>
                <a:r>
                  <a:rPr lang="en-US" sz="1800" b="0" dirty="0">
                    <a:latin typeface="Times" pitchFamily="2" charset="0"/>
                    <a:ea typeface="Times" charset="0"/>
                    <a:cs typeface="Times" charset="0"/>
                  </a:rPr>
                  <a:t> for appropriate values of “real-world” parameters </a:t>
                </a:r>
                <a:r>
                  <a:rPr lang="en-US" sz="1800" dirty="0">
                    <a:latin typeface="Times" pitchFamily="2" charset="0"/>
                    <a:ea typeface="Times" charset="0"/>
                    <a:cs typeface="Times" charset="0"/>
                  </a:rPr>
                  <a:t> </a:t>
                </a:r>
                <a14:m>
                  <m:oMath xmlns:m="http://schemas.openxmlformats.org/officeDocument/2006/math">
                    <m:sSub>
                      <m:sSubPr>
                        <m:ctrlPr>
                          <a:rPr lang="en-US" sz="1800" i="1">
                            <a:latin typeface="Cambria Math" panose="02040503050406030204" pitchFamily="18" charset="0"/>
                            <a:ea typeface="Times" charset="0"/>
                            <a:cs typeface="Times" charset="0"/>
                          </a:rPr>
                        </m:ctrlPr>
                      </m:sSubPr>
                      <m:e>
                        <m:r>
                          <a:rPr lang="en-US" sz="1800" i="1">
                            <a:latin typeface="Cambria Math" panose="02040503050406030204" pitchFamily="18" charset="0"/>
                            <a:ea typeface="Times" charset="0"/>
                            <a:cs typeface="Times" charset="0"/>
                          </a:rPr>
                          <m:t>𝑝</m:t>
                        </m:r>
                      </m:e>
                      <m:sub>
                        <m:r>
                          <a:rPr lang="en-US" sz="1800" i="1">
                            <a:latin typeface="Cambria Math" panose="02040503050406030204" pitchFamily="18" charset="0"/>
                            <a:ea typeface="Times" charset="0"/>
                            <a:cs typeface="Times" charset="0"/>
                          </a:rPr>
                          <m:t>1</m:t>
                        </m:r>
                      </m:sub>
                    </m:sSub>
                    <m:r>
                      <a:rPr lang="en-US" sz="1800" i="1">
                        <a:latin typeface="Cambria Math" panose="02040503050406030204" pitchFamily="18" charset="0"/>
                        <a:ea typeface="Times" charset="0"/>
                        <a:cs typeface="Times" charset="0"/>
                      </a:rPr>
                      <m:t>,</m:t>
                    </m:r>
                    <m:sSub>
                      <m:sSubPr>
                        <m:ctrlPr>
                          <a:rPr lang="en-US" sz="1800" i="1">
                            <a:latin typeface="Cambria Math" panose="02040503050406030204" pitchFamily="18" charset="0"/>
                            <a:ea typeface="Times" charset="0"/>
                            <a:cs typeface="Times" charset="0"/>
                          </a:rPr>
                        </m:ctrlPr>
                      </m:sSubPr>
                      <m:e>
                        <m:r>
                          <a:rPr lang="en-US" sz="1800" i="1">
                            <a:latin typeface="Cambria Math" panose="02040503050406030204" pitchFamily="18" charset="0"/>
                            <a:ea typeface="Times" charset="0"/>
                            <a:cs typeface="Times" charset="0"/>
                          </a:rPr>
                          <m:t>𝑝</m:t>
                        </m:r>
                      </m:e>
                      <m:sub>
                        <m:r>
                          <a:rPr lang="en-US" sz="1800" i="1">
                            <a:latin typeface="Cambria Math" panose="02040503050406030204" pitchFamily="18" charset="0"/>
                            <a:ea typeface="Times" charset="0"/>
                            <a:cs typeface="Times" charset="0"/>
                          </a:rPr>
                          <m:t>2</m:t>
                        </m:r>
                      </m:sub>
                    </m:sSub>
                  </m:oMath>
                </a14:m>
                <a:endParaRPr lang="en-US" sz="1800" b="0" dirty="0">
                  <a:latin typeface="Times" pitchFamily="2" charset="0"/>
                  <a:ea typeface="Times" charset="0"/>
                  <a:cs typeface="Times" charset="0"/>
                </a:endParaRPr>
              </a:p>
              <a:p>
                <a:pPr lvl="2">
                  <a:lnSpc>
                    <a:spcPct val="90000"/>
                  </a:lnSpc>
                  <a:buFont typeface="Wingdings" pitchFamily="2" charset="2"/>
                  <a:buChar char="Ø"/>
                  <a:defRPr/>
                </a:pPr>
                <a:r>
                  <a:rPr lang="en-US" sz="1800" dirty="0">
                    <a:latin typeface="Times" pitchFamily="2" charset="0"/>
                    <a:ea typeface="Times" charset="0"/>
                    <a:cs typeface="Times" charset="0"/>
                  </a:rPr>
                  <a:t> Alternatively, similar upper-bound for CDCL as PPSZ, but with “real-world” parameters</a:t>
                </a:r>
              </a:p>
              <a:p>
                <a:pPr lvl="2">
                  <a:lnSpc>
                    <a:spcPct val="90000"/>
                  </a:lnSpc>
                  <a:buFont typeface="Wingdings" pitchFamily="2" charset="2"/>
                  <a:buChar char="Ø"/>
                  <a:defRPr/>
                </a:pPr>
                <a:r>
                  <a:rPr lang="en-US" sz="1800" dirty="0">
                    <a:latin typeface="Times" pitchFamily="2" charset="0"/>
                    <a:ea typeface="Times" charset="0"/>
                    <a:cs typeface="Times" charset="0"/>
                  </a:rPr>
                  <a:t> Parameterized understanding of proof search and proof size</a:t>
                </a:r>
              </a:p>
              <a:p>
                <a:pPr lvl="2">
                  <a:lnSpc>
                    <a:spcPct val="90000"/>
                  </a:lnSpc>
                  <a:buFont typeface="Wingdings" pitchFamily="2" charset="2"/>
                  <a:buChar char="Ø"/>
                  <a:defRPr/>
                </a:pPr>
                <a:endParaRPr lang="en-US" sz="1800" dirty="0">
                  <a:latin typeface="Times" pitchFamily="2" charset="0"/>
                  <a:ea typeface="Times" charset="0"/>
                  <a:cs typeface="Times" charset="0"/>
                </a:endParaRPr>
              </a:p>
              <a:p>
                <a:pPr>
                  <a:lnSpc>
                    <a:spcPct val="90000"/>
                  </a:lnSpc>
                  <a:buFont typeface="Wingdings" pitchFamily="2" charset="2"/>
                  <a:buChar char="Ø"/>
                  <a:defRPr/>
                </a:pPr>
                <a:r>
                  <a:rPr lang="en-US" dirty="0">
                    <a:latin typeface="Times" pitchFamily="2" charset="0"/>
                    <a:ea typeface="Times" charset="0"/>
                    <a:cs typeface="Times" charset="0"/>
                  </a:rPr>
                  <a:t>“Better” practically-inspired lower bounds for Res (e.g., why are crypto instances hard for solvers?)</a:t>
                </a:r>
                <a:br>
                  <a:rPr lang="en-US" dirty="0">
                    <a:latin typeface="Times" pitchFamily="2" charset="0"/>
                    <a:ea typeface="Times" charset="0"/>
                    <a:cs typeface="Times" charset="0"/>
                  </a:rPr>
                </a:br>
                <a:endParaRPr lang="en-US" dirty="0">
                  <a:latin typeface="Times" pitchFamily="2" charset="0"/>
                  <a:ea typeface="Times" charset="0"/>
                  <a:cs typeface="Times" charset="0"/>
                </a:endParaRPr>
              </a:p>
              <a:p>
                <a:pPr>
                  <a:lnSpc>
                    <a:spcPct val="90000"/>
                  </a:lnSpc>
                  <a:buFont typeface="Wingdings" pitchFamily="2" charset="2"/>
                  <a:buChar char="Ø"/>
                  <a:defRPr/>
                </a:pPr>
                <a:r>
                  <a:rPr lang="en-US" dirty="0">
                    <a:latin typeface="Times" pitchFamily="2" charset="0"/>
                    <a:ea typeface="Times" charset="0"/>
                    <a:cs typeface="Times" charset="0"/>
                  </a:rPr>
                  <a:t>Better understanding of solver configurations (e.g., CDCL - restarts &lt; CDCL + restarts,…)</a:t>
                </a:r>
              </a:p>
              <a:p>
                <a:pPr>
                  <a:lnSpc>
                    <a:spcPct val="90000"/>
                  </a:lnSpc>
                  <a:buFont typeface="Wingdings" pitchFamily="2" charset="2"/>
                  <a:buChar char="Ø"/>
                  <a:defRPr/>
                </a:pPr>
                <a:endParaRPr lang="en-US" dirty="0">
                  <a:latin typeface="Times" pitchFamily="2" charset="0"/>
                  <a:ea typeface="Times" charset="0"/>
                  <a:cs typeface="Times" charset="0"/>
                </a:endParaRPr>
              </a:p>
              <a:p>
                <a:pPr>
                  <a:lnSpc>
                    <a:spcPct val="90000"/>
                  </a:lnSpc>
                  <a:buFont typeface="Wingdings" pitchFamily="2" charset="2"/>
                  <a:buChar char="Ø"/>
                  <a:defRPr/>
                </a:pPr>
                <a:r>
                  <a:rPr lang="en-US" dirty="0">
                    <a:latin typeface="Times" pitchFamily="2" charset="0"/>
                    <a:ea typeface="Times" charset="0"/>
                    <a:cs typeface="Times" charset="0"/>
                  </a:rPr>
                  <a:t>Better solver design (e.g., stronger proof systems integrated into solvers, better ML-based proof rule sequencing and selecting methods,…)</a:t>
                </a:r>
              </a:p>
            </p:txBody>
          </p:sp>
        </mc:Choice>
        <mc:Fallback>
          <p:sp>
            <p:nvSpPr>
              <p:cNvPr id="47107" name="Rectangle 3"/>
              <p:cNvSpPr>
                <a:spLocks noGrp="1" noRot="1" noChangeAspect="1" noMove="1" noResize="1" noEditPoints="1" noAdjustHandles="1" noChangeArrowheads="1" noChangeShapeType="1" noTextEdit="1"/>
              </p:cNvSpPr>
              <p:nvPr>
                <p:ph type="body" idx="1"/>
              </p:nvPr>
            </p:nvSpPr>
            <p:spPr>
              <a:xfrm>
                <a:off x="5232804" y="274320"/>
                <a:ext cx="6581659" cy="6168044"/>
              </a:xfrm>
              <a:blipFill>
                <a:blip r:embed="rId3"/>
                <a:stretch>
                  <a:fillRect l="-577" r="-962"/>
                </a:stretch>
              </a:blipFill>
            </p:spPr>
            <p:txBody>
              <a:bodyPr/>
              <a:lstStyle/>
              <a:p>
                <a:r>
                  <a:rPr lang="en-US">
                    <a:noFill/>
                  </a:rPr>
                  <a:t> </a:t>
                </a:r>
              </a:p>
            </p:txBody>
          </p:sp>
        </mc:Fallback>
      </mc:AlternateContent>
      <p:sp>
        <p:nvSpPr>
          <p:cNvPr id="7" name="Slide Number Placeholder 6"/>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8A7A6979-0714-4377-B894-6BE4C2D6E202}" type="slidenum">
              <a:rPr lang="en-US" smtClean="0"/>
              <a:pPr>
                <a:lnSpc>
                  <a:spcPct val="90000"/>
                </a:lnSpc>
                <a:spcAft>
                  <a:spcPts val="600"/>
                </a:spcAft>
              </a:pPr>
              <a:t>7</a:t>
            </a:fld>
            <a:endParaRPr lang="en-US"/>
          </a:p>
        </p:txBody>
      </p:sp>
    </p:spTree>
    <p:extLst>
      <p:ext uri="{BB962C8B-B14F-4D97-AF65-F5344CB8AC3E}">
        <p14:creationId xmlns:p14="http://schemas.microsoft.com/office/powerpoint/2010/main" val="4159331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10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432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1037" y="169983"/>
            <a:ext cx="11439726" cy="1081400"/>
          </a:xfrm>
        </p:spPr>
        <p:txBody>
          <a:bodyPr>
            <a:noAutofit/>
          </a:bodyPr>
          <a:lstStyle/>
          <a:p>
            <a:r>
              <a:rPr lang="en-GB" sz="3600" u="sng" cap="none" dirty="0">
                <a:latin typeface="Times" charset="0"/>
                <a:ea typeface="Times" charset="0"/>
                <a:cs typeface="Times" charset="0"/>
              </a:rPr>
              <a:t>Search for Complexity-theoretic Parameters</a:t>
            </a:r>
            <a:br>
              <a:rPr lang="en-GB" sz="3600" u="sng" cap="none" dirty="0">
                <a:latin typeface="Times" charset="0"/>
                <a:ea typeface="Times" charset="0"/>
                <a:cs typeface="Times" charset="0"/>
              </a:rPr>
            </a:br>
            <a:r>
              <a:rPr lang="en-GB" sz="3600" cap="none" dirty="0">
                <a:solidFill>
                  <a:srgbClr val="000000"/>
                </a:solidFill>
                <a:latin typeface="Times" charset="0"/>
                <a:ea typeface="Times" charset="0"/>
                <a:cs typeface="Times" charset="0"/>
              </a:rPr>
              <a:t>Key Question</a:t>
            </a: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4450612" y="1945584"/>
            <a:ext cx="2720634" cy="2412890"/>
          </a:xfrm>
        </p:spPr>
      </p:pic>
      <p:pic>
        <p:nvPicPr>
          <p:cNvPr id="1026" name="Picture 2" descr="https://upload.wikimedia.org/wikipedia/commons/thumb/a/a7/Tree_decomposition.svg/240px-Tree_decomposition.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3172" y="1690688"/>
            <a:ext cx="1938867" cy="257707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steinertriples.fr/ncohen/tut/Graphs/random_t.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25008" y="1874382"/>
            <a:ext cx="2116667" cy="2155465"/>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p:cNvSpPr/>
          <p:nvPr/>
        </p:nvSpPr>
        <p:spPr>
          <a:xfrm>
            <a:off x="8858967" y="3508448"/>
            <a:ext cx="90299" cy="8209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Oval 8"/>
          <p:cNvSpPr/>
          <p:nvPr/>
        </p:nvSpPr>
        <p:spPr>
          <a:xfrm>
            <a:off x="8904116" y="3087232"/>
            <a:ext cx="90299" cy="8209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solidFill>
                <a:srgbClr val="0070C0"/>
              </a:solidFill>
            </a:endParaRPr>
          </a:p>
        </p:txBody>
      </p:sp>
      <p:sp>
        <p:nvSpPr>
          <p:cNvPr id="10" name="Oval 9"/>
          <p:cNvSpPr/>
          <p:nvPr/>
        </p:nvSpPr>
        <p:spPr>
          <a:xfrm>
            <a:off x="9503841" y="3069935"/>
            <a:ext cx="90299" cy="8209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Oval 10"/>
          <p:cNvSpPr/>
          <p:nvPr/>
        </p:nvSpPr>
        <p:spPr>
          <a:xfrm>
            <a:off x="9197614" y="2519172"/>
            <a:ext cx="90299" cy="8209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Oval 11"/>
          <p:cNvSpPr/>
          <p:nvPr/>
        </p:nvSpPr>
        <p:spPr>
          <a:xfrm>
            <a:off x="9413542" y="3716289"/>
            <a:ext cx="90299" cy="82094"/>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6" name="TextBox 5"/>
          <p:cNvSpPr txBox="1"/>
          <p:nvPr/>
        </p:nvSpPr>
        <p:spPr>
          <a:xfrm>
            <a:off x="269421" y="4408683"/>
            <a:ext cx="11381342" cy="2185214"/>
          </a:xfrm>
          <a:prstGeom prst="rect">
            <a:avLst/>
          </a:prstGeom>
          <a:noFill/>
        </p:spPr>
        <p:txBody>
          <a:bodyPr wrap="square" rtlCol="0">
            <a:spAutoFit/>
          </a:bodyPr>
          <a:lstStyle/>
          <a:p>
            <a:r>
              <a:rPr lang="en-US" sz="2400" dirty="0"/>
              <a:t>               </a:t>
            </a:r>
            <a:r>
              <a:rPr lang="en-US" sz="2200" u="sng" dirty="0">
                <a:latin typeface="Times" pitchFamily="2" charset="0"/>
              </a:rPr>
              <a:t>Treewidth</a:t>
            </a:r>
            <a:r>
              <a:rPr lang="en-US" sz="2200" dirty="0">
                <a:latin typeface="Times" pitchFamily="2" charset="0"/>
              </a:rPr>
              <a:t>                             </a:t>
            </a:r>
            <a:r>
              <a:rPr lang="en-US" sz="2200" u="sng" dirty="0">
                <a:latin typeface="Times" pitchFamily="2" charset="0"/>
              </a:rPr>
              <a:t>Community Structure</a:t>
            </a:r>
            <a:r>
              <a:rPr lang="en-US" sz="2200" dirty="0">
                <a:latin typeface="Times" pitchFamily="2" charset="0"/>
              </a:rPr>
              <a:t>                     </a:t>
            </a:r>
            <a:r>
              <a:rPr lang="en-US" sz="2200" u="sng" dirty="0">
                <a:latin typeface="Times" pitchFamily="2" charset="0"/>
              </a:rPr>
              <a:t>Backdoors</a:t>
            </a:r>
            <a:endParaRPr lang="en-US" sz="2200" dirty="0">
              <a:latin typeface="Times" pitchFamily="2" charset="0"/>
            </a:endParaRPr>
          </a:p>
          <a:p>
            <a:endParaRPr lang="en-US" sz="2200" dirty="0">
              <a:latin typeface="Times" pitchFamily="2" charset="0"/>
            </a:endParaRPr>
          </a:p>
          <a:p>
            <a:r>
              <a:rPr lang="en-US" sz="2200" dirty="0">
                <a:solidFill>
                  <a:srgbClr val="000000"/>
                </a:solidFill>
                <a:latin typeface="Times" pitchFamily="2" charset="0"/>
                <a:ea typeface="Times" charset="0"/>
                <a:cs typeface="Times" charset="0"/>
              </a:rPr>
              <a:t>Q: </a:t>
            </a:r>
            <a:r>
              <a:rPr lang="en-US" sz="2200" dirty="0">
                <a:latin typeface="Times" pitchFamily="2" charset="0"/>
                <a:ea typeface="Times" charset="0"/>
                <a:cs typeface="Times" charset="0"/>
              </a:rPr>
              <a:t>Industrial instances have structure that is exploited by solvers. The question then is which of the proposed structural parameters have the best explanatory power, across a wide variety of instances?</a:t>
            </a:r>
          </a:p>
          <a:p>
            <a:endParaRPr lang="en-US" sz="2200" dirty="0">
              <a:latin typeface="Times" pitchFamily="2" charset="0"/>
              <a:ea typeface="Times" charset="0"/>
              <a:cs typeface="Times" charset="0"/>
            </a:endParaRPr>
          </a:p>
          <a:p>
            <a:r>
              <a:rPr lang="en-US" sz="2200" dirty="0">
                <a:latin typeface="Times" pitchFamily="2" charset="0"/>
                <a:ea typeface="Times" charset="0"/>
                <a:cs typeface="Times" charset="0"/>
              </a:rPr>
              <a:t>The goal of empirical work is to either rule-out or rule-in parameters for further theoretical analysis</a:t>
            </a:r>
            <a:endParaRPr lang="en-CA" sz="2200" dirty="0">
              <a:latin typeface="Times" pitchFamily="2" charset="0"/>
              <a:ea typeface="Times" charset="0"/>
              <a:cs typeface="Times" charset="0"/>
            </a:endParaRPr>
          </a:p>
        </p:txBody>
      </p:sp>
      <p:sp>
        <p:nvSpPr>
          <p:cNvPr id="7" name="Rectangle 6"/>
          <p:cNvSpPr/>
          <p:nvPr/>
        </p:nvSpPr>
        <p:spPr>
          <a:xfrm>
            <a:off x="6637867" y="1752600"/>
            <a:ext cx="795866" cy="14901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5" name="Rectangle 14"/>
          <p:cNvSpPr/>
          <p:nvPr/>
        </p:nvSpPr>
        <p:spPr>
          <a:xfrm>
            <a:off x="6904557" y="3491577"/>
            <a:ext cx="795866" cy="866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1826240" y="6492240"/>
            <a:ext cx="365760" cy="365760"/>
          </a:xfrm>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2689151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1AA71D-CEB6-BE19-1DC3-1AE13C0CD4D1}"/>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chemeClr val="accent2">
              <a:lumMod val="75000"/>
            </a:schemeClr>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A5A6A4-63A7-3D27-4916-E36716FB0229}"/>
              </a:ext>
            </a:extLst>
          </p:cNvPr>
          <p:cNvSpPr>
            <a:spLocks noGrp="1"/>
          </p:cNvSpPr>
          <p:nvPr>
            <p:ph type="title"/>
          </p:nvPr>
        </p:nvSpPr>
        <p:spPr>
          <a:xfrm>
            <a:off x="1260873" y="1586484"/>
            <a:ext cx="3685032" cy="3685032"/>
          </a:xfrm>
          <a:prstGeom prst="ellipse">
            <a:avLst/>
          </a:prstGeom>
          <a:noFill/>
          <a:ln>
            <a:noFill/>
          </a:ln>
        </p:spPr>
        <p:txBody>
          <a:bodyPr vert="horz" lIns="182880" tIns="182880" rIns="182880" bIns="182880" rtlCol="0" anchor="ctr">
            <a:normAutofit/>
          </a:bodyPr>
          <a:lstStyle/>
          <a:p>
            <a:r>
              <a:rPr lang="en-US" sz="1700" u="sng" kern="1200" cap="all" spc="200" baseline="0" dirty="0">
                <a:solidFill>
                  <a:srgbClr val="FFFFFF"/>
                </a:solidFill>
                <a:latin typeface="+mj-lt"/>
                <a:ea typeface="+mj-ea"/>
                <a:cs typeface="+mj-cs"/>
              </a:rPr>
              <a:t>Complexity-theoretic Understanding of Solvers</a:t>
            </a:r>
            <a:br>
              <a:rPr lang="en-US" sz="1700" kern="1200" cap="all" spc="200" baseline="0" dirty="0">
                <a:solidFill>
                  <a:srgbClr val="FFFFFF"/>
                </a:solidFill>
                <a:latin typeface="+mj-lt"/>
                <a:ea typeface="+mj-ea"/>
                <a:cs typeface="+mj-cs"/>
              </a:rPr>
            </a:br>
            <a:r>
              <a:rPr lang="en-US" sz="1700" kern="1200" cap="all" spc="200" baseline="0" dirty="0">
                <a:solidFill>
                  <a:srgbClr val="FFFFFF"/>
                </a:solidFill>
                <a:latin typeface="+mj-lt"/>
                <a:ea typeface="+mj-ea"/>
                <a:cs typeface="+mj-cs"/>
              </a:rPr>
              <a:t>Empirical Approach to Identify Good Parameters</a:t>
            </a:r>
          </a:p>
        </p:txBody>
      </p:sp>
      <p:sp>
        <p:nvSpPr>
          <p:cNvPr id="6" name="TextBox 5">
            <a:extLst>
              <a:ext uri="{FF2B5EF4-FFF2-40B4-BE49-F238E27FC236}">
                <a16:creationId xmlns:a16="http://schemas.microsoft.com/office/drawing/2014/main" id="{A56C287A-2887-E3C4-4F66-BBF300407948}"/>
              </a:ext>
            </a:extLst>
          </p:cNvPr>
          <p:cNvSpPr txBox="1"/>
          <p:nvPr/>
        </p:nvSpPr>
        <p:spPr>
          <a:xfrm>
            <a:off x="5089355" y="457200"/>
            <a:ext cx="6922536" cy="6126480"/>
          </a:xfrm>
          <a:prstGeom prst="rect">
            <a:avLst/>
          </a:prstGeom>
        </p:spPr>
        <p:txBody>
          <a:bodyPr vert="horz" lIns="91440" tIns="45720" rIns="91440" bIns="45720" rtlCol="0" anchor="ctr">
            <a:noAutofit/>
          </a:bodyPr>
          <a:lstStyle/>
          <a:p>
            <a:pPr marL="342900" indent="-228600" defTabSz="914400">
              <a:lnSpc>
                <a:spcPct val="90000"/>
              </a:lnSpc>
              <a:spcBef>
                <a:spcPts val="1000"/>
              </a:spcBef>
              <a:buClr>
                <a:schemeClr val="accent2"/>
              </a:buClr>
              <a:buFont typeface="Arial" panose="020B0604020202020204" pitchFamily="34" charset="0"/>
              <a:buChar char="•"/>
              <a:defRPr sz="1900">
                <a:solidFill>
                  <a:srgbClr val="941100"/>
                </a:solidFill>
                <a:latin typeface="+mn-lt"/>
                <a:ea typeface="+mn-ea"/>
                <a:cs typeface="+mn-cs"/>
                <a:sym typeface="Gill Sans"/>
              </a:defRPr>
            </a:pPr>
            <a:r>
              <a:rPr lang="en-US" dirty="0">
                <a:solidFill>
                  <a:schemeClr val="tx1">
                    <a:lumMod val="85000"/>
                    <a:lumOff val="15000"/>
                  </a:schemeClr>
                </a:solidFill>
              </a:rPr>
              <a:t>Final goal: Discover parameters that withstand a battery of well-designed empirical tests and are primed for further theoretical analysis. (it goes without saying that empirical analysis can never be conclusive or complete, because experiments are inherently contingent on a many factors such as sample size, solver settings, tools used, experimental design, etc. Also, the best we can hope for is correlations)</a:t>
            </a:r>
          </a:p>
          <a:p>
            <a:pPr marL="114300" defTabSz="914400">
              <a:lnSpc>
                <a:spcPct val="90000"/>
              </a:lnSpc>
              <a:spcBef>
                <a:spcPts val="1000"/>
              </a:spcBef>
              <a:buClr>
                <a:schemeClr val="accent2"/>
              </a:buClr>
              <a:defRPr sz="1900">
                <a:solidFill>
                  <a:srgbClr val="941100"/>
                </a:solidFill>
                <a:latin typeface="+mn-lt"/>
                <a:ea typeface="+mn-ea"/>
                <a:cs typeface="+mn-cs"/>
                <a:sym typeface="Gill Sans"/>
              </a:defRPr>
            </a:pPr>
            <a:endParaRPr lang="en-US" dirty="0">
              <a:solidFill>
                <a:schemeClr val="tx1">
                  <a:lumMod val="85000"/>
                  <a:lumOff val="15000"/>
                </a:schemeClr>
              </a:solidFill>
            </a:endParaRPr>
          </a:p>
          <a:p>
            <a:pPr marL="342900" indent="-228600" defTabSz="914400">
              <a:lnSpc>
                <a:spcPct val="90000"/>
              </a:lnSpc>
              <a:spcBef>
                <a:spcPts val="1000"/>
              </a:spcBef>
              <a:buClr>
                <a:schemeClr val="accent2"/>
              </a:buClr>
              <a:buFont typeface="Arial" panose="020B0604020202020204" pitchFamily="34" charset="0"/>
              <a:buChar char="•"/>
              <a:defRPr sz="1900">
                <a:solidFill>
                  <a:srgbClr val="941100"/>
                </a:solidFill>
                <a:latin typeface="+mn-lt"/>
                <a:ea typeface="+mn-ea"/>
                <a:cs typeface="+mn-cs"/>
                <a:sym typeface="Gill Sans"/>
              </a:defRPr>
            </a:pPr>
            <a:r>
              <a:rPr lang="en-US" dirty="0">
                <a:solidFill>
                  <a:schemeClr val="tx1">
                    <a:lumMod val="85000"/>
                    <a:lumOff val="15000"/>
                  </a:schemeClr>
                </a:solidFill>
              </a:rPr>
              <a:t>Parameter must enable us to classify different kinds of SAT formulas into categories such as random, crafted, crypto, verification etc. (i.e., there must be evidence that real-world instance possess the appropriate structure)</a:t>
            </a:r>
          </a:p>
          <a:p>
            <a:pPr marL="114300" defTabSz="914400">
              <a:lnSpc>
                <a:spcPct val="90000"/>
              </a:lnSpc>
              <a:spcBef>
                <a:spcPts val="1000"/>
              </a:spcBef>
              <a:buClr>
                <a:schemeClr val="accent2"/>
              </a:buClr>
              <a:defRPr sz="1900">
                <a:solidFill>
                  <a:srgbClr val="941100"/>
                </a:solidFill>
                <a:latin typeface="+mn-lt"/>
                <a:ea typeface="+mn-ea"/>
                <a:cs typeface="+mn-cs"/>
                <a:sym typeface="Gill Sans"/>
              </a:defRPr>
            </a:pPr>
            <a:endParaRPr lang="en-US" dirty="0">
              <a:solidFill>
                <a:schemeClr val="tx1">
                  <a:lumMod val="85000"/>
                  <a:lumOff val="15000"/>
                </a:schemeClr>
              </a:solidFill>
            </a:endParaRPr>
          </a:p>
          <a:p>
            <a:pPr marL="342900" indent="-228600" defTabSz="914400">
              <a:lnSpc>
                <a:spcPct val="90000"/>
              </a:lnSpc>
              <a:spcBef>
                <a:spcPts val="1000"/>
              </a:spcBef>
              <a:buClr>
                <a:schemeClr val="accent2"/>
              </a:buClr>
              <a:buFont typeface="Arial" panose="020B0604020202020204" pitchFamily="34" charset="0"/>
              <a:buChar char="•"/>
              <a:defRPr sz="1900">
                <a:solidFill>
                  <a:srgbClr val="941100"/>
                </a:solidFill>
                <a:latin typeface="+mn-lt"/>
                <a:ea typeface="+mn-ea"/>
                <a:cs typeface="+mn-cs"/>
                <a:sym typeface="Gill Sans"/>
              </a:defRPr>
            </a:pPr>
            <a:r>
              <a:rPr lang="en-US" dirty="0">
                <a:solidFill>
                  <a:schemeClr val="tx1">
                    <a:lumMod val="85000"/>
                    <a:lumOff val="15000"/>
                  </a:schemeClr>
                </a:solidFill>
              </a:rPr>
              <a:t>For appropriate range of values, the parameters must correlate well with solver running time (i.e., parameters useful as features in empirical hardness models)</a:t>
            </a:r>
          </a:p>
          <a:p>
            <a:pPr marL="114300" defTabSz="914400">
              <a:lnSpc>
                <a:spcPct val="90000"/>
              </a:lnSpc>
              <a:spcBef>
                <a:spcPts val="1000"/>
              </a:spcBef>
              <a:buClr>
                <a:schemeClr val="accent2"/>
              </a:buClr>
              <a:defRPr sz="1900">
                <a:solidFill>
                  <a:srgbClr val="941100"/>
                </a:solidFill>
                <a:latin typeface="+mn-lt"/>
                <a:ea typeface="+mn-ea"/>
                <a:cs typeface="+mn-cs"/>
                <a:sym typeface="Gill Sans"/>
              </a:defRPr>
            </a:pPr>
            <a:endParaRPr lang="en-US" dirty="0">
              <a:solidFill>
                <a:schemeClr val="tx1">
                  <a:lumMod val="85000"/>
                  <a:lumOff val="15000"/>
                </a:schemeClr>
              </a:solidFill>
            </a:endParaRPr>
          </a:p>
          <a:p>
            <a:pPr marL="342900" indent="-228600" defTabSz="914400">
              <a:lnSpc>
                <a:spcPct val="90000"/>
              </a:lnSpc>
              <a:spcBef>
                <a:spcPts val="1000"/>
              </a:spcBef>
              <a:buClr>
                <a:schemeClr val="accent2"/>
              </a:buClr>
              <a:buFont typeface="Arial" panose="020B0604020202020204" pitchFamily="34" charset="0"/>
              <a:buChar char="•"/>
              <a:defRPr sz="1900">
                <a:solidFill>
                  <a:srgbClr val="941100"/>
                </a:solidFill>
                <a:latin typeface="+mn-lt"/>
                <a:ea typeface="+mn-ea"/>
                <a:cs typeface="+mn-cs"/>
                <a:sym typeface="Gill Sans"/>
              </a:defRPr>
            </a:pPr>
            <a:r>
              <a:rPr lang="en-US" dirty="0">
                <a:solidFill>
                  <a:schemeClr val="tx1">
                    <a:lumMod val="85000"/>
                    <a:lumOff val="15000"/>
                  </a:schemeClr>
                </a:solidFill>
              </a:rPr>
              <a:t>Instance-generator based scaling studies must validate our hypotheses</a:t>
            </a:r>
          </a:p>
        </p:txBody>
      </p:sp>
      <p:sp>
        <p:nvSpPr>
          <p:cNvPr id="3" name="Slide Number Placeholder 2">
            <a:extLst>
              <a:ext uri="{FF2B5EF4-FFF2-40B4-BE49-F238E27FC236}">
                <a16:creationId xmlns:a16="http://schemas.microsoft.com/office/drawing/2014/main" id="{7D6705FB-8F1D-4044-A225-8E2CB06DA5ED}"/>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8A7A6979-0714-4377-B894-6BE4C2D6E202}" type="slidenum">
              <a:rPr lang="en-US" kern="1200" spc="0" baseline="0" dirty="0">
                <a:solidFill>
                  <a:srgbClr val="FFFFFF"/>
                </a:solidFill>
                <a:latin typeface="+mn-lt"/>
                <a:ea typeface="+mn-ea"/>
                <a:cs typeface="+mn-cs"/>
              </a:rPr>
              <a:pPr>
                <a:lnSpc>
                  <a:spcPct val="90000"/>
                </a:lnSpc>
                <a:spcAft>
                  <a:spcPts val="600"/>
                </a:spcAft>
              </a:pPr>
              <a:t>10</a:t>
            </a:fld>
            <a:endParaRPr lang="en-US" kern="1200" spc="0" baseline="0" dirty="0">
              <a:solidFill>
                <a:srgbClr val="FFFFFF"/>
              </a:solidFill>
              <a:latin typeface="+mn-lt"/>
              <a:ea typeface="+mn-ea"/>
              <a:cs typeface="+mn-cs"/>
            </a:endParaRPr>
          </a:p>
        </p:txBody>
      </p:sp>
    </p:spTree>
    <p:extLst>
      <p:ext uri="{BB962C8B-B14F-4D97-AF65-F5344CB8AC3E}">
        <p14:creationId xmlns:p14="http://schemas.microsoft.com/office/powerpoint/2010/main" val="1927170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chemeClr val="accent2">
              <a:lumMod val="75000"/>
            </a:schemeClr>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0873" y="1586484"/>
            <a:ext cx="3685032" cy="3685032"/>
          </a:xfrm>
          <a:prstGeom prst="ellipse">
            <a:avLst/>
          </a:prstGeom>
          <a:noFill/>
          <a:ln>
            <a:noFill/>
          </a:ln>
        </p:spPr>
        <p:txBody>
          <a:bodyPr vert="horz" lIns="182880" tIns="182880" rIns="182880" bIns="182880" rtlCol="0" anchor="ctr">
            <a:normAutofit/>
          </a:bodyPr>
          <a:lstStyle/>
          <a:p>
            <a:r>
              <a:rPr lang="en-US" sz="2100" kern="1200" cap="all" spc="200" baseline="0" dirty="0">
                <a:solidFill>
                  <a:srgbClr val="FFFFFF"/>
                </a:solidFill>
                <a:latin typeface="+mj-lt"/>
                <a:ea typeface="+mj-ea"/>
                <a:cs typeface="+mj-cs"/>
              </a:rPr>
              <a:t>Parameters that have been (tentatively) Ruled Out</a:t>
            </a:r>
          </a:p>
        </p:txBody>
      </p:sp>
      <p:sp>
        <p:nvSpPr>
          <p:cNvPr id="6" name="TextBox 5"/>
          <p:cNvSpPr txBox="1"/>
          <p:nvPr/>
        </p:nvSpPr>
        <p:spPr>
          <a:xfrm>
            <a:off x="5089355" y="0"/>
            <a:ext cx="6959194" cy="6583680"/>
          </a:xfrm>
          <a:prstGeom prst="rect">
            <a:avLst/>
          </a:prstGeom>
        </p:spPr>
        <p:txBody>
          <a:bodyPr vert="horz" lIns="91440" tIns="45720" rIns="91440" bIns="45720" rtlCol="0" anchor="ctr">
            <a:noAutofit/>
          </a:bodyPr>
          <a:lstStyle/>
          <a:p>
            <a:pPr marL="342900" indent="-228600" defTabSz="914400">
              <a:lnSpc>
                <a:spcPct val="90000"/>
              </a:lnSpc>
              <a:spcBef>
                <a:spcPts val="1000"/>
              </a:spcBef>
              <a:buClr>
                <a:schemeClr val="accent2"/>
              </a:buClr>
              <a:buFont typeface="Arial" panose="020B0604020202020204" pitchFamily="34" charset="0"/>
              <a:buChar char="•"/>
            </a:pPr>
            <a:r>
              <a:rPr lang="en-US" sz="1600" dirty="0">
                <a:solidFill>
                  <a:schemeClr val="tx1">
                    <a:lumMod val="85000"/>
                    <a:lumOff val="15000"/>
                  </a:schemeClr>
                </a:solidFill>
              </a:rPr>
              <a:t>CVR – Lots of excitement in the 1990’s when the phase transition phenomenon was discovered [CKT’91], followed by the easy-hard-easy pattern [MSL‘92]. However, it was later shown that this does not hold up under scaling studies [CDASV’03]</a:t>
            </a:r>
          </a:p>
          <a:p>
            <a:pPr marL="342900" indent="-228600" defTabSz="914400">
              <a:lnSpc>
                <a:spcPct val="90000"/>
              </a:lnSpc>
              <a:spcBef>
                <a:spcPts val="1000"/>
              </a:spcBef>
              <a:buClr>
                <a:schemeClr val="accent2"/>
              </a:buClr>
              <a:buFont typeface="Arial" panose="020B0604020202020204" pitchFamily="34" charset="0"/>
              <a:buChar char="•"/>
            </a:pPr>
            <a:endParaRPr lang="en-US" sz="1600" dirty="0">
              <a:solidFill>
                <a:schemeClr val="tx1">
                  <a:lumMod val="85000"/>
                  <a:lumOff val="15000"/>
                </a:schemeClr>
              </a:solidFill>
            </a:endParaRPr>
          </a:p>
          <a:p>
            <a:pPr marL="342900" indent="-228600" defTabSz="914400">
              <a:lnSpc>
                <a:spcPct val="90000"/>
              </a:lnSpc>
              <a:spcBef>
                <a:spcPts val="1000"/>
              </a:spcBef>
              <a:buClr>
                <a:schemeClr val="accent2"/>
              </a:buClr>
              <a:buFont typeface="Arial" panose="020B0604020202020204" pitchFamily="34" charset="0"/>
              <a:buChar char="•"/>
            </a:pPr>
            <a:r>
              <a:rPr lang="en-US" sz="1600" dirty="0">
                <a:solidFill>
                  <a:schemeClr val="tx1">
                    <a:lumMod val="85000"/>
                    <a:lumOff val="15000"/>
                  </a:schemeClr>
                </a:solidFill>
              </a:rPr>
              <a:t>Treewidth – Unfortunately, empirically treewidth does not correlate with solver runtime [Mateescu’11]</a:t>
            </a:r>
          </a:p>
          <a:p>
            <a:pPr marL="342900" indent="-228600" defTabSz="914400">
              <a:lnSpc>
                <a:spcPct val="90000"/>
              </a:lnSpc>
              <a:spcBef>
                <a:spcPts val="1000"/>
              </a:spcBef>
              <a:buClr>
                <a:schemeClr val="accent2"/>
              </a:buClr>
              <a:buFont typeface="Arial" panose="020B0604020202020204" pitchFamily="34" charset="0"/>
              <a:buChar char="•"/>
            </a:pPr>
            <a:endParaRPr lang="en-US" sz="1600" dirty="0">
              <a:solidFill>
                <a:schemeClr val="tx1">
                  <a:lumMod val="85000"/>
                  <a:lumOff val="15000"/>
                </a:schemeClr>
              </a:solidFill>
            </a:endParaRPr>
          </a:p>
          <a:p>
            <a:pPr marL="342900" indent="-228600" defTabSz="914400">
              <a:lnSpc>
                <a:spcPct val="90000"/>
              </a:lnSpc>
              <a:spcBef>
                <a:spcPts val="1000"/>
              </a:spcBef>
              <a:buClr>
                <a:schemeClr val="accent2"/>
              </a:buClr>
              <a:buFont typeface="Arial" panose="020B0604020202020204" pitchFamily="34" charset="0"/>
              <a:buChar char="•"/>
            </a:pPr>
            <a:r>
              <a:rPr lang="en-US" sz="1600" dirty="0">
                <a:solidFill>
                  <a:schemeClr val="tx1">
                    <a:lumMod val="85000"/>
                    <a:lumOff val="15000"/>
                  </a:schemeClr>
                </a:solidFill>
              </a:rPr>
              <a:t>Pathwidth/</a:t>
            </a:r>
            <a:r>
              <a:rPr lang="en-US" sz="1600" dirty="0" err="1">
                <a:solidFill>
                  <a:schemeClr val="tx1">
                    <a:lumMod val="85000"/>
                    <a:lumOff val="15000"/>
                  </a:schemeClr>
                </a:solidFill>
              </a:rPr>
              <a:t>branchwidth</a:t>
            </a:r>
            <a:r>
              <a:rPr lang="en-US" sz="1600" dirty="0">
                <a:solidFill>
                  <a:schemeClr val="tx1">
                    <a:lumMod val="85000"/>
                    <a:lumOff val="15000"/>
                  </a:schemeClr>
                </a:solidFill>
              </a:rPr>
              <a:t> – These are </a:t>
            </a:r>
            <a:r>
              <a:rPr lang="en-US" sz="1600" dirty="0" err="1">
                <a:solidFill>
                  <a:schemeClr val="tx1">
                    <a:lumMod val="85000"/>
                    <a:lumOff val="15000"/>
                  </a:schemeClr>
                </a:solidFill>
              </a:rPr>
              <a:t>polynomially</a:t>
            </a:r>
            <a:r>
              <a:rPr lang="en-US" sz="1600" dirty="0">
                <a:solidFill>
                  <a:schemeClr val="tx1">
                    <a:lumMod val="85000"/>
                    <a:lumOff val="15000"/>
                  </a:schemeClr>
                </a:solidFill>
              </a:rPr>
              <a:t> related to treewidth and hence unlikely to serve as good parameters (for the same reason treewidth fails)</a:t>
            </a:r>
          </a:p>
          <a:p>
            <a:pPr marL="342900" indent="-228600" defTabSz="914400">
              <a:lnSpc>
                <a:spcPct val="90000"/>
              </a:lnSpc>
              <a:spcBef>
                <a:spcPts val="1000"/>
              </a:spcBef>
              <a:buClr>
                <a:schemeClr val="accent2"/>
              </a:buClr>
              <a:buFont typeface="Arial" panose="020B0604020202020204" pitchFamily="34" charset="0"/>
              <a:buChar char="•"/>
            </a:pPr>
            <a:endParaRPr lang="en-US" sz="1600" dirty="0">
              <a:solidFill>
                <a:schemeClr val="tx1">
                  <a:lumMod val="85000"/>
                  <a:lumOff val="15000"/>
                </a:schemeClr>
              </a:solidFill>
            </a:endParaRPr>
          </a:p>
          <a:p>
            <a:pPr marL="342900" indent="-228600" defTabSz="914400">
              <a:lnSpc>
                <a:spcPct val="90000"/>
              </a:lnSpc>
              <a:spcBef>
                <a:spcPts val="1000"/>
              </a:spcBef>
              <a:buClr>
                <a:schemeClr val="accent2"/>
              </a:buClr>
              <a:buFont typeface="Arial" panose="020B0604020202020204" pitchFamily="34" charset="0"/>
              <a:buChar char="•"/>
            </a:pPr>
            <a:r>
              <a:rPr lang="en-US" sz="1600" dirty="0">
                <a:solidFill>
                  <a:schemeClr val="tx1">
                    <a:lumMod val="85000"/>
                    <a:lumOff val="15000"/>
                  </a:schemeClr>
                </a:solidFill>
              </a:rPr>
              <a:t>Backdoor and many variants – Similar problem as treewidth. Instances with small backdoor hard to solve, large backdoors easy to solve [Zulkoski’18]</a:t>
            </a:r>
          </a:p>
          <a:p>
            <a:pPr marL="342900" indent="-228600" defTabSz="914400">
              <a:lnSpc>
                <a:spcPct val="90000"/>
              </a:lnSpc>
              <a:spcBef>
                <a:spcPts val="1000"/>
              </a:spcBef>
              <a:buClr>
                <a:schemeClr val="accent2"/>
              </a:buClr>
              <a:buFont typeface="Arial" panose="020B0604020202020204" pitchFamily="34" charset="0"/>
              <a:buChar char="•"/>
            </a:pPr>
            <a:endParaRPr lang="en-US" sz="1600" dirty="0">
              <a:solidFill>
                <a:schemeClr val="tx1">
                  <a:lumMod val="85000"/>
                  <a:lumOff val="15000"/>
                </a:schemeClr>
              </a:solidFill>
            </a:endParaRPr>
          </a:p>
          <a:p>
            <a:pPr marL="342900" indent="-228600" defTabSz="914400">
              <a:lnSpc>
                <a:spcPct val="90000"/>
              </a:lnSpc>
              <a:spcBef>
                <a:spcPts val="1000"/>
              </a:spcBef>
              <a:buClr>
                <a:schemeClr val="accent2"/>
              </a:buClr>
              <a:buFont typeface="Arial" panose="020B0604020202020204" pitchFamily="34" charset="0"/>
              <a:buChar char="•"/>
            </a:pPr>
            <a:r>
              <a:rPr lang="en-US" sz="1600" dirty="0">
                <a:solidFill>
                  <a:schemeClr val="tx1">
                    <a:lumMod val="85000"/>
                    <a:lumOff val="15000"/>
                  </a:schemeClr>
                </a:solidFill>
              </a:rPr>
              <a:t>Community structure – While promising empirically, it is easy to show theoretically that formulas with good community structure can be hard for solvers [Zulkoski’18]</a:t>
            </a:r>
          </a:p>
          <a:p>
            <a:pPr marL="342900" indent="-228600" defTabSz="914400">
              <a:lnSpc>
                <a:spcPct val="90000"/>
              </a:lnSpc>
              <a:spcBef>
                <a:spcPts val="1000"/>
              </a:spcBef>
              <a:buClr>
                <a:schemeClr val="accent2"/>
              </a:buClr>
              <a:buFont typeface="Arial" panose="020B0604020202020204" pitchFamily="34" charset="0"/>
              <a:buChar char="•"/>
            </a:pPr>
            <a:endParaRPr lang="en-US" sz="1600" dirty="0">
              <a:solidFill>
                <a:schemeClr val="tx1">
                  <a:lumMod val="85000"/>
                  <a:lumOff val="15000"/>
                </a:schemeClr>
              </a:solidFill>
            </a:endParaRPr>
          </a:p>
          <a:p>
            <a:pPr marL="342900" indent="-228600" defTabSz="914400">
              <a:lnSpc>
                <a:spcPct val="90000"/>
              </a:lnSpc>
              <a:spcBef>
                <a:spcPts val="1000"/>
              </a:spcBef>
              <a:buClr>
                <a:schemeClr val="accent2"/>
              </a:buClr>
              <a:buFont typeface="Arial" panose="020B0604020202020204" pitchFamily="34" charset="0"/>
              <a:buChar char="•"/>
            </a:pPr>
            <a:r>
              <a:rPr lang="en-US" sz="1600" dirty="0">
                <a:solidFill>
                  <a:schemeClr val="tx1">
                    <a:lumMod val="85000"/>
                    <a:lumOff val="15000"/>
                  </a:schemeClr>
                </a:solidFill>
              </a:rPr>
              <a:t>Many of these parameters are very intuitive and easy to work with theoretically. However, they fall apart upon contact with reality.</a:t>
            </a:r>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8A7A6979-0714-4377-B894-6BE4C2D6E202}" type="slidenum">
              <a:rPr lang="en-US" kern="1200" spc="0" baseline="0" dirty="0">
                <a:solidFill>
                  <a:srgbClr val="FFFFFF"/>
                </a:solidFill>
                <a:latin typeface="+mn-lt"/>
                <a:ea typeface="+mn-ea"/>
                <a:cs typeface="+mn-cs"/>
              </a:rPr>
              <a:pPr>
                <a:lnSpc>
                  <a:spcPct val="90000"/>
                </a:lnSpc>
                <a:spcAft>
                  <a:spcPts val="600"/>
                </a:spcAft>
              </a:pPr>
              <a:t>11</a:t>
            </a:fld>
            <a:endParaRPr lang="en-US" kern="1200" spc="0" baseline="0" dirty="0">
              <a:solidFill>
                <a:srgbClr val="FFFFFF"/>
              </a:solidFill>
              <a:latin typeface="+mn-lt"/>
              <a:ea typeface="+mn-ea"/>
              <a:cs typeface="+mn-cs"/>
            </a:endParaRPr>
          </a:p>
        </p:txBody>
      </p:sp>
    </p:spTree>
    <p:extLst>
      <p:ext uri="{BB962C8B-B14F-4D97-AF65-F5344CB8AC3E}">
        <p14:creationId xmlns:p14="http://schemas.microsoft.com/office/powerpoint/2010/main" val="2088736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chemeClr val="accent2">
              <a:lumMod val="75000"/>
            </a:schemeClr>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0873" y="1586484"/>
            <a:ext cx="3685032" cy="3685032"/>
          </a:xfrm>
          <a:prstGeom prst="ellipse">
            <a:avLst/>
          </a:prstGeom>
          <a:noFill/>
          <a:ln>
            <a:noFill/>
          </a:ln>
        </p:spPr>
        <p:txBody>
          <a:bodyPr vert="horz" lIns="182880" tIns="182880" rIns="182880" bIns="182880" rtlCol="0" anchor="ctr">
            <a:normAutofit/>
          </a:bodyPr>
          <a:lstStyle/>
          <a:p>
            <a:r>
              <a:rPr lang="en-US" sz="2600" kern="1200" cap="all" spc="200" baseline="0">
                <a:solidFill>
                  <a:srgbClr val="FFFFFF"/>
                </a:solidFill>
                <a:latin typeface="+mj-lt"/>
                <a:ea typeface="+mj-ea"/>
                <a:cs typeface="+mj-cs"/>
              </a:rPr>
              <a:t>Parameters that have not yet been Ruled Out</a:t>
            </a:r>
          </a:p>
        </p:txBody>
      </p:sp>
      <p:sp>
        <p:nvSpPr>
          <p:cNvPr id="6" name="TextBox 5"/>
          <p:cNvSpPr txBox="1"/>
          <p:nvPr/>
        </p:nvSpPr>
        <p:spPr>
          <a:xfrm>
            <a:off x="5232805" y="1101436"/>
            <a:ext cx="6394622" cy="4842164"/>
          </a:xfrm>
          <a:prstGeom prst="rect">
            <a:avLst/>
          </a:prstGeom>
        </p:spPr>
        <p:txBody>
          <a:bodyPr vert="horz" lIns="91440" tIns="45720" rIns="91440" bIns="45720" rtlCol="0" anchor="ctr">
            <a:noAutofit/>
          </a:bodyPr>
          <a:lstStyle/>
          <a:p>
            <a:pPr marL="342900"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Merge</a:t>
            </a:r>
          </a:p>
          <a:p>
            <a:pPr marL="800100" lvl="1"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A generalization of subsumption</a:t>
            </a:r>
          </a:p>
          <a:p>
            <a:pPr marL="114300" defTabSz="914400">
              <a:lnSpc>
                <a:spcPct val="90000"/>
              </a:lnSpc>
              <a:spcBef>
                <a:spcPts val="1000"/>
              </a:spcBef>
              <a:buClr>
                <a:schemeClr val="accent2"/>
              </a:buClr>
            </a:pPr>
            <a:endParaRPr lang="en-US" dirty="0">
              <a:solidFill>
                <a:schemeClr val="tx1">
                  <a:lumMod val="85000"/>
                  <a:lumOff val="15000"/>
                </a:schemeClr>
              </a:solidFill>
            </a:endParaRPr>
          </a:p>
          <a:p>
            <a:pPr marL="342900"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Hierarchical community structure</a:t>
            </a:r>
          </a:p>
          <a:p>
            <a:pPr marL="800100" lvl="1"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Variant of community structure, but does not have obvious counterexamples (e.g., formulas with “good” hierarchical community structure cannot be expanders)</a:t>
            </a:r>
          </a:p>
          <a:p>
            <a:pPr marL="114300" defTabSz="914400">
              <a:lnSpc>
                <a:spcPct val="90000"/>
              </a:lnSpc>
              <a:spcBef>
                <a:spcPts val="1000"/>
              </a:spcBef>
              <a:buClr>
                <a:schemeClr val="accent2"/>
              </a:buClr>
            </a:pPr>
            <a:endParaRPr lang="en-US" dirty="0">
              <a:solidFill>
                <a:schemeClr val="tx1">
                  <a:lumMod val="85000"/>
                  <a:lumOff val="15000"/>
                </a:schemeClr>
              </a:solidFill>
            </a:endParaRPr>
          </a:p>
          <a:p>
            <a:pPr marL="342900"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Power law</a:t>
            </a:r>
          </a:p>
          <a:p>
            <a:pPr marL="800100" lvl="1"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Degree of variable occurrences is “highly unbalanced”. A few variables occur very often, but most others occur only a few times</a:t>
            </a:r>
          </a:p>
          <a:p>
            <a:pPr marL="800100" lvl="1" indent="-228600" defTabSz="914400">
              <a:lnSpc>
                <a:spcPct val="90000"/>
              </a:lnSpc>
              <a:spcBef>
                <a:spcPts val="1000"/>
              </a:spcBef>
              <a:buClr>
                <a:schemeClr val="accent2"/>
              </a:buClr>
              <a:buFont typeface="Arial" panose="020B0604020202020204" pitchFamily="34" charset="0"/>
              <a:buChar char="•"/>
            </a:pPr>
            <a:endParaRPr lang="en-US" dirty="0">
              <a:solidFill>
                <a:schemeClr val="tx1">
                  <a:lumMod val="85000"/>
                  <a:lumOff val="15000"/>
                </a:schemeClr>
              </a:solidFill>
            </a:endParaRPr>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8A7A6979-0714-4377-B894-6BE4C2D6E202}" type="slidenum">
              <a:rPr lang="en-US" kern="1200" spc="0" baseline="0" dirty="0">
                <a:solidFill>
                  <a:srgbClr val="FFFFFF"/>
                </a:solidFill>
                <a:latin typeface="+mn-lt"/>
                <a:ea typeface="+mn-ea"/>
                <a:cs typeface="+mn-cs"/>
              </a:rPr>
              <a:pPr>
                <a:lnSpc>
                  <a:spcPct val="90000"/>
                </a:lnSpc>
                <a:spcAft>
                  <a:spcPts val="600"/>
                </a:spcAft>
              </a:pPr>
              <a:t>12</a:t>
            </a:fld>
            <a:endParaRPr lang="en-US" kern="1200" spc="0" baseline="0" dirty="0">
              <a:solidFill>
                <a:srgbClr val="FFFFFF"/>
              </a:solidFill>
              <a:latin typeface="+mn-lt"/>
              <a:ea typeface="+mn-ea"/>
              <a:cs typeface="+mn-cs"/>
            </a:endParaRPr>
          </a:p>
        </p:txBody>
      </p:sp>
    </p:spTree>
    <p:extLst>
      <p:ext uri="{BB962C8B-B14F-4D97-AF65-F5344CB8AC3E}">
        <p14:creationId xmlns:p14="http://schemas.microsoft.com/office/powerpoint/2010/main" val="1245486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C48741-779F-3FE2-F6E2-3F656D7C14B7}"/>
            </a:ext>
          </a:extLst>
        </p:cNvPr>
        <p:cNvGrpSpPr/>
        <p:nvPr/>
      </p:nvGrpSpPr>
      <p:grpSpPr>
        <a:xfrm>
          <a:off x="0" y="0"/>
          <a:ext cx="0" cy="0"/>
          <a:chOff x="0" y="0"/>
          <a:chExt cx="0" cy="0"/>
        </a:xfrm>
      </p:grpSpPr>
      <p:sp>
        <p:nvSpPr>
          <p:cNvPr id="901" name="Rectangle 47111">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2" name="Oval 47108">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chemeClr val="accent2">
              <a:lumMod val="75000"/>
            </a:schemeClr>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E3B15B-C10D-E6C6-19B6-A85ACE8459DC}"/>
              </a:ext>
            </a:extLst>
          </p:cNvPr>
          <p:cNvSpPr>
            <a:spLocks noGrp="1"/>
          </p:cNvSpPr>
          <p:nvPr>
            <p:ph type="title"/>
          </p:nvPr>
        </p:nvSpPr>
        <p:spPr>
          <a:xfrm>
            <a:off x="1260873" y="1586484"/>
            <a:ext cx="3685032" cy="3685032"/>
          </a:xfrm>
          <a:prstGeom prst="ellipse">
            <a:avLst/>
          </a:prstGeom>
          <a:noFill/>
          <a:ln>
            <a:noFill/>
          </a:ln>
        </p:spPr>
        <p:txBody>
          <a:bodyPr vert="horz" lIns="182880" tIns="182880" rIns="182880" bIns="182880" rtlCol="0" anchor="ctr">
            <a:normAutofit/>
          </a:bodyPr>
          <a:lstStyle/>
          <a:p>
            <a:r>
              <a:rPr lang="en-US" u="sng" cap="none" dirty="0">
                <a:solidFill>
                  <a:schemeClr val="bg1"/>
                </a:solidFill>
              </a:rPr>
              <a:t>Proof Systems</a:t>
            </a:r>
            <a:br>
              <a:rPr lang="en-US" cap="none" dirty="0">
                <a:solidFill>
                  <a:schemeClr val="bg1"/>
                </a:solidFill>
              </a:rPr>
            </a:br>
            <a:r>
              <a:rPr lang="en-US" cap="none" dirty="0">
                <a:solidFill>
                  <a:schemeClr val="bg1"/>
                </a:solidFill>
              </a:rPr>
              <a:t>Proof-complexity of Solvers</a:t>
            </a:r>
            <a:endParaRPr lang="en-US" sz="2600" kern="1200" cap="all" spc="200" baseline="0" dirty="0">
              <a:solidFill>
                <a:schemeClr val="bg1"/>
              </a:solidFill>
              <a:latin typeface="+mj-lt"/>
              <a:ea typeface="+mj-ea"/>
              <a:cs typeface="+mj-cs"/>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D73E6E6E-61EE-59BF-44D6-8C7B0ACF7162}"/>
                  </a:ext>
                </a:extLst>
              </p:cNvPr>
              <p:cNvSpPr txBox="1"/>
              <p:nvPr/>
            </p:nvSpPr>
            <p:spPr>
              <a:xfrm>
                <a:off x="4945904" y="274320"/>
                <a:ext cx="7169895" cy="6396644"/>
              </a:xfrm>
              <a:prstGeom prst="rect">
                <a:avLst/>
              </a:prstGeom>
            </p:spPr>
            <p:txBody>
              <a:bodyPr vert="horz" lIns="91440" tIns="45720" rIns="91440" bIns="45720" rtlCol="0" anchor="ctr">
                <a:noAutofit/>
              </a:bodyPr>
              <a:lstStyle/>
              <a:p>
                <a:r>
                  <a:rPr lang="en-US" dirty="0"/>
                  <a:t>General resolution		The rule is form of modus ponens. Proof is a directed acyclic graph (DAG).</a:t>
                </a:r>
              </a:p>
              <a:p>
                <a:pPr algn="ctr"/>
                <a:endParaRPr lang="en-US" dirty="0"/>
              </a:p>
              <a:p>
                <a:pPr algn="ctr"/>
                <a14:m>
                  <m:oMathPara xmlns:m="http://schemas.openxmlformats.org/officeDocument/2006/math">
                    <m:oMathParaPr>
                      <m:jc m:val="centerGroup"/>
                    </m:oMathParaPr>
                    <m:oMath xmlns:m="http://schemas.openxmlformats.org/officeDocument/2006/math">
                      <m:bar>
                        <m:barPr>
                          <m:ctrlPr>
                            <a:rPr lang="en-US" i="1">
                              <a:latin typeface="Cambria Math" panose="02040503050406030204" pitchFamily="18" charset="0"/>
                            </a:rPr>
                          </m:ctrlPr>
                        </m:bar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1</m:t>
                                  </m:r>
                                </m:sub>
                              </m:sSub>
                              <m:r>
                                <a:rPr lang="en-US" i="1">
                                  <a:latin typeface="Cambria Math" charset="0"/>
                                </a:rPr>
                                <m:t>∨… ∨</m:t>
                              </m:r>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𝑛</m:t>
                                  </m:r>
                                </m:sub>
                              </m:sSub>
                            </m:e>
                          </m:d>
                          <m:r>
                            <a:rPr lang="en-US" i="1">
                              <a:latin typeface="Cambria Math" charset="0"/>
                            </a:rPr>
                            <m:t>   </m:t>
                          </m:r>
                          <m:d>
                            <m:dPr>
                              <m:ctrlPr>
                                <a:rPr lang="en-US" i="1">
                                  <a:latin typeface="Cambria Math" panose="02040503050406030204" pitchFamily="18" charset="0"/>
                                </a:rPr>
                              </m:ctrlPr>
                            </m:dPr>
                            <m:e>
                              <m:r>
                                <a:rPr lang="en-US" i="1">
                                  <a:latin typeface="Cambria Math" charset="0"/>
                                </a:rPr>
                                <m:t>¬</m:t>
                              </m:r>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𝑛</m:t>
                                  </m:r>
                                </m:sub>
                              </m:sSub>
                              <m:r>
                                <a:rPr lang="en-US" i="1">
                                  <a:latin typeface="Cambria Math" charset="0"/>
                                </a:rPr>
                                <m:t>∨</m:t>
                              </m:r>
                              <m:sSub>
                                <m:sSubPr>
                                  <m:ctrlPr>
                                    <a:rPr lang="en-US" i="1">
                                      <a:latin typeface="Cambria Math" panose="02040503050406030204" pitchFamily="18" charset="0"/>
                                    </a:rPr>
                                  </m:ctrlPr>
                                </m:sSubPr>
                                <m:e>
                                  <m:r>
                                    <a:rPr lang="en-US" i="1">
                                      <a:latin typeface="Cambria Math" charset="0"/>
                                    </a:rPr>
                                    <m:t>𝑦</m:t>
                                  </m:r>
                                </m:e>
                                <m:sub>
                                  <m:r>
                                    <a:rPr lang="en-US" i="1">
                                      <a:latin typeface="Cambria Math" charset="0"/>
                                    </a:rPr>
                                    <m:t>1</m:t>
                                  </m:r>
                                </m:sub>
                              </m:sSub>
                              <m:r>
                                <a:rPr lang="en-US" i="1">
                                  <a:latin typeface="Cambria Math" charset="0"/>
                                </a:rPr>
                                <m:t>…</m:t>
                              </m:r>
                              <m:sSub>
                                <m:sSubPr>
                                  <m:ctrlPr>
                                    <a:rPr lang="en-US" i="1">
                                      <a:latin typeface="Cambria Math" panose="02040503050406030204" pitchFamily="18" charset="0"/>
                                    </a:rPr>
                                  </m:ctrlPr>
                                </m:sSubPr>
                                <m:e>
                                  <m:r>
                                    <a:rPr lang="en-US" i="1">
                                      <a:latin typeface="Cambria Math" charset="0"/>
                                    </a:rPr>
                                    <m:t>∨</m:t>
                                  </m:r>
                                  <m:r>
                                    <a:rPr lang="en-US" i="1">
                                      <a:latin typeface="Cambria Math" charset="0"/>
                                    </a:rPr>
                                    <m:t>𝑦</m:t>
                                  </m:r>
                                </m:e>
                                <m:sub>
                                  <m:r>
                                    <a:rPr lang="en-US" i="1">
                                      <a:latin typeface="Cambria Math" charset="0"/>
                                    </a:rPr>
                                    <m:t>𝑚</m:t>
                                  </m:r>
                                </m:sub>
                              </m:sSub>
                            </m:e>
                          </m:d>
                        </m:e>
                      </m:bar>
                      <m:r>
                        <a:rPr lang="en-US" i="1">
                          <a:latin typeface="Cambria Math" charset="0"/>
                        </a:rPr>
                        <m:t> </m:t>
                      </m:r>
                    </m:oMath>
                  </m:oMathPara>
                </a14:m>
                <a:br>
                  <a:rPr lang="en-US" dirty="0"/>
                </a:br>
                <a14:m>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1</m:t>
                            </m:r>
                          </m:sub>
                        </m:sSub>
                        <m:r>
                          <a:rPr lang="en-US" i="1">
                            <a:latin typeface="Cambria Math" charset="0"/>
                          </a:rPr>
                          <m:t>∨…∨</m:t>
                        </m:r>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𝑛</m:t>
                            </m:r>
                            <m:r>
                              <a:rPr lang="en-US" i="1">
                                <a:latin typeface="Cambria Math" charset="0"/>
                              </a:rPr>
                              <m:t>−1</m:t>
                            </m:r>
                          </m:sub>
                        </m:sSub>
                        <m:r>
                          <a:rPr lang="en-US" i="1">
                            <a:latin typeface="Cambria Math" charset="0"/>
                          </a:rPr>
                          <m:t>∨</m:t>
                        </m:r>
                        <m:sSub>
                          <m:sSubPr>
                            <m:ctrlPr>
                              <a:rPr lang="en-US" i="1">
                                <a:latin typeface="Cambria Math" panose="02040503050406030204" pitchFamily="18" charset="0"/>
                              </a:rPr>
                            </m:ctrlPr>
                          </m:sSubPr>
                          <m:e>
                            <m:r>
                              <a:rPr lang="en-US" i="1">
                                <a:latin typeface="Cambria Math" charset="0"/>
                              </a:rPr>
                              <m:t>𝑦</m:t>
                            </m:r>
                          </m:e>
                          <m:sub>
                            <m:r>
                              <a:rPr lang="en-US" i="1">
                                <a:latin typeface="Cambria Math" charset="0"/>
                              </a:rPr>
                              <m:t>1</m:t>
                            </m:r>
                          </m:sub>
                        </m:sSub>
                        <m:r>
                          <a:rPr lang="en-US" i="1">
                            <a:latin typeface="Cambria Math" charset="0"/>
                          </a:rPr>
                          <m:t>… ∨</m:t>
                        </m:r>
                        <m:sSub>
                          <m:sSubPr>
                            <m:ctrlPr>
                              <a:rPr lang="en-US" i="1">
                                <a:latin typeface="Cambria Math" panose="02040503050406030204" pitchFamily="18" charset="0"/>
                              </a:rPr>
                            </m:ctrlPr>
                          </m:sSubPr>
                          <m:e>
                            <m:r>
                              <a:rPr lang="en-US" i="1">
                                <a:latin typeface="Cambria Math" charset="0"/>
                              </a:rPr>
                              <m:t>𝑦</m:t>
                            </m:r>
                          </m:e>
                          <m:sub>
                            <m:r>
                              <a:rPr lang="en-US" i="1">
                                <a:latin typeface="Cambria Math" charset="0"/>
                              </a:rPr>
                              <m:t>𝑚</m:t>
                            </m:r>
                          </m:sub>
                        </m:sSub>
                      </m:e>
                    </m:d>
                  </m:oMath>
                </a14:m>
                <a:r>
                  <a:rPr lang="en-US" dirty="0"/>
                  <a:t> </a:t>
                </a:r>
              </a:p>
              <a:p>
                <a:pPr algn="ctr"/>
                <a:endParaRPr lang="en-US" dirty="0"/>
              </a:p>
              <a:p>
                <a:r>
                  <a:rPr lang="en-US" dirty="0"/>
                  <a:t>Merge resolution		Biased towards deriving clauses that share literals. (In the clauses below, </a:t>
                </a:r>
                <a14:m>
                  <m:oMath xmlns:m="http://schemas.openxmlformats.org/officeDocument/2006/math">
                    <m:r>
                      <a:rPr lang="en-US" i="1">
                        <a:latin typeface="Cambria Math" panose="02040503050406030204" pitchFamily="18" charset="0"/>
                      </a:rPr>
                      <m:t>𝛼</m:t>
                    </m:r>
                  </m:oMath>
                </a14:m>
                <a:r>
                  <a:rPr lang="en-US" dirty="0"/>
                  <a:t> is a disjunction of literals.)</a:t>
                </a:r>
              </a:p>
              <a:p>
                <a:pPr algn="ctr"/>
                <a:endParaRPr lang="en-US" dirty="0"/>
              </a:p>
              <a:p>
                <a:pPr algn="ctr"/>
                <a14:m>
                  <m:oMathPara xmlns:m="http://schemas.openxmlformats.org/officeDocument/2006/math">
                    <m:oMathParaPr>
                      <m:jc m:val="center"/>
                    </m:oMathParaPr>
                    <m:oMath xmlns:m="http://schemas.openxmlformats.org/officeDocument/2006/math">
                      <m:bar>
                        <m:barPr>
                          <m:ctrlPr>
                            <a:rPr lang="en-US" i="1">
                              <a:latin typeface="Cambria Math" panose="02040503050406030204" pitchFamily="18" charset="0"/>
                            </a:rPr>
                          </m:ctrlPr>
                        </m:barPr>
                        <m:e>
                          <m:d>
                            <m:dPr>
                              <m:ctrlPr>
                                <a:rPr lang="en-US" i="1">
                                  <a:latin typeface="Cambria Math" panose="02040503050406030204" pitchFamily="18" charset="0"/>
                                </a:rPr>
                              </m:ctrlPr>
                            </m:dPr>
                            <m:e>
                              <m:r>
                                <a:rPr lang="en-US" i="1">
                                  <a:latin typeface="Cambria Math" panose="02040503050406030204" pitchFamily="18" charset="0"/>
                                </a:rPr>
                                <m:t>𝛼</m:t>
                              </m:r>
                              <m:r>
                                <a:rPr lang="en-US" i="1">
                                  <a:latin typeface="Cambria Math" charset="0"/>
                                </a:rPr>
                                <m:t>∨… ∨</m:t>
                              </m:r>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𝑛</m:t>
                                  </m:r>
                                </m:sub>
                              </m:sSub>
                            </m:e>
                          </m:d>
                          <m:r>
                            <a:rPr lang="en-US" i="1">
                              <a:latin typeface="Cambria Math" charset="0"/>
                            </a:rPr>
                            <m:t>   </m:t>
                          </m:r>
                          <m:d>
                            <m:dPr>
                              <m:ctrlPr>
                                <a:rPr lang="en-US" i="1">
                                  <a:latin typeface="Cambria Math" panose="02040503050406030204" pitchFamily="18" charset="0"/>
                                </a:rPr>
                              </m:ctrlPr>
                            </m:dPr>
                            <m:e>
                              <m:r>
                                <a:rPr lang="en-US" i="1">
                                  <a:latin typeface="Cambria Math" charset="0"/>
                                </a:rPr>
                                <m:t>¬</m:t>
                              </m:r>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𝑛</m:t>
                                  </m:r>
                                </m:sub>
                              </m:sSub>
                              <m:r>
                                <a:rPr lang="en-US" i="1">
                                  <a:latin typeface="Cambria Math" charset="0"/>
                                </a:rPr>
                                <m:t>∨…</m:t>
                              </m:r>
                              <m:r>
                                <a:rPr lang="en-US" i="1">
                                  <a:latin typeface="Cambria Math" panose="02040503050406030204" pitchFamily="18" charset="0"/>
                                </a:rPr>
                                <m:t>𝛼</m:t>
                              </m:r>
                            </m:e>
                          </m:d>
                        </m:e>
                      </m:bar>
                      <m:r>
                        <a:rPr lang="en-US" i="1">
                          <a:latin typeface="Cambria Math" charset="0"/>
                        </a:rPr>
                        <m:t> </m:t>
                      </m:r>
                    </m:oMath>
                    <m:oMath xmlns:m="http://schemas.openxmlformats.org/officeDocument/2006/math">
                      <m:d>
                        <m:dPr>
                          <m:ctrlPr>
                            <a:rPr lang="en-US" i="1">
                              <a:latin typeface="Cambria Math" panose="02040503050406030204" pitchFamily="18" charset="0"/>
                            </a:rPr>
                          </m:ctrlPr>
                        </m:dPr>
                        <m:e>
                          <m:r>
                            <a:rPr lang="en-US" i="1">
                              <a:latin typeface="Cambria Math" panose="02040503050406030204" pitchFamily="18" charset="0"/>
                            </a:rPr>
                            <m:t>𝛼</m:t>
                          </m:r>
                          <m:r>
                            <a:rPr lang="en-US" i="1">
                              <a:latin typeface="Cambria Math" charset="0"/>
                            </a:rPr>
                            <m:t>∨… ∨</m:t>
                          </m:r>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𝑛</m:t>
                              </m:r>
                              <m:r>
                                <a:rPr lang="en-US" i="1">
                                  <a:latin typeface="Cambria Math" charset="0"/>
                                </a:rPr>
                                <m:t>−1</m:t>
                              </m:r>
                            </m:sub>
                          </m:sSub>
                        </m:e>
                      </m:d>
                    </m:oMath>
                  </m:oMathPara>
                </a14:m>
                <a:endParaRPr lang="en-US" dirty="0"/>
              </a:p>
              <a:p>
                <a:pPr algn="ctr"/>
                <a:endParaRPr lang="en-US" dirty="0"/>
              </a:p>
              <a:p>
                <a:r>
                  <a:rPr lang="en-US" dirty="0"/>
                  <a:t>Unit resolution			One clause must be unit. Proof is a DAG.</a:t>
                </a:r>
              </a:p>
              <a:p>
                <a:pPr algn="ctr"/>
                <a:endParaRPr lang="en-US" dirty="0"/>
              </a:p>
              <a:p>
                <a:pPr algn="ctr"/>
                <a14:m>
                  <m:oMathPara xmlns:m="http://schemas.openxmlformats.org/officeDocument/2006/math">
                    <m:oMathParaPr>
                      <m:jc m:val="center"/>
                    </m:oMathParaPr>
                    <m:oMath xmlns:m="http://schemas.openxmlformats.org/officeDocument/2006/math">
                      <m:bar>
                        <m:barPr>
                          <m:ctrlPr>
                            <a:rPr lang="en-US" i="1">
                              <a:latin typeface="Cambria Math" panose="02040503050406030204" pitchFamily="18" charset="0"/>
                            </a:rPr>
                          </m:ctrlPr>
                        </m:barPr>
                        <m:e>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𝑛</m:t>
                                  </m:r>
                                </m:sub>
                              </m:sSub>
                            </m:e>
                          </m:d>
                          <m:r>
                            <a:rPr lang="en-US" i="1">
                              <a:latin typeface="Cambria Math" charset="0"/>
                            </a:rPr>
                            <m:t>   </m:t>
                          </m:r>
                          <m:d>
                            <m:dPr>
                              <m:ctrlPr>
                                <a:rPr lang="en-US" i="1">
                                  <a:latin typeface="Cambria Math" panose="02040503050406030204" pitchFamily="18" charset="0"/>
                                </a:rPr>
                              </m:ctrlPr>
                            </m:dPr>
                            <m:e>
                              <m:r>
                                <a:rPr lang="en-US" i="1">
                                  <a:latin typeface="Cambria Math" charset="0"/>
                                </a:rPr>
                                <m:t>¬</m:t>
                              </m:r>
                              <m:sSub>
                                <m:sSubPr>
                                  <m:ctrlPr>
                                    <a:rPr lang="en-US" i="1">
                                      <a:latin typeface="Cambria Math" panose="02040503050406030204" pitchFamily="18" charset="0"/>
                                    </a:rPr>
                                  </m:ctrlPr>
                                </m:sSubPr>
                                <m:e>
                                  <m:r>
                                    <a:rPr lang="en-US" i="1">
                                      <a:latin typeface="Cambria Math" charset="0"/>
                                    </a:rPr>
                                    <m:t>𝑥</m:t>
                                  </m:r>
                                </m:e>
                                <m:sub>
                                  <m:r>
                                    <a:rPr lang="en-US" i="1">
                                      <a:latin typeface="Cambria Math" charset="0"/>
                                    </a:rPr>
                                    <m:t>𝑛</m:t>
                                  </m:r>
                                </m:sub>
                              </m:sSub>
                              <m:r>
                                <a:rPr lang="en-US" i="1">
                                  <a:latin typeface="Cambria Math" charset="0"/>
                                </a:rPr>
                                <m:t>∨</m:t>
                              </m:r>
                              <m:sSub>
                                <m:sSubPr>
                                  <m:ctrlPr>
                                    <a:rPr lang="en-US" i="1">
                                      <a:latin typeface="Cambria Math" panose="02040503050406030204" pitchFamily="18" charset="0"/>
                                    </a:rPr>
                                  </m:ctrlPr>
                                </m:sSubPr>
                                <m:e>
                                  <m:r>
                                    <a:rPr lang="en-US" i="1">
                                      <a:latin typeface="Cambria Math" charset="0"/>
                                    </a:rPr>
                                    <m:t>𝑦</m:t>
                                  </m:r>
                                </m:e>
                                <m:sub>
                                  <m:r>
                                    <a:rPr lang="en-US" i="1">
                                      <a:latin typeface="Cambria Math" charset="0"/>
                                    </a:rPr>
                                    <m:t>1</m:t>
                                  </m:r>
                                </m:sub>
                              </m:sSub>
                              <m:r>
                                <a:rPr lang="en-US" i="1">
                                  <a:latin typeface="Cambria Math" charset="0"/>
                                </a:rPr>
                                <m:t>…</m:t>
                              </m:r>
                              <m:sSub>
                                <m:sSubPr>
                                  <m:ctrlPr>
                                    <a:rPr lang="en-US" i="1">
                                      <a:latin typeface="Cambria Math" panose="02040503050406030204" pitchFamily="18" charset="0"/>
                                    </a:rPr>
                                  </m:ctrlPr>
                                </m:sSubPr>
                                <m:e>
                                  <m:r>
                                    <a:rPr lang="en-US" i="1">
                                      <a:latin typeface="Cambria Math" charset="0"/>
                                    </a:rPr>
                                    <m:t>𝑦</m:t>
                                  </m:r>
                                </m:e>
                                <m:sub>
                                  <m:r>
                                    <a:rPr lang="en-US" i="1">
                                      <a:latin typeface="Cambria Math" charset="0"/>
                                    </a:rPr>
                                    <m:t>𝑚</m:t>
                                  </m:r>
                                </m:sub>
                              </m:sSub>
                            </m:e>
                          </m:d>
                        </m:e>
                      </m:bar>
                      <m:r>
                        <a:rPr lang="en-US" i="1">
                          <a:latin typeface="Cambria Math" charset="0"/>
                        </a:rPr>
                        <m:t> </m:t>
                      </m:r>
                    </m:oMath>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charset="0"/>
                                </a:rPr>
                                <m:t>𝑦</m:t>
                              </m:r>
                            </m:e>
                            <m:sub>
                              <m:r>
                                <a:rPr lang="en-US" i="1">
                                  <a:latin typeface="Cambria Math" charset="0"/>
                                </a:rPr>
                                <m:t>1</m:t>
                              </m:r>
                            </m:sub>
                          </m:sSub>
                          <m:r>
                            <a:rPr lang="en-US" i="1">
                              <a:latin typeface="Cambria Math" charset="0"/>
                            </a:rPr>
                            <m:t>∨… ∨</m:t>
                          </m:r>
                          <m:sSub>
                            <m:sSubPr>
                              <m:ctrlPr>
                                <a:rPr lang="en-US" i="1">
                                  <a:latin typeface="Cambria Math" panose="02040503050406030204" pitchFamily="18" charset="0"/>
                                </a:rPr>
                              </m:ctrlPr>
                            </m:sSubPr>
                            <m:e>
                              <m:r>
                                <a:rPr lang="en-US" i="1">
                                  <a:latin typeface="Cambria Math" charset="0"/>
                                </a:rPr>
                                <m:t>𝑦</m:t>
                              </m:r>
                            </m:e>
                            <m:sub>
                              <m:r>
                                <a:rPr lang="en-US" i="1">
                                  <a:latin typeface="Cambria Math" charset="0"/>
                                </a:rPr>
                                <m:t>𝑚</m:t>
                              </m:r>
                            </m:sub>
                          </m:sSub>
                        </m:e>
                      </m:d>
                    </m:oMath>
                  </m:oMathPara>
                </a14:m>
                <a:endParaRPr lang="en-US" dirty="0"/>
              </a:p>
              <a:p>
                <a:pPr algn="ctr"/>
                <a:endParaRPr lang="en-US" dirty="0"/>
              </a:p>
              <a:p>
                <a:r>
                  <a:rPr lang="en-US" dirty="0"/>
                  <a:t>Tree resolution			Same rules as general resolution. Proof is a tree. Not allowed to reuse lemmas unlike DAG proofs. </a:t>
                </a:r>
              </a:p>
              <a:p>
                <a:pPr marL="285750" indent="-285750">
                  <a:buFont typeface="Arial" charset="0"/>
                  <a:buChar char="•"/>
                </a:pPr>
                <a:endParaRPr lang="en-US" dirty="0"/>
              </a:p>
            </p:txBody>
          </p:sp>
        </mc:Choice>
        <mc:Fallback>
          <p:sp>
            <p:nvSpPr>
              <p:cNvPr id="6" name="TextBox 5">
                <a:extLst>
                  <a:ext uri="{FF2B5EF4-FFF2-40B4-BE49-F238E27FC236}">
                    <a16:creationId xmlns:a16="http://schemas.microsoft.com/office/drawing/2014/main" id="{D73E6E6E-61EE-59BF-44D6-8C7B0ACF7162}"/>
                  </a:ext>
                </a:extLst>
              </p:cNvPr>
              <p:cNvSpPr txBox="1">
                <a:spLocks noRot="1" noChangeAspect="1" noMove="1" noResize="1" noEditPoints="1" noAdjustHandles="1" noChangeArrowheads="1" noChangeShapeType="1" noTextEdit="1"/>
              </p:cNvSpPr>
              <p:nvPr/>
            </p:nvSpPr>
            <p:spPr>
              <a:xfrm>
                <a:off x="4945904" y="274320"/>
                <a:ext cx="7169895" cy="6396644"/>
              </a:xfrm>
              <a:prstGeom prst="rect">
                <a:avLst/>
              </a:prstGeom>
              <a:blipFill>
                <a:blip r:embed="rId3"/>
                <a:stretch>
                  <a:fillRect l="-708" r="-177"/>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F3A7FBCF-91B7-0A63-630C-BACF234BBE5A}"/>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8A7A6979-0714-4377-B894-6BE4C2D6E202}" type="slidenum">
              <a:rPr lang="en-US" kern="1200" spc="0" baseline="0" dirty="0">
                <a:solidFill>
                  <a:srgbClr val="FFFFFF"/>
                </a:solidFill>
                <a:latin typeface="+mn-lt"/>
                <a:ea typeface="+mn-ea"/>
                <a:cs typeface="+mn-cs"/>
              </a:rPr>
              <a:pPr>
                <a:lnSpc>
                  <a:spcPct val="90000"/>
                </a:lnSpc>
                <a:spcAft>
                  <a:spcPts val="600"/>
                </a:spcAft>
              </a:pPr>
              <a:t>13</a:t>
            </a:fld>
            <a:endParaRPr lang="en-US" kern="1200" spc="0" baseline="0" dirty="0">
              <a:solidFill>
                <a:srgbClr val="FFFFFF"/>
              </a:solidFill>
              <a:latin typeface="+mn-lt"/>
              <a:ea typeface="+mn-ea"/>
              <a:cs typeface="+mn-cs"/>
            </a:endParaRPr>
          </a:p>
        </p:txBody>
      </p:sp>
    </p:spTree>
    <p:extLst>
      <p:ext uri="{BB962C8B-B14F-4D97-AF65-F5344CB8AC3E}">
        <p14:creationId xmlns:p14="http://schemas.microsoft.com/office/powerpoint/2010/main" val="1144089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43260" y="114300"/>
            <a:ext cx="11482980" cy="1208790"/>
          </a:xfrm>
        </p:spPr>
        <p:txBody>
          <a:bodyPr>
            <a:noAutofit/>
          </a:bodyPr>
          <a:lstStyle/>
          <a:p>
            <a:r>
              <a:rPr lang="en-US" sz="3600" u="sng" cap="none" dirty="0">
                <a:solidFill>
                  <a:schemeClr val="tx1"/>
                </a:solidFill>
                <a:latin typeface="Times" charset="0"/>
                <a:ea typeface="Times" charset="0"/>
                <a:cs typeface="Times" charset="0"/>
              </a:rPr>
              <a:t>Resolution and Merges</a:t>
            </a:r>
            <a:br>
              <a:rPr lang="en-US" sz="3600" cap="none" dirty="0">
                <a:solidFill>
                  <a:schemeClr val="tx1"/>
                </a:solidFill>
                <a:latin typeface="Times" charset="0"/>
                <a:ea typeface="Times" charset="0"/>
                <a:cs typeface="Times" charset="0"/>
              </a:rPr>
            </a:br>
            <a:r>
              <a:rPr lang="en-US" sz="3600" cap="none" dirty="0">
                <a:solidFill>
                  <a:schemeClr val="tx1"/>
                </a:solidFill>
                <a:latin typeface="Times" charset="0"/>
                <a:ea typeface="Times" charset="0"/>
                <a:cs typeface="Times" charset="0"/>
              </a:rPr>
              <a:t>Mergeability and CDCL SAT Solvers</a:t>
            </a:r>
          </a:p>
        </p:txBody>
      </p:sp>
      <mc:AlternateContent xmlns:mc="http://schemas.openxmlformats.org/markup-compatibility/2006" xmlns:a14="http://schemas.microsoft.com/office/drawing/2010/main">
        <mc:Choice Requires="a14">
          <p:sp>
            <p:nvSpPr>
              <p:cNvPr id="6" name="TextBox 5"/>
              <p:cNvSpPr txBox="1"/>
              <p:nvPr/>
            </p:nvSpPr>
            <p:spPr>
              <a:xfrm>
                <a:off x="2132725" y="1815359"/>
                <a:ext cx="2933262" cy="638445"/>
              </a:xfrm>
              <a:prstGeom prst="rect">
                <a:avLst/>
              </a:prstGeom>
              <a:noFill/>
            </p:spPr>
            <p:txBody>
              <a:bodyPr wrap="square" rtlCol="0">
                <a:spAutoFit/>
              </a:bodyPr>
              <a:lstStyle/>
              <a:p>
                <a:pPr algn="ctr"/>
                <a14:m>
                  <m:oMath xmlns:m="http://schemas.openxmlformats.org/officeDocument/2006/math">
                    <m:bar>
                      <m:barPr>
                        <m:ctrlPr>
                          <a:rPr lang="en-US" sz="1600" i="1" smtClean="0">
                            <a:latin typeface="Cambria Math" panose="02040503050406030204" pitchFamily="18" charset="0"/>
                          </a:rPr>
                        </m:ctrlPr>
                      </m:barPr>
                      <m:e>
                        <m:d>
                          <m:dPr>
                            <m:ctrlPr>
                              <a:rPr lang="en-US" sz="1600" i="1">
                                <a:latin typeface="Cambria Math" panose="02040503050406030204" pitchFamily="18" charset="0"/>
                              </a:rPr>
                            </m:ctrlPr>
                          </m:dPr>
                          <m:e>
                            <m:r>
                              <a:rPr lang="en-US" sz="1600" b="0" i="1" smtClean="0">
                                <a:latin typeface="Cambria Math" charset="0"/>
                              </a:rPr>
                              <m:t>𝛼</m:t>
                            </m:r>
                            <m:r>
                              <a:rPr lang="en-US" sz="1600" i="1">
                                <a:latin typeface="Cambria Math" charset="0"/>
                              </a:rPr>
                              <m:t> ∨</m:t>
                            </m:r>
                            <m:sSub>
                              <m:sSubPr>
                                <m:ctrlPr>
                                  <a:rPr lang="en-US" sz="1600" i="1">
                                    <a:latin typeface="Cambria Math" panose="02040503050406030204" pitchFamily="18" charset="0"/>
                                  </a:rPr>
                                </m:ctrlPr>
                              </m:sSubPr>
                              <m:e>
                                <m:r>
                                  <a:rPr lang="en-US" sz="1600" i="1">
                                    <a:latin typeface="Cambria Math" charset="0"/>
                                  </a:rPr>
                                  <m:t>𝑥</m:t>
                                </m:r>
                              </m:e>
                              <m:sub>
                                <m:r>
                                  <a:rPr lang="en-US" sz="1600" i="1">
                                    <a:latin typeface="Cambria Math" charset="0"/>
                                  </a:rPr>
                                  <m:t>𝑛</m:t>
                                </m:r>
                              </m:sub>
                            </m:sSub>
                          </m:e>
                        </m:d>
                        <m:r>
                          <a:rPr lang="en-US" sz="1600" i="1">
                            <a:latin typeface="Cambria Math" charset="0"/>
                          </a:rPr>
                          <m:t>   </m:t>
                        </m:r>
                        <m:d>
                          <m:dPr>
                            <m:ctrlPr>
                              <a:rPr lang="en-US" sz="1600" i="1">
                                <a:latin typeface="Cambria Math" panose="02040503050406030204" pitchFamily="18" charset="0"/>
                              </a:rPr>
                            </m:ctrlPr>
                          </m:dPr>
                          <m:e>
                            <m:r>
                              <a:rPr lang="en-US" sz="1600" i="1">
                                <a:latin typeface="Cambria Math" charset="0"/>
                              </a:rPr>
                              <m:t>¬</m:t>
                            </m:r>
                            <m:sSub>
                              <m:sSubPr>
                                <m:ctrlPr>
                                  <a:rPr lang="en-US" sz="1600" i="1">
                                    <a:latin typeface="Cambria Math" panose="02040503050406030204" pitchFamily="18" charset="0"/>
                                  </a:rPr>
                                </m:ctrlPr>
                              </m:sSubPr>
                              <m:e>
                                <m:r>
                                  <a:rPr lang="en-US" sz="1600" i="1">
                                    <a:latin typeface="Cambria Math" charset="0"/>
                                  </a:rPr>
                                  <m:t>𝑥</m:t>
                                </m:r>
                              </m:e>
                              <m:sub>
                                <m:r>
                                  <a:rPr lang="en-US" sz="1600" i="1">
                                    <a:latin typeface="Cambria Math" charset="0"/>
                                  </a:rPr>
                                  <m:t>𝑛</m:t>
                                </m:r>
                              </m:sub>
                            </m:sSub>
                            <m:r>
                              <a:rPr lang="en-US" sz="1600" i="1">
                                <a:latin typeface="Cambria Math" charset="0"/>
                              </a:rPr>
                              <m:t>∨</m:t>
                            </m:r>
                            <m:r>
                              <a:rPr lang="en-US" sz="1600" b="0" i="1" smtClean="0">
                                <a:latin typeface="Cambria Math" charset="0"/>
                              </a:rPr>
                              <m:t>𝛽</m:t>
                            </m:r>
                          </m:e>
                        </m:d>
                      </m:e>
                    </m:bar>
                    <m:r>
                      <a:rPr lang="en-US" sz="1600" i="1">
                        <a:latin typeface="Cambria Math" charset="0"/>
                      </a:rPr>
                      <m:t> </m:t>
                    </m:r>
                  </m:oMath>
                </a14:m>
                <a:r>
                  <a:rPr lang="en-US" sz="1600" dirty="0"/>
                  <a:t>   </a:t>
                </a:r>
                <a:br>
                  <a:rPr lang="en-US" sz="1600" dirty="0"/>
                </a:br>
                <a14:m>
                  <m:oMath xmlns:m="http://schemas.openxmlformats.org/officeDocument/2006/math">
                    <m:d>
                      <m:dPr>
                        <m:ctrlPr>
                          <a:rPr lang="en-US" sz="1600" i="1">
                            <a:latin typeface="Cambria Math" panose="02040503050406030204" pitchFamily="18" charset="0"/>
                          </a:rPr>
                        </m:ctrlPr>
                      </m:dPr>
                      <m:e>
                        <m:r>
                          <a:rPr lang="en-US" sz="1600" b="0" i="1" smtClean="0">
                            <a:latin typeface="Cambria Math" charset="0"/>
                          </a:rPr>
                          <m:t>𝛼</m:t>
                        </m:r>
                        <m:r>
                          <a:rPr lang="en-US" sz="1600" b="0" i="1" smtClean="0">
                            <a:latin typeface="Cambria Math" charset="0"/>
                          </a:rPr>
                          <m:t>∨</m:t>
                        </m:r>
                        <m:r>
                          <a:rPr lang="en-US" sz="1600" b="0" i="1" smtClean="0">
                            <a:latin typeface="Cambria Math" charset="0"/>
                          </a:rPr>
                          <m:t>𝛽</m:t>
                        </m:r>
                      </m:e>
                    </m:d>
                  </m:oMath>
                </a14:m>
                <a:r>
                  <a:rPr lang="en-US" sz="1600" dirty="0">
                    <a:effectLst/>
                  </a:rPr>
                  <a:t> </a:t>
                </a:r>
              </a:p>
            </p:txBody>
          </p:sp>
        </mc:Choice>
        <mc:Fallback xmlns="">
          <p:sp>
            <p:nvSpPr>
              <p:cNvPr id="6" name="TextBox 5"/>
              <p:cNvSpPr txBox="1">
                <a:spLocks noRot="1" noChangeAspect="1" noMove="1" noResize="1" noEditPoints="1" noAdjustHandles="1" noChangeArrowheads="1" noChangeShapeType="1" noTextEdit="1"/>
              </p:cNvSpPr>
              <p:nvPr/>
            </p:nvSpPr>
            <p:spPr>
              <a:xfrm>
                <a:off x="2132725" y="1815359"/>
                <a:ext cx="2933262" cy="638445"/>
              </a:xfrm>
              <a:prstGeom prst="rect">
                <a:avLst/>
              </a:prstGeom>
              <a:blipFill rotWithShape="0">
                <a:blip r:embed="rId2"/>
                <a:stretch>
                  <a:fillRect t="-46667"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6268545" y="1815360"/>
                <a:ext cx="2933262" cy="638445"/>
              </a:xfrm>
              <a:prstGeom prst="rect">
                <a:avLst/>
              </a:prstGeom>
              <a:noFill/>
            </p:spPr>
            <p:txBody>
              <a:bodyPr wrap="square" rtlCol="0">
                <a:spAutoFit/>
              </a:bodyPr>
              <a:lstStyle/>
              <a:p>
                <a:pPr algn="ctr"/>
                <a14:m>
                  <m:oMath xmlns:m="http://schemas.openxmlformats.org/officeDocument/2006/math">
                    <m:bar>
                      <m:barPr>
                        <m:ctrlPr>
                          <a:rPr lang="en-US" sz="1600" i="1" smtClean="0">
                            <a:latin typeface="Cambria Math" panose="02040503050406030204" pitchFamily="18" charset="0"/>
                          </a:rPr>
                        </m:ctrlPr>
                      </m:barPr>
                      <m:e>
                        <m:d>
                          <m:dPr>
                            <m:ctrlPr>
                              <a:rPr lang="en-US" sz="1600" i="1">
                                <a:latin typeface="Cambria Math" panose="02040503050406030204" pitchFamily="18" charset="0"/>
                              </a:rPr>
                            </m:ctrlPr>
                          </m:dPr>
                          <m:e>
                            <m:r>
                              <a:rPr lang="en-US" sz="1600" b="0" i="1" smtClean="0">
                                <a:latin typeface="Cambria Math" charset="0"/>
                              </a:rPr>
                              <m:t>𝛾</m:t>
                            </m:r>
                            <m:r>
                              <a:rPr lang="en-US" sz="1600" b="0" i="1" smtClean="0">
                                <a:latin typeface="Cambria Math" charset="0"/>
                              </a:rPr>
                              <m:t>∨</m:t>
                            </m:r>
                            <m:sSub>
                              <m:sSubPr>
                                <m:ctrlPr>
                                  <a:rPr lang="en-US" sz="1600" i="1">
                                    <a:latin typeface="Cambria Math" panose="02040503050406030204" pitchFamily="18" charset="0"/>
                                  </a:rPr>
                                </m:ctrlPr>
                              </m:sSubPr>
                              <m:e>
                                <m:r>
                                  <a:rPr lang="en-US" sz="1600" b="0" i="1" smtClean="0">
                                    <a:latin typeface="Cambria Math" charset="0"/>
                                  </a:rPr>
                                  <m:t>𝑦</m:t>
                                </m:r>
                              </m:e>
                              <m:sub>
                                <m:r>
                                  <a:rPr lang="en-US" sz="1600" i="1">
                                    <a:latin typeface="Cambria Math" charset="0"/>
                                  </a:rPr>
                                  <m:t>𝑛</m:t>
                                </m:r>
                              </m:sub>
                            </m:sSub>
                          </m:e>
                        </m:d>
                        <m:r>
                          <a:rPr lang="en-US" sz="1600" i="1">
                            <a:latin typeface="Cambria Math" charset="0"/>
                          </a:rPr>
                          <m:t>   </m:t>
                        </m:r>
                        <m:d>
                          <m:dPr>
                            <m:ctrlPr>
                              <a:rPr lang="en-US" sz="1600" i="1">
                                <a:latin typeface="Cambria Math" panose="02040503050406030204" pitchFamily="18" charset="0"/>
                              </a:rPr>
                            </m:ctrlPr>
                          </m:dPr>
                          <m:e>
                            <m:r>
                              <a:rPr lang="en-US" sz="1600" i="1">
                                <a:latin typeface="Cambria Math" charset="0"/>
                              </a:rPr>
                              <m:t>¬</m:t>
                            </m:r>
                            <m:sSub>
                              <m:sSubPr>
                                <m:ctrlPr>
                                  <a:rPr lang="en-US" sz="1600" i="1">
                                    <a:latin typeface="Cambria Math" panose="02040503050406030204" pitchFamily="18" charset="0"/>
                                  </a:rPr>
                                </m:ctrlPr>
                              </m:sSubPr>
                              <m:e>
                                <m:r>
                                  <a:rPr lang="en-US" sz="1600" b="0" i="1" smtClean="0">
                                    <a:latin typeface="Cambria Math" charset="0"/>
                                  </a:rPr>
                                  <m:t>𝑦</m:t>
                                </m:r>
                              </m:e>
                              <m:sub>
                                <m:r>
                                  <a:rPr lang="en-US" sz="1600" i="1">
                                    <a:latin typeface="Cambria Math" charset="0"/>
                                  </a:rPr>
                                  <m:t>𝑛</m:t>
                                </m:r>
                              </m:sub>
                            </m:sSub>
                            <m:r>
                              <a:rPr lang="en-US" sz="1600" i="1">
                                <a:latin typeface="Cambria Math" charset="0"/>
                              </a:rPr>
                              <m:t>∨</m:t>
                            </m:r>
                            <m:r>
                              <a:rPr lang="en-US" sz="1600" b="0" i="1" smtClean="0">
                                <a:latin typeface="Cambria Math" charset="0"/>
                              </a:rPr>
                              <m:t>𝛿</m:t>
                            </m:r>
                          </m:e>
                        </m:d>
                      </m:e>
                    </m:bar>
                    <m:r>
                      <a:rPr lang="en-US" sz="1600" i="1">
                        <a:latin typeface="Cambria Math" charset="0"/>
                      </a:rPr>
                      <m:t> </m:t>
                    </m:r>
                  </m:oMath>
                </a14:m>
                <a:r>
                  <a:rPr lang="en-US" sz="1600" dirty="0"/>
                  <a:t>   </a:t>
                </a:r>
                <a:br>
                  <a:rPr lang="en-US" sz="1600" dirty="0"/>
                </a:br>
                <a14:m>
                  <m:oMath xmlns:m="http://schemas.openxmlformats.org/officeDocument/2006/math">
                    <m:d>
                      <m:dPr>
                        <m:ctrlPr>
                          <a:rPr lang="en-US" sz="1600" i="1">
                            <a:latin typeface="Cambria Math" panose="02040503050406030204" pitchFamily="18" charset="0"/>
                          </a:rPr>
                        </m:ctrlPr>
                      </m:dPr>
                      <m:e>
                        <m:r>
                          <a:rPr lang="en-US" sz="1600" b="0" i="1" smtClean="0">
                            <a:latin typeface="Cambria Math" charset="0"/>
                          </a:rPr>
                          <m:t>𝛾</m:t>
                        </m:r>
                        <m:r>
                          <a:rPr lang="en-US" sz="1600" b="0" i="1" smtClean="0">
                            <a:latin typeface="Cambria Math" charset="0"/>
                          </a:rPr>
                          <m:t>∨</m:t>
                        </m:r>
                        <m:r>
                          <a:rPr lang="en-US" sz="1600" b="0" i="1" smtClean="0">
                            <a:latin typeface="Cambria Math" charset="0"/>
                          </a:rPr>
                          <m:t>𝛿</m:t>
                        </m:r>
                      </m:e>
                    </m:d>
                  </m:oMath>
                </a14:m>
                <a:r>
                  <a:rPr lang="en-US" sz="1600" dirty="0">
                    <a:effectLst/>
                  </a:rPr>
                  <a:t> </a:t>
                </a:r>
              </a:p>
            </p:txBody>
          </p:sp>
        </mc:Choice>
        <mc:Fallback xmlns="">
          <p:sp>
            <p:nvSpPr>
              <p:cNvPr id="7" name="TextBox 6"/>
              <p:cNvSpPr txBox="1">
                <a:spLocks noRot="1" noChangeAspect="1" noMove="1" noResize="1" noEditPoints="1" noAdjustHandles="1" noChangeArrowheads="1" noChangeShapeType="1" noTextEdit="1"/>
              </p:cNvSpPr>
              <p:nvPr/>
            </p:nvSpPr>
            <p:spPr>
              <a:xfrm>
                <a:off x="6268545" y="1815360"/>
                <a:ext cx="2933262" cy="638445"/>
              </a:xfrm>
              <a:prstGeom prst="rect">
                <a:avLst/>
              </a:prstGeom>
              <a:blipFill rotWithShape="0">
                <a:blip r:embed="rId3"/>
                <a:stretch>
                  <a:fillRect t="-46667"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530397" y="3099702"/>
                <a:ext cx="2933262" cy="338554"/>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i="1" smtClean="0">
                          <a:latin typeface="Cambria Math" charset="0"/>
                        </a:rPr>
                        <m:t>…</m:t>
                      </m:r>
                    </m:oMath>
                  </m:oMathPara>
                </a14:m>
                <a:endParaRPr lang="en-US" sz="1600" dirty="0">
                  <a:effectLst/>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4530397" y="3099702"/>
                <a:ext cx="2933262" cy="338554"/>
              </a:xfrm>
              <a:prstGeom prst="rect">
                <a:avLst/>
              </a:prstGeom>
              <a:blipFill rotWithShape="0">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3471918" y="4422794"/>
                <a:ext cx="2933262" cy="683457"/>
              </a:xfrm>
              <a:prstGeom prst="rect">
                <a:avLst/>
              </a:prstGeom>
              <a:noFill/>
            </p:spPr>
            <p:txBody>
              <a:bodyPr wrap="square" rtlCol="0">
                <a:spAutoFit/>
              </a:bodyPr>
              <a:lstStyle/>
              <a:p>
                <a:pPr algn="ctr"/>
                <a14:m>
                  <m:oMath xmlns:m="http://schemas.openxmlformats.org/officeDocument/2006/math">
                    <m:bar>
                      <m:barPr>
                        <m:ctrlPr>
                          <a:rPr lang="en-US" sz="1600" i="1" smtClean="0">
                            <a:latin typeface="Cambria Math" panose="02040503050406030204" pitchFamily="18" charset="0"/>
                          </a:rPr>
                        </m:ctrlPr>
                      </m:barPr>
                      <m:e>
                        <m:d>
                          <m:dPr>
                            <m:ctrlPr>
                              <a:rPr lang="en-US" sz="1600" i="1">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𝑗</m:t>
                                </m:r>
                              </m:sub>
                            </m:sSub>
                          </m:e>
                        </m:d>
                        <m:r>
                          <a:rPr lang="en-US" sz="1600" i="1">
                            <a:latin typeface="Cambria Math" charset="0"/>
                          </a:rPr>
                          <m:t>   </m:t>
                        </m:r>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𝑗</m:t>
                            </m:r>
                          </m:sub>
                        </m:sSub>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e>
                    </m:bar>
                    <m:r>
                      <a:rPr lang="en-US" sz="1600" i="1">
                        <a:latin typeface="Cambria Math" charset="0"/>
                      </a:rPr>
                      <m:t> </m:t>
                    </m:r>
                  </m:oMath>
                </a14:m>
                <a:r>
                  <a:rPr lang="en-US" sz="1600" dirty="0"/>
                  <a:t>   </a:t>
                </a:r>
                <a:br>
                  <a:rPr lang="en-US" sz="1600" dirty="0"/>
                </a:b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charset="0"/>
                            </a:rPr>
                            <m:t>(</m:t>
                          </m:r>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oMath>
                  </m:oMathPara>
                </a14:m>
                <a:endParaRPr lang="en-US" sz="1600" dirty="0">
                  <a:effectLst/>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3471918" y="4422794"/>
                <a:ext cx="2933262" cy="683457"/>
              </a:xfrm>
              <a:prstGeom prst="rect">
                <a:avLst/>
              </a:prstGeom>
              <a:blipFill rotWithShape="0">
                <a:blip r:embed="rId5"/>
                <a:stretch>
                  <a:fillRect t="-41071"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5736020" y="4450224"/>
                <a:ext cx="2933262" cy="640047"/>
              </a:xfrm>
              <a:prstGeom prst="rect">
                <a:avLst/>
              </a:prstGeom>
              <a:noFill/>
            </p:spPr>
            <p:txBody>
              <a:bodyPr wrap="square" rtlCol="0">
                <a:spAutoFit/>
              </a:bodyPr>
              <a:lstStyle/>
              <a:p>
                <a:pPr algn="ctr"/>
                <a14:m>
                  <m:oMath xmlns:m="http://schemas.openxmlformats.org/officeDocument/2006/math">
                    <m:bar>
                      <m:barPr>
                        <m:ctrlPr>
                          <a:rPr lang="en-US" sz="1600" i="1" smtClean="0">
                            <a:latin typeface="Cambria Math" panose="02040503050406030204" pitchFamily="18" charset="0"/>
                          </a:rPr>
                        </m:ctrlPr>
                      </m:barPr>
                      <m:e>
                        <m:d>
                          <m:dPr>
                            <m:ctrlPr>
                              <a:rPr lang="en-US" sz="1600" i="1">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charset="0"/>
                                  </a:rPr>
                                  <m:t>¬</m:t>
                                </m:r>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𝑘</m:t>
                                </m:r>
                              </m:sub>
                            </m:sSub>
                          </m:e>
                        </m:d>
                        <m:r>
                          <a:rPr lang="en-US" sz="1600" i="1">
                            <a:latin typeface="Cambria Math" charset="0"/>
                          </a:rPr>
                          <m:t>   </m:t>
                        </m:r>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𝑘</m:t>
                            </m:r>
                          </m:sub>
                        </m:sSub>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m:t>
                            </m:r>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e>
                    </m:bar>
                    <m:r>
                      <a:rPr lang="en-US" sz="1600" i="1">
                        <a:latin typeface="Cambria Math" charset="0"/>
                      </a:rPr>
                      <m:t> </m:t>
                    </m:r>
                  </m:oMath>
                </a14:m>
                <a:r>
                  <a:rPr lang="en-US" sz="1600" dirty="0"/>
                  <a:t>   </a:t>
                </a:r>
                <a:br>
                  <a:rPr lang="en-US" sz="1600" dirty="0"/>
                </a:br>
                <a14:m>
                  <m:oMathPara xmlns:m="http://schemas.openxmlformats.org/officeDocument/2006/math">
                    <m:oMathParaPr>
                      <m:jc m:val="centerGroup"/>
                    </m:oMathParaPr>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charset="0"/>
                            </a:rPr>
                            <m:t>(¬</m:t>
                          </m:r>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oMath>
                  </m:oMathPara>
                </a14:m>
                <a:endParaRPr lang="en-US" sz="1600" dirty="0">
                  <a:effectLst/>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5736020" y="4450224"/>
                <a:ext cx="2933262" cy="640047"/>
              </a:xfrm>
              <a:prstGeom prst="rect">
                <a:avLst/>
              </a:prstGeom>
              <a:blipFill rotWithShape="0">
                <a:blip r:embed="rId6"/>
                <a:stretch>
                  <a:fillRect t="-45714"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4603969" y="5078821"/>
                <a:ext cx="2933262" cy="637867"/>
              </a:xfrm>
              <a:prstGeom prst="rect">
                <a:avLst/>
              </a:prstGeom>
              <a:noFill/>
            </p:spPr>
            <p:txBody>
              <a:bodyPr wrap="square" rtlCol="0">
                <a:spAutoFit/>
              </a:bodyPr>
              <a:lstStyle/>
              <a:p>
                <a:pPr algn="ctr"/>
                <a14:m>
                  <m:oMath xmlns:m="http://schemas.openxmlformats.org/officeDocument/2006/math">
                    <m:bar>
                      <m:barPr>
                        <m:ctrlPr>
                          <a:rPr lang="en-US" sz="1600" i="1" smtClean="0">
                            <a:latin typeface="Cambria Math" panose="02040503050406030204" pitchFamily="18" charset="0"/>
                          </a:rPr>
                        </m:ctrlPr>
                      </m:barPr>
                      <m:e>
                        <m:d>
                          <m:dPr>
                            <m:ctrlPr>
                              <a:rPr lang="en-US" sz="1600" i="1">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𝑖</m:t>
                                </m:r>
                              </m:sub>
                            </m:sSub>
                          </m:e>
                        </m:d>
                        <m:r>
                          <a:rPr lang="en-US" sz="1600" i="1">
                            <a:latin typeface="Cambria Math" charset="0"/>
                          </a:rPr>
                          <m:t>   </m:t>
                        </m:r>
                        <m:r>
                          <a:rPr lang="en-US" sz="1600" b="0" i="1" smtClean="0">
                            <a:latin typeface="Cambria Math" charset="0"/>
                          </a:rPr>
                          <m:t>(¬</m:t>
                        </m:r>
                        <m:sSub>
                          <m:sSubPr>
                            <m:ctrlPr>
                              <a:rPr lang="en-US" sz="1600" b="0" i="1" smtClean="0">
                                <a:latin typeface="Cambria Math" panose="02040503050406030204" pitchFamily="18" charset="0"/>
                              </a:rPr>
                            </m:ctrlPr>
                          </m:sSubPr>
                          <m:e>
                            <m:r>
                              <a:rPr lang="en-US" sz="1600" b="0" i="1" smtClean="0">
                                <a:latin typeface="Cambria Math" charset="0"/>
                              </a:rPr>
                              <m:t>𝑥</m:t>
                            </m:r>
                          </m:e>
                          <m:sub>
                            <m:r>
                              <a:rPr lang="en-US" sz="1600" b="0" i="1" smtClean="0">
                                <a:latin typeface="Cambria Math" charset="0"/>
                              </a:rPr>
                              <m:t>𝑖</m:t>
                            </m:r>
                          </m:sub>
                        </m:sSub>
                        <m:r>
                          <a:rPr lang="en-US" sz="1600" b="0" i="1" smtClean="0">
                            <a:latin typeface="Cambria Math" charset="0"/>
                          </a:rPr>
                          <m:t>)</m:t>
                        </m:r>
                      </m:e>
                    </m:bar>
                    <m:r>
                      <a:rPr lang="en-US" sz="1600" i="1">
                        <a:latin typeface="Cambria Math" charset="0"/>
                      </a:rPr>
                      <m:t> </m:t>
                    </m:r>
                  </m:oMath>
                </a14:m>
                <a:r>
                  <a:rPr lang="en-US" sz="1600" dirty="0"/>
                  <a:t>   </a:t>
                </a:r>
                <a:br>
                  <a:rPr lang="en-US" sz="1600" dirty="0"/>
                </a:br>
                <a14:m>
                  <m:oMath xmlns:m="http://schemas.openxmlformats.org/officeDocument/2006/math">
                    <m:r>
                      <a:rPr lang="en-US" sz="1600" b="0" i="1" smtClean="0">
                        <a:latin typeface="Cambria Math" charset="0"/>
                      </a:rPr>
                      <m:t>⊥</m:t>
                    </m:r>
                  </m:oMath>
                </a14:m>
                <a:r>
                  <a:rPr lang="en-US" sz="1600" dirty="0">
                    <a:effectLst/>
                  </a:rPr>
                  <a:t> </a:t>
                </a:r>
              </a:p>
            </p:txBody>
          </p:sp>
        </mc:Choice>
        <mc:Fallback xmlns="">
          <p:sp>
            <p:nvSpPr>
              <p:cNvPr id="13" name="TextBox 12"/>
              <p:cNvSpPr txBox="1">
                <a:spLocks noRot="1" noChangeAspect="1" noMove="1" noResize="1" noEditPoints="1" noAdjustHandles="1" noChangeArrowheads="1" noChangeShapeType="1" noTextEdit="1"/>
              </p:cNvSpPr>
              <p:nvPr/>
            </p:nvSpPr>
            <p:spPr>
              <a:xfrm>
                <a:off x="4603969" y="5078821"/>
                <a:ext cx="2933262" cy="637867"/>
              </a:xfrm>
              <a:prstGeom prst="rect">
                <a:avLst/>
              </a:prstGeom>
              <a:blipFill rotWithShape="0">
                <a:blip r:embed="rId7"/>
                <a:stretch>
                  <a:fillRect t="-45714" b="-13333"/>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8C993C57-828B-7F48-83FB-D68B2B2B022F}"/>
              </a:ext>
            </a:extLst>
          </p:cNvPr>
          <p:cNvSpPr>
            <a:spLocks noGrp="1"/>
          </p:cNvSpPr>
          <p:nvPr>
            <p:ph type="sldNum" sz="quarter" idx="12"/>
          </p:nvPr>
        </p:nvSpPr>
        <p:spPr>
          <a:xfrm>
            <a:off x="11826240" y="6492240"/>
            <a:ext cx="365760" cy="365760"/>
          </a:xfrm>
        </p:spPr>
        <p:txBody>
          <a:bodyPr/>
          <a:lstStyle/>
          <a:p>
            <a:fld id="{8A7A6979-0714-4377-B894-6BE4C2D6E202}" type="slidenum">
              <a:rPr lang="en-US" smtClean="0"/>
              <a:pPr/>
              <a:t>14</a:t>
            </a:fld>
            <a:endParaRPr lang="en-US" dirty="0"/>
          </a:p>
        </p:txBody>
      </p:sp>
    </p:spTree>
    <p:extLst>
      <p:ext uri="{BB962C8B-B14F-4D97-AF65-F5344CB8AC3E}">
        <p14:creationId xmlns:p14="http://schemas.microsoft.com/office/powerpoint/2010/main" val="429162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04672" y="2386744"/>
            <a:ext cx="4486656" cy="1645920"/>
          </a:xfrm>
        </p:spPr>
        <p:txBody>
          <a:bodyPr vert="horz" lIns="274320" tIns="182880" rIns="274320" bIns="182880" rtlCol="0" anchor="ctr" anchorCtr="1">
            <a:normAutofit/>
          </a:bodyPr>
          <a:lstStyle/>
          <a:p>
            <a:r>
              <a:rPr lang="en-US" sz="2400" u="sng"/>
              <a:t>Mergeability</a:t>
            </a:r>
            <a:br>
              <a:rPr lang="en-US" sz="2400"/>
            </a:br>
            <a:r>
              <a:rPr lang="en-US" sz="2400"/>
              <a:t>Number of Merges vs. Learnt Clause Size</a:t>
            </a:r>
          </a:p>
        </p:txBody>
      </p:sp>
      <p:sp>
        <p:nvSpPr>
          <p:cNvPr id="16" name="Rectangle 15">
            <a:extLst>
              <a:ext uri="{FF2B5EF4-FFF2-40B4-BE49-F238E27FC236}">
                <a16:creationId xmlns:a16="http://schemas.microsoft.com/office/drawing/2014/main" id="{0EC62945-0957-4167-A370-9791CCD4A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5999"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3030" y="1111905"/>
            <a:ext cx="2245870" cy="1684402"/>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00633" y="1109873"/>
            <a:ext cx="2251288" cy="1688466"/>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29292" y="3589866"/>
            <a:ext cx="3226365" cy="2419774"/>
          </a:xfrm>
          <a:prstGeom prst="rect">
            <a:avLst/>
          </a:prstGeom>
        </p:spPr>
      </p:pic>
      <p:sp>
        <p:nvSpPr>
          <p:cNvPr id="6" name="Slide Number Placeholder 5">
            <a:extLst>
              <a:ext uri="{FF2B5EF4-FFF2-40B4-BE49-F238E27FC236}">
                <a16:creationId xmlns:a16="http://schemas.microsoft.com/office/drawing/2014/main" id="{D6B14984-BE6D-DE4B-B44C-D65757F8FF3D}"/>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8A7A6979-0714-4377-B894-6BE4C2D6E202}" type="slidenum">
              <a:rPr lang="en-US" kern="1200" spc="0" baseline="0" dirty="0">
                <a:solidFill>
                  <a:srgbClr val="FFFFFF"/>
                </a:solidFill>
                <a:latin typeface="+mn-lt"/>
                <a:ea typeface="+mn-ea"/>
                <a:cs typeface="+mn-cs"/>
              </a:rPr>
              <a:pPr>
                <a:lnSpc>
                  <a:spcPct val="90000"/>
                </a:lnSpc>
                <a:spcAft>
                  <a:spcPts val="600"/>
                </a:spcAft>
              </a:pPr>
              <a:t>15</a:t>
            </a:fld>
            <a:endParaRPr lang="en-US" kern="1200" spc="0" baseline="0" dirty="0">
              <a:solidFill>
                <a:srgbClr val="FFFFFF"/>
              </a:solidFill>
              <a:latin typeface="+mn-lt"/>
              <a:ea typeface="+mn-ea"/>
              <a:cs typeface="+mn-cs"/>
            </a:endParaRPr>
          </a:p>
        </p:txBody>
      </p:sp>
    </p:spTree>
    <p:extLst>
      <p:ext uri="{BB962C8B-B14F-4D97-AF65-F5344CB8AC3E}">
        <p14:creationId xmlns:p14="http://schemas.microsoft.com/office/powerpoint/2010/main" val="35101553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24587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112" name="Rectangle 47111">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114" name="Rectangle 47113">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16" name="Oval 47115">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chemeClr val="accent2">
              <a:lumMod val="75000"/>
            </a:schemeClr>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a:spLocks noGrp="1"/>
          </p:cNvSpPr>
          <p:nvPr>
            <p:ph type="title"/>
          </p:nvPr>
        </p:nvSpPr>
        <p:spPr>
          <a:xfrm>
            <a:off x="1260873" y="1586484"/>
            <a:ext cx="3685032" cy="3685032"/>
          </a:xfrm>
          <a:prstGeom prst="ellipse">
            <a:avLst/>
          </a:prstGeom>
          <a:noFill/>
          <a:ln>
            <a:noFill/>
          </a:ln>
        </p:spPr>
        <p:txBody>
          <a:bodyPr>
            <a:normAutofit/>
          </a:bodyPr>
          <a:lstStyle/>
          <a:p>
            <a:r>
              <a:rPr lang="en-US" sz="1900" u="sng" cap="none">
                <a:solidFill>
                  <a:srgbClr val="FFFFFF"/>
                </a:solidFill>
                <a:latin typeface="Times" charset="0"/>
                <a:ea typeface="Times" charset="0"/>
                <a:cs typeface="Times" charset="0"/>
              </a:rPr>
              <a:t>Solvers = Proof Search Systems+Machine Learning</a:t>
            </a:r>
            <a:br>
              <a:rPr lang="en-US" sz="1900" u="sng" cap="none">
                <a:solidFill>
                  <a:srgbClr val="FFFFFF"/>
                </a:solidFill>
                <a:latin typeface="Times" charset="0"/>
                <a:ea typeface="Times" charset="0"/>
                <a:cs typeface="Times" charset="0"/>
              </a:rPr>
            </a:br>
            <a:r>
              <a:rPr lang="en-US" sz="1900" cap="none">
                <a:solidFill>
                  <a:srgbClr val="FFFFFF"/>
                </a:solidFill>
                <a:latin typeface="Times" charset="0"/>
                <a:ea typeface="Times" charset="0"/>
                <a:cs typeface="Times" charset="0"/>
              </a:rPr>
              <a:t>The Practice of Proof Systems</a:t>
            </a:r>
          </a:p>
        </p:txBody>
      </p:sp>
      <p:sp>
        <p:nvSpPr>
          <p:cNvPr id="47107" name="Rectangle 3"/>
          <p:cNvSpPr>
            <a:spLocks noGrp="1" noChangeArrowheads="1"/>
          </p:cNvSpPr>
          <p:nvPr>
            <p:ph type="body" idx="1"/>
          </p:nvPr>
        </p:nvSpPr>
        <p:spPr>
          <a:xfrm>
            <a:off x="5089355" y="166255"/>
            <a:ext cx="6829018" cy="6417425"/>
          </a:xfrm>
        </p:spPr>
        <p:txBody>
          <a:bodyPr anchor="ctr" anchorCtr="0">
            <a:noAutofit/>
          </a:bodyPr>
          <a:lstStyle/>
          <a:p>
            <a:pPr lvl="1">
              <a:lnSpc>
                <a:spcPct val="90000"/>
              </a:lnSpc>
              <a:buFont typeface="Wingdings" pitchFamily="2" charset="2"/>
              <a:buChar char="Ø"/>
              <a:defRPr/>
            </a:pPr>
            <a:r>
              <a:rPr lang="en-US" sz="1800" dirty="0">
                <a:latin typeface="Times" charset="0"/>
                <a:ea typeface="Times" charset="0"/>
                <a:cs typeface="Times" charset="0"/>
              </a:rPr>
              <a:t>“Solvers = Proof Search Systems” is a well-known abstraction of solvers and provers. This is a powerful way to design solvers, although non-symbolic DNN-based SAT solvers do exist (e.g., </a:t>
            </a:r>
            <a:r>
              <a:rPr lang="en-US" sz="1800" dirty="0" err="1">
                <a:latin typeface="Times" charset="0"/>
                <a:ea typeface="Times" charset="0"/>
                <a:cs typeface="Times" charset="0"/>
              </a:rPr>
              <a:t>NeuroSAT</a:t>
            </a:r>
            <a:r>
              <a:rPr lang="en-US" sz="1800" dirty="0">
                <a:latin typeface="Times" charset="0"/>
                <a:ea typeface="Times" charset="0"/>
                <a:cs typeface="Times" charset="0"/>
              </a:rPr>
              <a:t>)</a:t>
            </a:r>
            <a:br>
              <a:rPr lang="en-US" sz="1800" dirty="0">
                <a:latin typeface="Times" charset="0"/>
                <a:ea typeface="Times" charset="0"/>
                <a:cs typeface="Times" charset="0"/>
              </a:rPr>
            </a:br>
            <a:endParaRPr lang="en-US" sz="1800" dirty="0">
              <a:latin typeface="Times" charset="0"/>
              <a:ea typeface="Times" charset="0"/>
              <a:cs typeface="Times" charset="0"/>
            </a:endParaRPr>
          </a:p>
          <a:p>
            <a:pPr lvl="1">
              <a:lnSpc>
                <a:spcPct val="90000"/>
              </a:lnSpc>
              <a:buFont typeface="Wingdings" pitchFamily="2" charset="2"/>
              <a:buChar char="Ø"/>
              <a:defRPr/>
            </a:pPr>
            <a:r>
              <a:rPr lang="en-US" sz="1800" dirty="0">
                <a:latin typeface="Times" charset="0"/>
                <a:ea typeface="Times" charset="0"/>
                <a:cs typeface="Times" charset="0"/>
              </a:rPr>
              <a:t>How can we leverage this abstraction to design better SAT/SMT solvers?</a:t>
            </a:r>
            <a:br>
              <a:rPr lang="en-US" sz="1800" dirty="0">
                <a:latin typeface="Times" charset="0"/>
                <a:ea typeface="Times" charset="0"/>
                <a:cs typeface="Times" charset="0"/>
              </a:rPr>
            </a:br>
            <a:br>
              <a:rPr lang="en-US" sz="1800" dirty="0">
                <a:latin typeface="Times" charset="0"/>
                <a:ea typeface="Times" charset="0"/>
                <a:cs typeface="Times" charset="0"/>
              </a:rPr>
            </a:br>
            <a:endParaRPr lang="en-US" sz="1800" dirty="0">
              <a:latin typeface="Times" charset="0"/>
              <a:ea typeface="Times" charset="0"/>
              <a:cs typeface="Times" charset="0"/>
            </a:endParaRPr>
          </a:p>
          <a:p>
            <a:pPr lvl="1">
              <a:lnSpc>
                <a:spcPct val="90000"/>
              </a:lnSpc>
              <a:buFont typeface="Wingdings" pitchFamily="2" charset="2"/>
              <a:buChar char="Ø"/>
              <a:defRPr/>
            </a:pPr>
            <a:r>
              <a:rPr lang="en-US" sz="1800" dirty="0">
                <a:latin typeface="Times" charset="0"/>
                <a:ea typeface="Times" charset="0"/>
                <a:cs typeface="Times" charset="0"/>
              </a:rPr>
              <a:t>One way is to strengthen the reasoning engine inside a solver, e.g., CDCL(T) or programmatic SAT</a:t>
            </a:r>
          </a:p>
          <a:p>
            <a:pPr lvl="1">
              <a:lnSpc>
                <a:spcPct val="90000"/>
              </a:lnSpc>
              <a:buFont typeface="Wingdings" pitchFamily="2" charset="2"/>
              <a:buChar char="Ø"/>
              <a:defRPr/>
            </a:pPr>
            <a:endParaRPr lang="en-US" sz="1800" dirty="0">
              <a:latin typeface="Times" charset="0"/>
              <a:ea typeface="Times" charset="0"/>
              <a:cs typeface="Times" charset="0"/>
            </a:endParaRPr>
          </a:p>
          <a:p>
            <a:pPr lvl="1">
              <a:lnSpc>
                <a:spcPct val="90000"/>
              </a:lnSpc>
              <a:buFont typeface="Wingdings" pitchFamily="2" charset="2"/>
              <a:buChar char="Ø"/>
              <a:defRPr/>
            </a:pPr>
            <a:r>
              <a:rPr lang="en-US" sz="1800" dirty="0">
                <a:latin typeface="Times" charset="0"/>
                <a:ea typeface="Times" charset="0"/>
                <a:cs typeface="Times" charset="0"/>
              </a:rPr>
              <a:t>Another is to design optimization heuristics inside solvers with machine learning (ML) methods. This led to the design of award-winning MapleSAT (and variants). 5 different ML-based heuristics (branching, splitting, restarts, initialization, and algorithm selection). Our work has been widely adopted, adapted, extended [HVC15, SAT16, AAAI16, SAT17, IJCAI18, CP20, ICML20]</a:t>
            </a:r>
            <a:br>
              <a:rPr lang="en-US" sz="1800" dirty="0">
                <a:latin typeface="Times" charset="0"/>
                <a:ea typeface="Times" charset="0"/>
                <a:cs typeface="Times" charset="0"/>
              </a:rPr>
            </a:br>
            <a:endParaRPr lang="en-US" sz="1800" dirty="0">
              <a:latin typeface="Times" charset="0"/>
              <a:ea typeface="Times" charset="0"/>
              <a:cs typeface="Times" charset="0"/>
            </a:endParaRPr>
          </a:p>
        </p:txBody>
      </p:sp>
      <p:sp>
        <p:nvSpPr>
          <p:cNvPr id="7" name="Slide Number Placeholder 6"/>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8A7A6979-0714-4377-B894-6BE4C2D6E202}" type="slidenum">
              <a:rPr lang="en-US" smtClean="0"/>
              <a:pPr>
                <a:lnSpc>
                  <a:spcPct val="90000"/>
                </a:lnSpc>
                <a:spcAft>
                  <a:spcPts val="600"/>
                </a:spcAft>
              </a:pPr>
              <a:t>17</a:t>
            </a:fld>
            <a:endParaRPr lang="en-US"/>
          </a:p>
        </p:txBody>
      </p:sp>
    </p:spTree>
    <p:extLst>
      <p:ext uri="{BB962C8B-B14F-4D97-AF65-F5344CB8AC3E}">
        <p14:creationId xmlns:p14="http://schemas.microsoft.com/office/powerpoint/2010/main" val="177955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3" name="Rectangle 1"/>
          <p:cNvSpPr>
            <a:spLocks noGrp="1" noChangeArrowheads="1"/>
          </p:cNvSpPr>
          <p:nvPr>
            <p:ph type="title"/>
          </p:nvPr>
        </p:nvSpPr>
        <p:spPr>
          <a:xfrm>
            <a:off x="46138" y="78513"/>
            <a:ext cx="12051031" cy="1118940"/>
          </a:xfrm>
        </p:spPr>
        <p:txBody>
          <a:bodyPr>
            <a:noAutofit/>
          </a:bodyPr>
          <a:lstStyle/>
          <a:p>
            <a:pPr eaLnBrk="1" hangingPunct="1">
              <a:lnSpc>
                <a:spcPct val="90000"/>
              </a:lnSpc>
              <a:defRPr/>
            </a:pPr>
            <a:r>
              <a:rPr lang="en-US" sz="3800" u="sng" cap="none" dirty="0">
                <a:solidFill>
                  <a:schemeClr val="tx1"/>
                </a:solidFill>
                <a:latin typeface="Times" charset="0"/>
                <a:ea typeface="Times" charset="0"/>
                <a:cs typeface="Times" charset="0"/>
              </a:rPr>
              <a:t>Conflict-Driven Clause-Learning SAT Solver</a:t>
            </a:r>
            <a:br>
              <a:rPr lang="en-US" sz="3800" u="sng" cap="none" dirty="0">
                <a:solidFill>
                  <a:schemeClr val="tx1"/>
                </a:solidFill>
                <a:latin typeface="Times" charset="0"/>
                <a:ea typeface="Times" charset="0"/>
                <a:cs typeface="Times" charset="0"/>
              </a:rPr>
            </a:br>
            <a:r>
              <a:rPr lang="en-US" sz="3800" cap="none" dirty="0">
                <a:solidFill>
                  <a:schemeClr val="tx1"/>
                </a:solidFill>
                <a:latin typeface="Times" charset="0"/>
                <a:ea typeface="Times" charset="0"/>
                <a:cs typeface="Times" charset="0"/>
              </a:rPr>
              <a:t>Solver = Proof Search System + ML</a:t>
            </a:r>
          </a:p>
        </p:txBody>
      </p:sp>
      <p:sp>
        <p:nvSpPr>
          <p:cNvPr id="10" name="Slide Number Placeholder 9"/>
          <p:cNvSpPr>
            <a:spLocks noGrp="1"/>
          </p:cNvSpPr>
          <p:nvPr>
            <p:ph type="sldNum" sz="quarter" idx="12"/>
          </p:nvPr>
        </p:nvSpPr>
        <p:spPr>
          <a:xfrm>
            <a:off x="11826240" y="6480130"/>
            <a:ext cx="365760" cy="365760"/>
          </a:xfrm>
        </p:spPr>
        <p:txBody>
          <a:bodyPr/>
          <a:lstStyle/>
          <a:p>
            <a:fld id="{8A7A6979-0714-4377-B894-6BE4C2D6E202}" type="slidenum">
              <a:rPr lang="en-US" smtClean="0"/>
              <a:pPr/>
              <a:t>18</a:t>
            </a:fld>
            <a:endParaRPr lang="en-US" dirty="0"/>
          </a:p>
        </p:txBody>
      </p:sp>
      <p:grpSp>
        <p:nvGrpSpPr>
          <p:cNvPr id="9" name="Group 8">
            <a:extLst>
              <a:ext uri="{FF2B5EF4-FFF2-40B4-BE49-F238E27FC236}">
                <a16:creationId xmlns:a16="http://schemas.microsoft.com/office/drawing/2014/main" id="{7BB69189-5DCE-DA49-AC23-61546472E845}"/>
              </a:ext>
            </a:extLst>
          </p:cNvPr>
          <p:cNvGrpSpPr/>
          <p:nvPr/>
        </p:nvGrpSpPr>
        <p:grpSpPr>
          <a:xfrm>
            <a:off x="3362779" y="1347209"/>
            <a:ext cx="7873070" cy="5315801"/>
            <a:chOff x="660400" y="1269999"/>
            <a:chExt cx="7873070" cy="5315801"/>
          </a:xfrm>
        </p:grpSpPr>
        <p:sp>
          <p:nvSpPr>
            <p:cNvPr id="260122" name="Line 42"/>
            <p:cNvSpPr>
              <a:spLocks noChangeShapeType="1"/>
            </p:cNvSpPr>
            <p:nvPr/>
          </p:nvSpPr>
          <p:spPr bwMode="auto">
            <a:xfrm>
              <a:off x="4897850" y="6376520"/>
              <a:ext cx="0" cy="127093"/>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8" name="Group 7">
              <a:extLst>
                <a:ext uri="{FF2B5EF4-FFF2-40B4-BE49-F238E27FC236}">
                  <a16:creationId xmlns:a16="http://schemas.microsoft.com/office/drawing/2014/main" id="{23453A58-790B-0C4A-8740-759786BB5819}"/>
                </a:ext>
              </a:extLst>
            </p:cNvPr>
            <p:cNvGrpSpPr/>
            <p:nvPr/>
          </p:nvGrpSpPr>
          <p:grpSpPr>
            <a:xfrm>
              <a:off x="660400" y="1269999"/>
              <a:ext cx="7873070" cy="5315801"/>
              <a:chOff x="660400" y="1269999"/>
              <a:chExt cx="7873070" cy="5315801"/>
            </a:xfrm>
          </p:grpSpPr>
          <p:grpSp>
            <p:nvGrpSpPr>
              <p:cNvPr id="260114" name="Group 20"/>
              <p:cNvGrpSpPr>
                <a:grpSpLocks/>
              </p:cNvGrpSpPr>
              <p:nvPr/>
            </p:nvGrpSpPr>
            <p:grpSpPr bwMode="auto">
              <a:xfrm>
                <a:off x="1692965" y="4504889"/>
                <a:ext cx="1033922" cy="290032"/>
                <a:chOff x="0" y="0"/>
                <a:chExt cx="761" cy="267"/>
              </a:xfrm>
            </p:grpSpPr>
            <p:sp>
              <p:nvSpPr>
                <p:cNvPr id="260142" name="Line 18"/>
                <p:cNvSpPr>
                  <a:spLocks noChangeShapeType="1"/>
                </p:cNvSpPr>
                <p:nvPr/>
              </p:nvSpPr>
              <p:spPr bwMode="auto">
                <a:xfrm rot="10800000" flipH="1">
                  <a:off x="0" y="0"/>
                  <a:ext cx="406" cy="267"/>
                </a:xfrm>
                <a:prstGeom prst="line">
                  <a:avLst/>
                </a:prstGeom>
                <a:noFill/>
                <a:ln w="38100">
                  <a:solidFill>
                    <a:schemeClr val="tx2"/>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60143" name="Line 19"/>
                <p:cNvSpPr>
                  <a:spLocks noChangeShapeType="1"/>
                </p:cNvSpPr>
                <p:nvPr/>
              </p:nvSpPr>
              <p:spPr bwMode="auto">
                <a:xfrm rot="10800000">
                  <a:off x="390" y="4"/>
                  <a:ext cx="371" cy="263"/>
                </a:xfrm>
                <a:prstGeom prst="line">
                  <a:avLst/>
                </a:prstGeom>
                <a:noFill/>
                <a:ln w="38100">
                  <a:solidFill>
                    <a:schemeClr val="accent3"/>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260115" name="Group 23"/>
              <p:cNvGrpSpPr>
                <a:grpSpLocks/>
              </p:cNvGrpSpPr>
              <p:nvPr/>
            </p:nvGrpSpPr>
            <p:grpSpPr bwMode="auto">
              <a:xfrm>
                <a:off x="1186859" y="4800353"/>
                <a:ext cx="879240" cy="564857"/>
                <a:chOff x="0" y="0"/>
                <a:chExt cx="648" cy="520"/>
              </a:xfrm>
            </p:grpSpPr>
            <p:sp>
              <p:nvSpPr>
                <p:cNvPr id="260140" name="Rectangle 21"/>
                <p:cNvSpPr>
                  <a:spLocks/>
                </p:cNvSpPr>
                <p:nvPr/>
              </p:nvSpPr>
              <p:spPr bwMode="auto">
                <a:xfrm>
                  <a:off x="0" y="0"/>
                  <a:ext cx="648" cy="520"/>
                </a:xfrm>
                <a:prstGeom prst="rect">
                  <a:avLst/>
                </a:prstGeom>
                <a:gradFill rotWithShape="0">
                  <a:gsLst>
                    <a:gs pos="0">
                      <a:srgbClr val="FFFFFF"/>
                    </a:gs>
                    <a:gs pos="100000">
                      <a:schemeClr val="accent1"/>
                    </a:gs>
                  </a:gsLst>
                  <a:lin ang="5400000" scaled="1"/>
                </a:gradFill>
                <a:ln w="25400">
                  <a:solidFill>
                    <a:srgbClr val="602280"/>
                  </a:solidFill>
                  <a:miter lim="800000"/>
                  <a:headEnd/>
                  <a:tailEnd/>
                </a:ln>
              </p:spPr>
              <p:txBody>
                <a:bodyPr lIns="0" tIns="0" rIns="0" bIns="0"/>
                <a:lstStyle/>
                <a:p>
                  <a:endParaRPr lang="en-US"/>
                </a:p>
              </p:txBody>
            </p:sp>
            <p:sp>
              <p:nvSpPr>
                <p:cNvPr id="260141" name="Rectangle 22"/>
                <p:cNvSpPr>
                  <a:spLocks/>
                </p:cNvSpPr>
                <p:nvPr/>
              </p:nvSpPr>
              <p:spPr bwMode="auto">
                <a:xfrm>
                  <a:off x="4" y="44"/>
                  <a:ext cx="629" cy="4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1500" b="1" dirty="0">
                      <a:solidFill>
                        <a:srgbClr val="000000"/>
                      </a:solidFill>
                      <a:ea typeface="ＭＳ Ｐゴシック" charset="0"/>
                      <a:cs typeface="ＭＳ Ｐゴシック" charset="0"/>
                    </a:rPr>
                    <a:t>Return</a:t>
                  </a:r>
                </a:p>
                <a:p>
                  <a:pPr algn="ctr"/>
                  <a:r>
                    <a:rPr lang="en-US" sz="1500" b="1" dirty="0">
                      <a:solidFill>
                        <a:srgbClr val="000000"/>
                      </a:solidFill>
                      <a:ea typeface="ＭＳ Ｐゴシック" charset="0"/>
                      <a:cs typeface="ＭＳ Ｐゴシック" charset="0"/>
                    </a:rPr>
                    <a:t>SAT</a:t>
                  </a:r>
                </a:p>
              </p:txBody>
            </p:sp>
          </p:grpSp>
          <p:grpSp>
            <p:nvGrpSpPr>
              <p:cNvPr id="260128" name="Group 37"/>
              <p:cNvGrpSpPr>
                <a:grpSpLocks/>
              </p:cNvGrpSpPr>
              <p:nvPr/>
            </p:nvGrpSpPr>
            <p:grpSpPr bwMode="auto">
              <a:xfrm>
                <a:off x="3249275" y="5808404"/>
                <a:ext cx="922660" cy="564857"/>
                <a:chOff x="0" y="0"/>
                <a:chExt cx="680" cy="520"/>
              </a:xfrm>
            </p:grpSpPr>
            <p:sp>
              <p:nvSpPr>
                <p:cNvPr id="260132" name="Rectangle 35"/>
                <p:cNvSpPr>
                  <a:spLocks/>
                </p:cNvSpPr>
                <p:nvPr/>
              </p:nvSpPr>
              <p:spPr bwMode="auto">
                <a:xfrm>
                  <a:off x="0" y="0"/>
                  <a:ext cx="680" cy="520"/>
                </a:xfrm>
                <a:prstGeom prst="rect">
                  <a:avLst/>
                </a:prstGeom>
                <a:gradFill rotWithShape="0">
                  <a:gsLst>
                    <a:gs pos="0">
                      <a:srgbClr val="FFFFFF"/>
                    </a:gs>
                    <a:gs pos="100000">
                      <a:schemeClr val="accent1"/>
                    </a:gs>
                  </a:gsLst>
                  <a:lin ang="5400000" scaled="1"/>
                </a:gradFill>
                <a:ln w="25400">
                  <a:solidFill>
                    <a:srgbClr val="602280"/>
                  </a:solidFill>
                  <a:miter lim="800000"/>
                  <a:headEnd/>
                  <a:tailEnd/>
                </a:ln>
              </p:spPr>
              <p:txBody>
                <a:bodyPr lIns="0" tIns="0" rIns="0" bIns="0"/>
                <a:lstStyle/>
                <a:p>
                  <a:endParaRPr lang="en-US"/>
                </a:p>
              </p:txBody>
            </p:sp>
            <p:sp>
              <p:nvSpPr>
                <p:cNvPr id="260133" name="Rectangle 36"/>
                <p:cNvSpPr>
                  <a:spLocks/>
                </p:cNvSpPr>
                <p:nvPr/>
              </p:nvSpPr>
              <p:spPr bwMode="auto">
                <a:xfrm>
                  <a:off x="4" y="44"/>
                  <a:ext cx="661" cy="4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1500" b="1" dirty="0">
                      <a:solidFill>
                        <a:srgbClr val="000000"/>
                      </a:solidFill>
                      <a:ea typeface="ＭＳ Ｐゴシック" charset="0"/>
                      <a:cs typeface="ＭＳ Ｐゴシック" charset="0"/>
                    </a:rPr>
                    <a:t>Return</a:t>
                  </a:r>
                </a:p>
                <a:p>
                  <a:pPr algn="ctr"/>
                  <a:r>
                    <a:rPr lang="en-US" sz="1500" b="1" dirty="0">
                      <a:solidFill>
                        <a:srgbClr val="000000"/>
                      </a:solidFill>
                      <a:ea typeface="ＭＳ Ｐゴシック" charset="0"/>
                      <a:cs typeface="ＭＳ Ｐゴシック" charset="0"/>
                    </a:rPr>
                    <a:t>UNSAT</a:t>
                  </a:r>
                </a:p>
              </p:txBody>
            </p:sp>
          </p:grpSp>
          <p:grpSp>
            <p:nvGrpSpPr>
              <p:cNvPr id="7" name="Group 6">
                <a:extLst>
                  <a:ext uri="{FF2B5EF4-FFF2-40B4-BE49-F238E27FC236}">
                    <a16:creationId xmlns:a16="http://schemas.microsoft.com/office/drawing/2014/main" id="{FA332F99-09B2-414B-AE09-915FD2A977EF}"/>
                  </a:ext>
                </a:extLst>
              </p:cNvPr>
              <p:cNvGrpSpPr/>
              <p:nvPr/>
            </p:nvGrpSpPr>
            <p:grpSpPr>
              <a:xfrm>
                <a:off x="660400" y="1269999"/>
                <a:ext cx="7873070" cy="5315801"/>
                <a:chOff x="660400" y="1269999"/>
                <a:chExt cx="7873070" cy="5315801"/>
              </a:xfrm>
            </p:grpSpPr>
            <p:sp>
              <p:nvSpPr>
                <p:cNvPr id="260106" name="Line 2"/>
                <p:cNvSpPr>
                  <a:spLocks noChangeShapeType="1"/>
                </p:cNvSpPr>
                <p:nvPr/>
              </p:nvSpPr>
              <p:spPr bwMode="auto">
                <a:xfrm rot="10800000" flipH="1">
                  <a:off x="2739098" y="1388402"/>
                  <a:ext cx="4071" cy="344345"/>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6" name="Group 5"/>
                <p:cNvGrpSpPr/>
                <p:nvPr/>
              </p:nvGrpSpPr>
              <p:grpSpPr>
                <a:xfrm>
                  <a:off x="2730957" y="2014089"/>
                  <a:ext cx="2869743" cy="4504731"/>
                  <a:chOff x="2730957" y="2014089"/>
                  <a:chExt cx="2869743" cy="4504731"/>
                </a:xfrm>
              </p:grpSpPr>
              <p:sp>
                <p:nvSpPr>
                  <p:cNvPr id="260112" name="Line 14"/>
                  <p:cNvSpPr>
                    <a:spLocks noChangeShapeType="1"/>
                  </p:cNvSpPr>
                  <p:nvPr/>
                </p:nvSpPr>
                <p:spPr bwMode="auto">
                  <a:xfrm rot="10800000">
                    <a:off x="2730957" y="3349106"/>
                    <a:ext cx="533243" cy="298722"/>
                  </a:xfrm>
                  <a:prstGeom prst="line">
                    <a:avLst/>
                  </a:prstGeom>
                  <a:noFill/>
                  <a:ln w="38100">
                    <a:solidFill>
                      <a:schemeClr val="accent3"/>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260113" name="Group 17"/>
                  <p:cNvGrpSpPr>
                    <a:grpSpLocks/>
                  </p:cNvGrpSpPr>
                  <p:nvPr/>
                </p:nvGrpSpPr>
                <p:grpSpPr bwMode="auto">
                  <a:xfrm>
                    <a:off x="2988759" y="3635879"/>
                    <a:ext cx="998643" cy="877700"/>
                    <a:chOff x="0" y="0"/>
                    <a:chExt cx="736" cy="808"/>
                  </a:xfrm>
                </p:grpSpPr>
                <p:sp>
                  <p:nvSpPr>
                    <p:cNvPr id="260144" name="Rectangle 15"/>
                    <p:cNvSpPr>
                      <a:spLocks/>
                    </p:cNvSpPr>
                    <p:nvPr/>
                  </p:nvSpPr>
                  <p:spPr bwMode="auto">
                    <a:xfrm>
                      <a:off x="0" y="0"/>
                      <a:ext cx="736" cy="808"/>
                    </a:xfrm>
                    <a:prstGeom prst="rect">
                      <a:avLst/>
                    </a:prstGeom>
                    <a:gradFill rotWithShape="0">
                      <a:gsLst>
                        <a:gs pos="0">
                          <a:srgbClr val="FFFFFF"/>
                        </a:gs>
                        <a:gs pos="100000">
                          <a:schemeClr val="accent1"/>
                        </a:gs>
                      </a:gsLst>
                      <a:lin ang="5400000" scaled="1"/>
                    </a:gradFill>
                    <a:ln w="25400">
                      <a:solidFill>
                        <a:srgbClr val="602280"/>
                      </a:solidFill>
                      <a:miter lim="800000"/>
                      <a:headEnd/>
                      <a:tailEnd/>
                    </a:ln>
                  </p:spPr>
                  <p:txBody>
                    <a:bodyPr lIns="0" tIns="0" rIns="0" bIns="0"/>
                    <a:lstStyle/>
                    <a:p>
                      <a:endParaRPr lang="en-US"/>
                    </a:p>
                  </p:txBody>
                </p:sp>
                <p:sp>
                  <p:nvSpPr>
                    <p:cNvPr id="260145" name="Rectangle 16"/>
                    <p:cNvSpPr>
                      <a:spLocks/>
                    </p:cNvSpPr>
                    <p:nvPr/>
                  </p:nvSpPr>
                  <p:spPr bwMode="auto">
                    <a:xfrm>
                      <a:off x="5" y="68"/>
                      <a:ext cx="714" cy="67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1500" b="1" dirty="0">
                          <a:solidFill>
                            <a:srgbClr val="000000"/>
                          </a:solidFill>
                          <a:ea typeface="ＭＳ Ｐゴシック" charset="0"/>
                          <a:cs typeface="ＭＳ Ｐゴシック" charset="0"/>
                        </a:rPr>
                        <a:t>Conflict</a:t>
                      </a:r>
                    </a:p>
                    <a:p>
                      <a:pPr algn="ctr"/>
                      <a:r>
                        <a:rPr lang="en-US" sz="1500" b="1" dirty="0">
                          <a:solidFill>
                            <a:srgbClr val="000000"/>
                          </a:solidFill>
                          <a:ea typeface="ＭＳ Ｐゴシック" charset="0"/>
                          <a:cs typeface="ＭＳ Ｐゴシック" charset="0"/>
                        </a:rPr>
                        <a:t>Analysis()</a:t>
                      </a:r>
                    </a:p>
                  </p:txBody>
                </p:sp>
              </p:grpSp>
              <p:grpSp>
                <p:nvGrpSpPr>
                  <p:cNvPr id="260117" name="Group 29"/>
                  <p:cNvGrpSpPr>
                    <a:grpSpLocks/>
                  </p:cNvGrpSpPr>
                  <p:nvPr/>
                </p:nvGrpSpPr>
                <p:grpSpPr bwMode="auto">
                  <a:xfrm>
                    <a:off x="3672613" y="4652621"/>
                    <a:ext cx="1085482" cy="869010"/>
                    <a:chOff x="0" y="0"/>
                    <a:chExt cx="799" cy="800"/>
                  </a:xfrm>
                </p:grpSpPr>
                <p:sp>
                  <p:nvSpPr>
                    <p:cNvPr id="260136" name="AutoShape 27"/>
                    <p:cNvSpPr>
                      <a:spLocks/>
                    </p:cNvSpPr>
                    <p:nvPr/>
                  </p:nvSpPr>
                  <p:spPr bwMode="auto">
                    <a:xfrm>
                      <a:off x="0" y="0"/>
                      <a:ext cx="799" cy="800"/>
                    </a:xfrm>
                    <a:prstGeom prst="diamond">
                      <a:avLst/>
                    </a:prstGeom>
                    <a:gradFill rotWithShape="0">
                      <a:gsLst>
                        <a:gs pos="0">
                          <a:srgbClr val="FFFFFF"/>
                        </a:gs>
                        <a:gs pos="100000">
                          <a:schemeClr val="accent1"/>
                        </a:gs>
                      </a:gsLst>
                      <a:lin ang="0" scaled="1"/>
                    </a:gradFill>
                    <a:ln w="25400">
                      <a:solidFill>
                        <a:srgbClr val="602280"/>
                      </a:solidFill>
                      <a:miter lim="800000"/>
                      <a:headEnd/>
                      <a:tailEnd/>
                    </a:ln>
                  </p:spPr>
                  <p:txBody>
                    <a:bodyPr lIns="0" tIns="0" rIns="0" bIns="0"/>
                    <a:lstStyle/>
                    <a:p>
                      <a:endParaRPr lang="en-US"/>
                    </a:p>
                  </p:txBody>
                </p:sp>
                <p:sp>
                  <p:nvSpPr>
                    <p:cNvPr id="260137" name="Rectangle 28"/>
                    <p:cNvSpPr>
                      <a:spLocks/>
                    </p:cNvSpPr>
                    <p:nvPr/>
                  </p:nvSpPr>
                  <p:spPr bwMode="auto">
                    <a:xfrm>
                      <a:off x="77" y="196"/>
                      <a:ext cx="634"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1500" dirty="0">
                          <a:ea typeface="ＭＳ Ｐゴシック" charset="0"/>
                          <a:cs typeface="ＭＳ Ｐゴシック" charset="0"/>
                        </a:rPr>
                        <a:t>Top-level</a:t>
                      </a:r>
                    </a:p>
                    <a:p>
                      <a:pPr algn="ctr"/>
                      <a:r>
                        <a:rPr lang="en-US" sz="1500" dirty="0">
                          <a:ea typeface="ＭＳ Ｐゴシック" charset="0"/>
                          <a:cs typeface="ＭＳ Ｐゴシック" charset="0"/>
                        </a:rPr>
                        <a:t>Conflict?</a:t>
                      </a:r>
                    </a:p>
                  </p:txBody>
                </p:sp>
              </p:grpSp>
              <p:sp>
                <p:nvSpPr>
                  <p:cNvPr id="260118" name="Line 30"/>
                  <p:cNvSpPr>
                    <a:spLocks noChangeShapeType="1"/>
                  </p:cNvSpPr>
                  <p:nvPr/>
                </p:nvSpPr>
                <p:spPr bwMode="auto">
                  <a:xfrm rot="10800000">
                    <a:off x="3498936" y="4641758"/>
                    <a:ext cx="727273" cy="2173"/>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60119" name="Line 31"/>
                  <p:cNvSpPr>
                    <a:spLocks noChangeShapeType="1"/>
                  </p:cNvSpPr>
                  <p:nvPr/>
                </p:nvSpPr>
                <p:spPr bwMode="auto">
                  <a:xfrm>
                    <a:off x="3516575" y="4516838"/>
                    <a:ext cx="0" cy="131438"/>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260120" name="Group 34"/>
                  <p:cNvGrpSpPr>
                    <a:grpSpLocks/>
                  </p:cNvGrpSpPr>
                  <p:nvPr/>
                </p:nvGrpSpPr>
                <p:grpSpPr bwMode="auto">
                  <a:xfrm>
                    <a:off x="3690252" y="5507509"/>
                    <a:ext cx="1077341" cy="295463"/>
                    <a:chOff x="0" y="0"/>
                    <a:chExt cx="793" cy="271"/>
                  </a:xfrm>
                </p:grpSpPr>
                <p:sp>
                  <p:nvSpPr>
                    <p:cNvPr id="260134" name="Line 32"/>
                    <p:cNvSpPr>
                      <a:spLocks noChangeShapeType="1"/>
                    </p:cNvSpPr>
                    <p:nvPr/>
                  </p:nvSpPr>
                  <p:spPr bwMode="auto">
                    <a:xfrm rot="10800000" flipH="1">
                      <a:off x="0" y="0"/>
                      <a:ext cx="409" cy="271"/>
                    </a:xfrm>
                    <a:prstGeom prst="line">
                      <a:avLst/>
                    </a:prstGeom>
                    <a:noFill/>
                    <a:ln w="38100">
                      <a:solidFill>
                        <a:schemeClr val="tx2"/>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60135" name="Line 33"/>
                    <p:cNvSpPr>
                      <a:spLocks noChangeShapeType="1"/>
                    </p:cNvSpPr>
                    <p:nvPr/>
                  </p:nvSpPr>
                  <p:spPr bwMode="auto">
                    <a:xfrm rot="10800000">
                      <a:off x="393" y="4"/>
                      <a:ext cx="400" cy="261"/>
                    </a:xfrm>
                    <a:prstGeom prst="line">
                      <a:avLst/>
                    </a:prstGeom>
                    <a:noFill/>
                    <a:ln w="38100">
                      <a:solidFill>
                        <a:schemeClr val="accent3"/>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nvGrpSpPr>
                  <p:cNvPr id="260129" name="Group 40"/>
                  <p:cNvGrpSpPr>
                    <a:grpSpLocks/>
                  </p:cNvGrpSpPr>
                  <p:nvPr/>
                </p:nvGrpSpPr>
                <p:grpSpPr bwMode="auto">
                  <a:xfrm>
                    <a:off x="4345612" y="5808404"/>
                    <a:ext cx="1085482" cy="564857"/>
                    <a:chOff x="0" y="0"/>
                    <a:chExt cx="800" cy="520"/>
                  </a:xfrm>
                </p:grpSpPr>
                <p:sp>
                  <p:nvSpPr>
                    <p:cNvPr id="260130" name="Rectangle 38"/>
                    <p:cNvSpPr>
                      <a:spLocks/>
                    </p:cNvSpPr>
                    <p:nvPr/>
                  </p:nvSpPr>
                  <p:spPr bwMode="auto">
                    <a:xfrm>
                      <a:off x="41" y="0"/>
                      <a:ext cx="721" cy="520"/>
                    </a:xfrm>
                    <a:prstGeom prst="rect">
                      <a:avLst/>
                    </a:prstGeom>
                    <a:gradFill rotWithShape="0">
                      <a:gsLst>
                        <a:gs pos="0">
                          <a:srgbClr val="FFFFFF"/>
                        </a:gs>
                        <a:gs pos="100000">
                          <a:schemeClr val="accent1"/>
                        </a:gs>
                      </a:gsLst>
                      <a:lin ang="5400000" scaled="1"/>
                    </a:gradFill>
                    <a:ln w="25400">
                      <a:solidFill>
                        <a:srgbClr val="602280"/>
                      </a:solidFill>
                      <a:miter lim="800000"/>
                      <a:headEnd/>
                      <a:tailEnd/>
                    </a:ln>
                  </p:spPr>
                  <p:txBody>
                    <a:bodyPr lIns="0" tIns="0" rIns="0" bIns="0"/>
                    <a:lstStyle/>
                    <a:p>
                      <a:endParaRPr lang="en-US"/>
                    </a:p>
                  </p:txBody>
                </p:sp>
                <p:sp>
                  <p:nvSpPr>
                    <p:cNvPr id="260131" name="Rectangle 39"/>
                    <p:cNvSpPr>
                      <a:spLocks/>
                    </p:cNvSpPr>
                    <p:nvPr/>
                  </p:nvSpPr>
                  <p:spPr bwMode="auto">
                    <a:xfrm>
                      <a:off x="0" y="44"/>
                      <a:ext cx="800" cy="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1500" dirty="0">
                          <a:ea typeface="ＭＳ Ｐゴシック" charset="0"/>
                          <a:cs typeface="ＭＳ Ｐゴシック" charset="0"/>
                        </a:rPr>
                        <a:t>Backjump()</a:t>
                      </a:r>
                    </a:p>
                  </p:txBody>
                </p:sp>
              </p:grpSp>
              <p:sp>
                <p:nvSpPr>
                  <p:cNvPr id="260123" name="Line 43"/>
                  <p:cNvSpPr>
                    <a:spLocks noChangeShapeType="1"/>
                  </p:cNvSpPr>
                  <p:nvPr/>
                </p:nvSpPr>
                <p:spPr bwMode="auto">
                  <a:xfrm>
                    <a:off x="4880211" y="6518820"/>
                    <a:ext cx="720489"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60124" name="Line 44"/>
                  <p:cNvSpPr>
                    <a:spLocks noChangeShapeType="1"/>
                  </p:cNvSpPr>
                  <p:nvPr/>
                </p:nvSpPr>
                <p:spPr bwMode="auto">
                  <a:xfrm>
                    <a:off x="5549140" y="2014089"/>
                    <a:ext cx="33921" cy="4497127"/>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60125" name="Line 45"/>
                  <p:cNvSpPr>
                    <a:spLocks noChangeShapeType="1"/>
                  </p:cNvSpPr>
                  <p:nvPr/>
                </p:nvSpPr>
                <p:spPr bwMode="auto">
                  <a:xfrm rot="10800000" flipH="1">
                    <a:off x="3644119" y="2020606"/>
                    <a:ext cx="1895523" cy="5431"/>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sp>
              <p:nvSpPr>
                <p:cNvPr id="260126" name="Rectangle 46"/>
                <p:cNvSpPr>
                  <a:spLocks/>
                </p:cNvSpPr>
                <p:nvPr/>
              </p:nvSpPr>
              <p:spPr bwMode="auto">
                <a:xfrm>
                  <a:off x="691608" y="1269999"/>
                  <a:ext cx="1738128" cy="240064"/>
                </a:xfrm>
                <a:prstGeom prst="rect">
                  <a:avLst/>
                </a:prstGeom>
                <a:gradFill rotWithShape="0">
                  <a:gsLst>
                    <a:gs pos="0">
                      <a:srgbClr val="FFFFFF"/>
                    </a:gs>
                    <a:gs pos="100000">
                      <a:schemeClr val="tx2"/>
                    </a:gs>
                  </a:gsLst>
                  <a:lin ang="0" scaled="1"/>
                </a:gradFill>
                <a:ln w="25400">
                  <a:solidFill>
                    <a:schemeClr val="tx1"/>
                  </a:solidFill>
                  <a:miter lim="800000"/>
                  <a:headEnd/>
                  <a:tailEnd/>
                </a:ln>
              </p:spPr>
              <p:txBody>
                <a:bodyPr wrap="square" lIns="0" tIns="0" rIns="0" bIns="0" anchor="ctr">
                  <a:spAutoFit/>
                </a:bodyPr>
                <a:lstStyle/>
                <a:p>
                  <a:pPr algn="ctr"/>
                  <a:r>
                    <a:rPr lang="en-US" sz="1600" dirty="0">
                      <a:ea typeface="ＭＳ Ｐゴシック" charset="0"/>
                      <a:cs typeface="ＭＳ Ｐゴシック" charset="0"/>
                    </a:rPr>
                    <a:t>Input SAT Instance</a:t>
                  </a:r>
                </a:p>
              </p:txBody>
            </p:sp>
            <p:sp>
              <p:nvSpPr>
                <p:cNvPr id="260127" name="Line 47"/>
                <p:cNvSpPr>
                  <a:spLocks noChangeShapeType="1"/>
                </p:cNvSpPr>
                <p:nvPr/>
              </p:nvSpPr>
              <p:spPr bwMode="auto">
                <a:xfrm rot="10800000" flipH="1">
                  <a:off x="2437877" y="1394919"/>
                  <a:ext cx="325645" cy="0"/>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4" name="Group 3"/>
                <p:cNvGrpSpPr/>
                <p:nvPr/>
              </p:nvGrpSpPr>
              <p:grpSpPr>
                <a:xfrm>
                  <a:off x="660400" y="1741437"/>
                  <a:ext cx="2979648" cy="4101727"/>
                  <a:chOff x="660400" y="1741437"/>
                  <a:chExt cx="2979648" cy="4101727"/>
                </a:xfrm>
              </p:grpSpPr>
              <p:sp>
                <p:nvSpPr>
                  <p:cNvPr id="260108" name="Line 6"/>
                  <p:cNvSpPr>
                    <a:spLocks noChangeShapeType="1"/>
                  </p:cNvSpPr>
                  <p:nvPr/>
                </p:nvSpPr>
                <p:spPr bwMode="auto">
                  <a:xfrm rot="10800000" flipH="1">
                    <a:off x="2735028" y="2312811"/>
                    <a:ext cx="0" cy="167284"/>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3" name="Group 2"/>
                  <p:cNvGrpSpPr/>
                  <p:nvPr/>
                </p:nvGrpSpPr>
                <p:grpSpPr>
                  <a:xfrm>
                    <a:off x="660400" y="1741437"/>
                    <a:ext cx="2979648" cy="4101727"/>
                    <a:chOff x="660400" y="1741437"/>
                    <a:chExt cx="2979648" cy="4101727"/>
                  </a:xfrm>
                </p:grpSpPr>
                <p:grpSp>
                  <p:nvGrpSpPr>
                    <p:cNvPr id="260107" name="Group 5"/>
                    <p:cNvGrpSpPr>
                      <a:grpSpLocks/>
                    </p:cNvGrpSpPr>
                    <p:nvPr/>
                  </p:nvGrpSpPr>
                  <p:grpSpPr bwMode="auto">
                    <a:xfrm>
                      <a:off x="1838148" y="1741437"/>
                      <a:ext cx="1801900" cy="564857"/>
                      <a:chOff x="0" y="0"/>
                      <a:chExt cx="1328" cy="520"/>
                    </a:xfrm>
                  </p:grpSpPr>
                  <p:sp>
                    <p:nvSpPr>
                      <p:cNvPr id="260150" name="Rectangle 3"/>
                      <p:cNvSpPr>
                        <a:spLocks/>
                      </p:cNvSpPr>
                      <p:nvPr/>
                    </p:nvSpPr>
                    <p:spPr bwMode="auto">
                      <a:xfrm>
                        <a:off x="0" y="0"/>
                        <a:ext cx="1328" cy="520"/>
                      </a:xfrm>
                      <a:prstGeom prst="rect">
                        <a:avLst/>
                      </a:prstGeom>
                      <a:gradFill rotWithShape="0">
                        <a:gsLst>
                          <a:gs pos="0">
                            <a:srgbClr val="FFFFFF"/>
                          </a:gs>
                          <a:gs pos="100000">
                            <a:schemeClr val="accent1"/>
                          </a:gs>
                        </a:gsLst>
                        <a:lin ang="5400000" scaled="1"/>
                      </a:gradFill>
                      <a:ln w="25400">
                        <a:solidFill>
                          <a:srgbClr val="602280"/>
                        </a:solidFill>
                        <a:miter lim="800000"/>
                        <a:headEnd/>
                        <a:tailEnd/>
                      </a:ln>
                    </p:spPr>
                    <p:txBody>
                      <a:bodyPr lIns="0" tIns="0" rIns="0" bIns="0"/>
                      <a:lstStyle/>
                      <a:p>
                        <a:endParaRPr lang="en-US"/>
                      </a:p>
                    </p:txBody>
                  </p:sp>
                  <p:sp>
                    <p:nvSpPr>
                      <p:cNvPr id="260151" name="Rectangle 4"/>
                      <p:cNvSpPr>
                        <a:spLocks/>
                      </p:cNvSpPr>
                      <p:nvPr/>
                    </p:nvSpPr>
                    <p:spPr bwMode="auto">
                      <a:xfrm>
                        <a:off x="9" y="60"/>
                        <a:ext cx="1288" cy="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1500" dirty="0">
                            <a:ea typeface="ＭＳ Ｐゴシック" charset="0"/>
                            <a:cs typeface="ＭＳ Ｐゴシック" charset="0"/>
                          </a:rPr>
                          <a:t>Propagate()</a:t>
                        </a:r>
                      </a:p>
                      <a:p>
                        <a:pPr algn="ctr"/>
                        <a:r>
                          <a:rPr lang="en-US" sz="1500" dirty="0">
                            <a:ea typeface="ＭＳ Ｐゴシック" charset="0"/>
                            <a:cs typeface="ＭＳ Ｐゴシック" charset="0"/>
                          </a:rPr>
                          <a:t>(BCP)</a:t>
                        </a:r>
                      </a:p>
                    </p:txBody>
                  </p:sp>
                </p:grpSp>
                <p:grpSp>
                  <p:nvGrpSpPr>
                    <p:cNvPr id="260109" name="Group 9"/>
                    <p:cNvGrpSpPr>
                      <a:grpSpLocks/>
                    </p:cNvGrpSpPr>
                    <p:nvPr/>
                  </p:nvGrpSpPr>
                  <p:grpSpPr bwMode="auto">
                    <a:xfrm>
                      <a:off x="2185502" y="2480096"/>
                      <a:ext cx="1085482" cy="869010"/>
                      <a:chOff x="0" y="0"/>
                      <a:chExt cx="800" cy="800"/>
                    </a:xfrm>
                  </p:grpSpPr>
                  <p:sp>
                    <p:nvSpPr>
                      <p:cNvPr id="260148" name="AutoShape 7"/>
                      <p:cNvSpPr>
                        <a:spLocks/>
                      </p:cNvSpPr>
                      <p:nvPr/>
                    </p:nvSpPr>
                    <p:spPr bwMode="auto">
                      <a:xfrm>
                        <a:off x="0" y="0"/>
                        <a:ext cx="800" cy="800"/>
                      </a:xfrm>
                      <a:prstGeom prst="diamond">
                        <a:avLst/>
                      </a:prstGeom>
                      <a:gradFill rotWithShape="0">
                        <a:gsLst>
                          <a:gs pos="0">
                            <a:srgbClr val="FFFFFF"/>
                          </a:gs>
                          <a:gs pos="100000">
                            <a:schemeClr val="accent1"/>
                          </a:gs>
                        </a:gsLst>
                        <a:lin ang="0" scaled="1"/>
                      </a:gradFill>
                      <a:ln w="25400">
                        <a:solidFill>
                          <a:srgbClr val="602280"/>
                        </a:solidFill>
                        <a:miter lim="800000"/>
                        <a:headEnd/>
                        <a:tailEnd/>
                      </a:ln>
                    </p:spPr>
                    <p:txBody>
                      <a:bodyPr lIns="0" tIns="0" rIns="0" bIns="0"/>
                      <a:lstStyle/>
                      <a:p>
                        <a:endParaRPr lang="en-US"/>
                      </a:p>
                    </p:txBody>
                  </p:sp>
                  <p:sp>
                    <p:nvSpPr>
                      <p:cNvPr id="260149" name="Rectangle 8"/>
                      <p:cNvSpPr>
                        <a:spLocks/>
                      </p:cNvSpPr>
                      <p:nvPr/>
                    </p:nvSpPr>
                    <p:spPr bwMode="auto">
                      <a:xfrm>
                        <a:off x="138" y="286"/>
                        <a:ext cx="495" cy="20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none" lIns="0" tIns="0" rIns="0" bIns="0" anchor="ctr">
                        <a:spAutoFit/>
                      </a:bodyPr>
                      <a:lstStyle/>
                      <a:p>
                        <a:pPr algn="ctr"/>
                        <a:r>
                          <a:rPr lang="en-US" sz="1500" dirty="0">
                            <a:ea typeface="ＭＳ Ｐゴシック" charset="0"/>
                            <a:cs typeface="ＭＳ Ｐゴシック" charset="0"/>
                          </a:rPr>
                          <a:t>Conflict?</a:t>
                        </a:r>
                      </a:p>
                    </p:txBody>
                  </p:sp>
                </p:grpSp>
                <p:sp>
                  <p:nvSpPr>
                    <p:cNvPr id="260110" name="Line 10"/>
                    <p:cNvSpPr>
                      <a:spLocks noChangeShapeType="1"/>
                    </p:cNvSpPr>
                    <p:nvPr/>
                  </p:nvSpPr>
                  <p:spPr bwMode="auto">
                    <a:xfrm rot="10800000" flipH="1">
                      <a:off x="2239777" y="3349106"/>
                      <a:ext cx="481683" cy="284601"/>
                    </a:xfrm>
                    <a:prstGeom prst="line">
                      <a:avLst/>
                    </a:prstGeom>
                    <a:noFill/>
                    <a:ln w="38100">
                      <a:solidFill>
                        <a:schemeClr val="tx2"/>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nvGrpSpPr>
                    <p:cNvPr id="260111" name="Group 13"/>
                    <p:cNvGrpSpPr>
                      <a:grpSpLocks/>
                    </p:cNvGrpSpPr>
                    <p:nvPr/>
                  </p:nvGrpSpPr>
                  <p:grpSpPr bwMode="auto">
                    <a:xfrm>
                      <a:off x="1697036" y="3644569"/>
                      <a:ext cx="1085482" cy="869010"/>
                      <a:chOff x="0" y="0"/>
                      <a:chExt cx="800" cy="800"/>
                    </a:xfrm>
                  </p:grpSpPr>
                  <p:sp>
                    <p:nvSpPr>
                      <p:cNvPr id="260146" name="AutoShape 11"/>
                      <p:cNvSpPr>
                        <a:spLocks/>
                      </p:cNvSpPr>
                      <p:nvPr/>
                    </p:nvSpPr>
                    <p:spPr bwMode="auto">
                      <a:xfrm>
                        <a:off x="0" y="0"/>
                        <a:ext cx="800" cy="800"/>
                      </a:xfrm>
                      <a:prstGeom prst="diamond">
                        <a:avLst/>
                      </a:prstGeom>
                      <a:gradFill rotWithShape="0">
                        <a:gsLst>
                          <a:gs pos="0">
                            <a:srgbClr val="FFFFFF"/>
                          </a:gs>
                          <a:gs pos="100000">
                            <a:schemeClr val="accent1"/>
                          </a:gs>
                        </a:gsLst>
                        <a:lin ang="0" scaled="1"/>
                      </a:gradFill>
                      <a:ln w="25400">
                        <a:solidFill>
                          <a:srgbClr val="602280"/>
                        </a:solidFill>
                        <a:miter lim="800000"/>
                        <a:headEnd/>
                        <a:tailEnd/>
                      </a:ln>
                    </p:spPr>
                    <p:txBody>
                      <a:bodyPr lIns="0" tIns="0" rIns="0" bIns="0"/>
                      <a:lstStyle/>
                      <a:p>
                        <a:endParaRPr lang="en-US"/>
                      </a:p>
                    </p:txBody>
                  </p:sp>
                  <p:sp>
                    <p:nvSpPr>
                      <p:cNvPr id="260147" name="Rectangle 12"/>
                      <p:cNvSpPr>
                        <a:spLocks/>
                      </p:cNvSpPr>
                      <p:nvPr/>
                    </p:nvSpPr>
                    <p:spPr bwMode="auto">
                      <a:xfrm>
                        <a:off x="125" y="147"/>
                        <a:ext cx="583" cy="4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wrap="square" lIns="0" tIns="0" rIns="0" bIns="0" anchor="ctr">
                        <a:spAutoFit/>
                      </a:bodyPr>
                      <a:lstStyle/>
                      <a:p>
                        <a:pPr algn="ctr"/>
                        <a:r>
                          <a:rPr lang="en-US" sz="1500" dirty="0">
                            <a:ea typeface="ＭＳ Ｐゴシック" charset="0"/>
                            <a:cs typeface="ＭＳ Ｐゴシック" charset="0"/>
                          </a:rPr>
                          <a:t>All Vars</a:t>
                        </a:r>
                      </a:p>
                      <a:p>
                        <a:pPr algn="ctr"/>
                        <a:r>
                          <a:rPr lang="en-US" sz="1500" dirty="0">
                            <a:ea typeface="ＭＳ Ｐゴシック" charset="0"/>
                            <a:cs typeface="ＭＳ Ｐゴシック" charset="0"/>
                          </a:rPr>
                          <a:t>Assigned?</a:t>
                        </a:r>
                      </a:p>
                    </p:txBody>
                  </p:sp>
                </p:grpSp>
                <p:grpSp>
                  <p:nvGrpSpPr>
                    <p:cNvPr id="260116" name="Group 26"/>
                    <p:cNvGrpSpPr>
                      <a:grpSpLocks/>
                    </p:cNvGrpSpPr>
                    <p:nvPr/>
                  </p:nvGrpSpPr>
                  <p:grpSpPr bwMode="auto">
                    <a:xfrm>
                      <a:off x="2228922" y="4800353"/>
                      <a:ext cx="879240" cy="564857"/>
                      <a:chOff x="0" y="0"/>
                      <a:chExt cx="648" cy="520"/>
                    </a:xfrm>
                  </p:grpSpPr>
                  <p:sp>
                    <p:nvSpPr>
                      <p:cNvPr id="260138" name="Rectangle 24"/>
                      <p:cNvSpPr>
                        <a:spLocks/>
                      </p:cNvSpPr>
                      <p:nvPr/>
                    </p:nvSpPr>
                    <p:spPr bwMode="auto">
                      <a:xfrm>
                        <a:off x="0" y="0"/>
                        <a:ext cx="648" cy="520"/>
                      </a:xfrm>
                      <a:prstGeom prst="rect">
                        <a:avLst/>
                      </a:prstGeom>
                      <a:gradFill rotWithShape="0">
                        <a:gsLst>
                          <a:gs pos="0">
                            <a:srgbClr val="FFFFFF"/>
                          </a:gs>
                          <a:gs pos="100000">
                            <a:schemeClr val="accent1"/>
                          </a:gs>
                        </a:gsLst>
                        <a:lin ang="5400000" scaled="1"/>
                      </a:gradFill>
                      <a:ln w="25400">
                        <a:solidFill>
                          <a:srgbClr val="602280"/>
                        </a:solidFill>
                        <a:miter lim="800000"/>
                        <a:headEnd/>
                        <a:tailEnd/>
                      </a:ln>
                    </p:spPr>
                    <p:txBody>
                      <a:bodyPr lIns="0" tIns="0" rIns="0" bIns="0"/>
                      <a:lstStyle/>
                      <a:p>
                        <a:endParaRPr lang="en-US"/>
                      </a:p>
                    </p:txBody>
                  </p:sp>
                  <p:sp>
                    <p:nvSpPr>
                      <p:cNvPr id="260139" name="Rectangle 25"/>
                      <p:cNvSpPr>
                        <a:spLocks/>
                      </p:cNvSpPr>
                      <p:nvPr/>
                    </p:nvSpPr>
                    <p:spPr bwMode="auto">
                      <a:xfrm>
                        <a:off x="4" y="44"/>
                        <a:ext cx="629" cy="4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chemeClr val="tx1"/>
                            </a:solidFill>
                            <a:miter lim="800000"/>
                            <a:headEnd/>
                            <a:tailEnd/>
                          </a14:hiddenLine>
                        </a:ext>
                      </a:extLst>
                    </p:spPr>
                    <p:txBody>
                      <a:bodyPr lIns="0" tIns="0" rIns="0" bIns="0" anchor="ctr"/>
                      <a:lstStyle/>
                      <a:p>
                        <a:pPr algn="ctr"/>
                        <a:r>
                          <a:rPr lang="en-US" sz="1500" b="1" dirty="0">
                            <a:solidFill>
                              <a:srgbClr val="000000"/>
                            </a:solidFill>
                            <a:ea typeface="ＭＳ Ｐゴシック" charset="0"/>
                            <a:cs typeface="ＭＳ Ｐゴシック" charset="0"/>
                          </a:rPr>
                          <a:t>Branch()</a:t>
                        </a:r>
                      </a:p>
                    </p:txBody>
                  </p:sp>
                </p:grpSp>
                <p:sp>
                  <p:nvSpPr>
                    <p:cNvPr id="260102" name="Line 49"/>
                    <p:cNvSpPr>
                      <a:spLocks noChangeShapeType="1"/>
                    </p:cNvSpPr>
                    <p:nvPr/>
                  </p:nvSpPr>
                  <p:spPr bwMode="auto">
                    <a:xfrm>
                      <a:off x="2695679" y="5373899"/>
                      <a:ext cx="5427" cy="469265"/>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60103" name="Line 50"/>
                    <p:cNvSpPr>
                      <a:spLocks noChangeShapeType="1"/>
                    </p:cNvSpPr>
                    <p:nvPr/>
                  </p:nvSpPr>
                  <p:spPr bwMode="auto">
                    <a:xfrm>
                      <a:off x="660400" y="5829043"/>
                      <a:ext cx="2046134" cy="5431"/>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60104" name="Line 51"/>
                    <p:cNvSpPr>
                      <a:spLocks noChangeShapeType="1"/>
                    </p:cNvSpPr>
                    <p:nvPr/>
                  </p:nvSpPr>
                  <p:spPr bwMode="auto">
                    <a:xfrm flipH="1">
                      <a:off x="676682" y="2032555"/>
                      <a:ext cx="9498" cy="3793229"/>
                    </a:xfrm>
                    <a:prstGeom prst="line">
                      <a:avLst/>
                    </a:prstGeom>
                    <a:noFill/>
                    <a:ln w="38100">
                      <a:solidFill>
                        <a:schemeClr val="tx1"/>
                      </a:solidFill>
                      <a:miter lim="800000"/>
                      <a:headEnd/>
                      <a:tailEnd/>
                    </a:ln>
                    <a:extLst>
                      <a:ext uri="{909E8E84-426E-40dd-AFC4-6F175D3DCCD1}">
                        <a14:hiddenFill xmlns="" xmlns:a14="http://schemas.microsoft.com/office/drawing/2010/main">
                          <a:noFill/>
                        </a14:hiddenFill>
                      </a:ext>
                    </a:extLst>
                  </p:spPr>
                  <p:txBody>
                    <a:bodyPr lIns="0" tIns="0" rIns="0" bIns="0"/>
                    <a:lstStyle/>
                    <a:p>
                      <a:endParaRPr lang="en-US"/>
                    </a:p>
                  </p:txBody>
                </p:sp>
                <p:sp>
                  <p:nvSpPr>
                    <p:cNvPr id="260105" name="Line 52"/>
                    <p:cNvSpPr>
                      <a:spLocks noChangeShapeType="1"/>
                    </p:cNvSpPr>
                    <p:nvPr/>
                  </p:nvSpPr>
                  <p:spPr bwMode="auto">
                    <a:xfrm rot="10800000">
                      <a:off x="668541" y="2026038"/>
                      <a:ext cx="1172321" cy="0"/>
                    </a:xfrm>
                    <a:prstGeom prst="line">
                      <a:avLst/>
                    </a:prstGeom>
                    <a:noFill/>
                    <a:ln w="38100">
                      <a:solidFill>
                        <a:schemeClr val="tx1"/>
                      </a:solidFill>
                      <a:miter lim="800000"/>
                      <a:headEnd type="stealth" w="med" len="med"/>
                      <a:tailEnd/>
                    </a:ln>
                    <a:extLst>
                      <a:ext uri="{909E8E84-426E-40dd-AFC4-6F175D3DCCD1}">
                        <a14:hiddenFill xmlns="" xmlns:a14="http://schemas.microsoft.com/office/drawing/2010/main">
                          <a:noFill/>
                        </a14:hiddenFill>
                      </a:ext>
                    </a:extLst>
                  </p:spPr>
                  <p:txBody>
                    <a:bodyPr lIns="0" tIns="0" rIns="0" bIns="0"/>
                    <a:lstStyle/>
                    <a:p>
                      <a:endParaRPr lang="en-US"/>
                    </a:p>
                  </p:txBody>
                </p:sp>
              </p:grpSp>
            </p:grpSp>
            <p:sp>
              <p:nvSpPr>
                <p:cNvPr id="5" name="Rectangle 4">
                  <a:extLst>
                    <a:ext uri="{FF2B5EF4-FFF2-40B4-BE49-F238E27FC236}">
                      <a16:creationId xmlns:a16="http://schemas.microsoft.com/office/drawing/2014/main" id="{455EFBE5-53B2-9742-94CE-1F462655CBE3}"/>
                    </a:ext>
                  </a:extLst>
                </p:cNvPr>
                <p:cNvSpPr/>
                <p:nvPr/>
              </p:nvSpPr>
              <p:spPr>
                <a:xfrm>
                  <a:off x="5623423" y="5939469"/>
                  <a:ext cx="2910047" cy="646331"/>
                </a:xfrm>
                <a:prstGeom prst="rect">
                  <a:avLst/>
                </a:prstGeom>
              </p:spPr>
              <p:txBody>
                <a:bodyPr wrap="square">
                  <a:spAutoFit/>
                </a:bodyPr>
                <a:lstStyle/>
                <a:p>
                  <a:r>
                    <a:rPr lang="en-US" dirty="0">
                      <a:latin typeface="Times" charset="0"/>
                      <a:ea typeface="Times" charset="0"/>
                      <a:cs typeface="Times" charset="0"/>
                    </a:rPr>
                    <a:t>GRASP Solver: [MS96]</a:t>
                  </a:r>
                </a:p>
                <a:p>
                  <a:r>
                    <a:rPr lang="en-US" dirty="0" err="1">
                      <a:latin typeface="Times" charset="0"/>
                      <a:ea typeface="Times" charset="0"/>
                      <a:cs typeface="Times" charset="0"/>
                    </a:rPr>
                    <a:t>ZChaff</a:t>
                  </a:r>
                  <a:r>
                    <a:rPr lang="en-US" dirty="0">
                      <a:latin typeface="Times" charset="0"/>
                      <a:ea typeface="Times" charset="0"/>
                      <a:cs typeface="Times" charset="0"/>
                    </a:rPr>
                    <a:t> Solver: [MMZZM01]</a:t>
                  </a:r>
                  <a:endParaRPr lang="en-US" dirty="0"/>
                </a:p>
              </p:txBody>
            </p:sp>
          </p:grpSp>
        </p:grpSp>
      </p:grpSp>
    </p:spTree>
    <p:extLst>
      <p:ext uri="{BB962C8B-B14F-4D97-AF65-F5344CB8AC3E}">
        <p14:creationId xmlns:p14="http://schemas.microsoft.com/office/powerpoint/2010/main" val="2221245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022EA-D923-4DA1-B3DD-F1E67A2E4A01}"/>
              </a:ext>
            </a:extLst>
          </p:cNvPr>
          <p:cNvSpPr>
            <a:spLocks noGrp="1"/>
          </p:cNvSpPr>
          <p:nvPr>
            <p:ph type="title"/>
          </p:nvPr>
        </p:nvSpPr>
        <p:spPr>
          <a:xfrm>
            <a:off x="265651" y="96473"/>
            <a:ext cx="11660697" cy="1188720"/>
          </a:xfrm>
        </p:spPr>
        <p:txBody>
          <a:bodyPr>
            <a:noAutofit/>
          </a:bodyPr>
          <a:lstStyle/>
          <a:p>
            <a:r>
              <a:rPr lang="en-US" sz="4200" u="sng" cap="none" dirty="0">
                <a:solidFill>
                  <a:schemeClr val="tx1"/>
                </a:solidFill>
              </a:rPr>
              <a:t>CDCL with Deductive Feedback Loop</a:t>
            </a:r>
            <a:br>
              <a:rPr lang="en-US" sz="4200" u="sng" cap="none" dirty="0">
                <a:solidFill>
                  <a:schemeClr val="tx1"/>
                </a:solidFill>
              </a:rPr>
            </a:br>
            <a:r>
              <a:rPr lang="en-US" sz="4200" cap="none" dirty="0">
                <a:solidFill>
                  <a:schemeClr val="tx1"/>
                </a:solidFill>
              </a:rPr>
              <a:t>Reinforcement Learning</a:t>
            </a:r>
          </a:p>
        </p:txBody>
      </p:sp>
      <p:sp>
        <p:nvSpPr>
          <p:cNvPr id="3" name="Slide Number Placeholder 2">
            <a:extLst>
              <a:ext uri="{FF2B5EF4-FFF2-40B4-BE49-F238E27FC236}">
                <a16:creationId xmlns:a16="http://schemas.microsoft.com/office/drawing/2014/main" id="{665DFE0A-B3A8-4A16-A4F1-A0703C4FCD91}"/>
              </a:ext>
            </a:extLst>
          </p:cNvPr>
          <p:cNvSpPr>
            <a:spLocks noGrp="1"/>
          </p:cNvSpPr>
          <p:nvPr>
            <p:ph type="sldNum" sz="quarter" idx="12"/>
          </p:nvPr>
        </p:nvSpPr>
        <p:spPr>
          <a:xfrm>
            <a:off x="11826240" y="6492240"/>
            <a:ext cx="365760" cy="365760"/>
          </a:xfrm>
        </p:spPr>
        <p:txBody>
          <a:bodyPr/>
          <a:lstStyle/>
          <a:p>
            <a:fld id="{8A7A6979-0714-4377-B894-6BE4C2D6E202}" type="slidenum">
              <a:rPr lang="en-US" smtClean="0"/>
              <a:t>19</a:t>
            </a:fld>
            <a:endParaRPr lang="en-US" dirty="0"/>
          </a:p>
        </p:txBody>
      </p:sp>
      <p:sp>
        <p:nvSpPr>
          <p:cNvPr id="4" name="Rectangle 3">
            <a:extLst>
              <a:ext uri="{FF2B5EF4-FFF2-40B4-BE49-F238E27FC236}">
                <a16:creationId xmlns:a16="http://schemas.microsoft.com/office/drawing/2014/main" id="{774EF9C1-FFA0-4474-8892-D5AE070F07E4}"/>
              </a:ext>
            </a:extLst>
          </p:cNvPr>
          <p:cNvSpPr/>
          <p:nvPr/>
        </p:nvSpPr>
        <p:spPr>
          <a:xfrm>
            <a:off x="1959572" y="2764933"/>
            <a:ext cx="2650067" cy="2311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C7828450-32C0-4C3A-9351-A03ECBC2A686}"/>
              </a:ext>
            </a:extLst>
          </p:cNvPr>
          <p:cNvSpPr/>
          <p:nvPr/>
        </p:nvSpPr>
        <p:spPr>
          <a:xfrm>
            <a:off x="2303429" y="3548100"/>
            <a:ext cx="1975051" cy="745067"/>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Decision Heuristic</a:t>
            </a:r>
          </a:p>
          <a:p>
            <a:pPr algn="ctr"/>
            <a:r>
              <a:rPr lang="en-US" dirty="0"/>
              <a:t>(ML)</a:t>
            </a:r>
          </a:p>
        </p:txBody>
      </p:sp>
      <p:sp>
        <p:nvSpPr>
          <p:cNvPr id="7" name="Rectangle 6">
            <a:extLst>
              <a:ext uri="{FF2B5EF4-FFF2-40B4-BE49-F238E27FC236}">
                <a16:creationId xmlns:a16="http://schemas.microsoft.com/office/drawing/2014/main" id="{C79F7D76-482D-46C2-95C6-0EA688768931}"/>
              </a:ext>
            </a:extLst>
          </p:cNvPr>
          <p:cNvSpPr/>
          <p:nvPr/>
        </p:nvSpPr>
        <p:spPr>
          <a:xfrm>
            <a:off x="7582361" y="2764933"/>
            <a:ext cx="2650067" cy="2311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F6E7D51-D120-4CE8-B857-61951DDBCD4B}"/>
              </a:ext>
            </a:extLst>
          </p:cNvPr>
          <p:cNvSpPr/>
          <p:nvPr/>
        </p:nvSpPr>
        <p:spPr>
          <a:xfrm>
            <a:off x="7919869" y="3150166"/>
            <a:ext cx="1975050" cy="1540934"/>
          </a:xfrm>
          <a:prstGeom prst="rect">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Clause Learning</a:t>
            </a:r>
          </a:p>
          <a:p>
            <a:pPr algn="ctr"/>
            <a:r>
              <a:rPr lang="en-US" dirty="0"/>
              <a:t>(Proof System)</a:t>
            </a:r>
          </a:p>
        </p:txBody>
      </p:sp>
      <p:cxnSp>
        <p:nvCxnSpPr>
          <p:cNvPr id="16" name="Connector: Curved 15">
            <a:extLst>
              <a:ext uri="{FF2B5EF4-FFF2-40B4-BE49-F238E27FC236}">
                <a16:creationId xmlns:a16="http://schemas.microsoft.com/office/drawing/2014/main" id="{552D1FC8-18D5-448C-A6CB-C2BF90C23D9A}"/>
              </a:ext>
            </a:extLst>
          </p:cNvPr>
          <p:cNvCxnSpPr>
            <a:stCxn id="4" idx="0"/>
            <a:endCxn id="7" idx="0"/>
          </p:cNvCxnSpPr>
          <p:nvPr/>
        </p:nvCxnSpPr>
        <p:spPr>
          <a:xfrm rot="5400000" flipH="1" flipV="1">
            <a:off x="6096000" y="-46461"/>
            <a:ext cx="12700" cy="5622789"/>
          </a:xfrm>
          <a:prstGeom prst="curvedConnector3">
            <a:avLst>
              <a:gd name="adj1" fmla="val 3913740"/>
            </a:avLst>
          </a:prstGeom>
          <a:ln w="762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Curved 19">
            <a:extLst>
              <a:ext uri="{FF2B5EF4-FFF2-40B4-BE49-F238E27FC236}">
                <a16:creationId xmlns:a16="http://schemas.microsoft.com/office/drawing/2014/main" id="{06FE74DD-255D-4F4B-A691-2F1E8E035844}"/>
              </a:ext>
            </a:extLst>
          </p:cNvPr>
          <p:cNvCxnSpPr>
            <a:stCxn id="7" idx="2"/>
            <a:endCxn id="4" idx="2"/>
          </p:cNvCxnSpPr>
          <p:nvPr/>
        </p:nvCxnSpPr>
        <p:spPr>
          <a:xfrm rot="5400000">
            <a:off x="6096001" y="2264939"/>
            <a:ext cx="12700" cy="5622789"/>
          </a:xfrm>
          <a:prstGeom prst="curvedConnector3">
            <a:avLst>
              <a:gd name="adj1" fmla="val 3649543"/>
            </a:avLst>
          </a:prstGeom>
          <a:ln w="762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B4A01F9-7F17-4595-940F-8970055307CC}"/>
              </a:ext>
            </a:extLst>
          </p:cNvPr>
          <p:cNvSpPr txBox="1"/>
          <p:nvPr/>
        </p:nvSpPr>
        <p:spPr>
          <a:xfrm>
            <a:off x="5157636" y="1886124"/>
            <a:ext cx="1889428" cy="369332"/>
          </a:xfrm>
          <a:prstGeom prst="rect">
            <a:avLst/>
          </a:prstGeom>
          <a:noFill/>
        </p:spPr>
        <p:txBody>
          <a:bodyPr wrap="none" rtlCol="0">
            <a:spAutoFit/>
          </a:bodyPr>
          <a:lstStyle/>
          <a:p>
            <a:r>
              <a:rPr lang="en-US" dirty="0"/>
              <a:t>Partial Assignment</a:t>
            </a:r>
          </a:p>
        </p:txBody>
      </p:sp>
      <p:sp>
        <p:nvSpPr>
          <p:cNvPr id="23" name="TextBox 22">
            <a:extLst>
              <a:ext uri="{FF2B5EF4-FFF2-40B4-BE49-F238E27FC236}">
                <a16:creationId xmlns:a16="http://schemas.microsoft.com/office/drawing/2014/main" id="{E45BD49B-804F-41FE-8CEA-25E6B80E8CB5}"/>
              </a:ext>
            </a:extLst>
          </p:cNvPr>
          <p:cNvSpPr txBox="1"/>
          <p:nvPr/>
        </p:nvSpPr>
        <p:spPr>
          <a:xfrm>
            <a:off x="5355252" y="5134103"/>
            <a:ext cx="1481496" cy="369332"/>
          </a:xfrm>
          <a:prstGeom prst="rect">
            <a:avLst/>
          </a:prstGeom>
          <a:noFill/>
        </p:spPr>
        <p:txBody>
          <a:bodyPr wrap="none" rtlCol="0">
            <a:spAutoFit/>
          </a:bodyPr>
          <a:lstStyle/>
          <a:p>
            <a:r>
              <a:rPr lang="en-US" dirty="0"/>
              <a:t>Learnt Clause</a:t>
            </a:r>
          </a:p>
        </p:txBody>
      </p:sp>
      <p:sp>
        <p:nvSpPr>
          <p:cNvPr id="9" name="TextBox 8">
            <a:extLst>
              <a:ext uri="{FF2B5EF4-FFF2-40B4-BE49-F238E27FC236}">
                <a16:creationId xmlns:a16="http://schemas.microsoft.com/office/drawing/2014/main" id="{0BD8EAC5-98C4-8B44-8221-D84A9B379CC8}"/>
              </a:ext>
            </a:extLst>
          </p:cNvPr>
          <p:cNvSpPr txBox="1"/>
          <p:nvPr/>
        </p:nvSpPr>
        <p:spPr>
          <a:xfrm>
            <a:off x="1959572" y="2420028"/>
            <a:ext cx="1158240" cy="338554"/>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solidFill>
              <a:schemeClr val="accent1"/>
            </a:solidFill>
          </a:ln>
        </p:spPr>
        <p:txBody>
          <a:bodyPr wrap="square" rtlCol="0">
            <a:spAutoFit/>
          </a:bodyPr>
          <a:lstStyle/>
          <a:p>
            <a:pPr algn="ctr"/>
            <a:r>
              <a:rPr lang="en-US" sz="1600" dirty="0"/>
              <a:t>Agent</a:t>
            </a:r>
          </a:p>
        </p:txBody>
      </p:sp>
      <p:sp>
        <p:nvSpPr>
          <p:cNvPr id="17" name="TextBox 16">
            <a:extLst>
              <a:ext uri="{FF2B5EF4-FFF2-40B4-BE49-F238E27FC236}">
                <a16:creationId xmlns:a16="http://schemas.microsoft.com/office/drawing/2014/main" id="{829156AC-F062-5748-833C-A5AE0C232839}"/>
              </a:ext>
            </a:extLst>
          </p:cNvPr>
          <p:cNvSpPr txBox="1"/>
          <p:nvPr/>
        </p:nvSpPr>
        <p:spPr>
          <a:xfrm>
            <a:off x="8999222" y="2408630"/>
            <a:ext cx="1233206" cy="338554"/>
          </a:xfrm>
          <a:prstGeom prst="rect">
            <a:avLst/>
          </a:prstGeom>
          <a:gradFill flip="none" rotWithShape="1">
            <a:gsLst>
              <a:gs pos="0">
                <a:schemeClr val="accent2">
                  <a:lumMod val="5000"/>
                  <a:lumOff val="95000"/>
                </a:schemeClr>
              </a:gs>
              <a:gs pos="74000">
                <a:schemeClr val="accent2">
                  <a:lumMod val="45000"/>
                  <a:lumOff val="55000"/>
                </a:schemeClr>
              </a:gs>
              <a:gs pos="83000">
                <a:schemeClr val="accent2">
                  <a:lumMod val="45000"/>
                  <a:lumOff val="55000"/>
                </a:schemeClr>
              </a:gs>
              <a:gs pos="100000">
                <a:schemeClr val="accent2">
                  <a:lumMod val="30000"/>
                  <a:lumOff val="70000"/>
                </a:schemeClr>
              </a:gs>
            </a:gsLst>
            <a:lin ang="5400000" scaled="1"/>
            <a:tileRect/>
          </a:gradFill>
          <a:ln>
            <a:solidFill>
              <a:schemeClr val="accent1"/>
            </a:solidFill>
          </a:ln>
        </p:spPr>
        <p:txBody>
          <a:bodyPr wrap="square" rtlCol="0">
            <a:spAutoFit/>
          </a:bodyPr>
          <a:lstStyle/>
          <a:p>
            <a:pPr algn="ctr"/>
            <a:r>
              <a:rPr lang="en-US" sz="1600" dirty="0"/>
              <a:t>Environment</a:t>
            </a:r>
          </a:p>
        </p:txBody>
      </p:sp>
    </p:spTree>
    <p:extLst>
      <p:ext uri="{BB962C8B-B14F-4D97-AF65-F5344CB8AC3E}">
        <p14:creationId xmlns:p14="http://schemas.microsoft.com/office/powerpoint/2010/main" val="2209663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3066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Rectangle 21">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chemeClr val="accent2">
              <a:lumMod val="75000"/>
            </a:schemeClr>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0873" y="1586484"/>
            <a:ext cx="3685032" cy="3685032"/>
          </a:xfrm>
          <a:prstGeom prst="ellipse">
            <a:avLst/>
          </a:prstGeom>
          <a:noFill/>
          <a:ln>
            <a:noFill/>
          </a:ln>
        </p:spPr>
        <p:txBody>
          <a:bodyPr vert="horz" lIns="182880" tIns="182880" rIns="182880" bIns="182880" rtlCol="0" anchor="ctr">
            <a:normAutofit/>
          </a:bodyPr>
          <a:lstStyle/>
          <a:p>
            <a:r>
              <a:rPr lang="en-US" sz="1700" kern="1200" cap="all" spc="200" baseline="0">
                <a:solidFill>
                  <a:srgbClr val="FFFFFF"/>
                </a:solidFill>
                <a:latin typeface="+mj-lt"/>
                <a:ea typeface="+mj-ea"/>
                <a:cs typeface="+mj-cs"/>
              </a:rPr>
              <a:t>Understanding the Power of Restarts</a:t>
            </a:r>
          </a:p>
        </p:txBody>
      </p:sp>
      <p:sp>
        <p:nvSpPr>
          <p:cNvPr id="6" name="TextBox 5"/>
          <p:cNvSpPr txBox="1"/>
          <p:nvPr/>
        </p:nvSpPr>
        <p:spPr>
          <a:xfrm>
            <a:off x="4831773" y="103909"/>
            <a:ext cx="7076209" cy="6587836"/>
          </a:xfrm>
          <a:prstGeom prst="rect">
            <a:avLst/>
          </a:prstGeom>
        </p:spPr>
        <p:txBody>
          <a:bodyPr vert="horz" lIns="91440" tIns="45720" rIns="91440" bIns="45720" rtlCol="0" anchor="ctr">
            <a:noAutofit/>
          </a:bodyPr>
          <a:lstStyle/>
          <a:p>
            <a:pPr marL="800100" lvl="1" indent="-228600" defTabSz="914400">
              <a:lnSpc>
                <a:spcPct val="90000"/>
              </a:lnSpc>
              <a:spcBef>
                <a:spcPts val="1000"/>
              </a:spcBef>
              <a:buClr>
                <a:schemeClr val="accent2"/>
              </a:buClr>
              <a:buFont typeface="Arial" panose="020B0604020202020204" pitchFamily="34" charset="0"/>
              <a:buChar char="•"/>
            </a:pPr>
            <a:r>
              <a:rPr lang="en-US" sz="1500" dirty="0">
                <a:solidFill>
                  <a:schemeClr val="tx1">
                    <a:lumMod val="85000"/>
                    <a:lumOff val="15000"/>
                  </a:schemeClr>
                </a:solidFill>
              </a:rPr>
              <a:t>Big open question – We know that CDCL + restarts is </a:t>
            </a:r>
            <a:r>
              <a:rPr lang="en-US" sz="1500" dirty="0" err="1">
                <a:solidFill>
                  <a:schemeClr val="tx1">
                    <a:lumMod val="85000"/>
                    <a:lumOff val="15000"/>
                  </a:schemeClr>
                </a:solidFill>
              </a:rPr>
              <a:t>polynomially</a:t>
            </a:r>
            <a:r>
              <a:rPr lang="en-US" sz="1500" dirty="0">
                <a:solidFill>
                  <a:schemeClr val="tx1">
                    <a:lumMod val="85000"/>
                    <a:lumOff val="15000"/>
                  </a:schemeClr>
                </a:solidFill>
              </a:rPr>
              <a:t> equivalent to Res. Does this equivalence also hold for CDCL w/o restarts?</a:t>
            </a:r>
          </a:p>
          <a:p>
            <a:pPr marL="800100" lvl="1" indent="-228600" defTabSz="914400">
              <a:lnSpc>
                <a:spcPct val="90000"/>
              </a:lnSpc>
              <a:spcBef>
                <a:spcPts val="1000"/>
              </a:spcBef>
              <a:buClr>
                <a:schemeClr val="accent2"/>
              </a:buClr>
              <a:buFont typeface="Arial" panose="020B0604020202020204" pitchFamily="34" charset="0"/>
              <a:buChar char="•"/>
            </a:pPr>
            <a:endParaRPr lang="en-US" sz="1500" dirty="0">
              <a:noFill/>
            </a:endParaRPr>
          </a:p>
          <a:p>
            <a:pPr marL="800100" lvl="1" indent="-228600" defTabSz="914400">
              <a:lnSpc>
                <a:spcPct val="90000"/>
              </a:lnSpc>
              <a:spcBef>
                <a:spcPts val="1000"/>
              </a:spcBef>
              <a:buClr>
                <a:schemeClr val="accent2"/>
              </a:buClr>
              <a:buFont typeface="Arial" panose="020B0604020202020204" pitchFamily="34" charset="0"/>
              <a:buChar char="•"/>
            </a:pPr>
            <a:r>
              <a:rPr lang="en-US" sz="1500" dirty="0">
                <a:solidFill>
                  <a:schemeClr val="tx1">
                    <a:lumMod val="85000"/>
                    <a:lumOff val="15000"/>
                  </a:schemeClr>
                </a:solidFill>
              </a:rPr>
              <a:t>Theorem 1: The first CDCL configuration (with restarts) below is exponentially faster than the second CDCL configuration (w/o restarts) on a class of satisfiable instances we refer to as Ladder formulas</a:t>
            </a:r>
            <a:br>
              <a:rPr lang="en-US" sz="1500" dirty="0">
                <a:solidFill>
                  <a:schemeClr val="tx1">
                    <a:lumMod val="85000"/>
                    <a:lumOff val="15000"/>
                  </a:schemeClr>
                </a:solidFill>
              </a:rPr>
            </a:br>
            <a:endParaRPr lang="en-US" sz="1500" dirty="0">
              <a:solidFill>
                <a:schemeClr val="tx1">
                  <a:lumMod val="85000"/>
                  <a:lumOff val="15000"/>
                </a:schemeClr>
              </a:solidFill>
            </a:endParaRPr>
          </a:p>
          <a:p>
            <a:pPr marL="1257300" lvl="2" indent="-228600" defTabSz="914400">
              <a:lnSpc>
                <a:spcPct val="90000"/>
              </a:lnSpc>
              <a:spcBef>
                <a:spcPts val="1000"/>
              </a:spcBef>
              <a:buClr>
                <a:schemeClr val="accent2"/>
              </a:buClr>
              <a:buFont typeface="Arial" panose="020B0604020202020204" pitchFamily="34" charset="0"/>
              <a:buChar char="•"/>
            </a:pPr>
            <a:r>
              <a:rPr lang="en-US" sz="1500" dirty="0">
                <a:solidFill>
                  <a:schemeClr val="tx1">
                    <a:lumMod val="85000"/>
                    <a:lumOff val="15000"/>
                  </a:schemeClr>
                </a:solidFill>
              </a:rPr>
              <a:t>CDCL + backtracking + non-deterministic variable selection + randomized value selection + restarts</a:t>
            </a:r>
          </a:p>
          <a:p>
            <a:pPr marL="1257300" lvl="2" indent="-228600" defTabSz="914400">
              <a:lnSpc>
                <a:spcPct val="90000"/>
              </a:lnSpc>
              <a:spcBef>
                <a:spcPts val="1000"/>
              </a:spcBef>
              <a:buClr>
                <a:schemeClr val="accent2"/>
              </a:buClr>
              <a:buFont typeface="Arial" panose="020B0604020202020204" pitchFamily="34" charset="0"/>
              <a:buChar char="•"/>
            </a:pPr>
            <a:r>
              <a:rPr lang="en-US" sz="1500" dirty="0">
                <a:solidFill>
                  <a:schemeClr val="tx1">
                    <a:lumMod val="85000"/>
                    <a:lumOff val="15000"/>
                  </a:schemeClr>
                </a:solidFill>
              </a:rPr>
              <a:t>CDCL + backtracking + non-deterministic variable selection + randomized value selection - restarts </a:t>
            </a:r>
          </a:p>
          <a:p>
            <a:pPr marL="1257300" lvl="2" indent="-228600" defTabSz="914400">
              <a:lnSpc>
                <a:spcPct val="90000"/>
              </a:lnSpc>
              <a:spcBef>
                <a:spcPts val="1000"/>
              </a:spcBef>
              <a:buClr>
                <a:schemeClr val="accent2"/>
              </a:buClr>
              <a:buFont typeface="Arial" panose="020B0604020202020204" pitchFamily="34" charset="0"/>
              <a:buChar char="•"/>
            </a:pPr>
            <a:endParaRPr lang="en-US" sz="1500" dirty="0">
              <a:solidFill>
                <a:schemeClr val="tx1">
                  <a:lumMod val="85000"/>
                  <a:lumOff val="15000"/>
                </a:schemeClr>
              </a:solidFill>
            </a:endParaRPr>
          </a:p>
          <a:p>
            <a:pPr marL="800100" lvl="1" indent="-228600" defTabSz="914400">
              <a:lnSpc>
                <a:spcPct val="90000"/>
              </a:lnSpc>
              <a:spcBef>
                <a:spcPts val="1000"/>
              </a:spcBef>
              <a:buClr>
                <a:schemeClr val="accent2"/>
              </a:buClr>
              <a:buFont typeface="Arial" panose="020B0604020202020204" pitchFamily="34" charset="0"/>
              <a:buChar char="•"/>
            </a:pPr>
            <a:r>
              <a:rPr lang="en-US" sz="1500" dirty="0">
                <a:solidFill>
                  <a:schemeClr val="tx1">
                    <a:lumMod val="85000"/>
                    <a:lumOff val="15000"/>
                  </a:schemeClr>
                </a:solidFill>
              </a:rPr>
              <a:t>Theorem 2: The first CDCL configuration (with restarts) below is exponentially faster than the second CDCL configuration (w/o restarts) on a class of unsatisfiable instances we refer to as pitfall formulas</a:t>
            </a:r>
            <a:br>
              <a:rPr lang="en-US" sz="1500" dirty="0">
                <a:solidFill>
                  <a:schemeClr val="tx1">
                    <a:lumMod val="85000"/>
                    <a:lumOff val="15000"/>
                  </a:schemeClr>
                </a:solidFill>
              </a:rPr>
            </a:br>
            <a:endParaRPr lang="en-US" sz="1500" dirty="0">
              <a:solidFill>
                <a:schemeClr val="tx1">
                  <a:lumMod val="85000"/>
                  <a:lumOff val="15000"/>
                </a:schemeClr>
              </a:solidFill>
            </a:endParaRPr>
          </a:p>
          <a:p>
            <a:pPr marL="1257300" lvl="2" indent="-228600" defTabSz="914400">
              <a:lnSpc>
                <a:spcPct val="90000"/>
              </a:lnSpc>
              <a:spcBef>
                <a:spcPts val="1000"/>
              </a:spcBef>
              <a:buClr>
                <a:schemeClr val="accent2"/>
              </a:buClr>
              <a:buFont typeface="Arial" panose="020B0604020202020204" pitchFamily="34" charset="0"/>
              <a:buChar char="•"/>
            </a:pPr>
            <a:r>
              <a:rPr lang="en-US" sz="1500" dirty="0">
                <a:solidFill>
                  <a:schemeClr val="tx1">
                    <a:lumMod val="85000"/>
                    <a:lumOff val="15000"/>
                  </a:schemeClr>
                </a:solidFill>
              </a:rPr>
              <a:t>CDCL + </a:t>
            </a:r>
            <a:r>
              <a:rPr lang="en-US" sz="1500" dirty="0" err="1">
                <a:solidFill>
                  <a:schemeClr val="tx1">
                    <a:lumMod val="85000"/>
                    <a:lumOff val="15000"/>
                  </a:schemeClr>
                </a:solidFill>
              </a:rPr>
              <a:t>backjumping</a:t>
            </a:r>
            <a:r>
              <a:rPr lang="en-US" sz="1500" dirty="0">
                <a:solidFill>
                  <a:schemeClr val="tx1">
                    <a:lumMod val="85000"/>
                    <a:lumOff val="15000"/>
                  </a:schemeClr>
                </a:solidFill>
              </a:rPr>
              <a:t> + VSIDS variable selection + phase-saving value selection + restarts</a:t>
            </a:r>
          </a:p>
          <a:p>
            <a:pPr marL="1257300" lvl="2" indent="-228600" defTabSz="914400">
              <a:lnSpc>
                <a:spcPct val="90000"/>
              </a:lnSpc>
              <a:spcBef>
                <a:spcPts val="1000"/>
              </a:spcBef>
              <a:buClr>
                <a:schemeClr val="accent2"/>
              </a:buClr>
              <a:buFont typeface="Arial" panose="020B0604020202020204" pitchFamily="34" charset="0"/>
              <a:buChar char="•"/>
            </a:pPr>
            <a:r>
              <a:rPr lang="en-US" sz="1500" dirty="0">
                <a:solidFill>
                  <a:schemeClr val="tx1">
                    <a:lumMod val="85000"/>
                    <a:lumOff val="15000"/>
                  </a:schemeClr>
                </a:solidFill>
              </a:rPr>
              <a:t>CDCL + </a:t>
            </a:r>
            <a:r>
              <a:rPr lang="en-US" sz="1500" dirty="0" err="1">
                <a:solidFill>
                  <a:schemeClr val="tx1">
                    <a:lumMod val="85000"/>
                    <a:lumOff val="15000"/>
                  </a:schemeClr>
                </a:solidFill>
              </a:rPr>
              <a:t>backjumping</a:t>
            </a:r>
            <a:r>
              <a:rPr lang="en-US" sz="1500" dirty="0">
                <a:solidFill>
                  <a:schemeClr val="tx1">
                    <a:lumMod val="85000"/>
                    <a:lumOff val="15000"/>
                  </a:schemeClr>
                </a:solidFill>
              </a:rPr>
              <a:t> + VSIDS variable selection + phase-saving value selection - restarts</a:t>
            </a:r>
          </a:p>
          <a:p>
            <a:pPr marL="800100" lvl="1" indent="-228600" defTabSz="914400">
              <a:lnSpc>
                <a:spcPct val="90000"/>
              </a:lnSpc>
              <a:spcBef>
                <a:spcPts val="1000"/>
              </a:spcBef>
              <a:buClr>
                <a:schemeClr val="accent2"/>
              </a:buClr>
              <a:buFont typeface="Arial" panose="020B0604020202020204" pitchFamily="34" charset="0"/>
              <a:buChar char="•"/>
            </a:pPr>
            <a:endParaRPr lang="en-US" sz="1500" dirty="0">
              <a:solidFill>
                <a:schemeClr val="tx1">
                  <a:lumMod val="85000"/>
                  <a:lumOff val="15000"/>
                </a:schemeClr>
              </a:solidFill>
            </a:endParaRPr>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8A7A6979-0714-4377-B894-6BE4C2D6E202}" type="slidenum">
              <a:rPr lang="en-US" kern="1200" spc="0" baseline="0" dirty="0">
                <a:solidFill>
                  <a:srgbClr val="FFFFFF"/>
                </a:solidFill>
                <a:latin typeface="+mn-lt"/>
                <a:ea typeface="+mn-ea"/>
                <a:cs typeface="+mn-cs"/>
              </a:rPr>
              <a:pPr>
                <a:lnSpc>
                  <a:spcPct val="90000"/>
                </a:lnSpc>
                <a:spcAft>
                  <a:spcPts val="600"/>
                </a:spcAft>
              </a:pPr>
              <a:t>21</a:t>
            </a:fld>
            <a:endParaRPr lang="en-US" kern="1200" spc="0" baseline="0" dirty="0">
              <a:solidFill>
                <a:srgbClr val="FFFFFF"/>
              </a:solidFill>
              <a:latin typeface="+mn-lt"/>
              <a:ea typeface="+mn-ea"/>
              <a:cs typeface="+mn-cs"/>
            </a:endParaRPr>
          </a:p>
        </p:txBody>
      </p:sp>
    </p:spTree>
    <p:extLst>
      <p:ext uri="{BB962C8B-B14F-4D97-AF65-F5344CB8AC3E}">
        <p14:creationId xmlns:p14="http://schemas.microsoft.com/office/powerpoint/2010/main" val="1778895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50704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chemeClr val="accent2">
              <a:lumMod val="75000"/>
            </a:schemeClr>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0873" y="1586484"/>
            <a:ext cx="3685032" cy="3685032"/>
          </a:xfrm>
          <a:prstGeom prst="ellipse">
            <a:avLst/>
          </a:prstGeom>
          <a:noFill/>
          <a:ln>
            <a:noFill/>
          </a:ln>
        </p:spPr>
        <p:txBody>
          <a:bodyPr vert="horz" lIns="182880" tIns="182880" rIns="182880" bIns="182880" rtlCol="0" anchor="ctr">
            <a:normAutofit/>
          </a:bodyPr>
          <a:lstStyle/>
          <a:p>
            <a:r>
              <a:rPr lang="en-US" sz="3000" kern="1200" cap="all" spc="200" baseline="0">
                <a:solidFill>
                  <a:srgbClr val="FFFFFF"/>
                </a:solidFill>
                <a:latin typeface="+mj-lt"/>
                <a:ea typeface="+mj-ea"/>
                <a:cs typeface="+mj-cs"/>
              </a:rPr>
              <a:t>From Practice to Theory</a:t>
            </a:r>
          </a:p>
        </p:txBody>
      </p:sp>
      <p:sp>
        <p:nvSpPr>
          <p:cNvPr id="6" name="TextBox 5"/>
          <p:cNvSpPr txBox="1"/>
          <p:nvPr/>
        </p:nvSpPr>
        <p:spPr>
          <a:xfrm>
            <a:off x="4945904" y="274320"/>
            <a:ext cx="6504877" cy="6309360"/>
          </a:xfrm>
          <a:prstGeom prst="rect">
            <a:avLst/>
          </a:prstGeom>
        </p:spPr>
        <p:txBody>
          <a:bodyPr vert="horz" lIns="91440" tIns="45720" rIns="91440" bIns="45720" rtlCol="0" anchor="ctr">
            <a:noAutofit/>
          </a:bodyPr>
          <a:lstStyle/>
          <a:p>
            <a:pPr marL="800100" lvl="1"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Solving concrete circuit complexity questions using solver  </a:t>
            </a:r>
          </a:p>
          <a:p>
            <a:pPr marL="1257300" lvl="2" indent="-228600" defTabSz="914400">
              <a:lnSpc>
                <a:spcPct val="90000"/>
              </a:lnSpc>
              <a:spcBef>
                <a:spcPts val="1000"/>
              </a:spcBef>
              <a:buClr>
                <a:schemeClr val="accent2"/>
              </a:buClr>
              <a:buFont typeface="Arial" panose="020B0604020202020204" pitchFamily="34" charset="0"/>
              <a:buChar char="•"/>
            </a:pPr>
            <a:endParaRPr lang="en-US" dirty="0">
              <a:solidFill>
                <a:schemeClr val="tx1">
                  <a:lumMod val="85000"/>
                  <a:lumOff val="15000"/>
                </a:schemeClr>
              </a:solidFill>
            </a:endParaRPr>
          </a:p>
          <a:p>
            <a:pPr marL="1257300" lvl="2"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For example, minimum number of multiplications needed for the 3x3 Boolean matrix multiplication problem (Ryan Williams posted this as a polymath problem.)</a:t>
            </a:r>
          </a:p>
          <a:p>
            <a:pPr marL="571500" lvl="1" defTabSz="914400">
              <a:lnSpc>
                <a:spcPct val="90000"/>
              </a:lnSpc>
              <a:spcBef>
                <a:spcPts val="1000"/>
              </a:spcBef>
              <a:buClr>
                <a:schemeClr val="accent2"/>
              </a:buClr>
            </a:pPr>
            <a:endParaRPr lang="en-US" dirty="0">
              <a:solidFill>
                <a:schemeClr val="tx1">
                  <a:lumMod val="85000"/>
                  <a:lumOff val="15000"/>
                </a:schemeClr>
              </a:solidFill>
            </a:endParaRPr>
          </a:p>
          <a:p>
            <a:pPr marL="800100" lvl="1"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Study of novel proof systems inspired by practice (e.g., DRAT or interference-based proof systems)</a:t>
            </a:r>
          </a:p>
          <a:p>
            <a:pPr marL="571500" lvl="1" defTabSz="914400">
              <a:lnSpc>
                <a:spcPct val="90000"/>
              </a:lnSpc>
              <a:spcBef>
                <a:spcPts val="1000"/>
              </a:spcBef>
              <a:buClr>
                <a:schemeClr val="accent2"/>
              </a:buClr>
            </a:pPr>
            <a:endParaRPr lang="en-US" dirty="0">
              <a:solidFill>
                <a:schemeClr val="tx1">
                  <a:lumMod val="85000"/>
                  <a:lumOff val="15000"/>
                </a:schemeClr>
              </a:solidFill>
            </a:endParaRPr>
          </a:p>
          <a:p>
            <a:pPr marL="800100" lvl="1"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Using solvers to test conjectured classes of instances as lower bounds for corresponding proof systems</a:t>
            </a:r>
          </a:p>
          <a:p>
            <a:pPr marL="800100" lvl="1" indent="-228600" defTabSz="914400">
              <a:lnSpc>
                <a:spcPct val="90000"/>
              </a:lnSpc>
              <a:spcBef>
                <a:spcPts val="1000"/>
              </a:spcBef>
              <a:buClr>
                <a:schemeClr val="accent2"/>
              </a:buClr>
              <a:buFont typeface="Arial" panose="020B0604020202020204" pitchFamily="34" charset="0"/>
              <a:buChar char="•"/>
            </a:pPr>
            <a:endParaRPr lang="en-US" dirty="0">
              <a:solidFill>
                <a:schemeClr val="tx1">
                  <a:lumMod val="85000"/>
                  <a:lumOff val="15000"/>
                </a:schemeClr>
              </a:solidFill>
            </a:endParaRPr>
          </a:p>
          <a:p>
            <a:pPr marL="800100" lvl="1"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Solving combinatorics problems via SAT (e.g., find Ramsey(5))</a:t>
            </a:r>
          </a:p>
          <a:p>
            <a:pPr marL="800100" lvl="1" indent="-228600" defTabSz="914400">
              <a:lnSpc>
                <a:spcPct val="90000"/>
              </a:lnSpc>
              <a:spcBef>
                <a:spcPts val="1000"/>
              </a:spcBef>
              <a:buClr>
                <a:schemeClr val="accent2"/>
              </a:buClr>
              <a:buFont typeface="Arial" panose="020B0604020202020204" pitchFamily="34" charset="0"/>
              <a:buChar char="•"/>
            </a:pPr>
            <a:endParaRPr lang="en-US" dirty="0">
              <a:solidFill>
                <a:schemeClr val="tx1">
                  <a:lumMod val="85000"/>
                  <a:lumOff val="15000"/>
                </a:schemeClr>
              </a:solidFill>
            </a:endParaRPr>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8A7A6979-0714-4377-B894-6BE4C2D6E202}" type="slidenum">
              <a:rPr lang="en-US" kern="1200" spc="0" baseline="0" dirty="0">
                <a:solidFill>
                  <a:srgbClr val="FFFFFF"/>
                </a:solidFill>
                <a:latin typeface="+mn-lt"/>
                <a:ea typeface="+mn-ea"/>
                <a:cs typeface="+mn-cs"/>
              </a:rPr>
              <a:pPr>
                <a:lnSpc>
                  <a:spcPct val="90000"/>
                </a:lnSpc>
                <a:spcAft>
                  <a:spcPts val="600"/>
                </a:spcAft>
              </a:pPr>
              <a:t>23</a:t>
            </a:fld>
            <a:endParaRPr lang="en-US" kern="1200" spc="0" baseline="0" dirty="0">
              <a:solidFill>
                <a:srgbClr val="FFFFFF"/>
              </a:solidFill>
              <a:latin typeface="+mn-lt"/>
              <a:ea typeface="+mn-ea"/>
              <a:cs typeface="+mn-cs"/>
            </a:endParaRPr>
          </a:p>
        </p:txBody>
      </p:sp>
    </p:spTree>
    <p:extLst>
      <p:ext uri="{BB962C8B-B14F-4D97-AF65-F5344CB8AC3E}">
        <p14:creationId xmlns:p14="http://schemas.microsoft.com/office/powerpoint/2010/main" val="3515711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660E788-AFA9-4A1B-9991-6AA74632A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67D4867-5BA7-4462-B2F6-A23F4A622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76616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chemeClr val="accent2">
              <a:lumMod val="75000"/>
            </a:schemeClr>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60873" y="1586484"/>
            <a:ext cx="3685032" cy="3685032"/>
          </a:xfrm>
          <a:prstGeom prst="ellipse">
            <a:avLst/>
          </a:prstGeom>
          <a:noFill/>
          <a:ln>
            <a:noFill/>
          </a:ln>
        </p:spPr>
        <p:txBody>
          <a:bodyPr vert="horz" lIns="182880" tIns="182880" rIns="182880" bIns="182880" rtlCol="0" anchor="ctr">
            <a:normAutofit/>
          </a:bodyPr>
          <a:lstStyle/>
          <a:p>
            <a:r>
              <a:rPr lang="en-US" sz="3000" kern="1200" cap="all" spc="200" baseline="0">
                <a:solidFill>
                  <a:srgbClr val="FFFFFF"/>
                </a:solidFill>
                <a:latin typeface="+mj-lt"/>
                <a:ea typeface="+mj-ea"/>
                <a:cs typeface="+mj-cs"/>
              </a:rPr>
              <a:t>Open Problems (Theory and Practice)</a:t>
            </a:r>
          </a:p>
        </p:txBody>
      </p:sp>
      <p:sp>
        <p:nvSpPr>
          <p:cNvPr id="6" name="TextBox 5"/>
          <p:cNvSpPr txBox="1"/>
          <p:nvPr/>
        </p:nvSpPr>
        <p:spPr>
          <a:xfrm>
            <a:off x="5089354" y="274319"/>
            <a:ext cx="6964101" cy="6438207"/>
          </a:xfrm>
          <a:prstGeom prst="rect">
            <a:avLst/>
          </a:prstGeom>
        </p:spPr>
        <p:txBody>
          <a:bodyPr vert="horz" wrap="square" lIns="91440" tIns="45720" rIns="91440" bIns="45720" rtlCol="0" anchor="ctr">
            <a:noAutofit/>
          </a:bodyPr>
          <a:lstStyle/>
          <a:p>
            <a:pPr marL="342900"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Parameterized upper bound for CDCL – explaining the power of CDCL solvers via parameters</a:t>
            </a:r>
          </a:p>
          <a:p>
            <a:pPr marL="342900"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Crypto hardness – why are crypto problems (e.g., SHA-1 collision/inversion, breaking DES) hard for CDCL SAT solvers? Ideally, construct instances that are “morally” like crypto, and show they are hard for Res?</a:t>
            </a:r>
          </a:p>
          <a:p>
            <a:pPr marL="342900"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Understanding solver configurations –  is CDCL w/o restarts </a:t>
            </a:r>
            <a:r>
              <a:rPr lang="en-US" dirty="0" err="1">
                <a:solidFill>
                  <a:schemeClr val="tx1">
                    <a:lumMod val="85000"/>
                    <a:lumOff val="15000"/>
                  </a:schemeClr>
                </a:solidFill>
              </a:rPr>
              <a:t>polynomially</a:t>
            </a:r>
            <a:r>
              <a:rPr lang="en-US" dirty="0">
                <a:solidFill>
                  <a:schemeClr val="tx1">
                    <a:lumMod val="85000"/>
                    <a:lumOff val="15000"/>
                  </a:schemeClr>
                </a:solidFill>
              </a:rPr>
              <a:t> equivalent to Res? Do restart help primarily with proof search and not proof size? How about other configurations such as CDCL with 1UIP vs. CDCL without?</a:t>
            </a:r>
          </a:p>
          <a:p>
            <a:pPr marL="342900"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 Tight upper bound on BCP algorithm – not aware of any work on complexity analysis of 2-watched scheme</a:t>
            </a:r>
          </a:p>
          <a:p>
            <a:pPr marL="342900"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ML-based solver heuristics (combining deduction with ML) – can we do better than 1UIP?</a:t>
            </a:r>
          </a:p>
          <a:p>
            <a:pPr marL="342900"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 Feedback on encodings – can we design a method to give feedback to the user about how their encodings can be improved?</a:t>
            </a:r>
          </a:p>
          <a:p>
            <a:pPr marL="342900" indent="-228600" defTabSz="914400">
              <a:lnSpc>
                <a:spcPct val="90000"/>
              </a:lnSpc>
              <a:spcBef>
                <a:spcPts val="1000"/>
              </a:spcBef>
              <a:buClr>
                <a:schemeClr val="accent2"/>
              </a:buClr>
              <a:buFont typeface="Arial" panose="020B0604020202020204" pitchFamily="34" charset="0"/>
              <a:buChar char="•"/>
            </a:pPr>
            <a:r>
              <a:rPr lang="en-US" dirty="0">
                <a:solidFill>
                  <a:schemeClr val="tx1">
                    <a:lumMod val="85000"/>
                    <a:lumOff val="15000"/>
                  </a:schemeClr>
                </a:solidFill>
              </a:rPr>
              <a:t>Faster solvers for multiplication – multiplication circuits can be hard for SAT. How can we do better?</a:t>
            </a:r>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8A7A6979-0714-4377-B894-6BE4C2D6E202}" type="slidenum">
              <a:rPr lang="en-US" kern="1200" spc="0" baseline="0" dirty="0">
                <a:solidFill>
                  <a:srgbClr val="FFFFFF"/>
                </a:solidFill>
                <a:latin typeface="+mn-lt"/>
                <a:ea typeface="+mn-ea"/>
                <a:cs typeface="+mn-cs"/>
              </a:rPr>
              <a:pPr>
                <a:lnSpc>
                  <a:spcPct val="90000"/>
                </a:lnSpc>
                <a:spcAft>
                  <a:spcPts val="600"/>
                </a:spcAft>
              </a:pPr>
              <a:t>25</a:t>
            </a:fld>
            <a:endParaRPr lang="en-US" kern="1200" spc="0" baseline="0" dirty="0">
              <a:solidFill>
                <a:srgbClr val="FFFFFF"/>
              </a:solidFill>
              <a:latin typeface="+mn-lt"/>
              <a:ea typeface="+mn-ea"/>
              <a:cs typeface="+mn-cs"/>
            </a:endParaRPr>
          </a:p>
        </p:txBody>
      </p:sp>
    </p:spTree>
    <p:extLst>
      <p:ext uri="{BB962C8B-B14F-4D97-AF65-F5344CB8AC3E}">
        <p14:creationId xmlns:p14="http://schemas.microsoft.com/office/powerpoint/2010/main" val="1346918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2531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F47E20B-1205-4238-A82B-90EF577F3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13567AC-EB9A-47A9-B6EC-B5BDB73B1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8" y="820010"/>
            <a:ext cx="3415288" cy="3212654"/>
          </a:xfrm>
          <a:noFill/>
          <a:ln>
            <a:solidFill>
              <a:schemeClr val="bg1"/>
            </a:solidFill>
          </a:ln>
        </p:spPr>
        <p:txBody>
          <a:bodyPr vert="horz" lIns="274320" tIns="182880" rIns="274320" bIns="182880" rtlCol="0" anchor="ctr" anchorCtr="1">
            <a:normAutofit/>
          </a:bodyPr>
          <a:lstStyle/>
          <a:p>
            <a:r>
              <a:rPr lang="en-US" sz="3500">
                <a:solidFill>
                  <a:schemeClr val="bg1"/>
                </a:solidFill>
              </a:rPr>
              <a:t>Summary of Scheduled Workshop Talks</a:t>
            </a:r>
          </a:p>
        </p:txBody>
      </p:sp>
      <p:sp>
        <p:nvSpPr>
          <p:cNvPr id="3" name="Slide Number Placeholder 2">
            <a:extLst>
              <a:ext uri="{FF2B5EF4-FFF2-40B4-BE49-F238E27FC236}">
                <a16:creationId xmlns:a16="http://schemas.microsoft.com/office/drawing/2014/main" id="{D56E9D70-7200-3D4C-ADC9-A31739B5CD1D}"/>
              </a:ext>
            </a:extLst>
          </p:cNvPr>
          <p:cNvSpPr>
            <a:spLocks noGrp="1"/>
          </p:cNvSpPr>
          <p:nvPr>
            <p:ph type="sldNum" sz="quarter" idx="12"/>
          </p:nvPr>
        </p:nvSpPr>
        <p:spPr>
          <a:xfrm>
            <a:off x="10758922" y="6217920"/>
            <a:ext cx="365760" cy="365760"/>
          </a:xfrm>
        </p:spPr>
        <p:txBody>
          <a:bodyPr vert="horz" lIns="18288" tIns="45720" rIns="18288" bIns="45720" rtlCol="0" anchor="ctr">
            <a:normAutofit/>
          </a:bodyPr>
          <a:lstStyle/>
          <a:p>
            <a:pPr>
              <a:lnSpc>
                <a:spcPct val="90000"/>
              </a:lnSpc>
              <a:spcAft>
                <a:spcPts val="600"/>
              </a:spcAft>
            </a:pPr>
            <a:fld id="{8A7A6979-0714-4377-B894-6BE4C2D6E202}" type="slidenum">
              <a:rPr lang="en-US" smtClean="0"/>
              <a:pPr>
                <a:lnSpc>
                  <a:spcPct val="90000"/>
                </a:lnSpc>
                <a:spcAft>
                  <a:spcPts val="600"/>
                </a:spcAft>
              </a:pPr>
              <a:t>27</a:t>
            </a:fld>
            <a:endParaRPr lang="en-US"/>
          </a:p>
        </p:txBody>
      </p:sp>
      <p:graphicFrame>
        <p:nvGraphicFramePr>
          <p:cNvPr id="5" name="Table 6">
            <a:extLst>
              <a:ext uri="{FF2B5EF4-FFF2-40B4-BE49-F238E27FC236}">
                <a16:creationId xmlns:a16="http://schemas.microsoft.com/office/drawing/2014/main" id="{B08A17D3-1C4B-BC41-9D33-C5E01AC1B121}"/>
              </a:ext>
            </a:extLst>
          </p:cNvPr>
          <p:cNvGraphicFramePr>
            <a:graphicFrameLocks noGrp="1"/>
          </p:cNvGraphicFramePr>
          <p:nvPr>
            <p:extLst>
              <p:ext uri="{D42A27DB-BD31-4B8C-83A1-F6EECF244321}">
                <p14:modId xmlns:p14="http://schemas.microsoft.com/office/powerpoint/2010/main" val="2962715169"/>
              </p:ext>
            </p:extLst>
          </p:nvPr>
        </p:nvGraphicFramePr>
        <p:xfrm>
          <a:off x="5297763" y="1007166"/>
          <a:ext cx="6250770" cy="4797398"/>
        </p:xfrm>
        <a:graphic>
          <a:graphicData uri="http://schemas.openxmlformats.org/drawingml/2006/table">
            <a:tbl>
              <a:tblPr firstRow="1" bandRow="1">
                <a:noFill/>
                <a:tableStyleId>{85BE263C-DBD7-4A20-BB59-AAB30ACAA65A}</a:tableStyleId>
              </a:tblPr>
              <a:tblGrid>
                <a:gridCol w="711233">
                  <a:extLst>
                    <a:ext uri="{9D8B030D-6E8A-4147-A177-3AD203B41FA5}">
                      <a16:colId xmlns:a16="http://schemas.microsoft.com/office/drawing/2014/main" val="3099368584"/>
                    </a:ext>
                  </a:extLst>
                </a:gridCol>
                <a:gridCol w="3358215">
                  <a:extLst>
                    <a:ext uri="{9D8B030D-6E8A-4147-A177-3AD203B41FA5}">
                      <a16:colId xmlns:a16="http://schemas.microsoft.com/office/drawing/2014/main" val="3766153093"/>
                    </a:ext>
                  </a:extLst>
                </a:gridCol>
                <a:gridCol w="2181322">
                  <a:extLst>
                    <a:ext uri="{9D8B030D-6E8A-4147-A177-3AD203B41FA5}">
                      <a16:colId xmlns:a16="http://schemas.microsoft.com/office/drawing/2014/main" val="3405401596"/>
                    </a:ext>
                  </a:extLst>
                </a:gridCol>
              </a:tblGrid>
              <a:tr h="352055">
                <a:tc>
                  <a:txBody>
                    <a:bodyPr/>
                    <a:lstStyle/>
                    <a:p>
                      <a:pPr>
                        <a:lnSpc>
                          <a:spcPts val="1660"/>
                        </a:lnSpc>
                      </a:pPr>
                      <a:r>
                        <a:rPr lang="en-US" sz="1400" b="1" cap="none" spc="0">
                          <a:solidFill>
                            <a:schemeClr val="tx1"/>
                          </a:solidFill>
                          <a:latin typeface="Times" pitchFamily="2" charset="0"/>
                        </a:rPr>
                        <a:t>Date</a:t>
                      </a:r>
                    </a:p>
                  </a:txBody>
                  <a:tcPr marL="55241" marR="78916" marT="15783" marB="118374" anchor="b">
                    <a:lnL w="12700" cmpd="sng">
                      <a:noFill/>
                    </a:lnL>
                    <a:lnR w="12700" cmpd="sng">
                      <a:noFill/>
                    </a:lnR>
                    <a:lnT w="9525" cap="flat" cmpd="sng" algn="ctr">
                      <a:noFill/>
                      <a:prstDash val="solid"/>
                    </a:lnT>
                    <a:lnB w="38100" cmpd="sng">
                      <a:noFill/>
                    </a:lnB>
                    <a:lnTlToBr w="12700" cmpd="sng">
                      <a:noFill/>
                      <a:prstDash val="solid"/>
                    </a:lnTlToBr>
                    <a:lnBlToTr w="12700" cmpd="sng">
                      <a:noFill/>
                      <a:prstDash val="solid"/>
                    </a:lnBlToTr>
                    <a:noFill/>
                  </a:tcPr>
                </a:tc>
                <a:tc>
                  <a:txBody>
                    <a:bodyPr/>
                    <a:lstStyle/>
                    <a:p>
                      <a:pPr>
                        <a:lnSpc>
                          <a:spcPts val="1660"/>
                        </a:lnSpc>
                      </a:pPr>
                      <a:r>
                        <a:rPr lang="en-US" sz="1400" b="1" cap="none" spc="0">
                          <a:solidFill>
                            <a:schemeClr val="tx1"/>
                          </a:solidFill>
                          <a:latin typeface="Times" pitchFamily="2" charset="0"/>
                        </a:rPr>
                        <a:t>Theme</a:t>
                      </a:r>
                    </a:p>
                  </a:txBody>
                  <a:tcPr marL="55241" marR="78916" marT="15783" marB="118374" anchor="b">
                    <a:lnL w="12700" cmpd="sng">
                      <a:noFill/>
                    </a:lnL>
                    <a:lnR w="12700" cmpd="sng">
                      <a:noFill/>
                    </a:lnR>
                    <a:lnT w="9525" cap="flat" cmpd="sng" algn="ctr">
                      <a:noFill/>
                      <a:prstDash val="solid"/>
                    </a:lnT>
                    <a:lnB w="38100" cmpd="sng">
                      <a:noFill/>
                    </a:lnB>
                    <a:lnTlToBr w="12700" cmpd="sng">
                      <a:noFill/>
                      <a:prstDash val="solid"/>
                    </a:lnTlToBr>
                    <a:lnBlToTr w="12700" cmpd="sng">
                      <a:noFill/>
                      <a:prstDash val="solid"/>
                    </a:lnBlToTr>
                    <a:noFill/>
                  </a:tcPr>
                </a:tc>
                <a:tc>
                  <a:txBody>
                    <a:bodyPr/>
                    <a:lstStyle/>
                    <a:p>
                      <a:pPr>
                        <a:lnSpc>
                          <a:spcPts val="1660"/>
                        </a:lnSpc>
                      </a:pPr>
                      <a:r>
                        <a:rPr lang="en-US" sz="1400" b="1" cap="none" spc="0">
                          <a:solidFill>
                            <a:schemeClr val="tx1"/>
                          </a:solidFill>
                          <a:latin typeface="Times" pitchFamily="2" charset="0"/>
                        </a:rPr>
                        <a:t>Speakers</a:t>
                      </a:r>
                    </a:p>
                  </a:txBody>
                  <a:tcPr marL="55241" marR="78916" marT="15783" marB="118374" anchor="b">
                    <a:lnL w="12700" cmpd="sng">
                      <a:noFill/>
                    </a:lnL>
                    <a:lnR w="12700" cmpd="sng">
                      <a:noFill/>
                    </a:lnR>
                    <a:lnT w="9525" cap="flat" cmpd="sng" algn="ctr">
                      <a:noFill/>
                      <a:prstDash val="soli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44941443"/>
                  </a:ext>
                </a:extLst>
              </a:tr>
              <a:tr h="522601">
                <a:tc>
                  <a:txBody>
                    <a:bodyPr/>
                    <a:lstStyle/>
                    <a:p>
                      <a:pPr>
                        <a:lnSpc>
                          <a:spcPts val="1660"/>
                        </a:lnSpc>
                      </a:pPr>
                      <a:r>
                        <a:rPr lang="en-US" sz="1000" cap="none" spc="0">
                          <a:solidFill>
                            <a:schemeClr val="tx1"/>
                          </a:solidFill>
                          <a:latin typeface="Times" pitchFamily="2" charset="0"/>
                        </a:rPr>
                        <a:t>Feb 10</a:t>
                      </a:r>
                      <a:r>
                        <a:rPr lang="en-US" sz="1000" cap="none" spc="0" baseline="30000">
                          <a:solidFill>
                            <a:schemeClr val="tx1"/>
                          </a:solidFill>
                          <a:latin typeface="Times" pitchFamily="2" charset="0"/>
                        </a:rPr>
                        <a:t>th</a:t>
                      </a:r>
                      <a:r>
                        <a:rPr lang="en-US" sz="1000" cap="none" spc="0">
                          <a:solidFill>
                            <a:schemeClr val="tx1"/>
                          </a:solidFill>
                          <a:latin typeface="Times" pitchFamily="2" charset="0"/>
                        </a:rPr>
                        <a:t> </a:t>
                      </a:r>
                    </a:p>
                  </a:txBody>
                  <a:tcPr marL="55241" marR="78916" marT="15783" marB="118374">
                    <a:lnL w="9525" cap="flat" cmpd="sng" algn="ctr">
                      <a:solidFill>
                        <a:schemeClr val="tx1"/>
                      </a:solidFill>
                      <a:prstDash val="solid"/>
                    </a:lnL>
                    <a:lnR w="12700" cmpd="sng">
                      <a:noFill/>
                      <a:prstDash val="solid"/>
                    </a:lnR>
                    <a:lnT w="38100" cmpd="sng">
                      <a:noFill/>
                    </a:lnT>
                    <a:lnB w="9525" cap="flat" cmpd="sng" algn="ctr">
                      <a:noFill/>
                      <a:prstDash val="solid"/>
                    </a:lnB>
                    <a:lnTlToBr w="12700" cmpd="sng">
                      <a:noFill/>
                      <a:prstDash val="solid"/>
                    </a:lnTlToBr>
                    <a:lnBlToTr w="12700" cmpd="sng">
                      <a:noFill/>
                      <a:prstDash val="solid"/>
                    </a:lnBlToTr>
                    <a:noFill/>
                  </a:tcPr>
                </a:tc>
                <a:tc>
                  <a:txBody>
                    <a:bodyPr/>
                    <a:lstStyle/>
                    <a:p>
                      <a:pPr rtl="0">
                        <a:lnSpc>
                          <a:spcPts val="1660"/>
                        </a:lnSpc>
                      </a:pPr>
                      <a:r>
                        <a:rPr lang="en-CA" sz="1000" b="0" i="0" u="none" strike="noStrike" kern="1200" cap="none" spc="0">
                          <a:solidFill>
                            <a:schemeClr val="tx1"/>
                          </a:solidFill>
                          <a:effectLst/>
                          <a:latin typeface="Times" pitchFamily="2" charset="0"/>
                          <a:ea typeface="+mn-ea"/>
                          <a:cs typeface="+mn-cs"/>
                        </a:rPr>
                        <a:t>Theoretical Foundation of Solvers: Context, Directions and Open Problems</a:t>
                      </a:r>
                    </a:p>
                  </a:txBody>
                  <a:tcPr marL="55241" marR="78916" marT="15783" marB="118374">
                    <a:lnL w="12700" cmpd="sng">
                      <a:noFill/>
                      <a:prstDash val="solid"/>
                    </a:lnL>
                    <a:lnR w="12700" cmpd="sng">
                      <a:noFill/>
                      <a:prstDash val="solid"/>
                    </a:lnR>
                    <a:lnT w="38100" cmpd="sng">
                      <a:noFill/>
                    </a:lnT>
                    <a:lnB w="9525" cap="flat" cmpd="sng" algn="ctr">
                      <a:noFill/>
                      <a:prstDash val="solid"/>
                    </a:lnB>
                    <a:lnTlToBr w="12700" cmpd="sng">
                      <a:noFill/>
                      <a:prstDash val="solid"/>
                    </a:lnTlToBr>
                    <a:lnBlToTr w="12700" cmpd="sng">
                      <a:noFill/>
                      <a:prstDash val="solid"/>
                    </a:lnBlToTr>
                    <a:noFill/>
                  </a:tcPr>
                </a:tc>
                <a:tc>
                  <a:txBody>
                    <a:bodyPr/>
                    <a:lstStyle/>
                    <a:p>
                      <a:pPr>
                        <a:lnSpc>
                          <a:spcPts val="1660"/>
                        </a:lnSpc>
                      </a:pPr>
                      <a:r>
                        <a:rPr lang="en-US" sz="1000" cap="none" spc="0">
                          <a:solidFill>
                            <a:schemeClr val="tx1"/>
                          </a:solidFill>
                          <a:latin typeface="Times" pitchFamily="2" charset="0"/>
                        </a:rPr>
                        <a:t>Vijay Ganesh, David Mitchell, Laurent Simon</a:t>
                      </a:r>
                    </a:p>
                  </a:txBody>
                  <a:tcPr marL="55241" marR="78916" marT="15783" marB="118374">
                    <a:lnL w="12700" cmpd="sng">
                      <a:noFill/>
                      <a:prstDash val="solid"/>
                    </a:lnL>
                    <a:lnR w="12700" cmpd="sng">
                      <a:noFill/>
                      <a:prstDash val="solid"/>
                    </a:lnR>
                    <a:lnT w="38100" cmpd="sng">
                      <a:noFill/>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940216576"/>
                  </a:ext>
                </a:extLst>
              </a:tr>
              <a:tr h="522601">
                <a:tc>
                  <a:txBody>
                    <a:bodyPr/>
                    <a:lstStyle/>
                    <a:p>
                      <a:pPr>
                        <a:lnSpc>
                          <a:spcPts val="1660"/>
                        </a:lnSpc>
                      </a:pPr>
                      <a:r>
                        <a:rPr lang="en-US" sz="1000" cap="none" spc="0">
                          <a:solidFill>
                            <a:schemeClr val="tx1"/>
                          </a:solidFill>
                          <a:latin typeface="Times" pitchFamily="2" charset="0"/>
                        </a:rPr>
                        <a:t>Feb 17</a:t>
                      </a:r>
                      <a:r>
                        <a:rPr lang="en-US" sz="1000" cap="none" spc="0" baseline="30000">
                          <a:solidFill>
                            <a:schemeClr val="tx1"/>
                          </a:solidFill>
                          <a:latin typeface="Times" pitchFamily="2" charset="0"/>
                        </a:rPr>
                        <a:t>th</a:t>
                      </a:r>
                      <a:r>
                        <a:rPr lang="en-US" sz="1000" cap="none" spc="0">
                          <a:solidFill>
                            <a:schemeClr val="tx1"/>
                          </a:solidFill>
                          <a:latin typeface="Times" pitchFamily="2" charset="0"/>
                        </a:rPr>
                        <a:t> </a:t>
                      </a:r>
                    </a:p>
                  </a:txBody>
                  <a:tcPr marL="55241" marR="78916" marT="15783" marB="118374">
                    <a:lnL w="9525" cap="flat" cmpd="sng" algn="ctr">
                      <a:solidFill>
                        <a:schemeClr val="tx1"/>
                      </a:solid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a:lnSpc>
                          <a:spcPts val="1660"/>
                        </a:lnSpc>
                      </a:pPr>
                      <a:r>
                        <a:rPr lang="en-CA" sz="1000" b="0" i="0" u="none" strike="noStrike" kern="1200" cap="none" spc="0">
                          <a:solidFill>
                            <a:schemeClr val="tx1"/>
                          </a:solidFill>
                          <a:effectLst/>
                          <a:latin typeface="Times" pitchFamily="2" charset="0"/>
                          <a:ea typeface="+mn-ea"/>
                          <a:cs typeface="+mn-cs"/>
                        </a:rPr>
                        <a:t>Theory and Practice of Structure of SAT Instances </a:t>
                      </a:r>
                      <a:endParaRPr lang="en-US" sz="1000" cap="none" spc="0">
                        <a:solidFill>
                          <a:schemeClr val="tx1"/>
                        </a:solidFill>
                        <a:latin typeface="Times" pitchFamily="2" charset="0"/>
                      </a:endParaRPr>
                    </a:p>
                  </a:txBody>
                  <a:tcPr marL="55241" marR="78916" marT="15783" marB="118374">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a:lnSpc>
                          <a:spcPts val="1660"/>
                        </a:lnSpc>
                      </a:pPr>
                      <a:r>
                        <a:rPr lang="en-US" sz="1000" cap="none" spc="0">
                          <a:solidFill>
                            <a:schemeClr val="tx1"/>
                          </a:solidFill>
                          <a:latin typeface="Times" pitchFamily="2" charset="0"/>
                        </a:rPr>
                        <a:t>Stefan </a:t>
                      </a:r>
                      <a:r>
                        <a:rPr lang="en-US" sz="1000" cap="none" spc="0" err="1">
                          <a:solidFill>
                            <a:schemeClr val="tx1"/>
                          </a:solidFill>
                          <a:latin typeface="Times" pitchFamily="2" charset="0"/>
                        </a:rPr>
                        <a:t>Szeider</a:t>
                      </a:r>
                      <a:r>
                        <a:rPr lang="en-US" sz="1000" cap="none" spc="0">
                          <a:solidFill>
                            <a:schemeClr val="tx1"/>
                          </a:solidFill>
                          <a:latin typeface="Times" pitchFamily="2" charset="0"/>
                        </a:rPr>
                        <a:t>, Jordi Levy, Ralf </a:t>
                      </a:r>
                      <a:r>
                        <a:rPr lang="en-US" sz="1000" cap="none" spc="0" err="1">
                          <a:solidFill>
                            <a:schemeClr val="tx1"/>
                          </a:solidFill>
                          <a:latin typeface="Times" pitchFamily="2" charset="0"/>
                        </a:rPr>
                        <a:t>Rothenberger</a:t>
                      </a:r>
                      <a:endParaRPr lang="en-US" sz="1000" cap="none" spc="0">
                        <a:solidFill>
                          <a:schemeClr val="tx1"/>
                        </a:solidFill>
                        <a:latin typeface="Times" pitchFamily="2" charset="0"/>
                      </a:endParaRPr>
                    </a:p>
                  </a:txBody>
                  <a:tcPr marL="55241" marR="78916" marT="15783" marB="118374">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739510578"/>
                  </a:ext>
                </a:extLst>
              </a:tr>
              <a:tr h="522601">
                <a:tc>
                  <a:txBody>
                    <a:bodyPr/>
                    <a:lstStyle/>
                    <a:p>
                      <a:pPr>
                        <a:lnSpc>
                          <a:spcPts val="1660"/>
                        </a:lnSpc>
                      </a:pPr>
                      <a:r>
                        <a:rPr lang="en-US" sz="1000" cap="none" spc="0">
                          <a:solidFill>
                            <a:schemeClr val="tx1"/>
                          </a:solidFill>
                          <a:latin typeface="Times" pitchFamily="2" charset="0"/>
                        </a:rPr>
                        <a:t>Feb 24</a:t>
                      </a:r>
                      <a:r>
                        <a:rPr lang="en-US" sz="1000" cap="none" spc="0" baseline="30000">
                          <a:solidFill>
                            <a:schemeClr val="tx1"/>
                          </a:solidFill>
                          <a:latin typeface="Times" pitchFamily="2" charset="0"/>
                        </a:rPr>
                        <a:t>th</a:t>
                      </a:r>
                      <a:r>
                        <a:rPr lang="en-US" sz="1000" cap="none" spc="0">
                          <a:solidFill>
                            <a:schemeClr val="tx1"/>
                          </a:solidFill>
                          <a:latin typeface="Times" pitchFamily="2" charset="0"/>
                        </a:rPr>
                        <a:t> </a:t>
                      </a:r>
                    </a:p>
                  </a:txBody>
                  <a:tcPr marL="55241" marR="78916" marT="15783" marB="118374">
                    <a:lnL w="9525" cap="flat" cmpd="sng" algn="ctr">
                      <a:solidFill>
                        <a:schemeClr val="tx1"/>
                      </a:solid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a:lnSpc>
                          <a:spcPts val="1660"/>
                        </a:lnSpc>
                      </a:pPr>
                      <a:r>
                        <a:rPr lang="en-US" sz="1000" cap="none" spc="0">
                          <a:solidFill>
                            <a:schemeClr val="tx1"/>
                          </a:solidFill>
                          <a:latin typeface="Times" pitchFamily="2" charset="0"/>
                        </a:rPr>
                        <a:t>Theory and Practice of Encodings – (encoding showcase)</a:t>
                      </a:r>
                    </a:p>
                  </a:txBody>
                  <a:tcPr marL="55241" marR="78916" marT="15783" marB="118374">
                    <a:lnL w="12700" cmpd="sng">
                      <a:no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a:lnSpc>
                          <a:spcPts val="1660"/>
                        </a:lnSpc>
                      </a:pPr>
                      <a:r>
                        <a:rPr lang="en-US" sz="1000" cap="none" spc="0">
                          <a:solidFill>
                            <a:schemeClr val="tx1"/>
                          </a:solidFill>
                          <a:latin typeface="Times" pitchFamily="2" charset="0"/>
                        </a:rPr>
                        <a:t>Oliver </a:t>
                      </a:r>
                      <a:r>
                        <a:rPr lang="en-US" sz="1000" cap="none" spc="0" err="1">
                          <a:solidFill>
                            <a:schemeClr val="tx1"/>
                          </a:solidFill>
                          <a:latin typeface="Times" pitchFamily="2" charset="0"/>
                        </a:rPr>
                        <a:t>Kullmann</a:t>
                      </a:r>
                      <a:r>
                        <a:rPr lang="en-US" sz="1000" cap="none" spc="0">
                          <a:solidFill>
                            <a:schemeClr val="tx1"/>
                          </a:solidFill>
                          <a:latin typeface="Times" pitchFamily="2" charset="0"/>
                        </a:rPr>
                        <a:t>, Ciaran </a:t>
                      </a:r>
                      <a:r>
                        <a:rPr lang="en-US" sz="1000" cap="none" spc="0" err="1">
                          <a:solidFill>
                            <a:schemeClr val="tx1"/>
                          </a:solidFill>
                          <a:latin typeface="Times" pitchFamily="2" charset="0"/>
                        </a:rPr>
                        <a:t>McCreesh</a:t>
                      </a:r>
                      <a:r>
                        <a:rPr lang="en-US" sz="1000" cap="none" spc="0">
                          <a:solidFill>
                            <a:schemeClr val="tx1"/>
                          </a:solidFill>
                          <a:latin typeface="Times" pitchFamily="2" charset="0"/>
                        </a:rPr>
                        <a:t>, Maria Bonet</a:t>
                      </a:r>
                    </a:p>
                  </a:txBody>
                  <a:tcPr marL="55241" marR="78916" marT="15783" marB="118374">
                    <a:lnL w="12700" cmpd="sng">
                      <a:no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49504468"/>
                  </a:ext>
                </a:extLst>
              </a:tr>
              <a:tr h="522601">
                <a:tc>
                  <a:txBody>
                    <a:bodyPr/>
                    <a:lstStyle/>
                    <a:p>
                      <a:pPr>
                        <a:lnSpc>
                          <a:spcPts val="1660"/>
                        </a:lnSpc>
                      </a:pPr>
                      <a:r>
                        <a:rPr lang="en-US" sz="1000" cap="none" spc="0">
                          <a:solidFill>
                            <a:schemeClr val="tx1"/>
                          </a:solidFill>
                          <a:latin typeface="Times" pitchFamily="2" charset="0"/>
                        </a:rPr>
                        <a:t>Mar 3</a:t>
                      </a:r>
                      <a:r>
                        <a:rPr lang="en-US" sz="1000" cap="none" spc="0" baseline="30000">
                          <a:solidFill>
                            <a:schemeClr val="tx1"/>
                          </a:solidFill>
                          <a:latin typeface="Times" pitchFamily="2" charset="0"/>
                        </a:rPr>
                        <a:t>rd</a:t>
                      </a:r>
                      <a:r>
                        <a:rPr lang="en-US" sz="1000" cap="none" spc="0">
                          <a:solidFill>
                            <a:schemeClr val="tx1"/>
                          </a:solidFill>
                          <a:latin typeface="Times" pitchFamily="2" charset="0"/>
                        </a:rPr>
                        <a:t> </a:t>
                      </a:r>
                    </a:p>
                  </a:txBody>
                  <a:tcPr marL="55241" marR="78916" marT="15783" marB="118374">
                    <a:lnL w="9525" cap="flat" cmpd="sng" algn="ctr">
                      <a:solidFill>
                        <a:schemeClr val="tx1"/>
                      </a:solid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a:lnSpc>
                          <a:spcPts val="1660"/>
                        </a:lnSpc>
                      </a:pPr>
                      <a:r>
                        <a:rPr lang="en-US" sz="1000" cap="none" spc="0">
                          <a:solidFill>
                            <a:schemeClr val="tx1"/>
                          </a:solidFill>
                          <a:latin typeface="Times" pitchFamily="2" charset="0"/>
                        </a:rPr>
                        <a:t>Proof Complexity Toolbox</a:t>
                      </a:r>
                    </a:p>
                  </a:txBody>
                  <a:tcPr marL="55241" marR="78916" marT="15783" marB="118374">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rtl="0">
                        <a:lnSpc>
                          <a:spcPts val="1660"/>
                        </a:lnSpc>
                      </a:pPr>
                      <a:r>
                        <a:rPr lang="en-US" sz="1000" cap="none" spc="0">
                          <a:solidFill>
                            <a:schemeClr val="tx1"/>
                          </a:solidFill>
                          <a:latin typeface="Times" pitchFamily="2" charset="0"/>
                        </a:rPr>
                        <a:t>Robert </a:t>
                      </a:r>
                      <a:r>
                        <a:rPr lang="en-US" sz="1000" cap="none" spc="0" err="1">
                          <a:solidFill>
                            <a:schemeClr val="tx1"/>
                          </a:solidFill>
                          <a:latin typeface="Times" pitchFamily="2" charset="0"/>
                        </a:rPr>
                        <a:t>Robere</a:t>
                      </a:r>
                      <a:r>
                        <a:rPr lang="en-US" sz="1000" cap="none" spc="0">
                          <a:solidFill>
                            <a:schemeClr val="tx1"/>
                          </a:solidFill>
                          <a:latin typeface="Times" pitchFamily="2" charset="0"/>
                        </a:rPr>
                        <a:t>, </a:t>
                      </a:r>
                      <a:r>
                        <a:rPr lang="en-CA" sz="1000" b="0" i="0" u="none" strike="noStrike" kern="1200" cap="none" spc="0">
                          <a:solidFill>
                            <a:schemeClr val="tx1"/>
                          </a:solidFill>
                          <a:effectLst/>
                          <a:latin typeface="Times" pitchFamily="2" charset="0"/>
                          <a:ea typeface="+mn-ea"/>
                          <a:cs typeface="+mn-cs"/>
                        </a:rPr>
                        <a:t>Susanna de Rezende </a:t>
                      </a:r>
                    </a:p>
                    <a:p>
                      <a:pPr rtl="0">
                        <a:lnSpc>
                          <a:spcPts val="1660"/>
                        </a:lnSpc>
                      </a:pPr>
                      <a:r>
                        <a:rPr lang="en-CA" sz="1000" b="0" i="0" u="none" strike="noStrike" kern="1200" cap="none" spc="0">
                          <a:solidFill>
                            <a:schemeClr val="tx1"/>
                          </a:solidFill>
                          <a:effectLst/>
                          <a:latin typeface="Times" pitchFamily="2" charset="0"/>
                          <a:ea typeface="+mn-ea"/>
                          <a:cs typeface="+mn-cs"/>
                        </a:rPr>
                        <a:t>Joanna </a:t>
                      </a:r>
                      <a:r>
                        <a:rPr lang="en-CA" sz="1000" b="0" i="0" u="none" strike="noStrike" kern="1200" cap="none" spc="0" err="1">
                          <a:solidFill>
                            <a:schemeClr val="tx1"/>
                          </a:solidFill>
                          <a:effectLst/>
                          <a:latin typeface="Times" pitchFamily="2" charset="0"/>
                          <a:ea typeface="+mn-ea"/>
                          <a:cs typeface="+mn-cs"/>
                        </a:rPr>
                        <a:t>Ochremiak</a:t>
                      </a:r>
                      <a:r>
                        <a:rPr lang="en-CA" sz="1000" b="0" i="0" u="none" strike="noStrike" kern="1200" cap="none" spc="0">
                          <a:solidFill>
                            <a:schemeClr val="tx1"/>
                          </a:solidFill>
                          <a:effectLst/>
                          <a:latin typeface="Times" pitchFamily="2" charset="0"/>
                          <a:ea typeface="+mn-ea"/>
                          <a:cs typeface="+mn-cs"/>
                        </a:rPr>
                        <a:t>,..</a:t>
                      </a:r>
                    </a:p>
                  </a:txBody>
                  <a:tcPr marL="55241" marR="78916" marT="15783" marB="118374">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332826445"/>
                  </a:ext>
                </a:extLst>
              </a:tr>
              <a:tr h="522601">
                <a:tc>
                  <a:txBody>
                    <a:bodyPr/>
                    <a:lstStyle/>
                    <a:p>
                      <a:pPr>
                        <a:lnSpc>
                          <a:spcPts val="1660"/>
                        </a:lnSpc>
                      </a:pPr>
                      <a:r>
                        <a:rPr lang="en-US" sz="1000" cap="none" spc="0">
                          <a:solidFill>
                            <a:schemeClr val="tx1"/>
                          </a:solidFill>
                          <a:latin typeface="Times" pitchFamily="2" charset="0"/>
                        </a:rPr>
                        <a:t>Mar 10</a:t>
                      </a:r>
                      <a:r>
                        <a:rPr lang="en-US" sz="1000" cap="none" spc="0" baseline="30000">
                          <a:solidFill>
                            <a:schemeClr val="tx1"/>
                          </a:solidFill>
                          <a:latin typeface="Times" pitchFamily="2" charset="0"/>
                        </a:rPr>
                        <a:t>th</a:t>
                      </a:r>
                      <a:r>
                        <a:rPr lang="en-US" sz="1000" cap="none" spc="0">
                          <a:solidFill>
                            <a:schemeClr val="tx1"/>
                          </a:solidFill>
                          <a:latin typeface="Times" pitchFamily="2" charset="0"/>
                        </a:rPr>
                        <a:t> </a:t>
                      </a:r>
                    </a:p>
                  </a:txBody>
                  <a:tcPr marL="55241" marR="78916" marT="15783" marB="118374">
                    <a:lnL w="9525" cap="flat" cmpd="sng" algn="ctr">
                      <a:solidFill>
                        <a:schemeClr val="tx1"/>
                      </a:solid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a:lnSpc>
                          <a:spcPts val="1660"/>
                        </a:lnSpc>
                      </a:pPr>
                      <a:r>
                        <a:rPr lang="en-US" sz="1000" cap="none" spc="0">
                          <a:solidFill>
                            <a:schemeClr val="tx1"/>
                          </a:solidFill>
                          <a:latin typeface="Times" pitchFamily="2" charset="0"/>
                        </a:rPr>
                        <a:t>Recent Advances in Proof Complexity of Solvers</a:t>
                      </a:r>
                    </a:p>
                  </a:txBody>
                  <a:tcPr marL="55241" marR="78916" marT="15783" marB="118374">
                    <a:lnL w="12700" cmpd="sng">
                      <a:no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a:lnSpc>
                          <a:spcPts val="1660"/>
                        </a:lnSpc>
                      </a:pPr>
                      <a:r>
                        <a:rPr lang="en-US" sz="1000" cap="none" spc="0">
                          <a:solidFill>
                            <a:schemeClr val="tx1"/>
                          </a:solidFill>
                          <a:latin typeface="Times" pitchFamily="2" charset="0"/>
                        </a:rPr>
                        <a:t>Marc </a:t>
                      </a:r>
                      <a:r>
                        <a:rPr lang="en-US" sz="1000" cap="none" spc="0" err="1">
                          <a:solidFill>
                            <a:schemeClr val="tx1"/>
                          </a:solidFill>
                          <a:latin typeface="Times" pitchFamily="2" charset="0"/>
                        </a:rPr>
                        <a:t>Vinyals</a:t>
                      </a:r>
                      <a:r>
                        <a:rPr lang="en-US" sz="1000" cap="none" spc="0">
                          <a:solidFill>
                            <a:schemeClr val="tx1"/>
                          </a:solidFill>
                          <a:latin typeface="Times" pitchFamily="2" charset="0"/>
                        </a:rPr>
                        <a:t>, Noah Fleming, Ian Li,…</a:t>
                      </a:r>
                    </a:p>
                  </a:txBody>
                  <a:tcPr marL="55241" marR="78916" marT="15783" marB="118374">
                    <a:lnL w="12700" cmpd="sng">
                      <a:no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383016269"/>
                  </a:ext>
                </a:extLst>
              </a:tr>
              <a:tr h="522601">
                <a:tc>
                  <a:txBody>
                    <a:bodyPr/>
                    <a:lstStyle/>
                    <a:p>
                      <a:pPr>
                        <a:lnSpc>
                          <a:spcPts val="1660"/>
                        </a:lnSpc>
                      </a:pPr>
                      <a:r>
                        <a:rPr lang="en-US" sz="1000" cap="none" spc="0">
                          <a:solidFill>
                            <a:schemeClr val="tx1"/>
                          </a:solidFill>
                          <a:latin typeface="Times" pitchFamily="2" charset="0"/>
                        </a:rPr>
                        <a:t>Mar 17</a:t>
                      </a:r>
                      <a:r>
                        <a:rPr lang="en-US" sz="1000" cap="none" spc="0" baseline="30000">
                          <a:solidFill>
                            <a:schemeClr val="tx1"/>
                          </a:solidFill>
                          <a:latin typeface="Times" pitchFamily="2" charset="0"/>
                        </a:rPr>
                        <a:t>th</a:t>
                      </a:r>
                      <a:r>
                        <a:rPr lang="en-US" sz="1000" cap="none" spc="0">
                          <a:solidFill>
                            <a:schemeClr val="tx1"/>
                          </a:solidFill>
                          <a:latin typeface="Times" pitchFamily="2" charset="0"/>
                        </a:rPr>
                        <a:t> </a:t>
                      </a:r>
                    </a:p>
                  </a:txBody>
                  <a:tcPr marL="55241" marR="78916" marT="15783" marB="118374">
                    <a:lnL w="9525" cap="flat" cmpd="sng" algn="ctr">
                      <a:solidFill>
                        <a:schemeClr val="tx1"/>
                      </a:solid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a:lnSpc>
                          <a:spcPts val="1660"/>
                        </a:lnSpc>
                      </a:pPr>
                      <a:r>
                        <a:rPr lang="en-US" sz="1000" cap="none" spc="0">
                          <a:solidFill>
                            <a:schemeClr val="tx1"/>
                          </a:solidFill>
                          <a:latin typeface="Times" pitchFamily="2" charset="0"/>
                        </a:rPr>
                        <a:t>Non-CDCL Solvers</a:t>
                      </a:r>
                    </a:p>
                  </a:txBody>
                  <a:tcPr marL="55241" marR="78916" marT="15783" marB="118374">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a:lnSpc>
                          <a:spcPts val="1660"/>
                        </a:lnSpc>
                      </a:pPr>
                      <a:r>
                        <a:rPr lang="en-US" sz="1000" cap="none" spc="0">
                          <a:solidFill>
                            <a:schemeClr val="tx1"/>
                          </a:solidFill>
                          <a:latin typeface="Times" pitchFamily="2" charset="0"/>
                        </a:rPr>
                        <a:t>Marijn </a:t>
                      </a:r>
                      <a:r>
                        <a:rPr lang="en-US" sz="1000" cap="none" spc="0" err="1">
                          <a:solidFill>
                            <a:schemeClr val="tx1"/>
                          </a:solidFill>
                          <a:latin typeface="Times" pitchFamily="2" charset="0"/>
                        </a:rPr>
                        <a:t>Heule</a:t>
                      </a:r>
                      <a:r>
                        <a:rPr lang="en-US" sz="1000" cap="none" spc="0">
                          <a:solidFill>
                            <a:schemeClr val="tx1"/>
                          </a:solidFill>
                          <a:latin typeface="Times" pitchFamily="2" charset="0"/>
                        </a:rPr>
                        <a:t>, Jakob Nordstrom, </a:t>
                      </a:r>
                      <a:r>
                        <a:rPr lang="en-US" sz="1000" cap="none" spc="0" err="1">
                          <a:solidFill>
                            <a:schemeClr val="tx1"/>
                          </a:solidFill>
                          <a:latin typeface="Times" pitchFamily="2" charset="0"/>
                        </a:rPr>
                        <a:t>Zhiwei</a:t>
                      </a:r>
                      <a:r>
                        <a:rPr lang="en-US" sz="1000" cap="none" spc="0">
                          <a:solidFill>
                            <a:schemeClr val="tx1"/>
                          </a:solidFill>
                          <a:latin typeface="Times" pitchFamily="2" charset="0"/>
                        </a:rPr>
                        <a:t> Zhang</a:t>
                      </a:r>
                    </a:p>
                  </a:txBody>
                  <a:tcPr marL="55241" marR="78916" marT="15783" marB="118374">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726891214"/>
                  </a:ext>
                </a:extLst>
              </a:tr>
              <a:tr h="522601">
                <a:tc>
                  <a:txBody>
                    <a:bodyPr/>
                    <a:lstStyle/>
                    <a:p>
                      <a:pPr>
                        <a:lnSpc>
                          <a:spcPts val="1660"/>
                        </a:lnSpc>
                      </a:pPr>
                      <a:r>
                        <a:rPr lang="en-US" sz="1000" cap="none" spc="0">
                          <a:solidFill>
                            <a:schemeClr val="tx1"/>
                          </a:solidFill>
                          <a:latin typeface="Times" pitchFamily="2" charset="0"/>
                        </a:rPr>
                        <a:t>Mar 24</a:t>
                      </a:r>
                      <a:r>
                        <a:rPr lang="en-US" sz="1000" cap="none" spc="0" baseline="30000">
                          <a:solidFill>
                            <a:schemeClr val="tx1"/>
                          </a:solidFill>
                          <a:latin typeface="Times" pitchFamily="2" charset="0"/>
                        </a:rPr>
                        <a:t>th</a:t>
                      </a:r>
                      <a:r>
                        <a:rPr lang="en-US" sz="1000" cap="none" spc="0">
                          <a:solidFill>
                            <a:schemeClr val="tx1"/>
                          </a:solidFill>
                          <a:latin typeface="Times" pitchFamily="2" charset="0"/>
                        </a:rPr>
                        <a:t> </a:t>
                      </a:r>
                    </a:p>
                  </a:txBody>
                  <a:tcPr marL="55241" marR="78916" marT="15783" marB="118374">
                    <a:lnL w="9525" cap="flat" cmpd="sng" algn="ctr">
                      <a:solidFill>
                        <a:schemeClr val="tx1"/>
                      </a:solid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rtl="0">
                        <a:lnSpc>
                          <a:spcPts val="1660"/>
                        </a:lnSpc>
                      </a:pPr>
                      <a:r>
                        <a:rPr lang="en-CA" sz="1000" b="0" i="0" u="none" strike="noStrike" kern="1200" cap="none" spc="0">
                          <a:solidFill>
                            <a:schemeClr val="tx1"/>
                          </a:solidFill>
                          <a:effectLst/>
                          <a:latin typeface="Times" pitchFamily="2" charset="0"/>
                          <a:ea typeface="+mn-ea"/>
                          <a:cs typeface="+mn-cs"/>
                        </a:rPr>
                        <a:t>Theorem Proving Strategies and Decision Procedures for Satisfiability</a:t>
                      </a:r>
                    </a:p>
                  </a:txBody>
                  <a:tcPr marL="55241" marR="78916" marT="15783" marB="118374">
                    <a:lnL w="12700" cmpd="sng">
                      <a:no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tc>
                  <a:txBody>
                    <a:bodyPr/>
                    <a:lstStyle/>
                    <a:p>
                      <a:pPr>
                        <a:lnSpc>
                          <a:spcPts val="1660"/>
                        </a:lnSpc>
                      </a:pPr>
                      <a:r>
                        <a:rPr lang="en-US" sz="1000" cap="none" spc="0">
                          <a:solidFill>
                            <a:schemeClr val="tx1"/>
                          </a:solidFill>
                          <a:latin typeface="Times" pitchFamily="2" charset="0"/>
                        </a:rPr>
                        <a:t>Maria Paola </a:t>
                      </a:r>
                      <a:r>
                        <a:rPr lang="en-US" sz="1000" cap="none" spc="0" err="1">
                          <a:solidFill>
                            <a:schemeClr val="tx1"/>
                          </a:solidFill>
                          <a:latin typeface="Times" pitchFamily="2" charset="0"/>
                        </a:rPr>
                        <a:t>Bonacina</a:t>
                      </a:r>
                      <a:r>
                        <a:rPr lang="en-US" sz="1000" cap="none" spc="0">
                          <a:solidFill>
                            <a:schemeClr val="tx1"/>
                          </a:solidFill>
                          <a:latin typeface="Times" pitchFamily="2" charset="0"/>
                        </a:rPr>
                        <a:t>, Daniel </a:t>
                      </a:r>
                      <a:r>
                        <a:rPr lang="en-US" sz="1000" cap="none" spc="0" err="1">
                          <a:solidFill>
                            <a:schemeClr val="tx1"/>
                          </a:solidFill>
                          <a:latin typeface="Times" pitchFamily="2" charset="0"/>
                        </a:rPr>
                        <a:t>Selsam</a:t>
                      </a:r>
                      <a:r>
                        <a:rPr lang="en-US" sz="1000" cap="none" spc="0">
                          <a:solidFill>
                            <a:schemeClr val="tx1"/>
                          </a:solidFill>
                          <a:latin typeface="Times" pitchFamily="2" charset="0"/>
                        </a:rPr>
                        <a:t>, …</a:t>
                      </a:r>
                    </a:p>
                  </a:txBody>
                  <a:tcPr marL="55241" marR="78916" marT="15783" marB="118374">
                    <a:lnL w="12700" cmpd="sng">
                      <a:noFill/>
                      <a:prstDash val="solid"/>
                    </a:lnL>
                    <a:lnR w="12700" cmpd="sng">
                      <a:noFill/>
                      <a:prstDash val="solid"/>
                    </a:lnR>
                    <a:lnT w="12700" cmpd="sng">
                      <a:noFill/>
                      <a:prstDash val="solid"/>
                    </a:lnT>
                    <a:lnB w="9525" cap="flat" cmpd="sng" algn="ctr">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51214077"/>
                  </a:ext>
                </a:extLst>
              </a:tr>
              <a:tr h="336271">
                <a:tc>
                  <a:txBody>
                    <a:bodyPr/>
                    <a:lstStyle/>
                    <a:p>
                      <a:pPr>
                        <a:lnSpc>
                          <a:spcPts val="1660"/>
                        </a:lnSpc>
                      </a:pPr>
                      <a:r>
                        <a:rPr lang="en-US" sz="1000" cap="none" spc="0">
                          <a:solidFill>
                            <a:schemeClr val="tx1"/>
                          </a:solidFill>
                          <a:latin typeface="Times" pitchFamily="2" charset="0"/>
                        </a:rPr>
                        <a:t>Mar 31</a:t>
                      </a:r>
                      <a:r>
                        <a:rPr lang="en-US" sz="1000" cap="none" spc="0" baseline="30000">
                          <a:solidFill>
                            <a:schemeClr val="tx1"/>
                          </a:solidFill>
                          <a:latin typeface="Times" pitchFamily="2" charset="0"/>
                        </a:rPr>
                        <a:t>st</a:t>
                      </a:r>
                      <a:r>
                        <a:rPr lang="en-US" sz="1000" cap="none" spc="0">
                          <a:solidFill>
                            <a:schemeClr val="tx1"/>
                          </a:solidFill>
                          <a:latin typeface="Times" pitchFamily="2" charset="0"/>
                        </a:rPr>
                        <a:t> </a:t>
                      </a:r>
                    </a:p>
                  </a:txBody>
                  <a:tcPr marL="55241" marR="78916" marT="15783" marB="118374">
                    <a:lnL w="9525" cap="flat" cmpd="sng" algn="ctr">
                      <a:solidFill>
                        <a:schemeClr val="tx1"/>
                      </a:solid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rtl="0">
                        <a:lnSpc>
                          <a:spcPts val="1660"/>
                        </a:lnSpc>
                      </a:pPr>
                      <a:r>
                        <a:rPr lang="en-CA" sz="1000" b="0" i="0" u="none" strike="noStrike" kern="1200" cap="none" spc="0">
                          <a:solidFill>
                            <a:schemeClr val="tx1"/>
                          </a:solidFill>
                          <a:effectLst/>
                          <a:latin typeface="Times" pitchFamily="2" charset="0"/>
                          <a:ea typeface="+mn-ea"/>
                          <a:cs typeface="+mn-cs"/>
                        </a:rPr>
                        <a:t>Richard M. Karp Public Lecture</a:t>
                      </a:r>
                    </a:p>
                  </a:txBody>
                  <a:tcPr marL="55241" marR="78916" marT="15783" marB="118374">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tc>
                  <a:txBody>
                    <a:bodyPr/>
                    <a:lstStyle/>
                    <a:p>
                      <a:pPr>
                        <a:lnSpc>
                          <a:spcPts val="1660"/>
                        </a:lnSpc>
                      </a:pPr>
                      <a:r>
                        <a:rPr lang="en-US" sz="1000" cap="none" spc="0">
                          <a:solidFill>
                            <a:schemeClr val="tx1"/>
                          </a:solidFill>
                          <a:latin typeface="Times" pitchFamily="2" charset="0"/>
                        </a:rPr>
                        <a:t>TBD</a:t>
                      </a:r>
                    </a:p>
                  </a:txBody>
                  <a:tcPr marL="55241" marR="78916" marT="15783" marB="118374">
                    <a:lnL w="12700" cmpd="sng">
                      <a:noFill/>
                      <a:prstDash val="solid"/>
                    </a:lnL>
                    <a:lnR w="12700" cmpd="sng">
                      <a:noFill/>
                      <a:prstDash val="solid"/>
                    </a:lnR>
                    <a:lnT w="9525" cap="flat" cmpd="sng" algn="ctr">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2253249"/>
                  </a:ext>
                </a:extLst>
              </a:tr>
              <a:tr h="336271">
                <a:tc>
                  <a:txBody>
                    <a:bodyPr/>
                    <a:lstStyle/>
                    <a:p>
                      <a:pPr>
                        <a:lnSpc>
                          <a:spcPts val="1660"/>
                        </a:lnSpc>
                      </a:pPr>
                      <a:r>
                        <a:rPr lang="en-US" sz="1000" cap="none" spc="0">
                          <a:solidFill>
                            <a:schemeClr val="tx1"/>
                          </a:solidFill>
                          <a:latin typeface="Times" pitchFamily="2" charset="0"/>
                        </a:rPr>
                        <a:t>Apr 7</a:t>
                      </a:r>
                      <a:r>
                        <a:rPr lang="en-US" sz="1000" cap="none" spc="0" baseline="30000">
                          <a:solidFill>
                            <a:schemeClr val="tx1"/>
                          </a:solidFill>
                          <a:latin typeface="Times" pitchFamily="2" charset="0"/>
                        </a:rPr>
                        <a:t>th</a:t>
                      </a:r>
                      <a:r>
                        <a:rPr lang="en-US" sz="1000" cap="none" spc="0">
                          <a:solidFill>
                            <a:schemeClr val="tx1"/>
                          </a:solidFill>
                          <a:latin typeface="Times" pitchFamily="2" charset="0"/>
                        </a:rPr>
                        <a:t> </a:t>
                      </a:r>
                    </a:p>
                  </a:txBody>
                  <a:tcPr marL="55241" marR="78916" marT="15783" marB="118374">
                    <a:lnL w="9525" cap="flat" cmpd="sng" algn="ctr">
                      <a:solidFill>
                        <a:schemeClr val="tx1"/>
                      </a:solid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rtl="0">
                        <a:lnSpc>
                          <a:spcPts val="1660"/>
                        </a:lnSpc>
                      </a:pPr>
                      <a:r>
                        <a:rPr lang="en-CA" sz="1000" b="0" i="0" u="none" strike="noStrike" kern="1200" cap="none" spc="0">
                          <a:solidFill>
                            <a:schemeClr val="tx1"/>
                          </a:solidFill>
                          <a:effectLst/>
                          <a:latin typeface="Times" pitchFamily="2" charset="0"/>
                          <a:ea typeface="+mn-ea"/>
                          <a:cs typeface="+mn-cs"/>
                        </a:rPr>
                        <a:t>Machine Learning for Solvers</a:t>
                      </a:r>
                    </a:p>
                  </a:txBody>
                  <a:tcPr marL="55241" marR="78916" marT="15783" marB="118374">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tc>
                  <a:txBody>
                    <a:bodyPr/>
                    <a:lstStyle/>
                    <a:p>
                      <a:pPr>
                        <a:lnSpc>
                          <a:spcPts val="1660"/>
                        </a:lnSpc>
                      </a:pPr>
                      <a:r>
                        <a:rPr lang="en-US" sz="1000" cap="none" spc="0">
                          <a:solidFill>
                            <a:schemeClr val="tx1"/>
                          </a:solidFill>
                          <a:latin typeface="Times" pitchFamily="2" charset="0"/>
                        </a:rPr>
                        <a:t>TBD</a:t>
                      </a:r>
                    </a:p>
                  </a:txBody>
                  <a:tcPr marL="55241" marR="78916" marT="15783" marB="118374">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472508726"/>
                  </a:ext>
                </a:extLst>
              </a:tr>
            </a:tbl>
          </a:graphicData>
        </a:graphic>
      </p:graphicFrame>
    </p:spTree>
    <p:extLst>
      <p:ext uri="{BB962C8B-B14F-4D97-AF65-F5344CB8AC3E}">
        <p14:creationId xmlns:p14="http://schemas.microsoft.com/office/powerpoint/2010/main" val="29931234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3F0ADB5-A0B4-4B01-A8C4-FDC34CE22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A6D0FDE-0241-4C21-A720-A69475358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3467" y="2681103"/>
            <a:ext cx="3363974" cy="1495794"/>
          </a:xfrm>
          <a:noFill/>
          <a:ln>
            <a:solidFill>
              <a:schemeClr val="bg1"/>
            </a:solidFill>
          </a:ln>
        </p:spPr>
        <p:txBody>
          <a:bodyPr wrap="square">
            <a:normAutofit/>
          </a:bodyPr>
          <a:lstStyle/>
          <a:p>
            <a:r>
              <a:rPr lang="en-US">
                <a:solidFill>
                  <a:schemeClr val="bg1"/>
                </a:solidFill>
                <a:latin typeface="Times" charset="0"/>
                <a:ea typeface="Times" charset="0"/>
                <a:cs typeface="Times" charset="0"/>
              </a:rPr>
              <a:t>References</a:t>
            </a:r>
          </a:p>
        </p:txBody>
      </p:sp>
      <p:sp>
        <p:nvSpPr>
          <p:cNvPr id="3" name="Slide Number Placeholder 2">
            <a:extLst>
              <a:ext uri="{FF2B5EF4-FFF2-40B4-BE49-F238E27FC236}">
                <a16:creationId xmlns:a16="http://schemas.microsoft.com/office/drawing/2014/main" id="{945C851B-91D5-7F4F-B8E8-D56CC4A88064}"/>
              </a:ext>
            </a:extLst>
          </p:cNvPr>
          <p:cNvSpPr>
            <a:spLocks noGrp="1"/>
          </p:cNvSpPr>
          <p:nvPr>
            <p:ph type="sldNum" sz="quarter" idx="12"/>
          </p:nvPr>
        </p:nvSpPr>
        <p:spPr>
          <a:xfrm>
            <a:off x="10758922" y="6217920"/>
            <a:ext cx="365760" cy="365760"/>
          </a:xfrm>
        </p:spPr>
        <p:txBody>
          <a:bodyPr>
            <a:normAutofit/>
          </a:bodyPr>
          <a:lstStyle/>
          <a:p>
            <a:pPr>
              <a:lnSpc>
                <a:spcPct val="90000"/>
              </a:lnSpc>
              <a:spcAft>
                <a:spcPts val="600"/>
              </a:spcAft>
            </a:pPr>
            <a:fld id="{8A7A6979-0714-4377-B894-6BE4C2D6E202}" type="slidenum">
              <a:rPr lang="en-US" smtClean="0"/>
              <a:pPr>
                <a:lnSpc>
                  <a:spcPct val="90000"/>
                </a:lnSpc>
                <a:spcAft>
                  <a:spcPts val="600"/>
                </a:spcAft>
              </a:pPr>
              <a:t>28</a:t>
            </a:fld>
            <a:endParaRPr lang="en-US"/>
          </a:p>
        </p:txBody>
      </p:sp>
      <p:graphicFrame>
        <p:nvGraphicFramePr>
          <p:cNvPr id="19" name="Content Placeholder 3">
            <a:extLst>
              <a:ext uri="{FF2B5EF4-FFF2-40B4-BE49-F238E27FC236}">
                <a16:creationId xmlns:a16="http://schemas.microsoft.com/office/drawing/2014/main" id="{7AFC0758-9ED4-27B0-9C5D-B4B5E06CE290}"/>
              </a:ext>
            </a:extLst>
          </p:cNvPr>
          <p:cNvGraphicFramePr>
            <a:graphicFrameLocks noGrp="1"/>
          </p:cNvGraphicFramePr>
          <p:nvPr>
            <p:ph idx="1"/>
            <p:extLst>
              <p:ext uri="{D42A27DB-BD31-4B8C-83A1-F6EECF244321}">
                <p14:modId xmlns:p14="http://schemas.microsoft.com/office/powerpoint/2010/main" val="3698793852"/>
              </p:ext>
            </p:extLst>
          </p:nvPr>
        </p:nvGraphicFramePr>
        <p:xfrm>
          <a:off x="5619750" y="965200"/>
          <a:ext cx="5607050" cy="4927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86967116"/>
      </p:ext>
    </p:extLst>
  </p:cSld>
  <p:clrMapOvr>
    <a:masterClrMapping/>
  </p:clrMapOvr>
</p:sld>
</file>

<file path=ppt/theme/theme1.xml><?xml version="1.0" encoding="utf-8"?>
<a:theme xmlns:a="http://schemas.openxmlformats.org/drawingml/2006/main" name="Parcel">
  <a:themeElements>
    <a:clrScheme name="Parcel">
      <a:dk1>
        <a:srgbClr val="000000"/>
      </a:dk1>
      <a:lt1>
        <a:srgbClr val="EAF2FB"/>
      </a:lt1>
      <a:dk2>
        <a:srgbClr val="1F3864"/>
      </a:dk2>
      <a:lt2>
        <a:srgbClr val="DEEBF7"/>
      </a:lt2>
      <a:accent1>
        <a:srgbClr val="5B9BD5"/>
      </a:accent1>
      <a:accent2>
        <a:srgbClr val="2E74B5"/>
      </a:accent2>
      <a:accent3>
        <a:srgbClr val="1F4E79"/>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18285</TotalTime>
  <Words>2811</Words>
  <Application>Microsoft Macintosh PowerPoint</Application>
  <PresentationFormat>Widescreen</PresentationFormat>
  <Paragraphs>288</Paragraphs>
  <Slides>28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ＭＳ Ｐゴシック</vt:lpstr>
      <vt:lpstr>Arial</vt:lpstr>
      <vt:lpstr>Calibri</vt:lpstr>
      <vt:lpstr>Cambria Math</vt:lpstr>
      <vt:lpstr>Georgia</vt:lpstr>
      <vt:lpstr>Gill Sans MT</vt:lpstr>
      <vt:lpstr>Times</vt:lpstr>
      <vt:lpstr>Wingdings</vt:lpstr>
      <vt:lpstr>Parcel</vt:lpstr>
      <vt:lpstr>Perspectives on Practice and Theory of SAT Solving</vt:lpstr>
      <vt:lpstr>Talk Outline</vt:lpstr>
      <vt:lpstr>PowerPoint Presentation</vt:lpstr>
      <vt:lpstr>The Central Question in Solver Research Why are Solvers Efficient?</vt:lpstr>
      <vt:lpstr>The Generality of the Central Question This question also applies to SMT, CP,…</vt:lpstr>
      <vt:lpstr>Sub-questions Why are Solvers Efficient?</vt:lpstr>
      <vt:lpstr>Target Conjectures and Results Why are Solvers Efficient?</vt:lpstr>
      <vt:lpstr>PowerPoint Presentation</vt:lpstr>
      <vt:lpstr>Search for Complexity-theoretic Parameters Key Question</vt:lpstr>
      <vt:lpstr>Complexity-theoretic Understanding of Solvers Empirical Approach to Identify Good Parameters</vt:lpstr>
      <vt:lpstr>Parameters that have been (tentatively) Ruled Out</vt:lpstr>
      <vt:lpstr>Parameters that have not yet been Ruled Out</vt:lpstr>
      <vt:lpstr>Proof Systems Proof-complexity of Solvers</vt:lpstr>
      <vt:lpstr>Resolution and Merges Mergeability and CDCL SAT Solvers</vt:lpstr>
      <vt:lpstr>Mergeability Number of Merges vs. Learnt Clause Size</vt:lpstr>
      <vt:lpstr>PowerPoint Presentation</vt:lpstr>
      <vt:lpstr>Solvers = Proof Search Systems+Machine Learning The Practice of Proof Systems</vt:lpstr>
      <vt:lpstr>Conflict-Driven Clause-Learning SAT Solver Solver = Proof Search System + ML</vt:lpstr>
      <vt:lpstr>CDCL with Deductive Feedback Loop Reinforcement Learning</vt:lpstr>
      <vt:lpstr>PowerPoint Presentation</vt:lpstr>
      <vt:lpstr>Understanding the Power of Restarts</vt:lpstr>
      <vt:lpstr>PowerPoint Presentation</vt:lpstr>
      <vt:lpstr>From Practice to Theory</vt:lpstr>
      <vt:lpstr>PowerPoint Presentation</vt:lpstr>
      <vt:lpstr>Open Problems (Theory and Practice)</vt:lpstr>
      <vt:lpstr>PowerPoint Presentation</vt:lpstr>
      <vt:lpstr>Summary of Scheduled Workshop Talks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Rate Based Branching Heuristic for SAT Solvers</dc:title>
  <dc:creator>jimmy</dc:creator>
  <cp:lastModifiedBy>Michael Ofengenden</cp:lastModifiedBy>
  <cp:revision>4239</cp:revision>
  <cp:lastPrinted>2018-08-09T12:43:13Z</cp:lastPrinted>
  <dcterms:created xsi:type="dcterms:W3CDTF">2016-07-02T00:40:08Z</dcterms:created>
  <dcterms:modified xsi:type="dcterms:W3CDTF">2025-09-29T18:54:36Z</dcterms:modified>
</cp:coreProperties>
</file>
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11"/>
    <p:restoredTop sz="94658"/>
  </p:normalViewPr>
  <p:slideViewPr>
    <p:cSldViewPr snapToGrid="0" snapToObjects="1">
      <p:cViewPr varScale="1">
        <p:scale>
          <a:sx n="120" d="100"/>
          <a:sy n="120" d="100"/>
        </p:scale>
        <p:origin x="800" y="18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9/22/25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9/22/25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9/22/25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9/22/25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9/22/25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9/22/25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9/22/25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9/22/25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9/22/25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9/22/25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9/22/25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9/22/25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Conditional Table Formatting (Negative Numbers) - Ground Truth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Negative numerical digits in tables are red (#FF0000) and bold. Nothing else changes.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02191209"/>
              </p:ext>
            </p:extLst>
          </p:nvPr>
        </p:nvGraphicFramePr>
        <p:xfrm>
          <a:off x="914400" y="1097280"/>
          <a:ext cx="9144000" cy="3657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16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3774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3774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3774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731520">
                <a:tc>
                  <a:txBody>
                    <a:bodyPr/>
                    <a:lstStyle/>
                    <a:p>
                      <a:r>
                        <a:t>Region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Revenue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Cost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Profit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31520">
                <a:tc>
                  <a:txBody>
                    <a:bodyPr/>
                    <a:lstStyle/>
                    <a:p>
                      <a:r>
                        <a:t>North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$120,500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$98,300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$22,200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31520">
                <a:tc>
                  <a:txBody>
                    <a:bodyPr/>
                    <a:lstStyle/>
                    <a:p>
                      <a:r>
                        <a:t>South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$88,000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$103,250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-</a:t>
                      </a:r>
                      <a:r>
                        <a:rPr dirty="0"/>
                        <a:t>$</a:t>
                      </a:r>
                      <a:r>
                        <a:rPr b="1" dirty="0">
                          <a:solidFill>
                            <a:srgbClr val="FF0000"/>
                          </a:solidFill>
                        </a:rPr>
                        <a:t>15</a:t>
                      </a:r>
                      <a:r>
                        <a:rPr dirty="0"/>
                        <a:t>,</a:t>
                      </a:r>
                      <a:r>
                        <a:rPr b="1" dirty="0">
                          <a:solidFill>
                            <a:srgbClr val="FF0000"/>
                          </a:solidFill>
                        </a:rPr>
                        <a:t>250</a:t>
                      </a:r>
                      <a:endParaRPr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31520">
                <a:tc>
                  <a:txBody>
                    <a:bodyPr/>
                    <a:lstStyle/>
                    <a:p>
                      <a:r>
                        <a:t>East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$74,300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$69,900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$4,400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31520">
                <a:tc>
                  <a:txBody>
                    <a:bodyPr/>
                    <a:lstStyle/>
                    <a:p>
                      <a:r>
                        <a:t>West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$63,000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$78,500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dirty="0"/>
                        <a:t>-$</a:t>
                      </a:r>
                      <a:r>
                        <a:rPr b="1" dirty="0">
                          <a:solidFill>
                            <a:srgbClr val="FF0000"/>
                          </a:solidFill>
                        </a:rPr>
                        <a:t>15</a:t>
                      </a:r>
                      <a:r>
                        <a:rPr dirty="0"/>
                        <a:t>,</a:t>
                      </a:r>
                      <a:r>
                        <a:rPr b="1" dirty="0">
                          <a:solidFill>
                            <a:srgbClr val="FF0000"/>
                          </a:solidFill>
                        </a:rPr>
                        <a:t>500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74581467"/>
              </p:ext>
            </p:extLst>
          </p:nvPr>
        </p:nvGraphicFramePr>
        <p:xfrm>
          <a:off x="914400" y="1097280"/>
          <a:ext cx="8595360" cy="2926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630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630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4630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46304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731520">
                <a:tc>
                  <a:txBody>
                    <a:bodyPr/>
                    <a:lstStyle/>
                    <a:p>
                      <a:r>
                        <a:t>KPI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Q1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Q2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Q3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Q4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31520">
                <a:tc>
                  <a:txBody>
                    <a:bodyPr/>
                    <a:lstStyle/>
                    <a:p>
                      <a:r>
                        <a:t>Conversion Rate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3.2%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3.0%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2.8%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2.9%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31520">
                <a:tc>
                  <a:txBody>
                    <a:bodyPr/>
                    <a:lstStyle/>
                    <a:p>
                      <a:r>
                        <a:t>Churn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4.5%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5.1%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−</a:t>
                      </a:r>
                      <a:r>
                        <a:rPr b="1">
                          <a:solidFill>
                            <a:srgbClr val="FF0000"/>
                          </a:solidFill>
                        </a:rPr>
                        <a:t>5</a:t>
                      </a:r>
                      <a:r>
                        <a:t>.</a:t>
                      </a:r>
                      <a:r>
                        <a:rPr b="1">
                          <a:solidFill>
                            <a:srgbClr val="FF0000"/>
                          </a:solidFill>
                        </a:rPr>
                        <a:t>6</a:t>
                      </a:r>
                      <a:r>
                        <a:t>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4.9%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31520">
                <a:tc>
                  <a:txBody>
                    <a:bodyPr/>
                    <a:lstStyle/>
                    <a:p>
                      <a:r>
                        <a:t>YoY Growth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12.4%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9.8%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-</a:t>
                      </a:r>
                      <a:r>
                        <a:rPr b="1" dirty="0">
                          <a:solidFill>
                            <a:srgbClr val="FF0000"/>
                          </a:solidFill>
                        </a:rPr>
                        <a:t>1</a:t>
                      </a:r>
                      <a:r>
                        <a:rPr dirty="0"/>
                        <a:t>.</a:t>
                      </a:r>
                      <a:r>
                        <a:rPr b="1" dirty="0">
                          <a:solidFill>
                            <a:srgbClr val="FF0000"/>
                          </a:solidFill>
                        </a:rPr>
                        <a:t>2</a:t>
                      </a:r>
                      <a:r>
                        <a:rPr dirty="0"/>
                        <a:t>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dirty="0"/>
                        <a:t>8.3%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63962438"/>
              </p:ext>
            </p:extLst>
          </p:nvPr>
        </p:nvGraphicFramePr>
        <p:xfrm>
          <a:off x="914400" y="1097280"/>
          <a:ext cx="9144000" cy="3657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945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9494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731520">
                <a:tc>
                  <a:txBody>
                    <a:bodyPr/>
                    <a:lstStyle/>
                    <a:p>
                      <a:r>
                        <a:t>Metric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Note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31520">
                <a:tc>
                  <a:txBody>
                    <a:bodyPr/>
                    <a:lstStyle/>
                    <a:p>
                      <a:r>
                        <a:t>Units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Change: -</a:t>
                      </a:r>
                      <a:r>
                        <a:rPr b="1">
                          <a:solidFill>
                            <a:srgbClr val="FF0000"/>
                          </a:solidFill>
                        </a:rPr>
                        <a:t>12</a:t>
                      </a:r>
                      <a:r>
                        <a:t> units vs plan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31520">
                <a:tc>
                  <a:txBody>
                    <a:bodyPr/>
                    <a:lstStyle/>
                    <a:p>
                      <a:r>
                        <a:t>Tickets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dirty="0" err="1"/>
                        <a:t>Δ</a:t>
                      </a:r>
                      <a:r>
                        <a:rPr dirty="0"/>
                        <a:t> month: </a:t>
                      </a:r>
                      <a:r>
                        <a:rPr b="0" dirty="0">
                          <a:solidFill>
                            <a:schemeClr val="tx1"/>
                          </a:solidFill>
                        </a:rPr>
                        <a:t>15</a:t>
                      </a:r>
                      <a:r>
                        <a:rPr dirty="0"/>
                        <a:t> tasks closed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31520">
                <a:tc>
                  <a:txBody>
                    <a:bodyPr/>
                    <a:lstStyle/>
                    <a:p>
                      <a:r>
                        <a:t>ARPU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Avg: $42.60; Min: $31.00; Max: $55.10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31520">
                <a:tc>
                  <a:txBody>
                    <a:bodyPr/>
                    <a:lstStyle/>
                    <a:p>
                      <a:r>
                        <a:t>Backorders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dirty="0"/>
                        <a:t>Range: -</a:t>
                      </a:r>
                      <a:r>
                        <a:rPr b="1" dirty="0">
                          <a:solidFill>
                            <a:srgbClr val="FF0000"/>
                          </a:solidFill>
                        </a:rPr>
                        <a:t>3</a:t>
                      </a:r>
                      <a:r>
                        <a:rPr dirty="0"/>
                        <a:t> to 7 items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</TotalTime>
  <Words>136</Words>
  <Application>Microsoft Macintosh PowerPoint</Application>
  <PresentationFormat>Widescreen</PresentationFormat>
  <Paragraphs>52</Paragraphs>
  <Slides>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Conditional Table Formatting (Negative Numbers) - Ground Truth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Michael Ofengenden</cp:lastModifiedBy>
  <cp:revision>2</cp:revision>
  <dcterms:created xsi:type="dcterms:W3CDTF">2013-01-27T09:14:16Z</dcterms:created>
  <dcterms:modified xsi:type="dcterms:W3CDTF">2025-09-22T19:51:51Z</dcterms:modified>
  <cp:category/>
</cp:coreProperties>
</file>
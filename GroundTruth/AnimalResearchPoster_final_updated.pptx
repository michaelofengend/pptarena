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
  </p:notesMasterIdLst>
  <p:sldIdLst>
    <p:sldId id="256" r:id="rId2"/>
    <p:sldId id="257" r:id="rId3"/>
  </p:sldIdLst>
  <p:sldSz cx="32918400" cy="43891200"/>
  <p:notesSz cx="6858000" cy="9144000"/>
  <p:embeddedFontLst>
    <p:embeddedFont>
      <p:font typeface="Poppins" pitchFamily="2" charset="77"/>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49" d="100"/>
          <a:sy n="49" d="100"/>
        </p:scale>
        <p:origin x="-176" y="-80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6" name="Google Shape;166;p2:notes"/>
          <p:cNvSpPr>
            <a:spLocks noGrp="1" noRot="1" noChangeAspect="1"/>
          </p:cNvSpPr>
          <p:nvPr>
            <p:ph type="sldImg" idx="2"/>
          </p:nvPr>
        </p:nvSpPr>
        <p:spPr>
          <a:xfrm>
            <a:off x="2143125" y="685800"/>
            <a:ext cx="257175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hyperlink" Target="https://animaldiversity.org/accounts/Ramphastos_toco/#:~:text=orange%20colored%20beak%20with%20a,72%20cubed%20cm%20of%20oxygen" TargetMode="External"/><Relationship Id="rId18" Type="http://schemas.openxmlformats.org/officeDocument/2006/relationships/hyperlink" Target="https://seaworld.org/animals/facts/birds/toco-toucan/#:~:text=Population%20Global%3A%C2%A0The%20total%20population%20is,but%20is%20not%20severely%20fragmented" TargetMode="External"/><Relationship Id="rId3" Type="http://schemas.openxmlformats.org/officeDocument/2006/relationships/image" Target="../media/image1.png"/><Relationship Id="rId21" Type="http://schemas.openxmlformats.org/officeDocument/2006/relationships/hyperlink" Target="https://seaworld.org/animals/facts/birds/toco-toucan/#:~:text=When%20toucans%20sleep%2C%20they%20turn,may%20sleep%20in%20one%20hole" TargetMode="External"/><Relationship Id="rId7" Type="http://schemas.openxmlformats.org/officeDocument/2006/relationships/image" Target="../media/image5.png"/><Relationship Id="rId12" Type="http://schemas.openxmlformats.org/officeDocument/2006/relationships/hyperlink" Target="https://animaldiversity.org/accounts/Ramphastos_toco/#:~:text=Toco%20toucans%20are%20recognized%20as,duller%20colors%20and%20stubbier%20bill" TargetMode="External"/><Relationship Id="rId17" Type="http://schemas.openxmlformats.org/officeDocument/2006/relationships/hyperlink" Target="https://en.wikipedia.org/wiki/Toucan#:~:text=The%20legs%20of%20the%20toucan,The%20majority%20of%20toucans%20do" TargetMode="External"/><Relationship Id="rId2" Type="http://schemas.openxmlformats.org/officeDocument/2006/relationships/notesSlide" Target="../notesSlides/notesSlide1.xml"/><Relationship Id="rId16" Type="http://schemas.openxmlformats.org/officeDocument/2006/relationships/hyperlink" Target="https://en.wikipedia.org/wiki/Toco_toucan_beak#:~:text=The%20toucan%20beak%20serves%20several,6" TargetMode="External"/><Relationship Id="rId20" Type="http://schemas.openxmlformats.org/officeDocument/2006/relationships/hyperlink" Target="https://seaworld.org/animals/facts/birds/toco-toucan/#:~:text=The%20toucan%27s%20beak%20appears%20quite,consistency%20to%20a%20hard%20sponge"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hyperlink" Target="https://en.wikipedia.org/wiki/Toucan#:~:text=often%20colorful%20bills%20,and%20over%2040%20different%20species" TargetMode="External"/><Relationship Id="rId5" Type="http://schemas.openxmlformats.org/officeDocument/2006/relationships/image" Target="../media/image3.png"/><Relationship Id="rId15" Type="http://schemas.openxmlformats.org/officeDocument/2006/relationships/hyperlink" Target="https://en.wikipedia.org/wiki/Toucan#:~:text=the%20toucan%27s%20bill%20is%20very,aid%20in%20their%20feeding%20behavior" TargetMode="External"/><Relationship Id="rId23" Type="http://schemas.openxmlformats.org/officeDocument/2006/relationships/hyperlink" Target="https://seaworld.org/animals/facts/birds/toco-toucan/#:~:text=Fast%20Facts" TargetMode="External"/><Relationship Id="rId10" Type="http://schemas.openxmlformats.org/officeDocument/2006/relationships/image" Target="../media/image8.png"/><Relationship Id="rId19" Type="http://schemas.openxmlformats.org/officeDocument/2006/relationships/hyperlink" Target="https://seaworld.org/animals/facts/birds/toco-toucan/#:~:text=Diet%20Omnivorous%3B%20mainly%20fruits%2C%20but,Incubation%2016%20to%2020%20days" TargetMode="External"/><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hyperlink" Target="https://en.wikipedia.org/wiki/Toucan#:~:text=Toucans%20range%20in%20size%20from,tip%20measurements%20of%20the%20bird" TargetMode="External"/><Relationship Id="rId22" Type="http://schemas.openxmlformats.org/officeDocument/2006/relationships/hyperlink" Target="https://seaworld.org/animals/facts/birds/toco-toucan/#:~:text=The%20toco%20toucan%20is%20a,to%20tree%20mostly%20by%20hopping"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www.mcgill.ca/oss/article/environment-you-asked/how-does-snake-venom-kill-human#:~:text=There%20are%20more%20than%203000,harm%20or%20kill%20a%20human" TargetMode="External"/><Relationship Id="rId13" Type="http://schemas.openxmlformats.org/officeDocument/2006/relationships/hyperlink" Target="https://npic.orst.edu/pest/snake.html#:~:text=Snakes%20are%20generally%20shy%20animals,resources%20below%20to%20help%20you" TargetMode="External"/><Relationship Id="rId18" Type="http://schemas.openxmlformats.org/officeDocument/2006/relationships/hyperlink" Target="https://westtermite.com/how-snakes-help-with-pest-control/#:~:text=Snakes%20are%20natural%20predators%20that,crops%2C%20homes%2C%20and%20food%20supplies" TargetMode="External"/><Relationship Id="rId3" Type="http://schemas.openxmlformats.org/officeDocument/2006/relationships/image" Target="../media/image10.png"/><Relationship Id="rId21" Type="http://schemas.openxmlformats.org/officeDocument/2006/relationships/hyperlink" Target="https://en.wikipedia.org/wiki/Snake#:~:text=which%20resemble%20an%20additional%20pair,51" TargetMode="External"/><Relationship Id="rId7" Type="http://schemas.openxmlformats.org/officeDocument/2006/relationships/hyperlink" Target="https://en.wikipedia.org/wiki/Snake#:~:text=There%20are%20about%203%2C900%20species,in%20the%20sea%2C%20and%20as" TargetMode="External"/><Relationship Id="rId12" Type="http://schemas.openxmlformats.org/officeDocument/2006/relationships/hyperlink" Target="https://en.wikipedia.org/wiki/Snake#:~:text=which%20resemble%20an%20additional%20pair,labial%20pits%20along%20the%20upper" TargetMode="External"/><Relationship Id="rId17" Type="http://schemas.openxmlformats.org/officeDocument/2006/relationships/hyperlink" Target="https://animalrangeextension.montana.edu/wildlife/prevention_and_control/snakes.html#:~:text=Snakes%20use%20their%20forked%20tongues,it%20will%20pursue%20the%20animal" TargetMode="External"/><Relationship Id="rId2" Type="http://schemas.openxmlformats.org/officeDocument/2006/relationships/notesSlide" Target="../notesSlides/notesSlide2.xml"/><Relationship Id="rId16" Type="http://schemas.openxmlformats.org/officeDocument/2006/relationships/hyperlink" Target="https://en.wikipedia.org/wiki/Snake#:~:text=These%20include%20specialized%20infrared,51" TargetMode="External"/><Relationship Id="rId20"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hyperlink" Target="https://en.wikipedia.org/wiki/Snake#:~:text=Snakes%20rely%20heavily%20on%20their,with%20detailed%20information%20about%20its" TargetMode="External"/><Relationship Id="rId5" Type="http://schemas.openxmlformats.org/officeDocument/2006/relationships/image" Target="../media/image12.png"/><Relationship Id="rId15" Type="http://schemas.openxmlformats.org/officeDocument/2006/relationships/hyperlink" Target="https://nationalzoo.si.edu/news/news/how-do-snakes-move-without-legs#:~:text=X,%28Smithsonian" TargetMode="External"/><Relationship Id="rId10" Type="http://schemas.openxmlformats.org/officeDocument/2006/relationships/hyperlink" Target="https://nationalzoo.si.edu/news/news/how-do-snakes-move-without-legs#:~:text=What%20are%20the%20methods%20of,a%20snake%20uses%20to%20move" TargetMode="External"/><Relationship Id="rId19" Type="http://schemas.openxmlformats.org/officeDocument/2006/relationships/hyperlink" Target="https://westtermite.com/how-snakes-help-with-pest-control/#:~:text=The%20Ecological%20Importance%20of%20Snakes" TargetMode="External"/><Relationship Id="rId4" Type="http://schemas.openxmlformats.org/officeDocument/2006/relationships/image" Target="../media/image11.png"/><Relationship Id="rId9" Type="http://schemas.openxmlformats.org/officeDocument/2006/relationships/hyperlink" Target="https://nationalzoo.si.edu/news/news/how-do-snakes-move-without-legs#:~:text=If%20you%E2%80%99ve%20ever%20watched%20a,from%20one%20place%20to%20another" TargetMode="External"/><Relationship Id="rId14" Type="http://schemas.openxmlformats.org/officeDocument/2006/relationships/hyperlink" Target="https://en.wikipedia.org/wiki/Snake#:~:text=There%20are%20about%203%2C900%20species,4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D82E4"/>
        </a:solidFill>
        <a:effectLst/>
      </p:bgPr>
    </p:bg>
    <p:spTree>
      <p:nvGrpSpPr>
        <p:cNvPr id="1" name="Shape 83"/>
        <p:cNvGrpSpPr/>
        <p:nvPr/>
      </p:nvGrpSpPr>
      <p:grpSpPr>
        <a:xfrm>
          <a:off x="0" y="0"/>
          <a:ext cx="0" cy="0"/>
          <a:chOff x="0" y="0"/>
          <a:chExt cx="0" cy="0"/>
        </a:xfrm>
      </p:grpSpPr>
      <p:grpSp>
        <p:nvGrpSpPr>
          <p:cNvPr id="84" name="Google Shape;84;p13"/>
          <p:cNvGrpSpPr/>
          <p:nvPr/>
        </p:nvGrpSpPr>
        <p:grpSpPr>
          <a:xfrm>
            <a:off x="9961659" y="9649080"/>
            <a:ext cx="12514703" cy="13834613"/>
            <a:chOff x="0" y="-85725"/>
            <a:chExt cx="812800" cy="898525"/>
          </a:xfrm>
        </p:grpSpPr>
        <p:sp>
          <p:nvSpPr>
            <p:cNvPr id="85" name="Google Shape;8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FFEA5E"/>
                </a:gs>
                <a:gs pos="100000">
                  <a:srgbClr val="FFA17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 name="Google Shape;87;p13"/>
          <p:cNvSpPr/>
          <p:nvPr/>
        </p:nvSpPr>
        <p:spPr>
          <a:xfrm rot="-492179">
            <a:off x="8470715" y="9218745"/>
            <a:ext cx="9526547" cy="13680421"/>
          </a:xfrm>
          <a:custGeom>
            <a:avLst/>
            <a:gdLst/>
            <a:ahLst/>
            <a:cxnLst/>
            <a:rect l="l" t="t" r="r" b="b"/>
            <a:pathLst>
              <a:path w="9526547" h="13680421" extrusionOk="0">
                <a:moveTo>
                  <a:pt x="0" y="0"/>
                </a:moveTo>
                <a:lnTo>
                  <a:pt x="9526548" y="0"/>
                </a:lnTo>
                <a:lnTo>
                  <a:pt x="9526548" y="13680421"/>
                </a:lnTo>
                <a:lnTo>
                  <a:pt x="0" y="13680421"/>
                </a:lnTo>
                <a:lnTo>
                  <a:pt x="0" y="0"/>
                </a:lnTo>
                <a:close/>
              </a:path>
            </a:pathLst>
          </a:custGeom>
          <a:blipFill rotWithShape="1">
            <a:blip r:embed="rId3">
              <a:alphaModFix/>
            </a:blip>
            <a:stretch>
              <a:fillRect/>
            </a:stretch>
          </a:blipFill>
          <a:ln>
            <a:noFill/>
          </a:ln>
        </p:spPr>
        <p:txBody>
          <a:bodyPr/>
          <a:lstStyle/>
          <a:p>
            <a:endParaRPr/>
          </a:p>
        </p:txBody>
      </p:sp>
      <p:sp>
        <p:nvSpPr>
          <p:cNvPr id="88" name="Google Shape;88;p13"/>
          <p:cNvSpPr/>
          <p:nvPr/>
        </p:nvSpPr>
        <p:spPr>
          <a:xfrm>
            <a:off x="10723757" y="15840517"/>
            <a:ext cx="12861455" cy="12884882"/>
          </a:xfrm>
          <a:custGeom>
            <a:avLst/>
            <a:gdLst/>
            <a:ahLst/>
            <a:cxnLst/>
            <a:rect l="l" t="t" r="r" b="b"/>
            <a:pathLst>
              <a:path w="12861455" h="12884882" extrusionOk="0">
                <a:moveTo>
                  <a:pt x="0" y="0"/>
                </a:moveTo>
                <a:lnTo>
                  <a:pt x="12861455" y="0"/>
                </a:lnTo>
                <a:lnTo>
                  <a:pt x="12861455" y="12884882"/>
                </a:lnTo>
                <a:lnTo>
                  <a:pt x="0" y="12884882"/>
                </a:lnTo>
                <a:lnTo>
                  <a:pt x="0" y="0"/>
                </a:lnTo>
                <a:close/>
              </a:path>
            </a:pathLst>
          </a:custGeom>
          <a:blipFill rotWithShape="1">
            <a:blip r:embed="rId4">
              <a:alphaModFix/>
            </a:blip>
            <a:stretch>
              <a:fillRect/>
            </a:stretch>
          </a:blipFill>
          <a:ln>
            <a:noFill/>
          </a:ln>
        </p:spPr>
        <p:txBody>
          <a:bodyPr/>
          <a:lstStyle/>
          <a:p>
            <a:endParaRPr/>
          </a:p>
        </p:txBody>
      </p:sp>
      <p:sp>
        <p:nvSpPr>
          <p:cNvPr id="89" name="Google Shape;89;p13"/>
          <p:cNvSpPr/>
          <p:nvPr/>
        </p:nvSpPr>
        <p:spPr>
          <a:xfrm>
            <a:off x="11470635" y="11492209"/>
            <a:ext cx="11367698" cy="16453247"/>
          </a:xfrm>
          <a:custGeom>
            <a:avLst/>
            <a:gdLst/>
            <a:ahLst/>
            <a:cxnLst/>
            <a:rect l="l" t="t" r="r" b="b"/>
            <a:pathLst>
              <a:path w="11367698" h="16453247" extrusionOk="0">
                <a:moveTo>
                  <a:pt x="0" y="0"/>
                </a:moveTo>
                <a:lnTo>
                  <a:pt x="11367698" y="0"/>
                </a:lnTo>
                <a:lnTo>
                  <a:pt x="11367698" y="16453247"/>
                </a:lnTo>
                <a:lnTo>
                  <a:pt x="0" y="16453247"/>
                </a:lnTo>
                <a:lnTo>
                  <a:pt x="0" y="0"/>
                </a:lnTo>
                <a:close/>
              </a:path>
            </a:pathLst>
          </a:custGeom>
          <a:blipFill rotWithShape="1">
            <a:blip r:embed="rId5">
              <a:alphaModFix/>
            </a:blip>
            <a:stretch>
              <a:fillRect/>
            </a:stretch>
          </a:blipFill>
          <a:ln>
            <a:noFill/>
          </a:ln>
        </p:spPr>
        <p:txBody>
          <a:bodyPr/>
          <a:lstStyle/>
          <a:p>
            <a:endParaRPr/>
          </a:p>
        </p:txBody>
      </p:sp>
      <p:grpSp>
        <p:nvGrpSpPr>
          <p:cNvPr id="90" name="Google Shape;90;p13"/>
          <p:cNvGrpSpPr/>
          <p:nvPr/>
        </p:nvGrpSpPr>
        <p:grpSpPr>
          <a:xfrm>
            <a:off x="10442037" y="-603980"/>
            <a:ext cx="12034325" cy="3343278"/>
            <a:chOff x="0" y="-161925"/>
            <a:chExt cx="1050616" cy="291874"/>
          </a:xfrm>
        </p:grpSpPr>
        <p:sp>
          <p:nvSpPr>
            <p:cNvPr id="91" name="Google Shape;91;p13"/>
            <p:cNvSpPr/>
            <p:nvPr/>
          </p:nvSpPr>
          <p:spPr>
            <a:xfrm>
              <a:off x="0" y="0"/>
              <a:ext cx="1050616" cy="129949"/>
            </a:xfrm>
            <a:custGeom>
              <a:avLst/>
              <a:gdLst/>
              <a:ahLst/>
              <a:cxnLst/>
              <a:rect l="l" t="t" r="r" b="b"/>
              <a:pathLst>
                <a:path w="1050616" h="129949" extrusionOk="0">
                  <a:moveTo>
                    <a:pt x="64974" y="0"/>
                  </a:moveTo>
                  <a:lnTo>
                    <a:pt x="985641" y="0"/>
                  </a:lnTo>
                  <a:cubicBezTo>
                    <a:pt x="1021526" y="0"/>
                    <a:pt x="1050616" y="29090"/>
                    <a:pt x="1050616" y="64974"/>
                  </a:cubicBezTo>
                  <a:lnTo>
                    <a:pt x="1050616" y="64974"/>
                  </a:lnTo>
                  <a:cubicBezTo>
                    <a:pt x="1050616" y="82207"/>
                    <a:pt x="1043770" y="98733"/>
                    <a:pt x="1031585" y="110918"/>
                  </a:cubicBezTo>
                  <a:cubicBezTo>
                    <a:pt x="1019400" y="123103"/>
                    <a:pt x="1002874" y="129949"/>
                    <a:pt x="985641" y="129949"/>
                  </a:cubicBezTo>
                  <a:lnTo>
                    <a:pt x="64974" y="129949"/>
                  </a:lnTo>
                  <a:cubicBezTo>
                    <a:pt x="29090" y="129949"/>
                    <a:pt x="0" y="100859"/>
                    <a:pt x="0" y="64974"/>
                  </a:cubicBezTo>
                  <a:lnTo>
                    <a:pt x="0" y="64974"/>
                  </a:lnTo>
                  <a:cubicBezTo>
                    <a:pt x="0" y="29090"/>
                    <a:pt x="29090" y="0"/>
                    <a:pt x="64974" y="0"/>
                  </a:cubicBezTo>
                  <a:close/>
                </a:path>
              </a:pathLst>
            </a:custGeom>
            <a:solidFill>
              <a:srgbClr val="C9E1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txBox="1"/>
            <p:nvPr/>
          </p:nvSpPr>
          <p:spPr>
            <a:xfrm>
              <a:off x="0" y="-161925"/>
              <a:ext cx="1050616" cy="291874"/>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3" name="Google Shape;93;p13"/>
          <p:cNvGrpSpPr/>
          <p:nvPr/>
        </p:nvGrpSpPr>
        <p:grpSpPr>
          <a:xfrm>
            <a:off x="0" y="28046208"/>
            <a:ext cx="32918400" cy="15844992"/>
            <a:chOff x="0" y="-161925"/>
            <a:chExt cx="2873829" cy="1383293"/>
          </a:xfrm>
        </p:grpSpPr>
        <p:sp>
          <p:nvSpPr>
            <p:cNvPr id="94" name="Google Shape;94;p13"/>
            <p:cNvSpPr/>
            <p:nvPr/>
          </p:nvSpPr>
          <p:spPr>
            <a:xfrm>
              <a:off x="0" y="0"/>
              <a:ext cx="2873829" cy="1221368"/>
            </a:xfrm>
            <a:custGeom>
              <a:avLst/>
              <a:gdLst/>
              <a:ahLst/>
              <a:cxnLst/>
              <a:rect l="l" t="t" r="r" b="b"/>
              <a:pathLst>
                <a:path w="2873829" h="1221368" extrusionOk="0">
                  <a:moveTo>
                    <a:pt x="0" y="0"/>
                  </a:moveTo>
                  <a:lnTo>
                    <a:pt x="2873829" y="0"/>
                  </a:lnTo>
                  <a:lnTo>
                    <a:pt x="2873829" y="1221368"/>
                  </a:lnTo>
                  <a:lnTo>
                    <a:pt x="0" y="1221368"/>
                  </a:lnTo>
                  <a:close/>
                </a:path>
              </a:pathLst>
            </a:custGeom>
            <a:solidFill>
              <a:srgbClr val="C9E16D"/>
            </a:solidFill>
            <a:ln>
              <a:noFill/>
            </a:ln>
          </p:spPr>
          <p:txBody>
            <a:bodyPr/>
            <a:lstStyle/>
            <a:p>
              <a:endParaRPr/>
            </a:p>
          </p:txBody>
        </p:sp>
        <p:sp>
          <p:nvSpPr>
            <p:cNvPr id="95" name="Google Shape;95;p13"/>
            <p:cNvSpPr txBox="1"/>
            <p:nvPr/>
          </p:nvSpPr>
          <p:spPr>
            <a:xfrm>
              <a:off x="0" y="-161925"/>
              <a:ext cx="2873829" cy="1383293"/>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sp>
        <p:nvSpPr>
          <p:cNvPr id="96" name="Google Shape;96;p13"/>
          <p:cNvSpPr/>
          <p:nvPr/>
        </p:nvSpPr>
        <p:spPr>
          <a:xfrm>
            <a:off x="-3048648" y="-116977"/>
            <a:ext cx="9645849" cy="9663419"/>
          </a:xfrm>
          <a:custGeom>
            <a:avLst/>
            <a:gdLst/>
            <a:ahLst/>
            <a:cxnLst/>
            <a:rect l="l" t="t" r="r" b="b"/>
            <a:pathLst>
              <a:path w="9645849" h="9663419" extrusionOk="0">
                <a:moveTo>
                  <a:pt x="0" y="0"/>
                </a:moveTo>
                <a:lnTo>
                  <a:pt x="9645849" y="0"/>
                </a:lnTo>
                <a:lnTo>
                  <a:pt x="9645849" y="9663419"/>
                </a:lnTo>
                <a:lnTo>
                  <a:pt x="0" y="9663419"/>
                </a:lnTo>
                <a:lnTo>
                  <a:pt x="0" y="0"/>
                </a:lnTo>
                <a:close/>
              </a:path>
            </a:pathLst>
          </a:custGeom>
          <a:blipFill rotWithShape="1">
            <a:blip r:embed="rId4">
              <a:alphaModFix/>
            </a:blip>
            <a:stretch>
              <a:fillRect/>
            </a:stretch>
          </a:blipFill>
          <a:ln>
            <a:noFill/>
          </a:ln>
        </p:spPr>
        <p:txBody>
          <a:bodyPr/>
          <a:lstStyle/>
          <a:p>
            <a:endParaRPr/>
          </a:p>
        </p:txBody>
      </p:sp>
      <p:sp>
        <p:nvSpPr>
          <p:cNvPr id="97" name="Google Shape;97;p13"/>
          <p:cNvSpPr/>
          <p:nvPr/>
        </p:nvSpPr>
        <p:spPr>
          <a:xfrm flipH="1">
            <a:off x="25859528" y="190132"/>
            <a:ext cx="9645849" cy="9663419"/>
          </a:xfrm>
          <a:custGeom>
            <a:avLst/>
            <a:gdLst/>
            <a:ahLst/>
            <a:cxnLst/>
            <a:rect l="l" t="t" r="r" b="b"/>
            <a:pathLst>
              <a:path w="9645849" h="9663419" extrusionOk="0">
                <a:moveTo>
                  <a:pt x="9645849" y="0"/>
                </a:moveTo>
                <a:lnTo>
                  <a:pt x="0" y="0"/>
                </a:lnTo>
                <a:lnTo>
                  <a:pt x="0" y="9663419"/>
                </a:lnTo>
                <a:lnTo>
                  <a:pt x="9645849" y="9663419"/>
                </a:lnTo>
                <a:lnTo>
                  <a:pt x="9645849" y="0"/>
                </a:lnTo>
                <a:close/>
              </a:path>
            </a:pathLst>
          </a:custGeom>
          <a:blipFill rotWithShape="1">
            <a:blip r:embed="rId4">
              <a:alphaModFix/>
            </a:blip>
            <a:stretch>
              <a:fillRect/>
            </a:stretch>
          </a:blipFill>
          <a:ln>
            <a:noFill/>
          </a:ln>
        </p:spPr>
        <p:txBody>
          <a:bodyPr/>
          <a:lstStyle/>
          <a:p>
            <a:endParaRPr/>
          </a:p>
        </p:txBody>
      </p:sp>
      <p:cxnSp>
        <p:nvCxnSpPr>
          <p:cNvPr id="98" name="Google Shape;98;p13"/>
          <p:cNvCxnSpPr/>
          <p:nvPr/>
        </p:nvCxnSpPr>
        <p:spPr>
          <a:xfrm>
            <a:off x="6664058" y="12964807"/>
            <a:ext cx="8810306" cy="0"/>
          </a:xfrm>
          <a:prstGeom prst="straightConnector1">
            <a:avLst/>
          </a:prstGeom>
          <a:noFill/>
          <a:ln w="152400" cap="flat" cmpd="sng">
            <a:solidFill>
              <a:srgbClr val="FFFFFF"/>
            </a:solidFill>
            <a:prstDash val="solid"/>
            <a:round/>
            <a:headEnd type="none" w="sm" len="sm"/>
            <a:tailEnd type="none" w="sm" len="sm"/>
          </a:ln>
        </p:spPr>
      </p:cxnSp>
      <p:grpSp>
        <p:nvGrpSpPr>
          <p:cNvPr id="99" name="Google Shape;99;p13"/>
          <p:cNvGrpSpPr/>
          <p:nvPr/>
        </p:nvGrpSpPr>
        <p:grpSpPr>
          <a:xfrm>
            <a:off x="2672423" y="10547997"/>
            <a:ext cx="3991635" cy="4412628"/>
            <a:chOff x="0" y="-85725"/>
            <a:chExt cx="812800" cy="898525"/>
          </a:xfrm>
        </p:grpSpPr>
        <p:sp>
          <p:nvSpPr>
            <p:cNvPr id="100" name="Google Shape;100;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02" name="Google Shape;102;p13"/>
          <p:cNvCxnSpPr/>
          <p:nvPr/>
        </p:nvCxnSpPr>
        <p:spPr>
          <a:xfrm>
            <a:off x="6664058" y="21588788"/>
            <a:ext cx="5731563" cy="0"/>
          </a:xfrm>
          <a:prstGeom prst="straightConnector1">
            <a:avLst/>
          </a:prstGeom>
          <a:noFill/>
          <a:ln w="152400" cap="flat" cmpd="sng">
            <a:solidFill>
              <a:srgbClr val="FFFFFF"/>
            </a:solidFill>
            <a:prstDash val="solid"/>
            <a:round/>
            <a:headEnd type="none" w="sm" len="sm"/>
            <a:tailEnd type="none" w="sm" len="sm"/>
          </a:ln>
        </p:spPr>
      </p:cxnSp>
      <p:grpSp>
        <p:nvGrpSpPr>
          <p:cNvPr id="103" name="Google Shape;103;p13"/>
          <p:cNvGrpSpPr/>
          <p:nvPr/>
        </p:nvGrpSpPr>
        <p:grpSpPr>
          <a:xfrm>
            <a:off x="2672423" y="19171978"/>
            <a:ext cx="3991635" cy="4412628"/>
            <a:chOff x="0" y="-85725"/>
            <a:chExt cx="812800" cy="898525"/>
          </a:xfrm>
        </p:grpSpPr>
        <p:sp>
          <p:nvSpPr>
            <p:cNvPr id="104" name="Google Shape;104;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 name="Google Shape;106;p13"/>
          <p:cNvSpPr/>
          <p:nvPr/>
        </p:nvSpPr>
        <p:spPr>
          <a:xfrm>
            <a:off x="3695604" y="20450973"/>
            <a:ext cx="1945273" cy="2247689"/>
          </a:xfrm>
          <a:custGeom>
            <a:avLst/>
            <a:gdLst/>
            <a:ahLst/>
            <a:cxnLst/>
            <a:rect l="l" t="t" r="r" b="b"/>
            <a:pathLst>
              <a:path w="1945273" h="2247689" extrusionOk="0">
                <a:moveTo>
                  <a:pt x="0" y="0"/>
                </a:moveTo>
                <a:lnTo>
                  <a:pt x="1945273" y="0"/>
                </a:lnTo>
                <a:lnTo>
                  <a:pt x="1945273" y="2247690"/>
                </a:lnTo>
                <a:lnTo>
                  <a:pt x="0" y="2247690"/>
                </a:lnTo>
                <a:lnTo>
                  <a:pt x="0" y="0"/>
                </a:lnTo>
                <a:close/>
              </a:path>
            </a:pathLst>
          </a:custGeom>
          <a:blipFill rotWithShape="1">
            <a:blip r:embed="rId6">
              <a:alphaModFix/>
            </a:blip>
            <a:stretch>
              <a:fillRect/>
            </a:stretch>
          </a:blipFill>
          <a:ln>
            <a:noFill/>
          </a:ln>
        </p:spPr>
        <p:txBody>
          <a:bodyPr/>
          <a:lstStyle/>
          <a:p>
            <a:endParaRPr/>
          </a:p>
        </p:txBody>
      </p:sp>
      <p:sp>
        <p:nvSpPr>
          <p:cNvPr id="107" name="Google Shape;107;p13"/>
          <p:cNvSpPr/>
          <p:nvPr/>
        </p:nvSpPr>
        <p:spPr>
          <a:xfrm>
            <a:off x="3575136" y="12328819"/>
            <a:ext cx="2186210" cy="1271977"/>
          </a:xfrm>
          <a:custGeom>
            <a:avLst/>
            <a:gdLst/>
            <a:ahLst/>
            <a:cxnLst/>
            <a:rect l="l" t="t" r="r" b="b"/>
            <a:pathLst>
              <a:path w="2186210" h="1271977" extrusionOk="0">
                <a:moveTo>
                  <a:pt x="0" y="0"/>
                </a:moveTo>
                <a:lnTo>
                  <a:pt x="2186210" y="0"/>
                </a:lnTo>
                <a:lnTo>
                  <a:pt x="2186210" y="1271977"/>
                </a:lnTo>
                <a:lnTo>
                  <a:pt x="0" y="1271977"/>
                </a:lnTo>
                <a:lnTo>
                  <a:pt x="0" y="0"/>
                </a:lnTo>
                <a:close/>
              </a:path>
            </a:pathLst>
          </a:custGeom>
          <a:blipFill rotWithShape="1">
            <a:blip r:embed="rId7">
              <a:alphaModFix/>
            </a:blip>
            <a:stretch>
              <a:fillRect/>
            </a:stretch>
          </a:blipFill>
          <a:ln>
            <a:noFill/>
          </a:ln>
        </p:spPr>
        <p:txBody>
          <a:bodyPr/>
          <a:lstStyle/>
          <a:p>
            <a:endParaRPr/>
          </a:p>
        </p:txBody>
      </p:sp>
      <p:cxnSp>
        <p:nvCxnSpPr>
          <p:cNvPr id="108" name="Google Shape;108;p13"/>
          <p:cNvCxnSpPr/>
          <p:nvPr/>
        </p:nvCxnSpPr>
        <p:spPr>
          <a:xfrm>
            <a:off x="21966437" y="14368019"/>
            <a:ext cx="3893091" cy="0"/>
          </a:xfrm>
          <a:prstGeom prst="straightConnector1">
            <a:avLst/>
          </a:prstGeom>
          <a:noFill/>
          <a:ln w="152400" cap="flat" cmpd="sng">
            <a:solidFill>
              <a:srgbClr val="FFFFFF"/>
            </a:solidFill>
            <a:prstDash val="solid"/>
            <a:round/>
            <a:headEnd type="none" w="sm" len="sm"/>
            <a:tailEnd type="none" w="sm" len="sm"/>
          </a:ln>
        </p:spPr>
      </p:cxnSp>
      <p:grpSp>
        <p:nvGrpSpPr>
          <p:cNvPr id="109" name="Google Shape;109;p13"/>
          <p:cNvGrpSpPr/>
          <p:nvPr/>
        </p:nvGrpSpPr>
        <p:grpSpPr>
          <a:xfrm>
            <a:off x="25840821" y="11873007"/>
            <a:ext cx="3991635" cy="4412628"/>
            <a:chOff x="0" y="-85725"/>
            <a:chExt cx="812800" cy="898525"/>
          </a:xfrm>
        </p:grpSpPr>
        <p:sp>
          <p:nvSpPr>
            <p:cNvPr id="110" name="Google Shape;110;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2" name="Google Shape;112;p13"/>
          <p:cNvSpPr/>
          <p:nvPr/>
        </p:nvSpPr>
        <p:spPr>
          <a:xfrm>
            <a:off x="26758841" y="13240363"/>
            <a:ext cx="2375309" cy="2098909"/>
          </a:xfrm>
          <a:custGeom>
            <a:avLst/>
            <a:gdLst/>
            <a:ahLst/>
            <a:cxnLst/>
            <a:rect l="l" t="t" r="r" b="b"/>
            <a:pathLst>
              <a:path w="2375309" h="2098909" extrusionOk="0">
                <a:moveTo>
                  <a:pt x="0" y="0"/>
                </a:moveTo>
                <a:lnTo>
                  <a:pt x="2375309" y="0"/>
                </a:lnTo>
                <a:lnTo>
                  <a:pt x="2375309" y="2098910"/>
                </a:lnTo>
                <a:lnTo>
                  <a:pt x="0" y="2098910"/>
                </a:lnTo>
                <a:lnTo>
                  <a:pt x="0" y="0"/>
                </a:lnTo>
                <a:close/>
              </a:path>
            </a:pathLst>
          </a:custGeom>
          <a:blipFill rotWithShape="1">
            <a:blip r:embed="rId8">
              <a:alphaModFix/>
            </a:blip>
            <a:stretch>
              <a:fillRect/>
            </a:stretch>
          </a:blipFill>
          <a:ln>
            <a:noFill/>
          </a:ln>
        </p:spPr>
        <p:txBody>
          <a:bodyPr/>
          <a:lstStyle/>
          <a:p>
            <a:endParaRPr/>
          </a:p>
        </p:txBody>
      </p:sp>
      <p:cxnSp>
        <p:nvCxnSpPr>
          <p:cNvPr id="113" name="Google Shape;113;p13"/>
          <p:cNvCxnSpPr/>
          <p:nvPr/>
        </p:nvCxnSpPr>
        <p:spPr>
          <a:xfrm>
            <a:off x="15630767" y="23461873"/>
            <a:ext cx="10047569" cy="0"/>
          </a:xfrm>
          <a:prstGeom prst="straightConnector1">
            <a:avLst/>
          </a:prstGeom>
          <a:noFill/>
          <a:ln w="152400" cap="flat" cmpd="sng">
            <a:solidFill>
              <a:srgbClr val="FFFFFF"/>
            </a:solidFill>
            <a:prstDash val="solid"/>
            <a:round/>
            <a:headEnd type="none" w="sm" len="sm"/>
            <a:tailEnd type="none" w="sm" len="sm"/>
          </a:ln>
        </p:spPr>
      </p:cxnSp>
      <p:grpSp>
        <p:nvGrpSpPr>
          <p:cNvPr id="114" name="Google Shape;114;p13"/>
          <p:cNvGrpSpPr/>
          <p:nvPr/>
        </p:nvGrpSpPr>
        <p:grpSpPr>
          <a:xfrm>
            <a:off x="25678335" y="20966861"/>
            <a:ext cx="3991635" cy="4412628"/>
            <a:chOff x="0" y="-85725"/>
            <a:chExt cx="812800" cy="898525"/>
          </a:xfrm>
        </p:grpSpPr>
        <p:sp>
          <p:nvSpPr>
            <p:cNvPr id="115" name="Google Shape;11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52400" cap="sq" cmpd="sng">
              <a:solidFill>
                <a:srgbClr val="FFFFF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13"/>
          <p:cNvSpPr/>
          <p:nvPr/>
        </p:nvSpPr>
        <p:spPr>
          <a:xfrm>
            <a:off x="26993978" y="21901189"/>
            <a:ext cx="1360351" cy="3121367"/>
          </a:xfrm>
          <a:custGeom>
            <a:avLst/>
            <a:gdLst/>
            <a:ahLst/>
            <a:cxnLst/>
            <a:rect l="l" t="t" r="r" b="b"/>
            <a:pathLst>
              <a:path w="1360351" h="3121367" extrusionOk="0">
                <a:moveTo>
                  <a:pt x="0" y="0"/>
                </a:moveTo>
                <a:lnTo>
                  <a:pt x="1360351" y="0"/>
                </a:lnTo>
                <a:lnTo>
                  <a:pt x="1360351" y="3121368"/>
                </a:lnTo>
                <a:lnTo>
                  <a:pt x="0" y="3121368"/>
                </a:lnTo>
                <a:lnTo>
                  <a:pt x="0" y="0"/>
                </a:lnTo>
                <a:close/>
              </a:path>
            </a:pathLst>
          </a:custGeom>
          <a:blipFill rotWithShape="1">
            <a:blip r:embed="rId9">
              <a:alphaModFix/>
            </a:blip>
            <a:stretch>
              <a:fillRect t="-17868" b="-37778"/>
            </a:stretch>
          </a:blipFill>
          <a:ln>
            <a:noFill/>
          </a:ln>
        </p:spPr>
        <p:txBody>
          <a:bodyPr/>
          <a:lstStyle/>
          <a:p>
            <a:endParaRPr/>
          </a:p>
        </p:txBody>
      </p:sp>
      <p:cxnSp>
        <p:nvCxnSpPr>
          <p:cNvPr id="118" name="Google Shape;118;p13"/>
          <p:cNvCxnSpPr/>
          <p:nvPr/>
        </p:nvCxnSpPr>
        <p:spPr>
          <a:xfrm>
            <a:off x="0" y="35509535"/>
            <a:ext cx="32918400" cy="0"/>
          </a:xfrm>
          <a:prstGeom prst="straightConnector1">
            <a:avLst/>
          </a:prstGeom>
          <a:noFill/>
          <a:ln w="152400" cap="flat" cmpd="sng">
            <a:solidFill>
              <a:srgbClr val="FFFFFF"/>
            </a:solidFill>
            <a:prstDash val="dot"/>
            <a:round/>
            <a:headEnd type="none" w="sm" len="sm"/>
            <a:tailEnd type="none" w="sm" len="sm"/>
          </a:ln>
        </p:spPr>
      </p:cxnSp>
      <p:sp>
        <p:nvSpPr>
          <p:cNvPr id="119" name="Google Shape;119;p13"/>
          <p:cNvSpPr/>
          <p:nvPr/>
        </p:nvSpPr>
        <p:spPr>
          <a:xfrm>
            <a:off x="1809238" y="30766500"/>
            <a:ext cx="6293788" cy="3606034"/>
          </a:xfrm>
          <a:custGeom>
            <a:avLst/>
            <a:gdLst/>
            <a:ahLst/>
            <a:cxnLst/>
            <a:rect l="l" t="t" r="r" b="b"/>
            <a:pathLst>
              <a:path w="6293788" h="3606034" extrusionOk="0">
                <a:moveTo>
                  <a:pt x="0" y="0"/>
                </a:moveTo>
                <a:lnTo>
                  <a:pt x="6293788" y="0"/>
                </a:lnTo>
                <a:lnTo>
                  <a:pt x="6293788" y="3606034"/>
                </a:lnTo>
                <a:lnTo>
                  <a:pt x="0" y="3606034"/>
                </a:lnTo>
                <a:lnTo>
                  <a:pt x="0" y="0"/>
                </a:lnTo>
                <a:close/>
              </a:path>
            </a:pathLst>
          </a:custGeom>
          <a:blipFill rotWithShape="1">
            <a:blip r:embed="rId10">
              <a:alphaModFix/>
            </a:blip>
            <a:stretch>
              <a:fillRect/>
            </a:stretch>
          </a:blipFill>
          <a:ln>
            <a:noFill/>
          </a:ln>
        </p:spPr>
        <p:txBody>
          <a:bodyPr/>
          <a:lstStyle/>
          <a:p>
            <a:endParaRPr/>
          </a:p>
        </p:txBody>
      </p:sp>
      <p:cxnSp>
        <p:nvCxnSpPr>
          <p:cNvPr id="120" name="Google Shape;120;p13"/>
          <p:cNvCxnSpPr/>
          <p:nvPr/>
        </p:nvCxnSpPr>
        <p:spPr>
          <a:xfrm rot="10800000">
            <a:off x="16928501" y="30628182"/>
            <a:ext cx="0" cy="4148773"/>
          </a:xfrm>
          <a:prstGeom prst="straightConnector1">
            <a:avLst/>
          </a:prstGeom>
          <a:noFill/>
          <a:ln w="152400" cap="flat" cmpd="sng">
            <a:solidFill>
              <a:srgbClr val="FFFFFF"/>
            </a:solidFill>
            <a:prstDash val="dot"/>
            <a:round/>
            <a:headEnd type="none" w="sm" len="sm"/>
            <a:tailEnd type="none" w="sm" len="sm"/>
          </a:ln>
        </p:spPr>
      </p:cxnSp>
      <p:grpSp>
        <p:nvGrpSpPr>
          <p:cNvPr id="121" name="Google Shape;121;p13"/>
          <p:cNvGrpSpPr/>
          <p:nvPr/>
        </p:nvGrpSpPr>
        <p:grpSpPr>
          <a:xfrm>
            <a:off x="17926273" y="30354827"/>
            <a:ext cx="2591814" cy="2865169"/>
            <a:chOff x="0" y="-85725"/>
            <a:chExt cx="812800" cy="898525"/>
          </a:xfrm>
        </p:grpSpPr>
        <p:sp>
          <p:nvSpPr>
            <p:cNvPr id="122" name="Google Shape;122;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 name="Google Shape;124;p13"/>
          <p:cNvSpPr/>
          <p:nvPr/>
        </p:nvSpPr>
        <p:spPr>
          <a:xfrm>
            <a:off x="18303849" y="31004085"/>
            <a:ext cx="1666352" cy="1669388"/>
          </a:xfrm>
          <a:custGeom>
            <a:avLst/>
            <a:gdLst/>
            <a:ahLst/>
            <a:cxnLst/>
            <a:rect l="l" t="t" r="r" b="b"/>
            <a:pathLst>
              <a:path w="1666352" h="1669388" extrusionOk="0">
                <a:moveTo>
                  <a:pt x="0" y="0"/>
                </a:moveTo>
                <a:lnTo>
                  <a:pt x="1666353" y="0"/>
                </a:lnTo>
                <a:lnTo>
                  <a:pt x="1666353" y="1669388"/>
                </a:lnTo>
                <a:lnTo>
                  <a:pt x="0" y="1669388"/>
                </a:lnTo>
                <a:lnTo>
                  <a:pt x="0" y="0"/>
                </a:lnTo>
                <a:close/>
              </a:path>
            </a:pathLst>
          </a:custGeom>
          <a:blipFill rotWithShape="1">
            <a:blip r:embed="rId4">
              <a:alphaModFix/>
            </a:blip>
            <a:stretch>
              <a:fillRect/>
            </a:stretch>
          </a:blipFill>
          <a:ln>
            <a:noFill/>
          </a:ln>
        </p:spPr>
        <p:txBody>
          <a:bodyPr/>
          <a:lstStyle/>
          <a:p>
            <a:endParaRPr/>
          </a:p>
        </p:txBody>
      </p:sp>
      <p:grpSp>
        <p:nvGrpSpPr>
          <p:cNvPr id="125" name="Google Shape;125;p13"/>
          <p:cNvGrpSpPr/>
          <p:nvPr/>
        </p:nvGrpSpPr>
        <p:grpSpPr>
          <a:xfrm>
            <a:off x="21080495" y="30354827"/>
            <a:ext cx="2591814" cy="2865169"/>
            <a:chOff x="0" y="-85725"/>
            <a:chExt cx="812800" cy="898525"/>
          </a:xfrm>
        </p:grpSpPr>
        <p:sp>
          <p:nvSpPr>
            <p:cNvPr id="126" name="Google Shape;12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8" name="Google Shape;128;p13"/>
          <p:cNvSpPr/>
          <p:nvPr/>
        </p:nvSpPr>
        <p:spPr>
          <a:xfrm>
            <a:off x="21966437" y="30996185"/>
            <a:ext cx="819930" cy="1855808"/>
          </a:xfrm>
          <a:custGeom>
            <a:avLst/>
            <a:gdLst/>
            <a:ahLst/>
            <a:cxnLst/>
            <a:rect l="l" t="t" r="r" b="b"/>
            <a:pathLst>
              <a:path w="819930" h="1855808" extrusionOk="0">
                <a:moveTo>
                  <a:pt x="0" y="0"/>
                </a:moveTo>
                <a:lnTo>
                  <a:pt x="819930" y="0"/>
                </a:lnTo>
                <a:lnTo>
                  <a:pt x="819930" y="1855808"/>
                </a:lnTo>
                <a:lnTo>
                  <a:pt x="0" y="1855808"/>
                </a:lnTo>
                <a:lnTo>
                  <a:pt x="0" y="0"/>
                </a:lnTo>
                <a:close/>
              </a:path>
            </a:pathLst>
          </a:custGeom>
          <a:blipFill rotWithShape="1">
            <a:blip r:embed="rId11">
              <a:alphaModFix/>
            </a:blip>
            <a:stretch>
              <a:fillRect/>
            </a:stretch>
          </a:blipFill>
          <a:ln>
            <a:noFill/>
          </a:ln>
        </p:spPr>
        <p:txBody>
          <a:bodyPr/>
          <a:lstStyle/>
          <a:p>
            <a:endParaRPr/>
          </a:p>
        </p:txBody>
      </p:sp>
      <p:sp>
        <p:nvSpPr>
          <p:cNvPr id="129" name="Google Shape;129;p13"/>
          <p:cNvSpPr txBox="1"/>
          <p:nvPr/>
        </p:nvSpPr>
        <p:spPr>
          <a:xfrm>
            <a:off x="10967077" y="1550200"/>
            <a:ext cx="11381100" cy="884700"/>
          </a:xfrm>
          <a:prstGeom prst="rect">
            <a:avLst/>
          </a:prstGeom>
          <a:noFill/>
          <a:ln>
            <a:noFill/>
          </a:ln>
        </p:spPr>
        <p:txBody>
          <a:bodyPr spcFirstLastPara="1" wrap="square" lIns="0" tIns="0" rIns="0" bIns="0" anchor="t" anchorCtr="0">
            <a:spAutoFit/>
          </a:bodyPr>
          <a:lstStyle/>
          <a:p>
            <a:pPr marL="0" marR="0" lvl="0" indent="0" algn="ctr" rtl="0">
              <a:lnSpc>
                <a:spcPct val="139986"/>
              </a:lnSpc>
              <a:spcBef>
                <a:spcPts val="0"/>
              </a:spcBef>
              <a:spcAft>
                <a:spcPts val="0"/>
              </a:spcAft>
              <a:buNone/>
            </a:pPr>
            <a:r>
              <a:rPr lang="en-US" sz="5747" b="1" i="0" u="none" strike="noStrike" cap="none">
                <a:solidFill>
                  <a:srgbClr val="61407F"/>
                </a:solidFill>
                <a:latin typeface="Poppins"/>
                <a:ea typeface="Poppins"/>
                <a:cs typeface="Poppins"/>
                <a:sym typeface="Poppins"/>
              </a:rPr>
              <a:t>ANIMAL RESEARCH POSTER</a:t>
            </a:r>
            <a:endParaRPr/>
          </a:p>
        </p:txBody>
      </p:sp>
      <p:sp>
        <p:nvSpPr>
          <p:cNvPr id="130" name="Google Shape;130;p13"/>
          <p:cNvSpPr txBox="1"/>
          <p:nvPr/>
        </p:nvSpPr>
        <p:spPr>
          <a:xfrm>
            <a:off x="8441285" y="2950186"/>
            <a:ext cx="16035900" cy="3033000"/>
          </a:xfrm>
          <a:prstGeom prst="rect">
            <a:avLst/>
          </a:prstGeom>
          <a:noFill/>
          <a:ln>
            <a:noFill/>
          </a:ln>
        </p:spPr>
        <p:txBody>
          <a:bodyPr spcFirstLastPara="1" wrap="square" lIns="0" tIns="0" rIns="0" bIns="0" anchor="t" anchorCtr="0">
            <a:spAutoFit/>
          </a:bodyPr>
          <a:lstStyle/>
          <a:p>
            <a:pPr marL="0" marR="0" lvl="0" indent="0" algn="l" rtl="0">
              <a:lnSpc>
                <a:spcPct val="139996"/>
              </a:lnSpc>
              <a:spcBef>
                <a:spcPts val="0"/>
              </a:spcBef>
              <a:spcAft>
                <a:spcPts val="0"/>
              </a:spcAft>
              <a:buNone/>
            </a:pPr>
            <a:r>
              <a:rPr lang="en-US" sz="19704" b="1" i="0" u="none" strike="noStrike" cap="none" dirty="0">
                <a:solidFill>
                  <a:srgbClr val="FFE2AA"/>
                </a:solidFill>
                <a:latin typeface="Poppins"/>
                <a:ea typeface="Poppins"/>
                <a:cs typeface="Poppins"/>
                <a:sym typeface="Poppins"/>
              </a:rPr>
              <a:t>THE TOUCAN</a:t>
            </a:r>
            <a:endParaRPr dirty="0"/>
          </a:p>
        </p:txBody>
      </p:sp>
      <p:sp>
        <p:nvSpPr>
          <p:cNvPr id="131" name="Google Shape;131;p13"/>
          <p:cNvSpPr txBox="1"/>
          <p:nvPr/>
        </p:nvSpPr>
        <p:spPr>
          <a:xfrm>
            <a:off x="8169651" y="6497247"/>
            <a:ext cx="17831400" cy="2339102"/>
          </a:xfrm>
          <a:prstGeom prst="rect">
            <a:avLst/>
          </a:prstGeom>
          <a:noFill/>
          <a:ln>
            <a:noFill/>
          </a:ln>
        </p:spPr>
        <p:txBody>
          <a:bodyPr spcFirstLastPara="1" wrap="square" lIns="0" tIns="0" rIns="0" bIns="0" anchor="t" anchorCtr="0">
            <a:spAutoFit/>
          </a:bodyPr>
          <a:lstStyle/>
          <a:p>
            <a:r>
              <a:rPr sz="3800" dirty="0">
                <a:solidFill>
                  <a:schemeClr val="bg1"/>
                </a:solidFill>
              </a:rPr>
              <a:t>Five genera and more than 40 species make up the toucan family (Ramphastidae). These arboreal birds live in the tropical forests of Central and South America and are famous for their large, colorful bills. The toco toucan, the largest species, averages about 61 cm (24 in) in length</a:t>
            </a:r>
            <a:r>
              <a:rPr lang="en-US" sz="3800" dirty="0">
                <a:solidFill>
                  <a:schemeClr val="bg1"/>
                </a:solidFill>
              </a:rPr>
              <a:t> </a:t>
            </a:r>
            <a:r>
              <a:rPr sz="3800" u="sng" dirty="0">
                <a:solidFill>
                  <a:schemeClr val="bg1"/>
                </a:solidFill>
                <a:hlinkClick r:id="rId12">
                  <a:extLst>
                    <a:ext uri="{A12FA001-AC4F-418D-AE19-62706E023703}">
                      <ahyp:hlinkClr xmlns:ahyp="http://schemas.microsoft.com/office/drawing/2018/hyperlinkcolor" val="tx"/>
                    </a:ext>
                  </a:extLst>
                </a:hlinkClick>
              </a:rPr>
              <a:t>(animaldiversity.org)</a:t>
            </a:r>
            <a:r>
              <a:rPr sz="3800" dirty="0">
                <a:solidFill>
                  <a:schemeClr val="bg1"/>
                </a:solidFill>
              </a:rPr>
              <a:t>.</a:t>
            </a:r>
          </a:p>
        </p:txBody>
      </p:sp>
      <p:sp>
        <p:nvSpPr>
          <p:cNvPr id="132" name="Google Shape;132;p13"/>
          <p:cNvSpPr txBox="1"/>
          <p:nvPr/>
        </p:nvSpPr>
        <p:spPr>
          <a:xfrm>
            <a:off x="2881412" y="15339622"/>
            <a:ext cx="3573658"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FFFFFF"/>
                </a:solidFill>
                <a:latin typeface="Poppins"/>
                <a:ea typeface="Poppins"/>
                <a:cs typeface="Poppins"/>
                <a:sym typeface="Poppins"/>
              </a:rPr>
              <a:t>THE EYES</a:t>
            </a:r>
            <a:endParaRPr/>
          </a:p>
        </p:txBody>
      </p:sp>
      <p:sp>
        <p:nvSpPr>
          <p:cNvPr id="133" name="Google Shape;133;p13"/>
          <p:cNvSpPr txBox="1"/>
          <p:nvPr/>
        </p:nvSpPr>
        <p:spPr>
          <a:xfrm>
            <a:off x="2199281" y="16376755"/>
            <a:ext cx="5521987" cy="2154436"/>
          </a:xfrm>
          <a:prstGeom prst="rect">
            <a:avLst/>
          </a:prstGeom>
          <a:noFill/>
          <a:ln>
            <a:noFill/>
          </a:ln>
        </p:spPr>
        <p:txBody>
          <a:bodyPr spcFirstLastPara="1" wrap="square" lIns="0" tIns="0" rIns="0" bIns="0" anchor="t" anchorCtr="0">
            <a:spAutoFit/>
          </a:bodyPr>
          <a:lstStyle/>
          <a:p>
            <a:r>
              <a:rPr sz="2800" dirty="0">
                <a:solidFill>
                  <a:schemeClr val="bg1"/>
                </a:solidFill>
              </a:rPr>
              <a:t>Toco toucans have a thin ring of blue skin around the eye encircled by orange skin, giving them a striking appearance</a:t>
            </a:r>
            <a:r>
              <a:rPr lang="en-US" sz="2800" dirty="0">
                <a:solidFill>
                  <a:schemeClr val="bg1"/>
                </a:solidFill>
              </a:rPr>
              <a:t> </a:t>
            </a:r>
            <a:r>
              <a:rPr sz="2800" u="sng" dirty="0">
                <a:solidFill>
                  <a:schemeClr val="bg1"/>
                </a:solidFill>
                <a:hlinkClick r:id="rId13">
                  <a:extLst>
                    <a:ext uri="{A12FA001-AC4F-418D-AE19-62706E023703}">
                      <ahyp:hlinkClr xmlns:ahyp="http://schemas.microsoft.com/office/drawing/2018/hyperlinkcolor" val="tx"/>
                    </a:ext>
                  </a:extLst>
                </a:hlinkClick>
              </a:rPr>
              <a:t>(animaldiversity.org)</a:t>
            </a:r>
            <a:r>
              <a:rPr sz="2800" dirty="0">
                <a:solidFill>
                  <a:schemeClr val="bg1"/>
                </a:solidFill>
              </a:rPr>
              <a:t>.</a:t>
            </a:r>
          </a:p>
        </p:txBody>
      </p:sp>
      <p:sp>
        <p:nvSpPr>
          <p:cNvPr id="134" name="Google Shape;134;p13"/>
          <p:cNvSpPr txBox="1"/>
          <p:nvPr/>
        </p:nvSpPr>
        <p:spPr>
          <a:xfrm>
            <a:off x="2021491" y="23959564"/>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FFFFFF"/>
                </a:solidFill>
                <a:latin typeface="Poppins"/>
                <a:ea typeface="Poppins"/>
                <a:cs typeface="Poppins"/>
                <a:sym typeface="Poppins"/>
              </a:rPr>
              <a:t>THE FEATHERS</a:t>
            </a:r>
            <a:endParaRPr/>
          </a:p>
        </p:txBody>
      </p:sp>
      <p:sp>
        <p:nvSpPr>
          <p:cNvPr id="135" name="Google Shape;135;p13"/>
          <p:cNvSpPr txBox="1"/>
          <p:nvPr/>
        </p:nvSpPr>
        <p:spPr>
          <a:xfrm>
            <a:off x="2199282" y="25000736"/>
            <a:ext cx="4938000" cy="3447098"/>
          </a:xfrm>
          <a:prstGeom prst="rect">
            <a:avLst/>
          </a:prstGeom>
          <a:noFill/>
          <a:ln>
            <a:noFill/>
          </a:ln>
        </p:spPr>
        <p:txBody>
          <a:bodyPr spcFirstLastPara="1" wrap="square" lIns="0" tIns="0" rIns="0" bIns="0" anchor="t" anchorCtr="0">
            <a:spAutoFit/>
          </a:bodyPr>
          <a:lstStyle/>
          <a:p>
            <a:r>
              <a:rPr sz="2800" dirty="0">
                <a:solidFill>
                  <a:schemeClr val="bg1"/>
                </a:solidFill>
              </a:rPr>
              <a:t>Toucans generally have black plumage with a white throat and bright red or orange undertail; smaller species display patches of yellow, green and blue which blend with fruit and foliage for camouflage</a:t>
            </a:r>
            <a:r>
              <a:rPr lang="en-US" sz="2800" dirty="0">
                <a:solidFill>
                  <a:schemeClr val="bg1"/>
                </a:solidFill>
              </a:rPr>
              <a:t> </a:t>
            </a:r>
            <a:r>
              <a:rPr sz="2800" u="sng" dirty="0">
                <a:solidFill>
                  <a:schemeClr val="bg1"/>
                </a:solidFill>
                <a:hlinkClick r:id="rId14">
                  <a:extLst>
                    <a:ext uri="{A12FA001-AC4F-418D-AE19-62706E023703}">
                      <ahyp:hlinkClr xmlns:ahyp="http://schemas.microsoft.com/office/drawing/2018/hyperlinkcolor" val="tx"/>
                    </a:ext>
                  </a:extLst>
                </a:hlinkClick>
              </a:rPr>
              <a:t>(en.wikipedia.org)</a:t>
            </a:r>
            <a:r>
              <a:rPr sz="2800" dirty="0">
                <a:solidFill>
                  <a:schemeClr val="bg1"/>
                </a:solidFill>
              </a:rPr>
              <a:t>.</a:t>
            </a:r>
          </a:p>
        </p:txBody>
      </p:sp>
      <p:sp>
        <p:nvSpPr>
          <p:cNvPr id="136" name="Google Shape;136;p13"/>
          <p:cNvSpPr txBox="1"/>
          <p:nvPr/>
        </p:nvSpPr>
        <p:spPr>
          <a:xfrm>
            <a:off x="26159667" y="16774248"/>
            <a:ext cx="3573658"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FFFFFF"/>
                </a:solidFill>
                <a:latin typeface="Poppins"/>
                <a:ea typeface="Poppins"/>
                <a:cs typeface="Poppins"/>
                <a:sym typeface="Poppins"/>
              </a:rPr>
              <a:t>THE BEAK</a:t>
            </a:r>
            <a:endParaRPr dirty="0"/>
          </a:p>
        </p:txBody>
      </p:sp>
      <p:sp>
        <p:nvSpPr>
          <p:cNvPr id="137" name="Google Shape;137;p13"/>
          <p:cNvSpPr txBox="1"/>
          <p:nvPr/>
        </p:nvSpPr>
        <p:spPr>
          <a:xfrm>
            <a:off x="24268696" y="17811383"/>
            <a:ext cx="8301361" cy="3016210"/>
          </a:xfrm>
          <a:prstGeom prst="rect">
            <a:avLst/>
          </a:prstGeom>
          <a:noFill/>
          <a:ln>
            <a:noFill/>
          </a:ln>
        </p:spPr>
        <p:txBody>
          <a:bodyPr spcFirstLastPara="1" wrap="square" lIns="0" tIns="0" rIns="0" bIns="0" anchor="t" anchorCtr="0">
            <a:spAutoFit/>
          </a:bodyPr>
          <a:lstStyle/>
          <a:p>
            <a:r>
              <a:rPr sz="2800" dirty="0">
                <a:solidFill>
                  <a:schemeClr val="bg1"/>
                </a:solidFill>
              </a:rPr>
              <a:t>The large bill accounts for about one‑third of a toucan’s length and has a hollow keratin structure supported by bone struts, making it light but strong</a:t>
            </a:r>
            <a:r>
              <a:rPr sz="2800" u="sng" dirty="0">
                <a:solidFill>
                  <a:schemeClr val="bg1"/>
                </a:solidFill>
                <a:hlinkClick r:id="rId13">
                  <a:extLst>
                    <a:ext uri="{A12FA001-AC4F-418D-AE19-62706E023703}">
                      <ahyp:hlinkClr xmlns:ahyp="http://schemas.microsoft.com/office/drawing/2018/hyperlinkcolor" val="tx"/>
                    </a:ext>
                  </a:extLst>
                </a:hlinkClick>
              </a:rPr>
              <a:t>(animaldiversity.org)</a:t>
            </a:r>
            <a:r>
              <a:rPr sz="2800" u="sng" dirty="0">
                <a:solidFill>
                  <a:schemeClr val="bg1"/>
                </a:solidFill>
                <a:hlinkClick r:id="rId15">
                  <a:extLst>
                    <a:ext uri="{A12FA001-AC4F-418D-AE19-62706E023703}">
                      <ahyp:hlinkClr xmlns:ahyp="http://schemas.microsoft.com/office/drawing/2018/hyperlinkcolor" val="tx"/>
                    </a:ext>
                  </a:extLst>
                </a:hlinkClick>
              </a:rPr>
              <a:t>(en.wikipedia.org)</a:t>
            </a:r>
            <a:r>
              <a:rPr sz="2800" dirty="0">
                <a:solidFill>
                  <a:schemeClr val="bg1"/>
                </a:solidFill>
              </a:rPr>
              <a:t>. It helps reach fruit at the tips of branches, regulates body temperature and may attract mates or deter predators</a:t>
            </a:r>
            <a:r>
              <a:rPr sz="2800" u="sng" dirty="0">
                <a:solidFill>
                  <a:schemeClr val="bg1"/>
                </a:solidFill>
                <a:hlinkClick r:id="rId16">
                  <a:extLst>
                    <a:ext uri="{A12FA001-AC4F-418D-AE19-62706E023703}">
                      <ahyp:hlinkClr xmlns:ahyp="http://schemas.microsoft.com/office/drawing/2018/hyperlinkcolor" val="tx"/>
                    </a:ext>
                  </a:extLst>
                </a:hlinkClick>
              </a:rPr>
              <a:t>(en.wikipedia.org)</a:t>
            </a:r>
            <a:r>
              <a:rPr sz="2800" dirty="0">
                <a:solidFill>
                  <a:schemeClr val="bg1"/>
                </a:solidFill>
              </a:rPr>
              <a:t>.</a:t>
            </a:r>
          </a:p>
        </p:txBody>
      </p:sp>
      <p:sp>
        <p:nvSpPr>
          <p:cNvPr id="138" name="Google Shape;138;p13"/>
          <p:cNvSpPr txBox="1"/>
          <p:nvPr/>
        </p:nvSpPr>
        <p:spPr>
          <a:xfrm>
            <a:off x="25576669" y="25519844"/>
            <a:ext cx="4093302"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FFFFFF"/>
                </a:solidFill>
                <a:latin typeface="Poppins"/>
                <a:ea typeface="Poppins"/>
                <a:cs typeface="Poppins"/>
                <a:sym typeface="Poppins"/>
              </a:rPr>
              <a:t>THE CLAWS</a:t>
            </a:r>
            <a:endParaRPr/>
          </a:p>
        </p:txBody>
      </p:sp>
      <p:sp>
        <p:nvSpPr>
          <p:cNvPr id="139" name="Google Shape;139;p13"/>
          <p:cNvSpPr txBox="1"/>
          <p:nvPr/>
        </p:nvSpPr>
        <p:spPr>
          <a:xfrm>
            <a:off x="25154361" y="26576264"/>
            <a:ext cx="4938000" cy="2585323"/>
          </a:xfrm>
          <a:prstGeom prst="rect">
            <a:avLst/>
          </a:prstGeom>
          <a:noFill/>
          <a:ln>
            <a:noFill/>
          </a:ln>
        </p:spPr>
        <p:txBody>
          <a:bodyPr spcFirstLastPara="1" wrap="square" lIns="0" tIns="0" rIns="0" bIns="0" anchor="t" anchorCtr="0">
            <a:spAutoFit/>
          </a:bodyPr>
          <a:lstStyle/>
          <a:p>
            <a:r>
              <a:rPr sz="2800" dirty="0">
                <a:solidFill>
                  <a:schemeClr val="bg1"/>
                </a:solidFill>
              </a:rPr>
              <a:t>Strong, short legs end in </a:t>
            </a:r>
            <a:r>
              <a:rPr sz="2800" dirty="0" err="1">
                <a:solidFill>
                  <a:schemeClr val="bg1"/>
                </a:solidFill>
              </a:rPr>
              <a:t>zygodactylous</a:t>
            </a:r>
            <a:r>
              <a:rPr sz="2800" dirty="0">
                <a:solidFill>
                  <a:schemeClr val="bg1"/>
                </a:solidFill>
              </a:rPr>
              <a:t> feet (two toes forward, two backward), giving toucans a firm grip to climb trunks and hop through the canopy</a:t>
            </a:r>
            <a:r>
              <a:rPr sz="2800" u="sng" dirty="0">
                <a:solidFill>
                  <a:schemeClr val="bg1"/>
                </a:solidFill>
                <a:hlinkClick r:id="rId17">
                  <a:extLst>
                    <a:ext uri="{A12FA001-AC4F-418D-AE19-62706E023703}">
                      <ahyp:hlinkClr xmlns:ahyp="http://schemas.microsoft.com/office/drawing/2018/hyperlinkcolor" val="tx"/>
                    </a:ext>
                  </a:extLst>
                </a:hlinkClick>
              </a:rPr>
              <a:t>(en.wikipedia.org)</a:t>
            </a:r>
            <a:r>
              <a:rPr sz="2800" dirty="0">
                <a:solidFill>
                  <a:schemeClr val="bg1"/>
                </a:solidFill>
              </a:rPr>
              <a:t>.</a:t>
            </a:r>
          </a:p>
        </p:txBody>
      </p:sp>
      <p:sp>
        <p:nvSpPr>
          <p:cNvPr id="140" name="Google Shape;140;p13"/>
          <p:cNvSpPr txBox="1"/>
          <p:nvPr/>
        </p:nvSpPr>
        <p:spPr>
          <a:xfrm>
            <a:off x="8572233" y="30633150"/>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61407F"/>
                </a:solidFill>
                <a:latin typeface="Poppins"/>
                <a:ea typeface="Poppins"/>
                <a:cs typeface="Poppins"/>
                <a:sym typeface="Poppins"/>
              </a:rPr>
              <a:t>POPULATION</a:t>
            </a:r>
            <a:endParaRPr/>
          </a:p>
        </p:txBody>
      </p:sp>
      <p:sp>
        <p:nvSpPr>
          <p:cNvPr id="141" name="Google Shape;141;p13"/>
          <p:cNvSpPr txBox="1"/>
          <p:nvPr/>
        </p:nvSpPr>
        <p:spPr>
          <a:xfrm>
            <a:off x="8572233" y="31751751"/>
            <a:ext cx="7646700" cy="2154436"/>
          </a:xfrm>
          <a:prstGeom prst="rect">
            <a:avLst/>
          </a:prstGeom>
          <a:noFill/>
          <a:ln>
            <a:noFill/>
          </a:ln>
        </p:spPr>
        <p:txBody>
          <a:bodyPr spcFirstLastPara="1" wrap="square" lIns="0" tIns="0" rIns="0" bIns="0" anchor="t" anchorCtr="0">
            <a:spAutoFit/>
          </a:bodyPr>
          <a:lstStyle/>
          <a:p>
            <a:r>
              <a:rPr sz="2800" dirty="0">
                <a:solidFill>
                  <a:schemeClr val="tx1"/>
                </a:solidFill>
              </a:rPr>
              <a:t>Most toucan species are listed as Least Concern, but habitat loss and hunting have reduced numbers. The toco toucan population exceeds 10,000 mature individuals yet is declining</a:t>
            </a:r>
            <a:r>
              <a:rPr sz="2800" u="sng" dirty="0">
                <a:solidFill>
                  <a:schemeClr val="tx1"/>
                </a:solidFill>
                <a:hlinkClick r:id="rId18">
                  <a:extLst>
                    <a:ext uri="{A12FA001-AC4F-418D-AE19-62706E023703}">
                      <ahyp:hlinkClr xmlns:ahyp="http://schemas.microsoft.com/office/drawing/2018/hyperlinkcolor" val="tx"/>
                    </a:ext>
                  </a:extLst>
                </a:hlinkClick>
              </a:rPr>
              <a:t>(seaworld.org)</a:t>
            </a:r>
            <a:r>
              <a:rPr sz="2800" dirty="0">
                <a:solidFill>
                  <a:schemeClr val="tx1"/>
                </a:solidFill>
              </a:rPr>
              <a:t>.</a:t>
            </a:r>
          </a:p>
        </p:txBody>
      </p:sp>
      <p:sp>
        <p:nvSpPr>
          <p:cNvPr id="142" name="Google Shape;142;p13"/>
          <p:cNvSpPr txBox="1"/>
          <p:nvPr/>
        </p:nvSpPr>
        <p:spPr>
          <a:xfrm>
            <a:off x="24568341" y="30633150"/>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61407F"/>
                </a:solidFill>
                <a:latin typeface="Poppins"/>
                <a:ea typeface="Poppins"/>
                <a:cs typeface="Poppins"/>
                <a:sym typeface="Poppins"/>
              </a:rPr>
              <a:t>TOUCAN DIET</a:t>
            </a:r>
            <a:endParaRPr/>
          </a:p>
        </p:txBody>
      </p:sp>
      <p:sp>
        <p:nvSpPr>
          <p:cNvPr id="143" name="Google Shape;143;p13"/>
          <p:cNvSpPr txBox="1"/>
          <p:nvPr/>
        </p:nvSpPr>
        <p:spPr>
          <a:xfrm>
            <a:off x="24568341" y="31751751"/>
            <a:ext cx="6586500" cy="2154436"/>
          </a:xfrm>
          <a:prstGeom prst="rect">
            <a:avLst/>
          </a:prstGeom>
          <a:noFill/>
          <a:ln>
            <a:noFill/>
          </a:ln>
        </p:spPr>
        <p:txBody>
          <a:bodyPr spcFirstLastPara="1" wrap="square" lIns="0" tIns="0" rIns="0" bIns="0" anchor="t" anchorCtr="0">
            <a:spAutoFit/>
          </a:bodyPr>
          <a:lstStyle/>
          <a:p>
            <a:r>
              <a:rPr sz="2800" dirty="0">
                <a:solidFill>
                  <a:schemeClr val="tx1"/>
                </a:solidFill>
              </a:rPr>
              <a:t>Toucans are omnivorous: they eat mainly fruit but also consume insects, small reptiles, birds and eggs using their long, serrated bills and feather‑like tongues to grasp and flick food</a:t>
            </a:r>
            <a:r>
              <a:rPr sz="2800" u="sng" dirty="0">
                <a:solidFill>
                  <a:schemeClr val="tx1"/>
                </a:solidFill>
                <a:hlinkClick r:id="rId19">
                  <a:extLst>
                    <a:ext uri="{A12FA001-AC4F-418D-AE19-62706E023703}">
                      <ahyp:hlinkClr xmlns:ahyp="http://schemas.microsoft.com/office/drawing/2018/hyperlinkcolor" val="tx"/>
                    </a:ext>
                  </a:extLst>
                </a:hlinkClick>
              </a:rPr>
              <a:t>(seaworld.org)</a:t>
            </a:r>
            <a:r>
              <a:rPr sz="2800" dirty="0">
                <a:solidFill>
                  <a:schemeClr val="tx1"/>
                </a:solidFill>
              </a:rPr>
              <a:t>.</a:t>
            </a:r>
          </a:p>
        </p:txBody>
      </p:sp>
      <p:sp>
        <p:nvSpPr>
          <p:cNvPr id="144" name="Google Shape;144;p13"/>
          <p:cNvSpPr txBox="1"/>
          <p:nvPr/>
        </p:nvSpPr>
        <p:spPr>
          <a:xfrm>
            <a:off x="20854920" y="33568132"/>
            <a:ext cx="3242883" cy="60324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sz="2800" dirty="0"/>
              <a:t>FRUIT &amp; SEEDS</a:t>
            </a:r>
          </a:p>
        </p:txBody>
      </p:sp>
      <p:sp>
        <p:nvSpPr>
          <p:cNvPr id="145" name="Google Shape;145;p13"/>
          <p:cNvSpPr txBox="1"/>
          <p:nvPr/>
        </p:nvSpPr>
        <p:spPr>
          <a:xfrm>
            <a:off x="17660001" y="33568132"/>
            <a:ext cx="3242883" cy="60324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sz="2800" dirty="0"/>
              <a:t>INSECTS &amp; EGGS</a:t>
            </a:r>
          </a:p>
        </p:txBody>
      </p:sp>
      <p:cxnSp>
        <p:nvCxnSpPr>
          <p:cNvPr id="146" name="Google Shape;146;p13"/>
          <p:cNvCxnSpPr/>
          <p:nvPr/>
        </p:nvCxnSpPr>
        <p:spPr>
          <a:xfrm>
            <a:off x="0" y="41971261"/>
            <a:ext cx="32918400" cy="0"/>
          </a:xfrm>
          <a:prstGeom prst="straightConnector1">
            <a:avLst/>
          </a:prstGeom>
          <a:noFill/>
          <a:ln w="152400" cap="flat" cmpd="sng">
            <a:solidFill>
              <a:srgbClr val="FFFFFF"/>
            </a:solidFill>
            <a:prstDash val="dot"/>
            <a:round/>
            <a:headEnd type="none" w="sm" len="sm"/>
            <a:tailEnd type="none" w="sm" len="sm"/>
          </a:ln>
        </p:spPr>
      </p:cxnSp>
      <p:cxnSp>
        <p:nvCxnSpPr>
          <p:cNvPr id="159" name="Google Shape;159;p13"/>
          <p:cNvCxnSpPr/>
          <p:nvPr/>
        </p:nvCxnSpPr>
        <p:spPr>
          <a:xfrm rot="10800000">
            <a:off x="19892001" y="36455617"/>
            <a:ext cx="0" cy="4569563"/>
          </a:xfrm>
          <a:prstGeom prst="straightConnector1">
            <a:avLst/>
          </a:prstGeom>
          <a:noFill/>
          <a:ln w="152400" cap="flat" cmpd="sng">
            <a:solidFill>
              <a:srgbClr val="FFFFFF"/>
            </a:solidFill>
            <a:prstDash val="dot"/>
            <a:round/>
            <a:headEnd type="none" w="sm" len="sm"/>
            <a:tailEnd type="none" w="sm" len="sm"/>
          </a:ln>
        </p:spPr>
      </p:cxnSp>
      <p:sp>
        <p:nvSpPr>
          <p:cNvPr id="160" name="Google Shape;160;p13"/>
          <p:cNvSpPr/>
          <p:nvPr/>
        </p:nvSpPr>
        <p:spPr>
          <a:xfrm flipH="1">
            <a:off x="27861642" y="36553318"/>
            <a:ext cx="3022146" cy="4374159"/>
          </a:xfrm>
          <a:custGeom>
            <a:avLst/>
            <a:gdLst/>
            <a:ahLst/>
            <a:cxnLst/>
            <a:rect l="l" t="t" r="r" b="b"/>
            <a:pathLst>
              <a:path w="3022146" h="4374159" extrusionOk="0">
                <a:moveTo>
                  <a:pt x="3022146" y="0"/>
                </a:moveTo>
                <a:lnTo>
                  <a:pt x="0" y="0"/>
                </a:lnTo>
                <a:lnTo>
                  <a:pt x="0" y="4374159"/>
                </a:lnTo>
                <a:lnTo>
                  <a:pt x="3022146" y="4374159"/>
                </a:lnTo>
                <a:lnTo>
                  <a:pt x="3022146" y="0"/>
                </a:lnTo>
                <a:close/>
              </a:path>
            </a:pathLst>
          </a:custGeom>
          <a:blipFill rotWithShape="1">
            <a:blip r:embed="rId5">
              <a:alphaModFix/>
            </a:blip>
            <a:stretch>
              <a:fillRect/>
            </a:stretch>
          </a:blipFill>
          <a:ln>
            <a:noFill/>
          </a:ln>
        </p:spPr>
        <p:txBody>
          <a:bodyPr/>
          <a:lstStyle/>
          <a:p>
            <a:endParaRPr/>
          </a:p>
        </p:txBody>
      </p:sp>
      <p:sp>
        <p:nvSpPr>
          <p:cNvPr id="161" name="Google Shape;161;p13"/>
          <p:cNvSpPr txBox="1"/>
          <p:nvPr/>
        </p:nvSpPr>
        <p:spPr>
          <a:xfrm>
            <a:off x="20707551" y="36322267"/>
            <a:ext cx="5293500" cy="868441"/>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926" b="1" i="0" u="none" strike="noStrike" cap="none">
                <a:solidFill>
                  <a:srgbClr val="61407F"/>
                </a:solidFill>
                <a:latin typeface="Poppins"/>
                <a:ea typeface="Poppins"/>
                <a:cs typeface="Poppins"/>
                <a:sym typeface="Poppins"/>
              </a:rPr>
              <a:t>FUN FACTS</a:t>
            </a:r>
            <a:endParaRPr/>
          </a:p>
        </p:txBody>
      </p:sp>
      <p:sp>
        <p:nvSpPr>
          <p:cNvPr id="162" name="Google Shape;162;p13"/>
          <p:cNvSpPr txBox="1"/>
          <p:nvPr/>
        </p:nvSpPr>
        <p:spPr>
          <a:xfrm>
            <a:off x="20707551" y="37412293"/>
            <a:ext cx="7154084" cy="4308872"/>
          </a:xfrm>
          <a:prstGeom prst="rect">
            <a:avLst/>
          </a:prstGeom>
          <a:noFill/>
          <a:ln>
            <a:noFill/>
          </a:ln>
        </p:spPr>
        <p:txBody>
          <a:bodyPr spcFirstLastPara="1" wrap="square" lIns="0" tIns="0" rIns="0" bIns="0" anchor="t" anchorCtr="0">
            <a:spAutoFit/>
          </a:bodyPr>
          <a:lstStyle/>
          <a:p>
            <a:r>
              <a:rPr sz="2800" dirty="0"/>
              <a:t>• Although the bill looks heavy, it is mostly hollow and made of keratin reinforced by bone fibers, making it surprisingly light</a:t>
            </a:r>
            <a:r>
              <a:rPr lang="en-US" sz="2800" dirty="0"/>
              <a:t> </a:t>
            </a:r>
            <a:r>
              <a:rPr sz="2800" u="sng" dirty="0">
                <a:solidFill>
                  <a:schemeClr val="accent6"/>
                </a:solidFill>
                <a:hlinkClick r:id="rId20"/>
              </a:rPr>
              <a:t>(seaworld.org)</a:t>
            </a:r>
            <a:r>
              <a:rPr sz="2800" dirty="0"/>
              <a:t>.</a:t>
            </a:r>
          </a:p>
          <a:p>
            <a:r>
              <a:rPr sz="2800" dirty="0"/>
              <a:t>• When sleeping, toucans tuck their long bill under their back and tail to conserve heat</a:t>
            </a:r>
            <a:r>
              <a:rPr lang="en-US" sz="2800" dirty="0"/>
              <a:t> </a:t>
            </a:r>
            <a:r>
              <a:rPr sz="2800" u="sng" dirty="0">
                <a:solidFill>
                  <a:schemeClr val="accent6"/>
                </a:solidFill>
                <a:hlinkClick r:id="rId21"/>
              </a:rPr>
              <a:t>(seaworld.org)</a:t>
            </a:r>
            <a:r>
              <a:rPr sz="2800" dirty="0"/>
              <a:t>.</a:t>
            </a:r>
          </a:p>
          <a:p>
            <a:r>
              <a:rPr sz="2800" dirty="0"/>
              <a:t>• Toco toucans are poor fliers and move primarily by hopping from tree to tree</a:t>
            </a:r>
            <a:r>
              <a:rPr lang="en-US" sz="2800" dirty="0"/>
              <a:t> </a:t>
            </a:r>
            <a:r>
              <a:rPr sz="2800" u="sng" dirty="0">
                <a:solidFill>
                  <a:schemeClr val="accent6"/>
                </a:solidFill>
                <a:hlinkClick r:id="rId22"/>
              </a:rPr>
              <a:t>(seaworld.org)</a:t>
            </a:r>
            <a:r>
              <a:rPr sz="2800" dirty="0"/>
              <a:t>.</a:t>
            </a:r>
          </a:p>
        </p:txBody>
      </p:sp>
      <p:sp>
        <p:nvSpPr>
          <p:cNvPr id="163" name="Google Shape;163;p13"/>
          <p:cNvSpPr txBox="1"/>
          <p:nvPr/>
        </p:nvSpPr>
        <p:spPr>
          <a:xfrm>
            <a:off x="5791586" y="42498619"/>
            <a:ext cx="21335100" cy="603242"/>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defRPr sz="800"/>
            </a:pPr>
            <a:r>
              <a:rPr sz="2800">
                <a:hlinkClick r:id="rId12"/>
              </a:rPr>
              <a:t>[1] </a:t>
            </a:r>
            <a:r>
              <a:rPr sz="2800">
                <a:hlinkClick r:id="rId23"/>
              </a:rPr>
              <a:t>[2] </a:t>
            </a:r>
            <a:r>
              <a:rPr sz="2800">
                <a:hlinkClick r:id="rId24"/>
              </a:rPr>
              <a:t>[3] </a:t>
            </a:r>
            <a:r>
              <a:rPr sz="2800">
                <a:hlinkClick r:id="rId16"/>
              </a:rPr>
              <a:t>[4] </a:t>
            </a:r>
            <a:endParaRPr sz="2800"/>
          </a:p>
        </p:txBody>
      </p:sp>
      <p:grpSp>
        <p:nvGrpSpPr>
          <p:cNvPr id="2" name="Google Shape;147;p13">
            <a:extLst>
              <a:ext uri="{FF2B5EF4-FFF2-40B4-BE49-F238E27FC236}">
                <a16:creationId xmlns:a16="http://schemas.microsoft.com/office/drawing/2014/main" id="{0303A6E7-3A58-DA9C-09AA-C3B1936DE59D}"/>
              </a:ext>
            </a:extLst>
          </p:cNvPr>
          <p:cNvGrpSpPr/>
          <p:nvPr/>
        </p:nvGrpSpPr>
        <p:grpSpPr>
          <a:xfrm>
            <a:off x="1982045" y="36212729"/>
            <a:ext cx="5293575" cy="5711664"/>
            <a:chOff x="0" y="-323850"/>
            <a:chExt cx="7058100" cy="7615551"/>
          </a:xfrm>
        </p:grpSpPr>
        <p:sp>
          <p:nvSpPr>
            <p:cNvPr id="3" name="Google Shape;148;p13">
              <a:extLst>
                <a:ext uri="{FF2B5EF4-FFF2-40B4-BE49-F238E27FC236}">
                  <a16:creationId xmlns:a16="http://schemas.microsoft.com/office/drawing/2014/main" id="{7F9BEAEE-0291-7A4D-5B05-2DC6B5E2A57A}"/>
                </a:ext>
              </a:extLst>
            </p:cNvPr>
            <p:cNvSpPr txBox="1"/>
            <p:nvPr/>
          </p:nvSpPr>
          <p:spPr>
            <a:xfrm>
              <a:off x="691808" y="-323850"/>
              <a:ext cx="5674500" cy="2712196"/>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i="0" u="none" strike="noStrike" cap="none" dirty="0">
                  <a:solidFill>
                    <a:srgbClr val="61407F"/>
                  </a:solidFill>
                  <a:latin typeface="Poppins"/>
                  <a:ea typeface="Poppins"/>
                  <a:cs typeface="Poppins"/>
                  <a:sym typeface="Poppins"/>
                </a:rPr>
                <a:t>1</a:t>
              </a:r>
              <a:endParaRPr dirty="0"/>
            </a:p>
          </p:txBody>
        </p:sp>
        <p:sp>
          <p:nvSpPr>
            <p:cNvPr id="4" name="Google Shape;149;p13">
              <a:extLst>
                <a:ext uri="{FF2B5EF4-FFF2-40B4-BE49-F238E27FC236}">
                  <a16:creationId xmlns:a16="http://schemas.microsoft.com/office/drawing/2014/main" id="{2B994DC9-C64A-74E5-D6F9-2EC3E59A12ED}"/>
                </a:ext>
              </a:extLst>
            </p:cNvPr>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a:solidFill>
                    <a:srgbClr val="61407F"/>
                  </a:solidFill>
                  <a:latin typeface="Poppins"/>
                  <a:ea typeface="Poppins"/>
                  <a:cs typeface="Poppins"/>
                  <a:sym typeface="Poppins"/>
                </a:rPr>
                <a:t>POINT 01</a:t>
              </a:r>
              <a:endParaRPr/>
            </a:p>
          </p:txBody>
        </p:sp>
        <p:sp>
          <p:nvSpPr>
            <p:cNvPr id="5" name="Google Shape;150;p13">
              <a:extLst>
                <a:ext uri="{FF2B5EF4-FFF2-40B4-BE49-F238E27FC236}">
                  <a16:creationId xmlns:a16="http://schemas.microsoft.com/office/drawing/2014/main" id="{45A05192-62E2-8D1E-6ECD-15D757CBCE2F}"/>
                </a:ext>
              </a:extLst>
            </p:cNvPr>
            <p:cNvSpPr txBox="1"/>
            <p:nvPr/>
          </p:nvSpPr>
          <p:spPr>
            <a:xfrm>
              <a:off x="526999" y="3893848"/>
              <a:ext cx="6003900" cy="3397853"/>
            </a:xfrm>
            <a:prstGeom prst="rect">
              <a:avLst/>
            </a:prstGeom>
            <a:noFill/>
            <a:ln>
              <a:noFill/>
            </a:ln>
          </p:spPr>
          <p:txBody>
            <a:bodyPr spcFirstLastPara="1" wrap="square" lIns="0" tIns="0" rIns="0" bIns="0" anchor="t" anchorCtr="0">
              <a:spAutoFit/>
            </a:bodyPr>
            <a:lstStyle/>
            <a:p>
              <a:pPr lvl="0" algn="ctr">
                <a:lnSpc>
                  <a:spcPct val="115000"/>
                </a:lnSpc>
              </a:pPr>
              <a:r>
                <a:rPr lang="en-US" sz="3600" dirty="0"/>
                <a:t>There are more than 40 species across six genera and individuals</a:t>
              </a:r>
              <a:endParaRPr dirty="0"/>
            </a:p>
          </p:txBody>
        </p:sp>
      </p:grpSp>
      <p:grpSp>
        <p:nvGrpSpPr>
          <p:cNvPr id="6" name="Google Shape;151;p13">
            <a:extLst>
              <a:ext uri="{FF2B5EF4-FFF2-40B4-BE49-F238E27FC236}">
                <a16:creationId xmlns:a16="http://schemas.microsoft.com/office/drawing/2014/main" id="{85F2F7DF-8885-5312-E878-CFE983D12592}"/>
              </a:ext>
            </a:extLst>
          </p:cNvPr>
          <p:cNvGrpSpPr/>
          <p:nvPr/>
        </p:nvGrpSpPr>
        <p:grpSpPr>
          <a:xfrm>
            <a:off x="7696463" y="36212729"/>
            <a:ext cx="5293575" cy="4862201"/>
            <a:chOff x="0" y="-323850"/>
            <a:chExt cx="7058100" cy="6482934"/>
          </a:xfrm>
        </p:grpSpPr>
        <p:sp>
          <p:nvSpPr>
            <p:cNvPr id="7" name="Google Shape;152;p13">
              <a:extLst>
                <a:ext uri="{FF2B5EF4-FFF2-40B4-BE49-F238E27FC236}">
                  <a16:creationId xmlns:a16="http://schemas.microsoft.com/office/drawing/2014/main" id="{AACC1D8B-115E-5F4B-B2A7-FC5656826A5D}"/>
                </a:ext>
              </a:extLst>
            </p:cNvPr>
            <p:cNvSpPr txBox="1"/>
            <p:nvPr/>
          </p:nvSpPr>
          <p:spPr>
            <a:xfrm>
              <a:off x="691808" y="-323850"/>
              <a:ext cx="5674500" cy="2712196"/>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dirty="0">
                  <a:solidFill>
                    <a:srgbClr val="61407F"/>
                  </a:solidFill>
                  <a:latin typeface="Poppins"/>
                  <a:cs typeface="Poppins"/>
                  <a:sym typeface="Poppins"/>
                </a:rPr>
                <a:t>2</a:t>
              </a:r>
              <a:endParaRPr dirty="0"/>
            </a:p>
          </p:txBody>
        </p:sp>
        <p:sp>
          <p:nvSpPr>
            <p:cNvPr id="8" name="Google Shape;153;p13">
              <a:extLst>
                <a:ext uri="{FF2B5EF4-FFF2-40B4-BE49-F238E27FC236}">
                  <a16:creationId xmlns:a16="http://schemas.microsoft.com/office/drawing/2014/main" id="{1C4EDF1A-9F1C-8CFA-D8C1-8CDB8B41112E}"/>
                </a:ext>
              </a:extLst>
            </p:cNvPr>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a:solidFill>
                    <a:srgbClr val="61407F"/>
                  </a:solidFill>
                  <a:latin typeface="Poppins"/>
                  <a:ea typeface="Poppins"/>
                  <a:cs typeface="Poppins"/>
                  <a:sym typeface="Poppins"/>
                </a:rPr>
                <a:t>POINT 02</a:t>
              </a:r>
              <a:endParaRPr/>
            </a:p>
          </p:txBody>
        </p:sp>
        <p:sp>
          <p:nvSpPr>
            <p:cNvPr id="9" name="Google Shape;154;p13">
              <a:extLst>
                <a:ext uri="{FF2B5EF4-FFF2-40B4-BE49-F238E27FC236}">
                  <a16:creationId xmlns:a16="http://schemas.microsoft.com/office/drawing/2014/main" id="{F674CB7D-7498-9DD0-5C96-2BD8182E8572}"/>
                </a:ext>
              </a:extLst>
            </p:cNvPr>
            <p:cNvSpPr txBox="1"/>
            <p:nvPr/>
          </p:nvSpPr>
          <p:spPr>
            <a:xfrm>
              <a:off x="526999" y="3893848"/>
              <a:ext cx="6003900" cy="2265236"/>
            </a:xfrm>
            <a:prstGeom prst="rect">
              <a:avLst/>
            </a:prstGeom>
            <a:noFill/>
            <a:ln>
              <a:noFill/>
            </a:ln>
          </p:spPr>
          <p:txBody>
            <a:bodyPr spcFirstLastPara="1" wrap="square" lIns="0" tIns="0" rIns="0" bIns="0" anchor="t" anchorCtr="0">
              <a:spAutoFit/>
            </a:bodyPr>
            <a:lstStyle/>
            <a:p>
              <a:pPr lvl="0" algn="ctr">
                <a:lnSpc>
                  <a:spcPct val="115000"/>
                </a:lnSpc>
              </a:pPr>
              <a:r>
                <a:rPr lang="en-US" sz="3200" dirty="0"/>
                <a:t>The largest species may reach about 24 inches in length,</a:t>
              </a:r>
              <a:endParaRPr dirty="0"/>
            </a:p>
          </p:txBody>
        </p:sp>
      </p:grpSp>
      <p:grpSp>
        <p:nvGrpSpPr>
          <p:cNvPr id="10" name="Google Shape;155;p13">
            <a:extLst>
              <a:ext uri="{FF2B5EF4-FFF2-40B4-BE49-F238E27FC236}">
                <a16:creationId xmlns:a16="http://schemas.microsoft.com/office/drawing/2014/main" id="{5208E34B-B326-9860-9BAA-FCF23E1256E1}"/>
              </a:ext>
            </a:extLst>
          </p:cNvPr>
          <p:cNvGrpSpPr/>
          <p:nvPr/>
        </p:nvGrpSpPr>
        <p:grpSpPr>
          <a:xfrm>
            <a:off x="13410882" y="36212729"/>
            <a:ext cx="5293575" cy="4295892"/>
            <a:chOff x="0" y="-323850"/>
            <a:chExt cx="7058100" cy="5727855"/>
          </a:xfrm>
        </p:grpSpPr>
        <p:sp>
          <p:nvSpPr>
            <p:cNvPr id="11" name="Google Shape;156;p13">
              <a:extLst>
                <a:ext uri="{FF2B5EF4-FFF2-40B4-BE49-F238E27FC236}">
                  <a16:creationId xmlns:a16="http://schemas.microsoft.com/office/drawing/2014/main" id="{F30E7919-E8B8-8344-5E90-ACAE0EE1FBBC}"/>
                </a:ext>
              </a:extLst>
            </p:cNvPr>
            <p:cNvSpPr txBox="1"/>
            <p:nvPr/>
          </p:nvSpPr>
          <p:spPr>
            <a:xfrm>
              <a:off x="691808" y="-323850"/>
              <a:ext cx="5674500" cy="2712196"/>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11494" b="1" dirty="0">
                  <a:solidFill>
                    <a:srgbClr val="61407F"/>
                  </a:solidFill>
                  <a:latin typeface="Poppins"/>
                  <a:cs typeface="Poppins"/>
                  <a:sym typeface="Poppins"/>
                </a:rPr>
                <a:t>3</a:t>
              </a:r>
              <a:endParaRPr lang="en-US" dirty="0"/>
            </a:p>
          </p:txBody>
        </p:sp>
        <p:sp>
          <p:nvSpPr>
            <p:cNvPr id="12" name="Google Shape;157;p13">
              <a:extLst>
                <a:ext uri="{FF2B5EF4-FFF2-40B4-BE49-F238E27FC236}">
                  <a16:creationId xmlns:a16="http://schemas.microsoft.com/office/drawing/2014/main" id="{1CA8FE07-07D5-CAA8-6438-683D3B0E93F7}"/>
                </a:ext>
              </a:extLst>
            </p:cNvPr>
            <p:cNvSpPr txBox="1"/>
            <p:nvPr/>
          </p:nvSpPr>
          <p:spPr>
            <a:xfrm>
              <a:off x="0" y="2188357"/>
              <a:ext cx="7058100" cy="10110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926" b="1" i="0" u="none" strike="noStrike" cap="none" dirty="0">
                  <a:solidFill>
                    <a:srgbClr val="61407F"/>
                  </a:solidFill>
                  <a:latin typeface="Poppins"/>
                  <a:ea typeface="Poppins"/>
                  <a:cs typeface="Poppins"/>
                  <a:sym typeface="Poppins"/>
                </a:rPr>
                <a:t>POINT 03</a:t>
              </a:r>
              <a:endParaRPr dirty="0"/>
            </a:p>
          </p:txBody>
        </p:sp>
        <p:sp>
          <p:nvSpPr>
            <p:cNvPr id="13" name="Google Shape;158;p13">
              <a:extLst>
                <a:ext uri="{FF2B5EF4-FFF2-40B4-BE49-F238E27FC236}">
                  <a16:creationId xmlns:a16="http://schemas.microsoft.com/office/drawing/2014/main" id="{EBC3C61F-5627-F568-81C7-FB13AC657EA1}"/>
                </a:ext>
              </a:extLst>
            </p:cNvPr>
            <p:cNvSpPr txBox="1"/>
            <p:nvPr/>
          </p:nvSpPr>
          <p:spPr>
            <a:xfrm>
              <a:off x="526999" y="3893848"/>
              <a:ext cx="6003900" cy="1510157"/>
            </a:xfrm>
            <a:prstGeom prst="rect">
              <a:avLst/>
            </a:prstGeom>
            <a:noFill/>
            <a:ln>
              <a:noFill/>
            </a:ln>
          </p:spPr>
          <p:txBody>
            <a:bodyPr spcFirstLastPara="1" wrap="square" lIns="0" tIns="0" rIns="0" bIns="0" anchor="t" anchorCtr="0">
              <a:spAutoFit/>
            </a:bodyPr>
            <a:lstStyle/>
            <a:p>
              <a:pPr lvl="0" algn="ctr">
                <a:lnSpc>
                  <a:spcPct val="115000"/>
                </a:lnSpc>
              </a:pPr>
              <a:r>
                <a:rPr lang="en-US" sz="3200" dirty="0"/>
                <a:t>May live up to 18 years under expert care</a:t>
              </a: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BD4C6"/>
        </a:solidFill>
        <a:effectLst/>
      </p:bgPr>
    </p:bg>
    <p:spTree>
      <p:nvGrpSpPr>
        <p:cNvPr id="1" name="Shape 167"/>
        <p:cNvGrpSpPr/>
        <p:nvPr/>
      </p:nvGrpSpPr>
      <p:grpSpPr>
        <a:xfrm>
          <a:off x="0" y="0"/>
          <a:ext cx="0" cy="0"/>
          <a:chOff x="0" y="0"/>
          <a:chExt cx="0" cy="0"/>
        </a:xfrm>
      </p:grpSpPr>
      <p:grpSp>
        <p:nvGrpSpPr>
          <p:cNvPr id="168" name="Google Shape;168;p14"/>
          <p:cNvGrpSpPr/>
          <p:nvPr/>
        </p:nvGrpSpPr>
        <p:grpSpPr>
          <a:xfrm>
            <a:off x="942109" y="-1854777"/>
            <a:ext cx="18828928" cy="45745977"/>
            <a:chOff x="0" y="-161925"/>
            <a:chExt cx="1614999" cy="4080118"/>
          </a:xfrm>
        </p:grpSpPr>
        <p:sp>
          <p:nvSpPr>
            <p:cNvPr id="169" name="Google Shape;169;p14"/>
            <p:cNvSpPr/>
            <p:nvPr/>
          </p:nvSpPr>
          <p:spPr>
            <a:xfrm>
              <a:off x="0" y="0"/>
              <a:ext cx="1614999" cy="3918193"/>
            </a:xfrm>
            <a:custGeom>
              <a:avLst/>
              <a:gdLst/>
              <a:ahLst/>
              <a:cxnLst/>
              <a:rect l="l" t="t" r="r" b="b"/>
              <a:pathLst>
                <a:path w="1614999" h="3918193" extrusionOk="0">
                  <a:moveTo>
                    <a:pt x="0" y="0"/>
                  </a:moveTo>
                  <a:lnTo>
                    <a:pt x="1614999" y="0"/>
                  </a:lnTo>
                  <a:lnTo>
                    <a:pt x="1614999" y="3918193"/>
                  </a:lnTo>
                  <a:lnTo>
                    <a:pt x="0" y="3918193"/>
                  </a:lnTo>
                  <a:close/>
                </a:path>
              </a:pathLst>
            </a:custGeom>
            <a:solidFill>
              <a:srgbClr val="F6FFD4"/>
            </a:solidFill>
            <a:ln>
              <a:noFill/>
            </a:ln>
          </p:spPr>
          <p:txBody>
            <a:bodyPr/>
            <a:lstStyle/>
            <a:p>
              <a:endParaRPr lang="en-US"/>
            </a:p>
          </p:txBody>
        </p:sp>
        <p:sp>
          <p:nvSpPr>
            <p:cNvPr id="170" name="Google Shape;170;p14"/>
            <p:cNvSpPr txBox="1"/>
            <p:nvPr/>
          </p:nvSpPr>
          <p:spPr>
            <a:xfrm>
              <a:off x="0" y="-161925"/>
              <a:ext cx="1614999" cy="4080118"/>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1" name="Google Shape;171;p14"/>
          <p:cNvSpPr/>
          <p:nvPr/>
        </p:nvSpPr>
        <p:spPr>
          <a:xfrm rot="9128909">
            <a:off x="-3106350" y="-1108443"/>
            <a:ext cx="18952299" cy="17987455"/>
          </a:xfrm>
          <a:custGeom>
            <a:avLst/>
            <a:gdLst/>
            <a:ahLst/>
            <a:cxnLst/>
            <a:rect l="l" t="t" r="r" b="b"/>
            <a:pathLst>
              <a:path w="18952299" h="17987455" extrusionOk="0">
                <a:moveTo>
                  <a:pt x="0" y="0"/>
                </a:moveTo>
                <a:lnTo>
                  <a:pt x="18952299" y="0"/>
                </a:lnTo>
                <a:lnTo>
                  <a:pt x="18952299" y="17987454"/>
                </a:lnTo>
                <a:lnTo>
                  <a:pt x="0" y="17987454"/>
                </a:lnTo>
                <a:lnTo>
                  <a:pt x="0" y="0"/>
                </a:lnTo>
                <a:close/>
              </a:path>
            </a:pathLst>
          </a:custGeom>
          <a:blipFill rotWithShape="1">
            <a:blip r:embed="rId3">
              <a:alphaModFix/>
            </a:blip>
            <a:stretch>
              <a:fillRect/>
            </a:stretch>
          </a:blipFill>
          <a:ln>
            <a:noFill/>
          </a:ln>
        </p:spPr>
        <p:txBody>
          <a:bodyPr/>
          <a:lstStyle/>
          <a:p>
            <a:endParaRPr/>
          </a:p>
        </p:txBody>
      </p:sp>
      <p:grpSp>
        <p:nvGrpSpPr>
          <p:cNvPr id="172" name="Google Shape;172;p14"/>
          <p:cNvGrpSpPr/>
          <p:nvPr/>
        </p:nvGrpSpPr>
        <p:grpSpPr>
          <a:xfrm>
            <a:off x="4174484" y="20090826"/>
            <a:ext cx="12034325" cy="3343278"/>
            <a:chOff x="0" y="-161925"/>
            <a:chExt cx="1050616" cy="291874"/>
          </a:xfrm>
        </p:grpSpPr>
        <p:sp>
          <p:nvSpPr>
            <p:cNvPr id="173" name="Google Shape;173;p14"/>
            <p:cNvSpPr/>
            <p:nvPr/>
          </p:nvSpPr>
          <p:spPr>
            <a:xfrm>
              <a:off x="0" y="0"/>
              <a:ext cx="1050616" cy="129949"/>
            </a:xfrm>
            <a:custGeom>
              <a:avLst/>
              <a:gdLst/>
              <a:ahLst/>
              <a:cxnLst/>
              <a:rect l="l" t="t" r="r" b="b"/>
              <a:pathLst>
                <a:path w="1050616" h="129949" extrusionOk="0">
                  <a:moveTo>
                    <a:pt x="64974" y="0"/>
                  </a:moveTo>
                  <a:lnTo>
                    <a:pt x="985641" y="0"/>
                  </a:lnTo>
                  <a:cubicBezTo>
                    <a:pt x="1021526" y="0"/>
                    <a:pt x="1050616" y="29090"/>
                    <a:pt x="1050616" y="64974"/>
                  </a:cubicBezTo>
                  <a:lnTo>
                    <a:pt x="1050616" y="64974"/>
                  </a:lnTo>
                  <a:cubicBezTo>
                    <a:pt x="1050616" y="82207"/>
                    <a:pt x="1043770" y="98733"/>
                    <a:pt x="1031585" y="110918"/>
                  </a:cubicBezTo>
                  <a:cubicBezTo>
                    <a:pt x="1019400" y="123103"/>
                    <a:pt x="1002874" y="129949"/>
                    <a:pt x="985641" y="129949"/>
                  </a:cubicBezTo>
                  <a:lnTo>
                    <a:pt x="64974" y="129949"/>
                  </a:lnTo>
                  <a:cubicBezTo>
                    <a:pt x="29090" y="129949"/>
                    <a:pt x="0" y="100859"/>
                    <a:pt x="0" y="64974"/>
                  </a:cubicBezTo>
                  <a:lnTo>
                    <a:pt x="0" y="64974"/>
                  </a:lnTo>
                  <a:cubicBezTo>
                    <a:pt x="0" y="29090"/>
                    <a:pt x="29090" y="0"/>
                    <a:pt x="64974" y="0"/>
                  </a:cubicBezTo>
                  <a:close/>
                </a:path>
              </a:pathLst>
            </a:custGeom>
            <a:solidFill>
              <a:srgbClr val="C9E1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txBox="1"/>
            <p:nvPr/>
          </p:nvSpPr>
          <p:spPr>
            <a:xfrm>
              <a:off x="0" y="-161925"/>
              <a:ext cx="1050616" cy="291874"/>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 name="Google Shape;175;p14"/>
          <p:cNvGrpSpPr/>
          <p:nvPr/>
        </p:nvGrpSpPr>
        <p:grpSpPr>
          <a:xfrm>
            <a:off x="2966598" y="33024592"/>
            <a:ext cx="3886343" cy="4296231"/>
            <a:chOff x="0" y="-85725"/>
            <a:chExt cx="812800" cy="898525"/>
          </a:xfrm>
        </p:grpSpPr>
        <p:sp>
          <p:nvSpPr>
            <p:cNvPr id="176" name="Google Shape;176;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8" name="Google Shape;178;p14"/>
          <p:cNvGrpSpPr/>
          <p:nvPr/>
        </p:nvGrpSpPr>
        <p:grpSpPr>
          <a:xfrm>
            <a:off x="8315223" y="33125910"/>
            <a:ext cx="3752847" cy="4148655"/>
            <a:chOff x="0" y="-85725"/>
            <a:chExt cx="812800" cy="898525"/>
          </a:xfrm>
        </p:grpSpPr>
        <p:sp>
          <p:nvSpPr>
            <p:cNvPr id="179" name="Google Shape;179;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1" name="Google Shape;181;p14"/>
          <p:cNvGrpSpPr/>
          <p:nvPr/>
        </p:nvGrpSpPr>
        <p:grpSpPr>
          <a:xfrm>
            <a:off x="13514792" y="33125910"/>
            <a:ext cx="3752847" cy="4148655"/>
            <a:chOff x="0" y="-85725"/>
            <a:chExt cx="812800" cy="898525"/>
          </a:xfrm>
        </p:grpSpPr>
        <p:sp>
          <p:nvSpPr>
            <p:cNvPr id="182" name="Google Shape;182;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4"/>
            <p:cNvSpPr txBox="1"/>
            <p:nvPr/>
          </p:nvSpPr>
          <p:spPr>
            <a:xfrm>
              <a:off x="76200" y="-85725"/>
              <a:ext cx="660400" cy="822325"/>
            </a:xfrm>
            <a:prstGeom prst="rect">
              <a:avLst/>
            </a:prstGeom>
            <a:noFill/>
            <a:ln>
              <a:noFill/>
            </a:ln>
          </p:spPr>
          <p:txBody>
            <a:bodyPr spcFirstLastPara="1" wrap="square" lIns="208525" tIns="208525" rIns="208525" bIns="208525" anchor="ctr" anchorCtr="0">
              <a:noAutofit/>
            </a:bodyPr>
            <a:lstStyle/>
            <a:p>
              <a:pPr marL="0" marR="0" lvl="0" indent="0" algn="ctr" rtl="0">
                <a:lnSpc>
                  <a:spcPct val="446944"/>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4" name="Google Shape;184;p14"/>
          <p:cNvSpPr/>
          <p:nvPr/>
        </p:nvSpPr>
        <p:spPr>
          <a:xfrm>
            <a:off x="4331352" y="33995630"/>
            <a:ext cx="1230441" cy="2939909"/>
          </a:xfrm>
          <a:custGeom>
            <a:avLst/>
            <a:gdLst/>
            <a:ahLst/>
            <a:cxnLst/>
            <a:rect l="l" t="t" r="r" b="b"/>
            <a:pathLst>
              <a:path w="1230441" h="2939909" extrusionOk="0">
                <a:moveTo>
                  <a:pt x="0" y="0"/>
                </a:moveTo>
                <a:lnTo>
                  <a:pt x="1230441" y="0"/>
                </a:lnTo>
                <a:lnTo>
                  <a:pt x="1230441" y="2939909"/>
                </a:lnTo>
                <a:lnTo>
                  <a:pt x="0" y="2939909"/>
                </a:lnTo>
                <a:lnTo>
                  <a:pt x="0" y="0"/>
                </a:lnTo>
                <a:close/>
              </a:path>
            </a:pathLst>
          </a:custGeom>
          <a:blipFill rotWithShape="1">
            <a:blip r:embed="rId4">
              <a:alphaModFix/>
            </a:blip>
            <a:stretch>
              <a:fillRect/>
            </a:stretch>
          </a:blipFill>
          <a:ln>
            <a:noFill/>
          </a:ln>
        </p:spPr>
        <p:txBody>
          <a:bodyPr/>
          <a:lstStyle/>
          <a:p>
            <a:endParaRPr/>
          </a:p>
        </p:txBody>
      </p:sp>
      <p:sp>
        <p:nvSpPr>
          <p:cNvPr id="185" name="Google Shape;185;p14"/>
          <p:cNvSpPr/>
          <p:nvPr/>
        </p:nvSpPr>
        <p:spPr>
          <a:xfrm>
            <a:off x="8992142" y="34427633"/>
            <a:ext cx="2399009" cy="1941016"/>
          </a:xfrm>
          <a:custGeom>
            <a:avLst/>
            <a:gdLst/>
            <a:ahLst/>
            <a:cxnLst/>
            <a:rect l="l" t="t" r="r" b="b"/>
            <a:pathLst>
              <a:path w="2399009" h="1941016" extrusionOk="0">
                <a:moveTo>
                  <a:pt x="0" y="0"/>
                </a:moveTo>
                <a:lnTo>
                  <a:pt x="2399009" y="0"/>
                </a:lnTo>
                <a:lnTo>
                  <a:pt x="2399009" y="1941017"/>
                </a:lnTo>
                <a:lnTo>
                  <a:pt x="0" y="1941017"/>
                </a:lnTo>
                <a:lnTo>
                  <a:pt x="0" y="0"/>
                </a:lnTo>
                <a:close/>
              </a:path>
            </a:pathLst>
          </a:custGeom>
          <a:blipFill rotWithShape="1">
            <a:blip r:embed="rId5">
              <a:alphaModFix/>
            </a:blip>
            <a:stretch>
              <a:fillRect/>
            </a:stretch>
          </a:blipFill>
          <a:ln>
            <a:noFill/>
          </a:ln>
        </p:spPr>
        <p:txBody>
          <a:bodyPr/>
          <a:lstStyle/>
          <a:p>
            <a:endParaRPr/>
          </a:p>
        </p:txBody>
      </p:sp>
      <p:sp>
        <p:nvSpPr>
          <p:cNvPr id="186" name="Google Shape;186;p14"/>
          <p:cNvSpPr/>
          <p:nvPr/>
        </p:nvSpPr>
        <p:spPr>
          <a:xfrm>
            <a:off x="14840343" y="34016120"/>
            <a:ext cx="1406092" cy="2723065"/>
          </a:xfrm>
          <a:custGeom>
            <a:avLst/>
            <a:gdLst/>
            <a:ahLst/>
            <a:cxnLst/>
            <a:rect l="l" t="t" r="r" b="b"/>
            <a:pathLst>
              <a:path w="1406092" h="2723065" extrusionOk="0">
                <a:moveTo>
                  <a:pt x="0" y="0"/>
                </a:moveTo>
                <a:lnTo>
                  <a:pt x="1406092" y="0"/>
                </a:lnTo>
                <a:lnTo>
                  <a:pt x="1406092" y="2723064"/>
                </a:lnTo>
                <a:lnTo>
                  <a:pt x="0" y="2723064"/>
                </a:lnTo>
                <a:lnTo>
                  <a:pt x="0" y="0"/>
                </a:lnTo>
                <a:close/>
              </a:path>
            </a:pathLst>
          </a:custGeom>
          <a:blipFill rotWithShape="1">
            <a:blip r:embed="rId6">
              <a:alphaModFix/>
            </a:blip>
            <a:stretch>
              <a:fillRect/>
            </a:stretch>
          </a:blipFill>
          <a:ln>
            <a:noFill/>
          </a:ln>
        </p:spPr>
        <p:txBody>
          <a:bodyPr/>
          <a:lstStyle/>
          <a:p>
            <a:endParaRPr/>
          </a:p>
        </p:txBody>
      </p:sp>
      <p:cxnSp>
        <p:nvCxnSpPr>
          <p:cNvPr id="187" name="Google Shape;187;p14"/>
          <p:cNvCxnSpPr/>
          <p:nvPr/>
        </p:nvCxnSpPr>
        <p:spPr>
          <a:xfrm>
            <a:off x="20329736" y="12253491"/>
            <a:ext cx="11256511" cy="0"/>
          </a:xfrm>
          <a:prstGeom prst="straightConnector1">
            <a:avLst/>
          </a:prstGeom>
          <a:noFill/>
          <a:ln w="152400" cap="flat" cmpd="sng">
            <a:solidFill>
              <a:srgbClr val="FFFFFF"/>
            </a:solidFill>
            <a:prstDash val="dot"/>
            <a:round/>
            <a:headEnd type="none" w="sm" len="sm"/>
            <a:tailEnd type="none" w="sm" len="sm"/>
          </a:ln>
        </p:spPr>
      </p:cxnSp>
      <p:cxnSp>
        <p:nvCxnSpPr>
          <p:cNvPr id="188" name="Google Shape;188;p14"/>
          <p:cNvCxnSpPr/>
          <p:nvPr/>
        </p:nvCxnSpPr>
        <p:spPr>
          <a:xfrm>
            <a:off x="20329736" y="20188074"/>
            <a:ext cx="11256511" cy="0"/>
          </a:xfrm>
          <a:prstGeom prst="straightConnector1">
            <a:avLst/>
          </a:prstGeom>
          <a:noFill/>
          <a:ln w="152400" cap="flat" cmpd="sng">
            <a:solidFill>
              <a:srgbClr val="FFFFFF"/>
            </a:solidFill>
            <a:prstDash val="dot"/>
            <a:round/>
            <a:headEnd type="none" w="sm" len="sm"/>
            <a:tailEnd type="none" w="sm" len="sm"/>
          </a:ln>
        </p:spPr>
      </p:cxnSp>
      <p:cxnSp>
        <p:nvCxnSpPr>
          <p:cNvPr id="189" name="Google Shape;189;p14"/>
          <p:cNvCxnSpPr/>
          <p:nvPr/>
        </p:nvCxnSpPr>
        <p:spPr>
          <a:xfrm>
            <a:off x="20329736" y="26257509"/>
            <a:ext cx="11256511" cy="0"/>
          </a:xfrm>
          <a:prstGeom prst="straightConnector1">
            <a:avLst/>
          </a:prstGeom>
          <a:noFill/>
          <a:ln w="152400" cap="flat" cmpd="sng">
            <a:solidFill>
              <a:srgbClr val="FFFFFF"/>
            </a:solidFill>
            <a:prstDash val="dot"/>
            <a:round/>
            <a:headEnd type="none" w="sm" len="sm"/>
            <a:tailEnd type="none" w="sm" len="sm"/>
          </a:ln>
        </p:spPr>
      </p:cxnSp>
      <p:cxnSp>
        <p:nvCxnSpPr>
          <p:cNvPr id="191" name="Google Shape;191;p14"/>
          <p:cNvCxnSpPr/>
          <p:nvPr/>
        </p:nvCxnSpPr>
        <p:spPr>
          <a:xfrm>
            <a:off x="20376313" y="38414724"/>
            <a:ext cx="11256511" cy="0"/>
          </a:xfrm>
          <a:prstGeom prst="straightConnector1">
            <a:avLst/>
          </a:prstGeom>
          <a:noFill/>
          <a:ln w="152400" cap="flat" cmpd="sng">
            <a:solidFill>
              <a:srgbClr val="FFFFFF"/>
            </a:solidFill>
            <a:prstDash val="dot"/>
            <a:round/>
            <a:headEnd type="none" w="sm" len="sm"/>
            <a:tailEnd type="none" w="sm" len="sm"/>
          </a:ln>
        </p:spPr>
      </p:cxnSp>
      <p:cxnSp>
        <p:nvCxnSpPr>
          <p:cNvPr id="192" name="Google Shape;192;p14"/>
          <p:cNvCxnSpPr/>
          <p:nvPr/>
        </p:nvCxnSpPr>
        <p:spPr>
          <a:xfrm rot="10800000">
            <a:off x="26105314" y="4821167"/>
            <a:ext cx="0" cy="5091121"/>
          </a:xfrm>
          <a:prstGeom prst="straightConnector1">
            <a:avLst/>
          </a:prstGeom>
          <a:noFill/>
          <a:ln w="152400" cap="flat" cmpd="sng">
            <a:solidFill>
              <a:srgbClr val="C9E16D"/>
            </a:solidFill>
            <a:prstDash val="dot"/>
            <a:round/>
            <a:headEnd type="none" w="sm" len="sm"/>
            <a:tailEnd type="none" w="sm" len="sm"/>
          </a:ln>
        </p:spPr>
      </p:cxnSp>
      <p:grpSp>
        <p:nvGrpSpPr>
          <p:cNvPr id="193" name="Google Shape;193;p14"/>
          <p:cNvGrpSpPr/>
          <p:nvPr/>
        </p:nvGrpSpPr>
        <p:grpSpPr>
          <a:xfrm>
            <a:off x="25785467" y="3956319"/>
            <a:ext cx="792511" cy="848234"/>
            <a:chOff x="0" y="-57150"/>
            <a:chExt cx="812800" cy="869950"/>
          </a:xfrm>
        </p:grpSpPr>
        <p:sp>
          <p:nvSpPr>
            <p:cNvPr id="194" name="Google Shape;19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6" name="Google Shape;196;p14"/>
          <p:cNvSpPr txBox="1"/>
          <p:nvPr/>
        </p:nvSpPr>
        <p:spPr>
          <a:xfrm>
            <a:off x="4255785" y="22236950"/>
            <a:ext cx="12034200" cy="884700"/>
          </a:xfrm>
          <a:prstGeom prst="rect">
            <a:avLst/>
          </a:prstGeom>
          <a:noFill/>
          <a:ln>
            <a:noFill/>
          </a:ln>
        </p:spPr>
        <p:txBody>
          <a:bodyPr spcFirstLastPara="1" wrap="square" lIns="0" tIns="0" rIns="0" bIns="0" anchor="t" anchorCtr="0">
            <a:spAutoFit/>
          </a:bodyPr>
          <a:lstStyle/>
          <a:p>
            <a:pPr marL="0" marR="0" lvl="0" indent="0" algn="ctr" rtl="0">
              <a:lnSpc>
                <a:spcPct val="139986"/>
              </a:lnSpc>
              <a:spcBef>
                <a:spcPts val="0"/>
              </a:spcBef>
              <a:spcAft>
                <a:spcPts val="0"/>
              </a:spcAft>
              <a:buNone/>
            </a:pPr>
            <a:r>
              <a:rPr lang="en-US" sz="5747" b="1" i="0" u="none" strike="noStrike" cap="none">
                <a:solidFill>
                  <a:srgbClr val="61407F"/>
                </a:solidFill>
                <a:latin typeface="Poppins"/>
                <a:ea typeface="Poppins"/>
                <a:cs typeface="Poppins"/>
                <a:sym typeface="Poppins"/>
              </a:rPr>
              <a:t>ANIMAL RESEARCH POSTER</a:t>
            </a:r>
            <a:endParaRPr/>
          </a:p>
        </p:txBody>
      </p:sp>
      <p:sp>
        <p:nvSpPr>
          <p:cNvPr id="197" name="Google Shape;197;p14"/>
          <p:cNvSpPr txBox="1"/>
          <p:nvPr/>
        </p:nvSpPr>
        <p:spPr>
          <a:xfrm>
            <a:off x="3413611" y="23598768"/>
            <a:ext cx="13556100" cy="3033000"/>
          </a:xfrm>
          <a:prstGeom prst="rect">
            <a:avLst/>
          </a:prstGeom>
          <a:noFill/>
          <a:ln>
            <a:noFill/>
          </a:ln>
        </p:spPr>
        <p:txBody>
          <a:bodyPr spcFirstLastPara="1" wrap="square" lIns="0" tIns="0" rIns="0" bIns="0" anchor="t" anchorCtr="0">
            <a:spAutoFit/>
          </a:bodyPr>
          <a:lstStyle/>
          <a:p>
            <a:pPr marL="0" marR="0" lvl="0" indent="0" algn="l" rtl="0">
              <a:lnSpc>
                <a:spcPct val="139996"/>
              </a:lnSpc>
              <a:spcBef>
                <a:spcPts val="0"/>
              </a:spcBef>
              <a:spcAft>
                <a:spcPts val="0"/>
              </a:spcAft>
              <a:buNone/>
            </a:pPr>
            <a:r>
              <a:rPr lang="en-US" sz="19704" b="1" i="0" u="none" strike="noStrike" cap="none">
                <a:solidFill>
                  <a:srgbClr val="0C7060"/>
                </a:solidFill>
                <a:latin typeface="Poppins"/>
                <a:ea typeface="Poppins"/>
                <a:cs typeface="Poppins"/>
                <a:sym typeface="Poppins"/>
              </a:rPr>
              <a:t>THE SNAKE</a:t>
            </a:r>
            <a:endParaRPr/>
          </a:p>
        </p:txBody>
      </p:sp>
      <p:sp>
        <p:nvSpPr>
          <p:cNvPr id="198" name="Google Shape;198;p14"/>
          <p:cNvSpPr txBox="1"/>
          <p:nvPr/>
        </p:nvSpPr>
        <p:spPr>
          <a:xfrm>
            <a:off x="3990082" y="28770222"/>
            <a:ext cx="12565500" cy="3077766"/>
          </a:xfrm>
          <a:prstGeom prst="rect">
            <a:avLst/>
          </a:prstGeom>
          <a:noFill/>
          <a:ln>
            <a:noFill/>
          </a:ln>
        </p:spPr>
        <p:txBody>
          <a:bodyPr spcFirstLastPara="1" wrap="square" lIns="0" tIns="0" rIns="0" bIns="0" anchor="t" anchorCtr="0">
            <a:spAutoFit/>
          </a:bodyPr>
          <a:lstStyle/>
          <a:p>
            <a:r>
              <a:rPr sz="4000" dirty="0"/>
              <a:t>Snakes are limbless reptiles of the suborder Serpentes. About 3,900 species occur worldwide and inhabit every continent except Antarctica</a:t>
            </a:r>
            <a:r>
              <a:rPr sz="4000" u="sng" dirty="0">
                <a:solidFill>
                  <a:schemeClr val="accent6"/>
                </a:solidFill>
                <a:hlinkClick r:id="rId7"/>
              </a:rPr>
              <a:t>(en.wikipedia.org)</a:t>
            </a:r>
            <a:r>
              <a:rPr sz="4000" dirty="0"/>
              <a:t>. They range from tiny </a:t>
            </a:r>
            <a:r>
              <a:rPr sz="4000" dirty="0" err="1"/>
              <a:t>threadsnakes</a:t>
            </a:r>
            <a:r>
              <a:rPr sz="4000" dirty="0"/>
              <a:t> around 10 cm long to giant pythons over six </a:t>
            </a:r>
            <a:r>
              <a:rPr sz="4000" dirty="0" err="1"/>
              <a:t>metres</a:t>
            </a:r>
            <a:r>
              <a:rPr sz="4000" u="sng" dirty="0">
                <a:solidFill>
                  <a:schemeClr val="accent6"/>
                </a:solidFill>
                <a:hlinkClick r:id="rId8"/>
              </a:rPr>
              <a:t>(www.mcgill.ca)</a:t>
            </a:r>
            <a:r>
              <a:rPr sz="4000" dirty="0"/>
              <a:t>.</a:t>
            </a:r>
          </a:p>
        </p:txBody>
      </p:sp>
      <p:sp>
        <p:nvSpPr>
          <p:cNvPr id="199" name="Google Shape;199;p14"/>
          <p:cNvSpPr txBox="1"/>
          <p:nvPr/>
        </p:nvSpPr>
        <p:spPr>
          <a:xfrm>
            <a:off x="5301741" y="32391439"/>
            <a:ext cx="9789490" cy="89395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30" b="1" i="0" u="none" strike="noStrike" cap="none" dirty="0">
                <a:solidFill>
                  <a:srgbClr val="0C7060"/>
                </a:solidFill>
                <a:latin typeface="Poppins"/>
                <a:ea typeface="Poppins"/>
                <a:cs typeface="Poppins"/>
                <a:sym typeface="Poppins"/>
              </a:rPr>
              <a:t>OBJECTIVE</a:t>
            </a:r>
            <a:endParaRPr dirty="0"/>
          </a:p>
        </p:txBody>
      </p:sp>
      <p:sp>
        <p:nvSpPr>
          <p:cNvPr id="200" name="Google Shape;200;p14"/>
          <p:cNvSpPr txBox="1"/>
          <p:nvPr/>
        </p:nvSpPr>
        <p:spPr>
          <a:xfrm>
            <a:off x="3325017" y="37656681"/>
            <a:ext cx="3099640" cy="603242"/>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sz="2800" dirty="0"/>
              <a:t>LOCOMOTION</a:t>
            </a:r>
          </a:p>
        </p:txBody>
      </p:sp>
      <p:sp>
        <p:nvSpPr>
          <p:cNvPr id="201" name="Google Shape;201;p14"/>
          <p:cNvSpPr txBox="1"/>
          <p:nvPr/>
        </p:nvSpPr>
        <p:spPr>
          <a:xfrm>
            <a:off x="1556458" y="38908604"/>
            <a:ext cx="5684603" cy="4739759"/>
          </a:xfrm>
          <a:prstGeom prst="rect">
            <a:avLst/>
          </a:prstGeom>
          <a:noFill/>
          <a:ln>
            <a:noFill/>
          </a:ln>
        </p:spPr>
        <p:txBody>
          <a:bodyPr spcFirstLastPara="1" wrap="square" lIns="0" tIns="0" rIns="0" bIns="0" anchor="t" anchorCtr="0">
            <a:spAutoFit/>
          </a:bodyPr>
          <a:lstStyle/>
          <a:p>
            <a:r>
              <a:rPr sz="2800" dirty="0"/>
              <a:t>Snakes have flexible skeletons with 175–400 ribs and up to 15,000 muscles, enabling them to move by shifting weight along their bodies</a:t>
            </a:r>
            <a:r>
              <a:rPr sz="2800" u="sng" dirty="0">
                <a:solidFill>
                  <a:schemeClr val="accent6"/>
                </a:solidFill>
                <a:hlinkClick r:id="rId9"/>
              </a:rPr>
              <a:t>(nationalzoo.si.edu)</a:t>
            </a:r>
            <a:r>
              <a:rPr sz="2800" dirty="0"/>
              <a:t>. Wide, flat belly scales grip surfaces to generate traction, and snakes employ four movement modes: lateral undulation, concertina, sidewinding and rectilinear locomotion</a:t>
            </a:r>
            <a:r>
              <a:rPr sz="2800" u="sng" dirty="0">
                <a:solidFill>
                  <a:schemeClr val="accent6"/>
                </a:solidFill>
                <a:hlinkClick r:id="rId10"/>
              </a:rPr>
              <a:t>(nationalzoo.si.edu)</a:t>
            </a:r>
            <a:r>
              <a:rPr sz="2800" dirty="0"/>
              <a:t>.</a:t>
            </a:r>
          </a:p>
        </p:txBody>
      </p:sp>
      <p:sp>
        <p:nvSpPr>
          <p:cNvPr id="202" name="Google Shape;202;p14"/>
          <p:cNvSpPr txBox="1"/>
          <p:nvPr/>
        </p:nvSpPr>
        <p:spPr>
          <a:xfrm>
            <a:off x="8233598" y="37656681"/>
            <a:ext cx="3916096" cy="603242"/>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sz="2800" dirty="0"/>
              <a:t>SENSORY</a:t>
            </a:r>
          </a:p>
        </p:txBody>
      </p:sp>
      <p:sp>
        <p:nvSpPr>
          <p:cNvPr id="203" name="Google Shape;203;p14"/>
          <p:cNvSpPr txBox="1"/>
          <p:nvPr/>
        </p:nvSpPr>
        <p:spPr>
          <a:xfrm>
            <a:off x="7825370" y="38986806"/>
            <a:ext cx="4732500" cy="4739759"/>
          </a:xfrm>
          <a:prstGeom prst="rect">
            <a:avLst/>
          </a:prstGeom>
          <a:noFill/>
          <a:ln>
            <a:noFill/>
          </a:ln>
        </p:spPr>
        <p:txBody>
          <a:bodyPr spcFirstLastPara="1" wrap="square" lIns="0" tIns="0" rIns="0" bIns="0" anchor="t" anchorCtr="0">
            <a:spAutoFit/>
          </a:bodyPr>
          <a:lstStyle/>
          <a:p>
            <a:r>
              <a:rPr sz="2800" dirty="0"/>
              <a:t>Snakes collect chemical cues with their forked tongues and deliver them to the Jacobson’s organ for analysis</a:t>
            </a:r>
            <a:r>
              <a:rPr sz="2800" u="sng" dirty="0">
                <a:solidFill>
                  <a:schemeClr val="accent6"/>
                </a:solidFill>
                <a:hlinkClick r:id="rId11"/>
              </a:rPr>
              <a:t>(en.wikipedia.org)</a:t>
            </a:r>
            <a:r>
              <a:rPr sz="2800" dirty="0"/>
              <a:t>. Pit vipers and some boas have heat‑sensing pits that detect temperature differences as small as 0.3°F, enabling them to locate warm‑blooded prey</a:t>
            </a:r>
            <a:r>
              <a:rPr sz="2800" u="sng" dirty="0">
                <a:solidFill>
                  <a:schemeClr val="accent6"/>
                </a:solidFill>
                <a:hlinkClick r:id="rId12"/>
              </a:rPr>
              <a:t>(en.wikipedia.org)</a:t>
            </a:r>
            <a:r>
              <a:rPr sz="2800" dirty="0"/>
              <a:t>.</a:t>
            </a:r>
          </a:p>
        </p:txBody>
      </p:sp>
      <p:sp>
        <p:nvSpPr>
          <p:cNvPr id="204" name="Google Shape;204;p14"/>
          <p:cNvSpPr txBox="1"/>
          <p:nvPr/>
        </p:nvSpPr>
        <p:spPr>
          <a:xfrm>
            <a:off x="13958636" y="37656681"/>
            <a:ext cx="3099640" cy="603242"/>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sz="2800" dirty="0"/>
              <a:t>ECOLOGY</a:t>
            </a:r>
          </a:p>
        </p:txBody>
      </p:sp>
      <p:sp>
        <p:nvSpPr>
          <p:cNvPr id="205" name="Google Shape;205;p14"/>
          <p:cNvSpPr txBox="1"/>
          <p:nvPr/>
        </p:nvSpPr>
        <p:spPr>
          <a:xfrm>
            <a:off x="13142180" y="38908604"/>
            <a:ext cx="4732500" cy="4308872"/>
          </a:xfrm>
          <a:prstGeom prst="rect">
            <a:avLst/>
          </a:prstGeom>
          <a:noFill/>
          <a:ln>
            <a:noFill/>
          </a:ln>
        </p:spPr>
        <p:txBody>
          <a:bodyPr spcFirstLastPara="1" wrap="square" lIns="0" tIns="0" rIns="0" bIns="0" anchor="t" anchorCtr="0">
            <a:spAutoFit/>
          </a:bodyPr>
          <a:lstStyle/>
          <a:p>
            <a:r>
              <a:rPr sz="2800" dirty="0"/>
              <a:t>As predators, snakes help control populations of rodents, insects and other pests and also serve as prey for hawks and other wildlife</a:t>
            </a:r>
            <a:r>
              <a:rPr sz="2800" u="sng" dirty="0">
                <a:solidFill>
                  <a:schemeClr val="accent6"/>
                </a:solidFill>
                <a:hlinkClick r:id="rId13"/>
              </a:rPr>
              <a:t>(npic.orst.edu)</a:t>
            </a:r>
            <a:r>
              <a:rPr sz="2800" dirty="0"/>
              <a:t>. Both venomous and non‑venomous species contribute to ecosystem balance and biodiversity.</a:t>
            </a:r>
          </a:p>
        </p:txBody>
      </p:sp>
      <p:sp>
        <p:nvSpPr>
          <p:cNvPr id="206" name="Google Shape;206;p14"/>
          <p:cNvSpPr txBox="1"/>
          <p:nvPr/>
        </p:nvSpPr>
        <p:spPr>
          <a:xfrm>
            <a:off x="23382364" y="818160"/>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a:solidFill>
                  <a:srgbClr val="0C7060"/>
                </a:solidFill>
                <a:latin typeface="Poppins"/>
                <a:ea typeface="Poppins"/>
                <a:cs typeface="Poppins"/>
                <a:sym typeface="Poppins"/>
              </a:rPr>
              <a:t>METHODOLOGY</a:t>
            </a:r>
            <a:endParaRPr/>
          </a:p>
        </p:txBody>
      </p:sp>
      <p:sp>
        <p:nvSpPr>
          <p:cNvPr id="207" name="Google Shape;207;p14"/>
          <p:cNvSpPr txBox="1"/>
          <p:nvPr/>
        </p:nvSpPr>
        <p:spPr>
          <a:xfrm>
            <a:off x="20400859" y="1788484"/>
            <a:ext cx="11256600" cy="198208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sz="2800" dirty="0"/>
              <a:t>We reviewed literature, examined skeletons and scales, recorded snakes moving across different substrates, tested responses to chemical and thermal cues, and surveyed prey populations to assess ecological impacts.</a:t>
            </a:r>
          </a:p>
        </p:txBody>
      </p:sp>
      <p:sp>
        <p:nvSpPr>
          <p:cNvPr id="210" name="Google Shape;210;p14"/>
          <p:cNvSpPr txBox="1"/>
          <p:nvPr/>
        </p:nvSpPr>
        <p:spPr>
          <a:xfrm>
            <a:off x="20563901" y="17049736"/>
            <a:ext cx="4503000" cy="2462213"/>
          </a:xfrm>
          <a:prstGeom prst="rect">
            <a:avLst/>
          </a:prstGeom>
          <a:noFill/>
          <a:ln>
            <a:noFill/>
          </a:ln>
        </p:spPr>
        <p:txBody>
          <a:bodyPr spcFirstLastPara="1" wrap="square" lIns="0" tIns="0" rIns="0" bIns="0" anchor="t" anchorCtr="0">
            <a:spAutoFit/>
          </a:bodyPr>
          <a:lstStyle/>
          <a:p>
            <a:r>
              <a:rPr sz="3200" dirty="0"/>
              <a:t>About 3,900 species of snakes inhabit every continent except Antarctica</a:t>
            </a:r>
            <a:r>
              <a:rPr sz="3200" u="sng" dirty="0">
                <a:solidFill>
                  <a:schemeClr val="accent6"/>
                </a:solidFill>
                <a:hlinkClick r:id="rId7"/>
              </a:rPr>
              <a:t>(en.wikipedia.org)</a:t>
            </a:r>
            <a:r>
              <a:rPr sz="3200" dirty="0"/>
              <a:t>.</a:t>
            </a:r>
          </a:p>
        </p:txBody>
      </p:sp>
      <p:sp>
        <p:nvSpPr>
          <p:cNvPr id="213" name="Google Shape;213;p14"/>
          <p:cNvSpPr txBox="1"/>
          <p:nvPr/>
        </p:nvSpPr>
        <p:spPr>
          <a:xfrm>
            <a:off x="26858942" y="17053180"/>
            <a:ext cx="4503000" cy="2954655"/>
          </a:xfrm>
          <a:prstGeom prst="rect">
            <a:avLst/>
          </a:prstGeom>
          <a:noFill/>
          <a:ln>
            <a:noFill/>
          </a:ln>
        </p:spPr>
        <p:txBody>
          <a:bodyPr spcFirstLastPara="1" wrap="square" lIns="0" tIns="0" rIns="0" bIns="0" anchor="t" anchorCtr="0">
            <a:spAutoFit/>
          </a:bodyPr>
          <a:lstStyle/>
          <a:p>
            <a:r>
              <a:rPr sz="3200" dirty="0"/>
              <a:t>Only about 600 snake species are venomous, and roughly 200 have venom potent enough to seriously harm humans</a:t>
            </a:r>
            <a:r>
              <a:rPr sz="3200" u="sng" dirty="0">
                <a:solidFill>
                  <a:schemeClr val="accent6"/>
                </a:solidFill>
                <a:hlinkClick r:id="rId8"/>
              </a:rPr>
              <a:t>(www.mcgill.ca)</a:t>
            </a:r>
            <a:r>
              <a:rPr sz="3200" dirty="0"/>
              <a:t>.</a:t>
            </a:r>
          </a:p>
        </p:txBody>
      </p:sp>
      <p:sp>
        <p:nvSpPr>
          <p:cNvPr id="214" name="Google Shape;214;p14"/>
          <p:cNvSpPr txBox="1"/>
          <p:nvPr/>
        </p:nvSpPr>
        <p:spPr>
          <a:xfrm>
            <a:off x="22079782" y="39110049"/>
            <a:ext cx="8203883" cy="75057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200" b="1" i="0" u="none" strike="noStrike" cap="none">
                <a:solidFill>
                  <a:srgbClr val="0C7060"/>
                </a:solidFill>
                <a:latin typeface="Poppins"/>
                <a:ea typeface="Poppins"/>
                <a:cs typeface="Poppins"/>
                <a:sym typeface="Poppins"/>
              </a:rPr>
              <a:t>RELATED LITERATURE</a:t>
            </a:r>
            <a:endParaRPr/>
          </a:p>
        </p:txBody>
      </p:sp>
      <p:sp>
        <p:nvSpPr>
          <p:cNvPr id="215" name="Google Shape;215;p14"/>
          <p:cNvSpPr txBox="1"/>
          <p:nvPr/>
        </p:nvSpPr>
        <p:spPr>
          <a:xfrm>
            <a:off x="20581142" y="40295025"/>
            <a:ext cx="10780800" cy="2477601"/>
          </a:xfrm>
          <a:prstGeom prst="rect">
            <a:avLst/>
          </a:prstGeom>
          <a:noFill/>
          <a:ln>
            <a:noFill/>
          </a:ln>
        </p:spPr>
        <p:txBody>
          <a:bodyPr spcFirstLastPara="1" wrap="square" lIns="0" tIns="0" rIns="0" bIns="0" anchor="t" anchorCtr="0">
            <a:spAutoFit/>
          </a:bodyPr>
          <a:lstStyle/>
          <a:p>
            <a:pPr marL="604523" marR="0" lvl="1" indent="-302261" algn="l" rtl="0">
              <a:lnSpc>
                <a:spcPct val="115000"/>
              </a:lnSpc>
              <a:spcBef>
                <a:spcPts val="0"/>
              </a:spcBef>
              <a:spcAft>
                <a:spcPts val="0"/>
              </a:spcAft>
              <a:buClr>
                <a:srgbClr val="000000"/>
              </a:buClr>
              <a:buSzPts val="2800"/>
              <a:buFont typeface="Arial"/>
              <a:buChar char="•"/>
            </a:pPr>
            <a:r>
              <a:rPr sz="2800" dirty="0"/>
              <a:t>Research </a:t>
            </a:r>
            <a:r>
              <a:rPr sz="2800" dirty="0" err="1"/>
              <a:t>summarises</a:t>
            </a:r>
            <a:r>
              <a:rPr sz="2800" dirty="0"/>
              <a:t> the global diversity of snakes and their distribution</a:t>
            </a:r>
            <a:r>
              <a:rPr sz="2800" u="sng" dirty="0">
                <a:solidFill>
                  <a:schemeClr val="accent6"/>
                </a:solidFill>
                <a:hlinkClick r:id="rId14"/>
              </a:rPr>
              <a:t>(en.wikipedia.org)</a:t>
            </a:r>
            <a:r>
              <a:rPr sz="2800" dirty="0"/>
              <a:t>. Studies of locomotion show how 175–400 ribs, 10,000–15,000 muscles and wide belly scales work together to generate different movement modes</a:t>
            </a:r>
            <a:r>
              <a:rPr sz="2800" u="sng" dirty="0">
                <a:solidFill>
                  <a:schemeClr val="accent6"/>
                </a:solidFill>
                <a:hlinkClick r:id="rId15"/>
              </a:rPr>
              <a:t>(nationalzoo.si.edu)</a:t>
            </a:r>
            <a:r>
              <a:rPr sz="2800" dirty="0"/>
              <a:t>.</a:t>
            </a:r>
          </a:p>
        </p:txBody>
      </p:sp>
      <p:sp>
        <p:nvSpPr>
          <p:cNvPr id="216" name="Google Shape;216;p14"/>
          <p:cNvSpPr txBox="1"/>
          <p:nvPr/>
        </p:nvSpPr>
        <p:spPr>
          <a:xfrm>
            <a:off x="20527485" y="21864779"/>
            <a:ext cx="10721137" cy="346864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sz="2800" dirty="0"/>
              <a:t>Sensory studies describe forked tongues delivering chemical cues to Jacobson’s organ and infrared‑sensing pits detecting temperature differences</a:t>
            </a:r>
            <a:br>
              <a:rPr lang="en-US" sz="2800" dirty="0"/>
            </a:br>
            <a:r>
              <a:rPr sz="2800" u="sng" dirty="0">
                <a:solidFill>
                  <a:schemeClr val="accent6"/>
                </a:solidFill>
                <a:hlinkClick r:id="rId16"/>
              </a:rPr>
              <a:t>(en.wikipedia.org)</a:t>
            </a:r>
            <a:r>
              <a:rPr sz="2800" u="sng" dirty="0">
                <a:solidFill>
                  <a:schemeClr val="accent6"/>
                </a:solidFill>
                <a:hlinkClick r:id="rId17"/>
              </a:rPr>
              <a:t>(animalrangeextension.montana.edu)</a:t>
            </a:r>
            <a:r>
              <a:rPr sz="2800" dirty="0"/>
              <a:t>. </a:t>
            </a:r>
            <a:br>
              <a:rPr lang="en-US" sz="2800" dirty="0"/>
            </a:br>
            <a:r>
              <a:rPr sz="2800" dirty="0"/>
              <a:t>Ecological research highlights that snakes control rodent and insect populations and contribute to biodiversity</a:t>
            </a:r>
            <a:br>
              <a:rPr lang="en-US" sz="2800" dirty="0"/>
            </a:br>
            <a:r>
              <a:rPr sz="2800" u="sng" dirty="0">
                <a:solidFill>
                  <a:schemeClr val="accent6"/>
                </a:solidFill>
                <a:hlinkClick r:id="rId18"/>
              </a:rPr>
              <a:t>(westtermite.com)</a:t>
            </a:r>
            <a:r>
              <a:rPr sz="2800" u="sng" dirty="0">
                <a:solidFill>
                  <a:schemeClr val="accent6"/>
                </a:solidFill>
                <a:hlinkClick r:id="rId19"/>
              </a:rPr>
              <a:t>(westtermite.com)</a:t>
            </a:r>
            <a:r>
              <a:rPr sz="2800" dirty="0"/>
              <a:t>.</a:t>
            </a:r>
          </a:p>
        </p:txBody>
      </p:sp>
      <p:sp>
        <p:nvSpPr>
          <p:cNvPr id="217" name="Google Shape;217;p14"/>
          <p:cNvSpPr txBox="1"/>
          <p:nvPr/>
        </p:nvSpPr>
        <p:spPr>
          <a:xfrm>
            <a:off x="23062309" y="20523808"/>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0C7060"/>
                </a:solidFill>
                <a:latin typeface="Poppins"/>
                <a:ea typeface="Poppins"/>
                <a:cs typeface="Poppins"/>
                <a:sym typeface="Poppins"/>
              </a:rPr>
              <a:t>ANALYSIS</a:t>
            </a:r>
            <a:endParaRPr dirty="0"/>
          </a:p>
        </p:txBody>
      </p:sp>
      <p:sp>
        <p:nvSpPr>
          <p:cNvPr id="218" name="Google Shape;218;p14"/>
          <p:cNvSpPr txBox="1"/>
          <p:nvPr/>
        </p:nvSpPr>
        <p:spPr>
          <a:xfrm>
            <a:off x="5718966" y="27626854"/>
            <a:ext cx="9789490" cy="893953"/>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30" b="1" i="0" u="none" strike="noStrike" cap="none">
                <a:solidFill>
                  <a:srgbClr val="0C7060"/>
                </a:solidFill>
                <a:latin typeface="Poppins"/>
                <a:ea typeface="Poppins"/>
                <a:cs typeface="Poppins"/>
                <a:sym typeface="Poppins"/>
              </a:rPr>
              <a:t>INTRODUCTION</a:t>
            </a:r>
            <a:endParaRPr/>
          </a:p>
        </p:txBody>
      </p:sp>
      <p:grpSp>
        <p:nvGrpSpPr>
          <p:cNvPr id="219" name="Google Shape;219;p14"/>
          <p:cNvGrpSpPr/>
          <p:nvPr/>
        </p:nvGrpSpPr>
        <p:grpSpPr>
          <a:xfrm>
            <a:off x="25709059" y="6708314"/>
            <a:ext cx="792511" cy="848234"/>
            <a:chOff x="0" y="-57150"/>
            <a:chExt cx="812800" cy="869950"/>
          </a:xfrm>
        </p:grpSpPr>
        <p:sp>
          <p:nvSpPr>
            <p:cNvPr id="220" name="Google Shape;22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14"/>
          <p:cNvGrpSpPr/>
          <p:nvPr/>
        </p:nvGrpSpPr>
        <p:grpSpPr>
          <a:xfrm>
            <a:off x="25709666" y="9409452"/>
            <a:ext cx="792511" cy="848234"/>
            <a:chOff x="0" y="-57150"/>
            <a:chExt cx="812800" cy="869950"/>
          </a:xfrm>
        </p:grpSpPr>
        <p:sp>
          <p:nvSpPr>
            <p:cNvPr id="223" name="Google Shape;223;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44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txBox="1"/>
            <p:nvPr/>
          </p:nvSpPr>
          <p:spPr>
            <a:xfrm>
              <a:off x="76200" y="-57150"/>
              <a:ext cx="660400" cy="793750"/>
            </a:xfrm>
            <a:prstGeom prst="rect">
              <a:avLst/>
            </a:prstGeom>
            <a:noFill/>
            <a:ln>
              <a:noFill/>
            </a:ln>
          </p:spPr>
          <p:txBody>
            <a:bodyPr spcFirstLastPara="1" wrap="square" lIns="50800" tIns="50800" rIns="50800" bIns="50800" anchor="ctr" anchorCtr="0">
              <a:noAutofit/>
            </a:bodyPr>
            <a:lstStyle/>
            <a:p>
              <a:pPr marL="0" marR="0" lvl="0" indent="0" algn="ctr" rtl="0">
                <a:lnSpc>
                  <a:spcPct val="38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5" name="Google Shape;225;p14"/>
          <p:cNvSpPr txBox="1"/>
          <p:nvPr/>
        </p:nvSpPr>
        <p:spPr>
          <a:xfrm>
            <a:off x="20200914" y="3992992"/>
            <a:ext cx="5293500" cy="603242"/>
          </a:xfrm>
          <a:prstGeom prst="rect">
            <a:avLst/>
          </a:prstGeom>
          <a:noFill/>
          <a:ln>
            <a:noFill/>
          </a:ln>
        </p:spPr>
        <p:txBody>
          <a:bodyPr spcFirstLastPara="1" wrap="square" lIns="0" tIns="0" rIns="0" bIns="0" anchor="t" anchorCtr="0">
            <a:spAutoFit/>
          </a:bodyPr>
          <a:lstStyle/>
          <a:p>
            <a:pPr marL="0" marR="0" lvl="0" indent="0" algn="r" rtl="0">
              <a:lnSpc>
                <a:spcPct val="139991"/>
              </a:lnSpc>
              <a:spcBef>
                <a:spcPts val="0"/>
              </a:spcBef>
              <a:spcAft>
                <a:spcPts val="0"/>
              </a:spcAft>
              <a:buNone/>
            </a:pPr>
            <a:r>
              <a:rPr sz="2800" dirty="0"/>
              <a:t>Morphology</a:t>
            </a:r>
          </a:p>
        </p:txBody>
      </p:sp>
      <p:sp>
        <p:nvSpPr>
          <p:cNvPr id="226" name="Google Shape;226;p14"/>
          <p:cNvSpPr txBox="1"/>
          <p:nvPr/>
        </p:nvSpPr>
        <p:spPr>
          <a:xfrm>
            <a:off x="20523443" y="4782270"/>
            <a:ext cx="5026500" cy="1486561"/>
          </a:xfrm>
          <a:prstGeom prst="rect">
            <a:avLst/>
          </a:prstGeom>
          <a:noFill/>
          <a:ln>
            <a:noFill/>
          </a:ln>
        </p:spPr>
        <p:txBody>
          <a:bodyPr spcFirstLastPara="1" wrap="square" lIns="0" tIns="0" rIns="0" bIns="0" anchor="t" anchorCtr="0">
            <a:spAutoFit/>
          </a:bodyPr>
          <a:lstStyle/>
          <a:p>
            <a:pPr marL="0" marR="0" lvl="0" indent="0" algn="r" rtl="0">
              <a:lnSpc>
                <a:spcPct val="115000"/>
              </a:lnSpc>
              <a:spcBef>
                <a:spcPts val="0"/>
              </a:spcBef>
              <a:spcAft>
                <a:spcPts val="0"/>
              </a:spcAft>
              <a:buNone/>
            </a:pPr>
            <a:r>
              <a:rPr sz="2800" dirty="0"/>
              <a:t>Dissected specimens and used imaging to study ribs, muscles and belly scales.</a:t>
            </a:r>
          </a:p>
        </p:txBody>
      </p:sp>
      <p:sp>
        <p:nvSpPr>
          <p:cNvPr id="227" name="Google Shape;227;p14"/>
          <p:cNvSpPr txBox="1"/>
          <p:nvPr/>
        </p:nvSpPr>
        <p:spPr>
          <a:xfrm>
            <a:off x="20258613" y="9382683"/>
            <a:ext cx="5293500" cy="603242"/>
          </a:xfrm>
          <a:prstGeom prst="rect">
            <a:avLst/>
          </a:prstGeom>
          <a:noFill/>
          <a:ln>
            <a:noFill/>
          </a:ln>
        </p:spPr>
        <p:txBody>
          <a:bodyPr spcFirstLastPara="1" wrap="square" lIns="0" tIns="0" rIns="0" bIns="0" anchor="t" anchorCtr="0">
            <a:spAutoFit/>
          </a:bodyPr>
          <a:lstStyle/>
          <a:p>
            <a:pPr marL="0" marR="0" lvl="0" indent="0" algn="r" rtl="0">
              <a:lnSpc>
                <a:spcPct val="139991"/>
              </a:lnSpc>
              <a:spcBef>
                <a:spcPts val="0"/>
              </a:spcBef>
              <a:spcAft>
                <a:spcPts val="0"/>
              </a:spcAft>
              <a:buNone/>
            </a:pPr>
            <a:r>
              <a:rPr sz="2800" dirty="0"/>
              <a:t>Field surveys</a:t>
            </a:r>
          </a:p>
        </p:txBody>
      </p:sp>
      <p:sp>
        <p:nvSpPr>
          <p:cNvPr id="228" name="Google Shape;228;p14"/>
          <p:cNvSpPr txBox="1"/>
          <p:nvPr/>
        </p:nvSpPr>
        <p:spPr>
          <a:xfrm>
            <a:off x="20581142" y="10171961"/>
            <a:ext cx="5026500" cy="1982081"/>
          </a:xfrm>
          <a:prstGeom prst="rect">
            <a:avLst/>
          </a:prstGeom>
          <a:noFill/>
          <a:ln>
            <a:noFill/>
          </a:ln>
        </p:spPr>
        <p:txBody>
          <a:bodyPr spcFirstLastPara="1" wrap="square" lIns="0" tIns="0" rIns="0" bIns="0" anchor="t" anchorCtr="0">
            <a:spAutoFit/>
          </a:bodyPr>
          <a:lstStyle/>
          <a:p>
            <a:pPr marL="0" marR="0" lvl="0" indent="0" algn="r" rtl="0">
              <a:lnSpc>
                <a:spcPct val="115000"/>
              </a:lnSpc>
              <a:spcBef>
                <a:spcPts val="0"/>
              </a:spcBef>
              <a:spcAft>
                <a:spcPts val="0"/>
              </a:spcAft>
              <a:buNone/>
            </a:pPr>
            <a:r>
              <a:rPr sz="2800" dirty="0"/>
              <a:t>Monitored </a:t>
            </a:r>
            <a:r>
              <a:rPr sz="2800" dirty="0" err="1"/>
              <a:t>behaviour</a:t>
            </a:r>
            <a:r>
              <a:rPr sz="2800" dirty="0"/>
              <a:t> in various habitats and measured prey abundance to evaluate ecological roles.</a:t>
            </a:r>
          </a:p>
        </p:txBody>
      </p:sp>
      <p:sp>
        <p:nvSpPr>
          <p:cNvPr id="229" name="Google Shape;229;p14"/>
          <p:cNvSpPr txBox="1"/>
          <p:nvPr/>
        </p:nvSpPr>
        <p:spPr>
          <a:xfrm>
            <a:off x="26979096" y="6690622"/>
            <a:ext cx="5293500" cy="603242"/>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sz="2800" dirty="0"/>
              <a:t>Sensory experiments</a:t>
            </a:r>
          </a:p>
        </p:txBody>
      </p:sp>
      <p:sp>
        <p:nvSpPr>
          <p:cNvPr id="230" name="Google Shape;230;p14"/>
          <p:cNvSpPr txBox="1"/>
          <p:nvPr/>
        </p:nvSpPr>
        <p:spPr>
          <a:xfrm>
            <a:off x="26979096" y="7479900"/>
            <a:ext cx="5026500" cy="1982081"/>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sz="2800" dirty="0"/>
              <a:t>Tested responses to scent trails and heat sources to measure chemoreception and infrared sensitivity.</a:t>
            </a:r>
          </a:p>
        </p:txBody>
      </p:sp>
      <p:sp>
        <p:nvSpPr>
          <p:cNvPr id="231" name="Google Shape;231;p14"/>
          <p:cNvSpPr txBox="1"/>
          <p:nvPr/>
        </p:nvSpPr>
        <p:spPr>
          <a:xfrm>
            <a:off x="23382364" y="12957270"/>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0C7060"/>
                </a:solidFill>
                <a:latin typeface="Poppins"/>
                <a:ea typeface="Poppins"/>
                <a:cs typeface="Poppins"/>
                <a:sym typeface="Poppins"/>
              </a:rPr>
              <a:t>RESULTS</a:t>
            </a:r>
            <a:endParaRPr dirty="0"/>
          </a:p>
        </p:txBody>
      </p:sp>
      <p:sp>
        <p:nvSpPr>
          <p:cNvPr id="232" name="Google Shape;232;p14"/>
          <p:cNvSpPr txBox="1"/>
          <p:nvPr/>
        </p:nvSpPr>
        <p:spPr>
          <a:xfrm>
            <a:off x="21001927" y="28097783"/>
            <a:ext cx="4964851" cy="9910405"/>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sz="2800" dirty="0"/>
              <a:t>Snakes evolved from lizards to become highly </a:t>
            </a:r>
            <a:r>
              <a:rPr sz="2800" dirty="0" err="1"/>
              <a:t>specialised</a:t>
            </a:r>
            <a:r>
              <a:rPr sz="2800" dirty="0"/>
              <a:t> predators. The combination of flexible skeletons, friction‑generating belly scales and diverse modes of locomotion allows them to thrive in varied habitats. Their reduced limbs are compensated by acute chemical and thermal senses that detect prey even in darkness. Ecologically, snakes regulate pest populations and are themselves prey for many animals. Only a small fraction of species are venomous, and fewer still pose a threat to humans</a:t>
            </a:r>
            <a:r>
              <a:rPr sz="2800" u="sng" dirty="0">
                <a:solidFill>
                  <a:schemeClr val="accent6"/>
                </a:solidFill>
                <a:hlinkClick r:id="rId16"/>
              </a:rPr>
              <a:t>(en.wikipedia.org)</a:t>
            </a:r>
            <a:r>
              <a:rPr sz="2800" u="sng" dirty="0">
                <a:solidFill>
                  <a:schemeClr val="accent6"/>
                </a:solidFill>
                <a:hlinkClick r:id="rId18"/>
              </a:rPr>
              <a:t>(westtermite.com)</a:t>
            </a:r>
            <a:r>
              <a:rPr sz="2800" dirty="0"/>
              <a:t>.</a:t>
            </a:r>
          </a:p>
        </p:txBody>
      </p:sp>
      <p:sp>
        <p:nvSpPr>
          <p:cNvPr id="233" name="Google Shape;233;p14"/>
          <p:cNvSpPr txBox="1"/>
          <p:nvPr/>
        </p:nvSpPr>
        <p:spPr>
          <a:xfrm>
            <a:off x="23357818" y="26923774"/>
            <a:ext cx="5293500" cy="868441"/>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4926" b="1" i="0" u="none" strike="noStrike" cap="none" dirty="0">
                <a:solidFill>
                  <a:srgbClr val="0C7060"/>
                </a:solidFill>
                <a:latin typeface="Poppins"/>
                <a:ea typeface="Poppins"/>
                <a:cs typeface="Poppins"/>
                <a:sym typeface="Poppins"/>
              </a:rPr>
              <a:t>CONCLUSION</a:t>
            </a:r>
            <a:endParaRPr dirty="0"/>
          </a:p>
        </p:txBody>
      </p:sp>
      <p:sp>
        <p:nvSpPr>
          <p:cNvPr id="234" name="Google Shape;234;p14"/>
          <p:cNvSpPr txBox="1"/>
          <p:nvPr/>
        </p:nvSpPr>
        <p:spPr>
          <a:xfrm>
            <a:off x="26501570" y="28097783"/>
            <a:ext cx="4788900" cy="7432804"/>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sz="2800" dirty="0"/>
              <a:t>Understanding snakes reveals how morphological and sensory adaptations underpin their success. Conserving snakes is essential for maintaining ecological balance, yet they face threats from habitat loss, persecution and climate change. Future research into their physiology and venom will not only aid conservation but may inspire biomimetic designs and medical advances.</a:t>
            </a:r>
          </a:p>
        </p:txBody>
      </p:sp>
      <p:pic>
        <p:nvPicPr>
          <p:cNvPr id="235" name="Google Shape;235;p14"/>
          <p:cNvPicPr preferRelativeResize="0"/>
          <p:nvPr/>
        </p:nvPicPr>
        <p:blipFill>
          <a:blip r:embed="rId20">
            <a:alphaModFix/>
          </a:blip>
          <a:stretch>
            <a:fillRect/>
          </a:stretch>
        </p:blipFill>
        <p:spPr>
          <a:xfrm>
            <a:off x="-1010502" y="-2208675"/>
            <a:ext cx="20448027" cy="23136773"/>
          </a:xfrm>
          <a:prstGeom prst="rect">
            <a:avLst/>
          </a:prstGeom>
          <a:noFill/>
          <a:ln>
            <a:noFill/>
          </a:ln>
        </p:spPr>
      </p:pic>
      <p:sp>
        <p:nvSpPr>
          <p:cNvPr id="236" name="TextBox 235"/>
          <p:cNvSpPr txBox="1"/>
          <p:nvPr/>
        </p:nvSpPr>
        <p:spPr>
          <a:xfrm>
            <a:off x="9875520" y="41696640"/>
            <a:ext cx="19751040" cy="152400"/>
          </a:xfrm>
          <a:prstGeom prst="rect">
            <a:avLst/>
          </a:prstGeom>
          <a:noFill/>
        </p:spPr>
        <p:txBody>
          <a:bodyPr wrap="none">
            <a:spAutoFit/>
          </a:bodyPr>
          <a:lstStyle/>
          <a:p>
            <a:pPr>
              <a:defRPr sz="800"/>
            </a:pPr>
            <a:r>
              <a:rPr>
                <a:hlinkClick r:id="rId7"/>
              </a:rPr>
              <a:t>[5] </a:t>
            </a:r>
            <a:r>
              <a:rPr>
                <a:hlinkClick r:id="rId9"/>
              </a:rPr>
              <a:t>[6] </a:t>
            </a:r>
            <a:r>
              <a:rPr>
                <a:hlinkClick r:id="rId21"/>
              </a:rPr>
              <a:t>[7] </a:t>
            </a:r>
            <a:r>
              <a:rPr>
                <a:hlinkClick r:id="rId13"/>
              </a:rPr>
              <a:t>[8] </a:t>
            </a:r>
            <a:r>
              <a:rPr>
                <a:hlinkClick r:id="rId8"/>
              </a:rPr>
              <a:t>[9] </a:t>
            </a:r>
          </a:p>
        </p:txBody>
      </p:sp>
      <p:sp>
        <p:nvSpPr>
          <p:cNvPr id="3" name="Google Shape;208;p14">
            <a:extLst>
              <a:ext uri="{FF2B5EF4-FFF2-40B4-BE49-F238E27FC236}">
                <a16:creationId xmlns:a16="http://schemas.microsoft.com/office/drawing/2014/main" id="{A2E2DCF1-9E0D-606D-AA3D-30F69CB614D4}"/>
              </a:ext>
            </a:extLst>
          </p:cNvPr>
          <p:cNvSpPr txBox="1"/>
          <p:nvPr/>
        </p:nvSpPr>
        <p:spPr>
          <a:xfrm>
            <a:off x="18865643" y="13927218"/>
            <a:ext cx="7617622" cy="2757678"/>
          </a:xfrm>
          <a:prstGeom prst="rect">
            <a:avLst/>
          </a:prstGeom>
          <a:noFill/>
          <a:ln>
            <a:noFill/>
          </a:ln>
        </p:spPr>
        <p:txBody>
          <a:bodyPr spcFirstLastPara="1" wrap="square" lIns="0" tIns="0" rIns="0" bIns="0" anchor="t" anchorCtr="0">
            <a:spAutoFit/>
          </a:bodyPr>
          <a:lstStyle/>
          <a:p>
            <a:pPr marL="0" marR="0" lvl="0" indent="0" algn="ctr" rtl="0">
              <a:lnSpc>
                <a:spcPct val="139994"/>
              </a:lnSpc>
              <a:spcBef>
                <a:spcPts val="0"/>
              </a:spcBef>
              <a:spcAft>
                <a:spcPts val="0"/>
              </a:spcAft>
              <a:buNone/>
            </a:pPr>
            <a:r>
              <a:rPr lang="en-US" sz="6400" b="1" dirty="0">
                <a:solidFill>
                  <a:srgbClr val="0C7060"/>
                </a:solidFill>
                <a:latin typeface="Poppins"/>
                <a:cs typeface="Poppins"/>
                <a:sym typeface="Poppins"/>
              </a:rPr>
              <a:t>3,900 </a:t>
            </a:r>
          </a:p>
          <a:p>
            <a:pPr marL="0" marR="0" lvl="0" indent="0" algn="ctr" rtl="0">
              <a:lnSpc>
                <a:spcPct val="139994"/>
              </a:lnSpc>
              <a:spcBef>
                <a:spcPts val="0"/>
              </a:spcBef>
              <a:spcAft>
                <a:spcPts val="0"/>
              </a:spcAft>
              <a:buNone/>
            </a:pPr>
            <a:r>
              <a:rPr lang="en-US" sz="6400" b="1" dirty="0">
                <a:solidFill>
                  <a:srgbClr val="0C7060"/>
                </a:solidFill>
                <a:latin typeface="Poppins"/>
                <a:cs typeface="Poppins"/>
                <a:sym typeface="Poppins"/>
              </a:rPr>
              <a:t>Species</a:t>
            </a:r>
            <a:endParaRPr sz="6400" dirty="0"/>
          </a:p>
        </p:txBody>
      </p:sp>
      <p:sp>
        <p:nvSpPr>
          <p:cNvPr id="4" name="Google Shape;211;p14">
            <a:extLst>
              <a:ext uri="{FF2B5EF4-FFF2-40B4-BE49-F238E27FC236}">
                <a16:creationId xmlns:a16="http://schemas.microsoft.com/office/drawing/2014/main" id="{86B91E2F-1D7F-D8EE-3BA3-048F8C62FE42}"/>
              </a:ext>
            </a:extLst>
          </p:cNvPr>
          <p:cNvSpPr txBox="1"/>
          <p:nvPr/>
        </p:nvSpPr>
        <p:spPr>
          <a:xfrm>
            <a:off x="24812390" y="13916358"/>
            <a:ext cx="8596103" cy="4136517"/>
          </a:xfrm>
          <a:prstGeom prst="rect">
            <a:avLst/>
          </a:prstGeom>
          <a:noFill/>
          <a:ln>
            <a:noFill/>
          </a:ln>
        </p:spPr>
        <p:txBody>
          <a:bodyPr spcFirstLastPara="1" wrap="square" lIns="0" tIns="0" rIns="0" bIns="0" anchor="t" anchorCtr="0">
            <a:spAutoFit/>
          </a:bodyPr>
          <a:lstStyle/>
          <a:p>
            <a:pPr marL="0" marR="0" lvl="0" indent="0" algn="ctr" rtl="0">
              <a:lnSpc>
                <a:spcPct val="139994"/>
              </a:lnSpc>
              <a:spcBef>
                <a:spcPts val="0"/>
              </a:spcBef>
              <a:spcAft>
                <a:spcPts val="0"/>
              </a:spcAft>
              <a:buNone/>
            </a:pPr>
            <a:r>
              <a:rPr lang="en-US" sz="6400" b="1" i="0" u="none" strike="noStrike" cap="none" dirty="0">
                <a:solidFill>
                  <a:srgbClr val="0C7060"/>
                </a:solidFill>
                <a:latin typeface="Poppins"/>
                <a:ea typeface="Poppins"/>
                <a:cs typeface="Poppins"/>
                <a:sym typeface="Poppins"/>
              </a:rPr>
              <a:t>600 </a:t>
            </a:r>
          </a:p>
          <a:p>
            <a:pPr marL="0" marR="0" lvl="0" indent="0" algn="ctr" rtl="0">
              <a:lnSpc>
                <a:spcPct val="139994"/>
              </a:lnSpc>
              <a:spcBef>
                <a:spcPts val="0"/>
              </a:spcBef>
              <a:spcAft>
                <a:spcPts val="0"/>
              </a:spcAft>
              <a:buNone/>
            </a:pPr>
            <a:r>
              <a:rPr lang="en-US" sz="6400" b="1" i="0" u="none" strike="noStrike" cap="none" dirty="0">
                <a:solidFill>
                  <a:srgbClr val="0C7060"/>
                </a:solidFill>
                <a:latin typeface="Poppins"/>
                <a:ea typeface="Poppins"/>
                <a:cs typeface="Poppins"/>
                <a:sym typeface="Poppins"/>
              </a:rPr>
              <a:t>Venomous</a:t>
            </a:r>
          </a:p>
          <a:p>
            <a:pPr marL="0" marR="0" lvl="0" indent="0" algn="ctr" rtl="0">
              <a:lnSpc>
                <a:spcPct val="139994"/>
              </a:lnSpc>
              <a:spcBef>
                <a:spcPts val="0"/>
              </a:spcBef>
              <a:spcAft>
                <a:spcPts val="0"/>
              </a:spcAft>
              <a:buNone/>
            </a:pPr>
            <a:endParaRPr lang="en-US" sz="6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1082</Words>
  <Application>Microsoft Macintosh PowerPoint</Application>
  <PresentationFormat>Custom</PresentationFormat>
  <Paragraphs>65</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Poppins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Ofengenden</cp:lastModifiedBy>
  <cp:revision>3</cp:revision>
  <dcterms:modified xsi:type="dcterms:W3CDTF">2025-11-03T19:25:13Z</dcterms:modified>
</cp:coreProperties>
</file>
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Format Python Code Blocks - Ground Truth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3, 5, and 7 are dark-themed with colorful syntax highlighting.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Utilities: Fibonacci and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0D1117"/>
          </a:solidFill>
        </p:spPr>
        <p:txBody>
          <a:bodyPr wrap="none">
            <a:spAutoFit/>
          </a:bodyPr>
          <a:lstStyle/>
          <a:p>
            <a:r>
              <a:rPr sz="1100">
                <a:solidFill>
                  <a:srgbClr val="C586C0"/>
                </a:solidFill>
                <a:latin typeface="Consolas"/>
              </a:rPr>
              <a:t>from</a:t>
            </a:r>
            <a:r>
              <a:rPr sz="1100">
                <a:solidFill>
                  <a:srgbClr val="D4D4D4"/>
                </a:solidFill>
                <a:latin typeface="Consolas"/>
              </a:rPr>
              <a:t> __future__ </a:t>
            </a:r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annotations</a:t>
            </a: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from</a:t>
            </a:r>
            <a:r>
              <a:rPr sz="1100">
                <a:solidFill>
                  <a:srgbClr val="D4D4D4"/>
                </a:solidFill>
                <a:latin typeface="Consolas"/>
              </a:rPr>
              <a:t> dataclasses </a:t>
            </a:r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dataclass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fib</a:t>
            </a:r>
            <a:r>
              <a:rPr sz="1100">
                <a:solidFill>
                  <a:srgbClr val="D4D4D4"/>
                </a:solidFill>
                <a:latin typeface="Consolas"/>
              </a:rPr>
              <a:t>(n: int) -&gt; int: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E9178"/>
                </a:solidFill>
                <a:latin typeface="Consolas"/>
              </a:rPr>
              <a:t>"""Return nth Fibonacci number using iterative DP."""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if</a:t>
            </a:r>
            <a:r>
              <a:rPr sz="1100">
                <a:solidFill>
                  <a:srgbClr val="D4D4D4"/>
                </a:solidFill>
                <a:latin typeface="Consolas"/>
              </a:rPr>
              <a:t> n &lt; </a:t>
            </a:r>
            <a:r>
              <a:rPr sz="1100">
                <a:solidFill>
                  <a:srgbClr val="B5CEA8"/>
                </a:solidFill>
                <a:latin typeface="Consolas"/>
              </a:rPr>
              <a:t>2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n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a, b = </a:t>
            </a:r>
            <a:r>
              <a:rPr sz="1100">
                <a:solidFill>
                  <a:srgbClr val="B5CEA8"/>
                </a:solidFill>
                <a:latin typeface="Consolas"/>
              </a:rPr>
              <a:t>0</a:t>
            </a:r>
            <a:r>
              <a:rPr sz="1100">
                <a:solidFill>
                  <a:srgbClr val="D4D4D4"/>
                </a:solidFill>
                <a:latin typeface="Consolas"/>
              </a:rPr>
              <a:t>, </a:t>
            </a:r>
            <a:r>
              <a:rPr sz="1100">
                <a:solidFill>
                  <a:srgbClr val="B5CEA8"/>
                </a:solidFill>
                <a:latin typeface="Consolas"/>
              </a:rPr>
              <a:t>1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for</a:t>
            </a:r>
            <a:r>
              <a:rPr sz="1100">
                <a:solidFill>
                  <a:srgbClr val="D4D4D4"/>
                </a:solidFill>
                <a:latin typeface="Consolas"/>
              </a:rPr>
              <a:t> _ </a:t>
            </a:r>
            <a:r>
              <a:rPr sz="1100">
                <a:solidFill>
                  <a:srgbClr val="C586C0"/>
                </a:solidFill>
                <a:latin typeface="Consolas"/>
              </a:rPr>
              <a:t>in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CDCAA"/>
                </a:solidFill>
                <a:latin typeface="Consolas"/>
              </a:rPr>
              <a:t>range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B5CEA8"/>
                </a:solidFill>
                <a:latin typeface="Consolas"/>
              </a:rPr>
              <a:t>2</a:t>
            </a:r>
            <a:r>
              <a:rPr sz="1100">
                <a:solidFill>
                  <a:srgbClr val="D4D4D4"/>
                </a:solidFill>
                <a:latin typeface="Consolas"/>
              </a:rPr>
              <a:t>, n + </a:t>
            </a:r>
            <a:r>
              <a:rPr sz="1100">
                <a:solidFill>
                  <a:srgbClr val="B5CEA8"/>
                </a:solidFill>
                <a:latin typeface="Consolas"/>
              </a:rPr>
              <a:t>1</a:t>
            </a:r>
            <a:r>
              <a:rPr sz="1100">
                <a:solidFill>
                  <a:srgbClr val="D4D4D4"/>
                </a:solidFill>
                <a:latin typeface="Consolas"/>
              </a:rPr>
              <a:t>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a, b = b, a + b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b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DCDCAA"/>
                </a:solidFill>
                <a:latin typeface="Consolas"/>
              </a:rPr>
              <a:t>@dataclass</a:t>
            </a: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class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Point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x: float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y: float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if</a:t>
            </a:r>
            <a:r>
              <a:rPr sz="1100">
                <a:solidFill>
                  <a:srgbClr val="D4D4D4"/>
                </a:solidFill>
                <a:latin typeface="Consolas"/>
              </a:rPr>
              <a:t> __name__ == </a:t>
            </a:r>
            <a:r>
              <a:rPr sz="1100">
                <a:solidFill>
                  <a:srgbClr val="CE9178"/>
                </a:solidFill>
                <a:latin typeface="Consolas"/>
              </a:rPr>
              <a:t>"__main__"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p = Point(</a:t>
            </a:r>
            <a:r>
              <a:rPr sz="1100">
                <a:solidFill>
                  <a:srgbClr val="B5CEA8"/>
                </a:solidFill>
                <a:latin typeface="Consolas"/>
              </a:rPr>
              <a:t>3.0</a:t>
            </a:r>
            <a:r>
              <a:rPr sz="1100">
                <a:solidFill>
                  <a:srgbClr val="D4D4D4"/>
                </a:solidFill>
                <a:latin typeface="Consolas"/>
              </a:rPr>
              <a:t>, </a:t>
            </a:r>
            <a:r>
              <a:rPr sz="1100">
                <a:solidFill>
                  <a:srgbClr val="B5CEA8"/>
                </a:solidFill>
                <a:latin typeface="Consolas"/>
              </a:rPr>
              <a:t>4.0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CE9178"/>
                </a:solidFill>
                <a:latin typeface="Consolas"/>
              </a:rPr>
              <a:t>f"fib(10) = {fib(10)}; |p|^2 = {p.x**2 + p.y**2}"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Async I/O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0D1117"/>
          </a:solidFill>
        </p:spPr>
        <p:txBody>
          <a:bodyPr wrap="none">
            <a:spAutoFit/>
          </a:bodyPr>
          <a:lstStyle/>
          <a:p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asyncio</a:t>
            </a: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time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async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fetch</a:t>
            </a:r>
            <a:r>
              <a:rPr sz="1100">
                <a:solidFill>
                  <a:srgbClr val="D4D4D4"/>
                </a:solidFill>
                <a:latin typeface="Consolas"/>
              </a:rPr>
              <a:t>(n: int) -&gt; str: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await</a:t>
            </a:r>
            <a:r>
              <a:rPr sz="1100">
                <a:solidFill>
                  <a:srgbClr val="D4D4D4"/>
                </a:solidFill>
                <a:latin typeface="Consolas"/>
              </a:rPr>
              <a:t> asyncio.sleep(</a:t>
            </a:r>
            <a:r>
              <a:rPr sz="1100">
                <a:solidFill>
                  <a:srgbClr val="B5CEA8"/>
                </a:solidFill>
                <a:latin typeface="Consolas"/>
              </a:rPr>
              <a:t>0.1</a:t>
            </a:r>
            <a:r>
              <a:rPr sz="1100">
                <a:solidFill>
                  <a:srgbClr val="D4D4D4"/>
                </a:solidFill>
                <a:latin typeface="Consolas"/>
              </a:rPr>
              <a:t> * n)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f"done {n}"</a:t>
            </a:r>
          </a:p>
          <a:p>
            <a:endParaRPr sz="1100">
              <a:solidFill>
                <a:srgbClr val="CE9178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async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main</a:t>
            </a:r>
            <a:r>
              <a:rPr sz="1100">
                <a:solidFill>
                  <a:srgbClr val="D4D4D4"/>
                </a:solidFill>
                <a:latin typeface="Consolas"/>
              </a:rPr>
              <a:t>():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t0 = time.perf_counter()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results = </a:t>
            </a:r>
            <a:r>
              <a:rPr sz="1100">
                <a:solidFill>
                  <a:srgbClr val="C586C0"/>
                </a:solidFill>
                <a:latin typeface="Consolas"/>
              </a:rPr>
              <a:t>await</a:t>
            </a:r>
            <a:r>
              <a:rPr sz="1100">
                <a:solidFill>
                  <a:srgbClr val="D4D4D4"/>
                </a:solidFill>
                <a:latin typeface="Consolas"/>
              </a:rPr>
              <a:t> asyncio.gather(*(fetch(i) </a:t>
            </a:r>
            <a:r>
              <a:rPr sz="1100">
                <a:solidFill>
                  <a:srgbClr val="C586C0"/>
                </a:solidFill>
                <a:latin typeface="Consolas"/>
              </a:rPr>
              <a:t>for</a:t>
            </a:r>
            <a:r>
              <a:rPr sz="1100">
                <a:solidFill>
                  <a:srgbClr val="D4D4D4"/>
                </a:solidFill>
                <a:latin typeface="Consolas"/>
              </a:rPr>
              <a:t> i </a:t>
            </a:r>
            <a:r>
              <a:rPr sz="1100">
                <a:solidFill>
                  <a:srgbClr val="C586C0"/>
                </a:solidFill>
                <a:latin typeface="Consolas"/>
              </a:rPr>
              <a:t>in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CDCAA"/>
                </a:solidFill>
                <a:latin typeface="Consolas"/>
              </a:rPr>
              <a:t>range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B5CEA8"/>
                </a:solidFill>
                <a:latin typeface="Consolas"/>
              </a:rPr>
              <a:t>5</a:t>
            </a:r>
            <a:r>
              <a:rPr sz="1100">
                <a:solidFill>
                  <a:srgbClr val="D4D4D4"/>
                </a:solidFill>
                <a:latin typeface="Consolas"/>
              </a:rPr>
              <a:t>)))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dt = time.perf_counter() - t0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for</a:t>
            </a:r>
            <a:r>
              <a:rPr sz="1100">
                <a:solidFill>
                  <a:srgbClr val="D4D4D4"/>
                </a:solidFill>
                <a:latin typeface="Consolas"/>
              </a:rPr>
              <a:t> r </a:t>
            </a:r>
            <a:r>
              <a:rPr sz="1100">
                <a:solidFill>
                  <a:srgbClr val="C586C0"/>
                </a:solidFill>
                <a:latin typeface="Consolas"/>
              </a:rPr>
              <a:t>in</a:t>
            </a:r>
            <a:r>
              <a:rPr sz="1100">
                <a:solidFill>
                  <a:srgbClr val="D4D4D4"/>
                </a:solidFill>
                <a:latin typeface="Consolas"/>
              </a:rPr>
              <a:t> results: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(r)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CE9178"/>
                </a:solidFill>
                <a:latin typeface="Consolas"/>
              </a:rPr>
              <a:t>f"{len(results)} tasks in {dt:.3f}s"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if</a:t>
            </a:r>
            <a:r>
              <a:rPr sz="1100">
                <a:solidFill>
                  <a:srgbClr val="D4D4D4"/>
                </a:solidFill>
                <a:latin typeface="Consolas"/>
              </a:rPr>
              <a:t> __name__ == </a:t>
            </a:r>
            <a:r>
              <a:rPr sz="1100">
                <a:solidFill>
                  <a:srgbClr val="CE9178"/>
                </a:solidFill>
                <a:latin typeface="Consolas"/>
              </a:rPr>
              <a:t>"__main__"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asyncio.run(main())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54864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Decorators and context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10149840" cy="4937760"/>
          </a:xfrm>
          <a:prstGeom prst="rect">
            <a:avLst/>
          </a:prstGeom>
          <a:solidFill>
            <a:srgbClr val="0D1117"/>
          </a:solidFill>
        </p:spPr>
        <p:txBody>
          <a:bodyPr wrap="none">
            <a:spAutoFit/>
          </a:bodyPr>
          <a:lstStyle/>
          <a:p>
            <a:r>
              <a:rPr sz="1100">
                <a:solidFill>
                  <a:srgbClr val="C586C0"/>
                </a:solidFill>
                <a:latin typeface="Consolas"/>
              </a:rPr>
              <a:t>from</a:t>
            </a:r>
            <a:r>
              <a:rPr sz="1100">
                <a:solidFill>
                  <a:srgbClr val="D4D4D4"/>
                </a:solidFill>
                <a:latin typeface="Consolas"/>
              </a:rPr>
              <a:t> contextlib </a:t>
            </a:r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contextmanager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deco</a:t>
            </a:r>
            <a:r>
              <a:rPr sz="1100">
                <a:solidFill>
                  <a:srgbClr val="D4D4D4"/>
                </a:solidFill>
                <a:latin typeface="Consolas"/>
              </a:rPr>
              <a:t>(fn):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wrapper</a:t>
            </a:r>
            <a:r>
              <a:rPr sz="1100">
                <a:solidFill>
                  <a:srgbClr val="D4D4D4"/>
                </a:solidFill>
                <a:latin typeface="Consolas"/>
              </a:rPr>
              <a:t>(*args, **kwargs):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CE9178"/>
                </a:solidFill>
                <a:latin typeface="Consolas"/>
              </a:rPr>
              <a:t>f"calling {fn.__name__}"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fn(*args, **kwargs)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wrapper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DCDCAA"/>
                </a:solidFill>
                <a:latin typeface="Consolas"/>
              </a:rPr>
              <a:t>@deco</a:t>
            </a: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square</a:t>
            </a:r>
            <a:r>
              <a:rPr sz="1100">
                <a:solidFill>
                  <a:srgbClr val="D4D4D4"/>
                </a:solidFill>
                <a:latin typeface="Consolas"/>
              </a:rPr>
              <a:t>(x: int) -&gt; int: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return</a:t>
            </a:r>
            <a:r>
              <a:rPr sz="1100">
                <a:solidFill>
                  <a:srgbClr val="D4D4D4"/>
                </a:solidFill>
                <a:latin typeface="Consolas"/>
              </a:rPr>
              <a:t> x * x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DCDCAA"/>
                </a:solidFill>
                <a:latin typeface="Consolas"/>
              </a:rPr>
              <a:t>@contextmanager</a:t>
            </a: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FC1FF"/>
                </a:solidFill>
                <a:latin typeface="Consolas"/>
              </a:rPr>
              <a:t>timer</a:t>
            </a:r>
            <a:r>
              <a:rPr sz="1100">
                <a:solidFill>
                  <a:srgbClr val="D4D4D4"/>
                </a:solidFill>
                <a:latin typeface="Consolas"/>
              </a:rPr>
              <a:t>():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import</a:t>
            </a:r>
            <a:r>
              <a:rPr sz="1100">
                <a:solidFill>
                  <a:srgbClr val="D4D4D4"/>
                </a:solidFill>
                <a:latin typeface="Consolas"/>
              </a:rPr>
              <a:t> time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t0 = time.perf_counter()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try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C586C0"/>
                </a:solidFill>
                <a:latin typeface="Consolas"/>
              </a:rPr>
              <a:t>yield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finally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dt = time.perf_counter() - t0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CE9178"/>
                </a:solidFill>
                <a:latin typeface="Consolas"/>
              </a:rPr>
              <a:t>f"elapsed: {dt:.6f}s"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  <a:p>
            <a:endParaRPr sz="1100">
              <a:solidFill>
                <a:srgbClr val="D4D4D4"/>
              </a:solidFill>
              <a:latin typeface="Consolas"/>
            </a:endParaRPr>
          </a:p>
          <a:p>
            <a:r>
              <a:rPr sz="1100">
                <a:solidFill>
                  <a:srgbClr val="C586C0"/>
                </a:solidFill>
                <a:latin typeface="Consolas"/>
              </a:rPr>
              <a:t>if</a:t>
            </a:r>
            <a:r>
              <a:rPr sz="1100">
                <a:solidFill>
                  <a:srgbClr val="D4D4D4"/>
                </a:solidFill>
                <a:latin typeface="Consolas"/>
              </a:rPr>
              <a:t> __name__ == </a:t>
            </a:r>
            <a:r>
              <a:rPr sz="1100">
                <a:solidFill>
                  <a:srgbClr val="CE9178"/>
                </a:solidFill>
                <a:latin typeface="Consolas"/>
              </a:rPr>
              <a:t>"__main__"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with</a:t>
            </a:r>
            <a:r>
              <a:rPr sz="1100">
                <a:solidFill>
                  <a:srgbClr val="D4D4D4"/>
                </a:solidFill>
                <a:latin typeface="Consolas"/>
              </a:rPr>
              <a:t> timer():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DCDCAA"/>
                </a:solidFill>
                <a:latin typeface="Consolas"/>
              </a:rPr>
              <a:t>print</a:t>
            </a:r>
            <a:r>
              <a:rPr sz="1100">
                <a:solidFill>
                  <a:srgbClr val="D4D4D4"/>
                </a:solidFill>
                <a:latin typeface="Consolas"/>
              </a:rPr>
              <a:t>(square(</a:t>
            </a:r>
            <a:r>
              <a:rPr sz="1100">
                <a:solidFill>
                  <a:srgbClr val="B5CEA8"/>
                </a:solidFill>
                <a:latin typeface="Consolas"/>
              </a:rPr>
              <a:t>12</a:t>
            </a:r>
            <a:r>
              <a:rPr sz="1100">
                <a:solidFill>
                  <a:srgbClr val="D4D4D4"/>
                </a:solidFill>
                <a:latin typeface="Consolas"/>
              </a:rPr>
              <a:t>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417</Words>
  <Application>Microsoft Macintosh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Format Python Code Blocks - Ground Truth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2025-09-22T19:33:49Z</dcterms:modified>
  <cp:category/>
</cp:coreProperties>
</file>
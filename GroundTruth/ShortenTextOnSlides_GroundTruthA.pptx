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5" r:id="rId1"/>
  </p:sldMasterIdLst>
  <p:sldIdLst>
    <p:sldId id="257" r:id="rId2"/>
    <p:sldId id="259" r:id="rId3"/>
    <p:sldId id="260" r:id="rId4"/>
    <p:sldId id="265" r:id="rId5"/>
    <p:sldId id="266" r:id="rId6"/>
    <p:sldId id="267" r:id="rId7"/>
    <p:sldId id="268" r:id="rId8"/>
    <p:sldId id="269" r:id="rId9"/>
    <p:sldId id="262" r:id="rId10"/>
    <p:sldId id="271" r:id="rId11"/>
    <p:sldId id="272" r:id="rId12"/>
    <p:sldId id="270" r:id="rId13"/>
    <p:sldId id="273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69" d="100"/>
          <a:sy n="69" d="100"/>
        </p:scale>
        <p:origin x="6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517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62738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9433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10/25/2022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758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10/25/2022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4919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10/25/2022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7636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10/25/2022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78379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10/25/2022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6343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99965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576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407731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46784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58169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45740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10/25/2022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30063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424112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0372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  <p:sldLayoutId id="2147483699" r:id="rId14"/>
    <p:sldLayoutId id="2147483700" r:id="rId15"/>
    <p:sldLayoutId id="214748370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C7D1C79-5700-4041-AFBF-07B22620DE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3" y="-252486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813" y="1683333"/>
            <a:ext cx="10058400" cy="2300970"/>
          </a:xfrm>
        </p:spPr>
        <p:txBody>
          <a:bodyPr>
            <a:normAutofit/>
          </a:bodyPr>
          <a:lstStyle/>
          <a:p>
            <a:r>
              <a:t>Strengthening BUMDes governance to improve community welfare.</a:t>
            </a:r>
            <a:endParaRPr lang="en-US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4716" y="4181262"/>
            <a:ext cx="10271464" cy="1370787"/>
          </a:xfrm>
        </p:spPr>
        <p:txBody>
          <a:bodyPr>
            <a:normAutofit fontScale="70000" lnSpcReduction="20000"/>
          </a:bodyPr>
          <a:lstStyle/>
          <a:p>
            <a:pPr marL="0" indent="0" algn="ctr">
              <a:buNone/>
            </a:pPr>
            <a:r>
              <a:t>Authors: Sriyono, Adi Soeprapto, Simon Pulung Nugroho.</a:t>
            </a:r>
          </a:p>
          <a:p>
            <a:pPr marL="0" indent="0" algn="ctr">
              <a:buNone/>
            </a:pPr>
            <a:r>
              <a:t>FEB UPN 'Veteran' Yogyakarta, Indonesia.</a:t>
            </a:r>
          </a:p>
          <a:p>
            <a:pPr marL="0" indent="0" algn="ctr">
              <a:buNone/>
            </a:pPr>
            <a:r>
              <a:t>Dept. of Business Administration, UPN 'Veteran' Yogyakarta, Indonesia.</a:t>
            </a:r>
            <a:endParaRPr lang="en-US" sz="23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ctr">
              <a:buNone/>
            </a:pPr>
            <a:r>
              <a:t>Dept. of Informatics Engineering, UPN 'Veteran' Yogyakarta, Indonesia.</a:t>
            </a:r>
            <a:endParaRPr lang="en-US" sz="23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344" y="495064"/>
            <a:ext cx="8596668" cy="668784"/>
          </a:xfrm>
        </p:spPr>
        <p:txBody>
          <a:bodyPr>
            <a:normAutofit/>
          </a:bodyPr>
          <a:lstStyle/>
          <a:p>
            <a:r>
              <a:rPr lang="en-GB" sz="3200" b="1" dirty="0"/>
              <a:t>INTRODUCTION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2344" y="1190393"/>
            <a:ext cx="9558619" cy="4477214"/>
          </a:xfrm>
        </p:spPr>
        <p:txBody>
          <a:bodyPr>
            <a:noAutofit/>
          </a:bodyPr>
          <a:lstStyle/>
          <a:p>
            <a:r>
              <a:t>The government funds villages to support independent development and BUMDes growth.</a:t>
            </a:r>
          </a:p>
          <a:p>
            <a:r>
              <a:t>BUMDes are village-run enterprises that address local problems and improve welfare by using village potential.</a:t>
            </a:r>
          </a:p>
          <a:p>
            <a:r>
              <a:t>The policy is promising, but many communities are not ready to run BUMDes effectively.</a:t>
            </a:r>
          </a:p>
          <a:p>
            <a:r>
              <a:t>BUMDes numbers exceeded targets, but revenue contribution is low; many stalled during the pandemic.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698" y="331029"/>
            <a:ext cx="8596668" cy="668784"/>
          </a:xfrm>
        </p:spPr>
        <p:txBody>
          <a:bodyPr>
            <a:normAutofit/>
          </a:bodyPr>
          <a:lstStyle/>
          <a:p>
            <a:r>
              <a:rPr lang="en-GB" sz="3200" b="1" dirty="0"/>
              <a:t>INTRODUCTION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9698" y="1179519"/>
            <a:ext cx="9818702" cy="4178066"/>
          </a:xfrm>
        </p:spPr>
        <p:txBody>
          <a:bodyPr>
            <a:noAutofit/>
          </a:bodyPr>
          <a:lstStyle/>
          <a:p>
            <a:r>
              <a:t>Key challenges in BUMDes development include readiness, governance, and fit with village potential.</a:t>
            </a:r>
          </a:p>
          <a:p>
            <a:pPr marL="803275" indent="-457200">
              <a:buSzPct val="100000"/>
              <a:buFont typeface="+mj-lt"/>
              <a:buAutoNum type="arabicPeriod"/>
            </a:pPr>
            <a:r>
              <a:t>By 2019 thousands were inactive; in 2021 about 27,000 of 57,273 were suspended.</a:t>
            </a:r>
          </a:p>
          <a:p>
            <a:pPr marL="803275" indent="-457200">
              <a:buSzPct val="100000"/>
              <a:buFont typeface="+mj-lt"/>
              <a:buAutoNum type="arabicPeriod"/>
            </a:pPr>
            <a:r>
              <a:t>Stalls stem from misaligned business fields, weak governance, unqualified managers, and risks of abuse.</a:t>
            </a:r>
          </a:p>
        </p:txBody>
      </p:sp>
    </p:spTree>
    <p:extLst>
      <p:ext uri="{BB962C8B-B14F-4D97-AF65-F5344CB8AC3E}">
        <p14:creationId xmlns:p14="http://schemas.microsoft.com/office/powerpoint/2010/main" val="2292148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86540"/>
          </a:xfrm>
        </p:spPr>
        <p:txBody>
          <a:bodyPr/>
          <a:lstStyle/>
          <a:p>
            <a:r>
              <a:rPr lang="en-GB" b="1" dirty="0"/>
              <a:t>LITERATURE REVIEW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216241"/>
            <a:ext cx="9736173" cy="4829452"/>
          </a:xfrm>
        </p:spPr>
        <p:txBody>
          <a:bodyPr/>
          <a:lstStyle/>
          <a:p>
            <a:pPr marL="342900" lvl="1" indent="-342900"/>
            <a:r>
              <a:rPr lang="en-US" sz="2800" b="1" dirty="0"/>
              <a:t>Resource Based View </a:t>
            </a:r>
          </a:p>
          <a:p>
            <a:pPr marL="630238" lvl="1" indent="-284163">
              <a:buFont typeface="Wingdings" panose="05000000000000000000" pitchFamily="2" charset="2"/>
              <a:buChar char="§"/>
            </a:pPr>
            <a:r>
              <a:t>RBV: Villages need valuable, rare, inimitable, and non-substitutable resources; advantage comes from social, human, and financial capital.</a:t>
            </a:r>
          </a:p>
          <a:p>
            <a:pPr marL="346075" lvl="1" indent="0"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092034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86540"/>
          </a:xfrm>
        </p:spPr>
        <p:txBody>
          <a:bodyPr/>
          <a:lstStyle/>
          <a:p>
            <a:r>
              <a:rPr lang="en-GB" b="1" dirty="0"/>
              <a:t>LITERATURE REVIEW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216241"/>
            <a:ext cx="9736173" cy="4829452"/>
          </a:xfrm>
        </p:spPr>
        <p:txBody>
          <a:bodyPr>
            <a:normAutofit lnSpcReduction="10000"/>
          </a:bodyPr>
          <a:lstStyle/>
          <a:p>
            <a:pPr marL="342900" lvl="1" indent="-342900"/>
            <a:r>
              <a:rPr lang="en-US" sz="2800" b="1" dirty="0"/>
              <a:t>Contingency Theory </a:t>
            </a:r>
          </a:p>
          <a:p>
            <a:pPr marL="630238" lvl="1" indent="-284163">
              <a:buFont typeface="Wingdings" panose="05000000000000000000" pitchFamily="2" charset="2"/>
              <a:buChar char="§"/>
            </a:pPr>
            <a:r>
              <a:t>Contingency theory: there is no single best design; effectiveness depends on context.</a:t>
            </a:r>
          </a:p>
          <a:p>
            <a:pPr marL="630238" lvl="1" indent="-284163">
              <a:buFont typeface="Wingdings" panose="05000000000000000000" pitchFamily="2" charset="2"/>
              <a:buChar char="§"/>
            </a:pPr>
            <a:r>
              <a:t>Controls must fit internal/external conditions and stakeholder interactions; context shapes management decisions.</a:t>
            </a:r>
            <a:endParaRPr lang="en-US" sz="2200" b="1" dirty="0"/>
          </a:p>
        </p:txBody>
      </p:sp>
    </p:spTree>
    <p:extLst>
      <p:ext uri="{BB962C8B-B14F-4D97-AF65-F5344CB8AC3E}">
        <p14:creationId xmlns:p14="http://schemas.microsoft.com/office/powerpoint/2010/main" val="23842688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86540"/>
          </a:xfrm>
        </p:spPr>
        <p:txBody>
          <a:bodyPr/>
          <a:lstStyle/>
          <a:p>
            <a:r>
              <a:rPr lang="en-GB" b="1" dirty="0"/>
              <a:t>LITERATURE REVIEW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216241"/>
            <a:ext cx="9736173" cy="4829452"/>
          </a:xfrm>
        </p:spPr>
        <p:txBody>
          <a:bodyPr>
            <a:normAutofit lnSpcReduction="10000"/>
          </a:bodyPr>
          <a:lstStyle/>
          <a:p>
            <a:pPr marL="342900" lvl="1" indent="-342900"/>
            <a:r>
              <a:rPr lang="en-US" sz="2800" b="1" dirty="0"/>
              <a:t>Community Development</a:t>
            </a:r>
          </a:p>
          <a:p>
            <a:pPr marL="630238" lvl="1" indent="-284163">
              <a:buFont typeface="Wingdings" panose="05000000000000000000" pitchFamily="2" charset="2"/>
              <a:buChar char="§"/>
            </a:pPr>
            <a:r>
              <a:t>Empowerment builds independence through advocacy, organizing, networks, capacity building, and education.</a:t>
            </a:r>
          </a:p>
          <a:p>
            <a:pPr marL="630238" lvl="1" indent="-284163">
              <a:buFont typeface="Wingdings" panose="05000000000000000000" pitchFamily="2" charset="2"/>
              <a:buChar char="§"/>
            </a:pPr>
            <a:r>
              <a:t>Empowerment varies by local needs; people act and join decisions based on context.</a:t>
            </a:r>
          </a:p>
        </p:txBody>
      </p:sp>
    </p:spTree>
    <p:extLst>
      <p:ext uri="{BB962C8B-B14F-4D97-AF65-F5344CB8AC3E}">
        <p14:creationId xmlns:p14="http://schemas.microsoft.com/office/powerpoint/2010/main" val="23508984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25767"/>
            <a:ext cx="8596668" cy="686540"/>
          </a:xfrm>
        </p:spPr>
        <p:txBody>
          <a:bodyPr/>
          <a:lstStyle/>
          <a:p>
            <a:r>
              <a:rPr lang="en-GB" b="1" dirty="0"/>
              <a:t>LITERATURE REVIEW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014273"/>
            <a:ext cx="9736173" cy="5511217"/>
          </a:xfrm>
        </p:spPr>
        <p:txBody>
          <a:bodyPr>
            <a:normAutofit lnSpcReduction="10000"/>
          </a:bodyPr>
          <a:lstStyle/>
          <a:p>
            <a:pPr marL="342900" lvl="1" indent="-342900"/>
            <a:r>
              <a:rPr lang="en-US" sz="2800" b="1" dirty="0"/>
              <a:t>Stakeholder Theory </a:t>
            </a:r>
          </a:p>
          <a:p>
            <a:pPr marL="630238" lvl="1" indent="-284163">
              <a:buFont typeface="Wingdings" panose="05000000000000000000" pitchFamily="2" charset="2"/>
              <a:buChar char="§"/>
            </a:pPr>
            <a:r>
              <a:t>Stakeholders are those who affect or are affected by the organization.</a:t>
            </a:r>
          </a:p>
          <a:p>
            <a:pPr marL="630238" lvl="1" indent="-284163">
              <a:buFont typeface="Wingdings" panose="05000000000000000000" pitchFamily="2" charset="2"/>
              <a:buChar char="§"/>
            </a:pPr>
            <a:r>
              <a:t>Stakeholders include internal, connected, and external groups.</a:t>
            </a:r>
          </a:p>
          <a:p>
            <a:pPr marL="630238" lvl="1" indent="-284163">
              <a:buFont typeface="Wingdings" panose="05000000000000000000" pitchFamily="2" charset="2"/>
              <a:buChar char="§"/>
            </a:pPr>
            <a:r>
              <a:t>Treating stakeholders well prompts supportive behaviors like sharing information, buying more, and loyalty.</a:t>
            </a:r>
            <a:endParaRPr lang="en-US" sz="2200" b="1" dirty="0"/>
          </a:p>
        </p:txBody>
      </p:sp>
    </p:spTree>
    <p:extLst>
      <p:ext uri="{BB962C8B-B14F-4D97-AF65-F5344CB8AC3E}">
        <p14:creationId xmlns:p14="http://schemas.microsoft.com/office/powerpoint/2010/main" val="28280228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86540"/>
          </a:xfrm>
        </p:spPr>
        <p:txBody>
          <a:bodyPr/>
          <a:lstStyle/>
          <a:p>
            <a:r>
              <a:rPr lang="en-GB" b="1" dirty="0"/>
              <a:t>LITERATURE REVIEW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216241"/>
            <a:ext cx="9736173" cy="4829452"/>
          </a:xfrm>
        </p:spPr>
        <p:txBody>
          <a:bodyPr/>
          <a:lstStyle/>
          <a:p>
            <a:pPr marL="342900" lvl="1" indent="-342900"/>
            <a:r>
              <a:rPr lang="en-US" sz="2800" b="1" dirty="0"/>
              <a:t>Accounting Systems and Procedures</a:t>
            </a:r>
          </a:p>
          <a:p>
            <a:pPr marL="630238" lvl="1" indent="-284163">
              <a:buFont typeface="Wingdings" panose="05000000000000000000" pitchFamily="2" charset="2"/>
              <a:buChar char="§"/>
            </a:pPr>
            <a:r>
              <a:t>Accounting control systems safeguard assets, ensure policy compliance, and improve data reliability and efficiency.</a:t>
            </a:r>
          </a:p>
          <a:p>
            <a:pPr marL="630238" lvl="1" indent="-284163">
              <a:buFont typeface="Wingdings" panose="05000000000000000000" pitchFamily="2" charset="2"/>
              <a:buChar char="§"/>
            </a:pPr>
            <a:r>
              <a:t>Controls use structure, methods, and measures to produce reliable reports, reduce fraud, and meet goals.</a:t>
            </a:r>
            <a:endParaRPr lang="en-US" sz="2200" b="1" dirty="0"/>
          </a:p>
        </p:txBody>
      </p:sp>
    </p:spTree>
    <p:extLst>
      <p:ext uri="{BB962C8B-B14F-4D97-AF65-F5344CB8AC3E}">
        <p14:creationId xmlns:p14="http://schemas.microsoft.com/office/powerpoint/2010/main" val="29973714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15518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RESEARCH METHODS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7352" y="1225118"/>
            <a:ext cx="9712171" cy="4843173"/>
          </a:xfrm>
        </p:spPr>
        <p:txBody>
          <a:bodyPr>
            <a:noAutofit/>
          </a:bodyPr>
          <a:lstStyle/>
          <a:p>
            <a:r>
              <a:t>Method: descriptive analysis of collected data without broad generalization.</a:t>
            </a:r>
          </a:p>
          <a:p>
            <a:r>
              <a:t>Content analysis codes and categorizes data to identify themes and summarize information.</a:t>
            </a:r>
          </a:p>
          <a:p>
            <a:r>
              <a:t>Validity is supported by member checking and source triangulation.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279620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698" y="123211"/>
            <a:ext cx="8596668" cy="668784"/>
          </a:xfrm>
        </p:spPr>
        <p:txBody>
          <a:bodyPr>
            <a:normAutofit/>
          </a:bodyPr>
          <a:lstStyle/>
          <a:p>
            <a:r>
              <a:rPr lang="en-GB" sz="3200" b="1" dirty="0"/>
              <a:t>FINDINGS AND DISCUSSION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9698" y="694610"/>
            <a:ext cx="9818702" cy="4178066"/>
          </a:xfrm>
        </p:spPr>
        <p:txBody>
          <a:bodyPr>
            <a:noAutofit/>
          </a:bodyPr>
          <a:lstStyle/>
          <a:p>
            <a:r>
              <a:t>Key findings for BUMDes 'SDM':</a:t>
            </a:r>
          </a:p>
          <a:p>
            <a:pPr marL="803275" indent="-457200">
              <a:buSzPct val="100000"/>
              <a:buFont typeface="+mj-lt"/>
              <a:buAutoNum type="arabicPeriod"/>
            </a:pPr>
            <a:r>
              <a:t>In 2021, managers and UPN created an HR master plan to guide activities.</a:t>
            </a:r>
            <a:endParaRPr lang="en-ID" sz="2200" dirty="0"/>
          </a:p>
          <a:p>
            <a:pPr marL="803275" indent="-457200">
              <a:buSzPct val="100000"/>
              <a:buFont typeface="+mj-lt"/>
              <a:buAutoNum type="arabicPeriod"/>
            </a:pPr>
            <a:r>
              <a:t>Strategic planning helps BUMDes be proactive; clear vision, mission, goals are required.</a:t>
            </a:r>
          </a:p>
          <a:p>
            <a:pPr marL="803275" indent="-457200">
              <a:buSzPct val="100000"/>
              <a:buFont typeface="+mj-lt"/>
              <a:buAutoNum type="arabicPeriod"/>
            </a:pPr>
            <a:r>
              <a:t>Many residents lack working capital to grow their businesses.</a:t>
            </a:r>
          </a:p>
        </p:txBody>
      </p:sp>
    </p:spTree>
    <p:extLst>
      <p:ext uri="{BB962C8B-B14F-4D97-AF65-F5344CB8AC3E}">
        <p14:creationId xmlns:p14="http://schemas.microsoft.com/office/powerpoint/2010/main" val="18506798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698" y="123211"/>
            <a:ext cx="8596668" cy="668784"/>
          </a:xfrm>
        </p:spPr>
        <p:txBody>
          <a:bodyPr>
            <a:normAutofit/>
          </a:bodyPr>
          <a:lstStyle/>
          <a:p>
            <a:r>
              <a:rPr lang="en-GB" sz="3200" b="1" dirty="0"/>
              <a:t>FINDINGS AND DISCUSSION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9698" y="694610"/>
            <a:ext cx="9818702" cy="4178066"/>
          </a:xfrm>
        </p:spPr>
        <p:txBody>
          <a:bodyPr>
            <a:noAutofit/>
          </a:bodyPr>
          <a:lstStyle/>
          <a:p>
            <a:r>
              <a:t>Key findings for BUMDes 'SDM':</a:t>
            </a:r>
          </a:p>
          <a:p>
            <a:pPr marL="803275" indent="-457200">
              <a:buSzPct val="100000"/>
              <a:buFont typeface="+mj-lt"/>
              <a:buAutoNum type="arabicPeriod" startAt="4"/>
            </a:pPr>
            <a:r>
              <a:t>Loan sharks spread; BUMDes responded with intensive strategies.</a:t>
            </a:r>
          </a:p>
          <a:p>
            <a:pPr marL="803275" indent="-457200">
              <a:buSzPct val="100000"/>
              <a:buFont typeface="+mj-lt"/>
              <a:buAutoNum type="arabicPeriod" startAt="4"/>
            </a:pPr>
            <a:r>
              <a:t>They launched a Financial Services unit offering savings and loans to serve the community.</a:t>
            </a:r>
          </a:p>
          <a:p>
            <a:pPr marL="803275" indent="-457200">
              <a:buSzPct val="100000"/>
              <a:buFont typeface="+mj-lt"/>
              <a:buAutoNum type="arabicPeriod" startAt="4"/>
            </a:pPr>
            <a:r>
              <a:t>Good governance and strong stakeholder relations are needed to improve performance and competitiveness.</a:t>
            </a:r>
          </a:p>
          <a:p>
            <a:pPr marL="803275" indent="-457200">
              <a:buSzPct val="100000"/>
              <a:buFont typeface="+mj-lt"/>
              <a:buAutoNum type="arabicPeriod" startAt="4"/>
            </a:pPr>
            <a:r>
              <a:t>Required infrastructure: accounting systems, SOPs, and an integrated information system.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9096728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7352" y="290945"/>
            <a:ext cx="8596668" cy="615518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CONCLUSION AND IMPLICATION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7352" y="1225118"/>
            <a:ext cx="9712171" cy="4843173"/>
          </a:xfrm>
        </p:spPr>
        <p:txBody>
          <a:bodyPr>
            <a:noAutofit/>
          </a:bodyPr>
          <a:lstStyle/>
          <a:p>
            <a:r>
              <a:t>BUMDes 'SDM' lacks accounting systems, SOPs, and an integrated information system to support GCG.</a:t>
            </a:r>
          </a:p>
          <a:p>
            <a:r>
              <a:t>They should build accounting and information systems tailored to the organization to ensure transparency and accountability.</a:t>
            </a:r>
          </a:p>
          <a:p>
            <a:r>
              <a:t>Validity is supported by member checking and source triangulation.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4429431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C7D1C79-5700-4041-AFBF-07B22620DE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3" y="-252486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9395" y="2376060"/>
            <a:ext cx="8845332" cy="1378522"/>
          </a:xfrm>
        </p:spPr>
        <p:txBody>
          <a:bodyPr>
            <a:normAutofit/>
          </a:bodyPr>
          <a:lstStyle/>
          <a:p>
            <a:pPr algn="ctr"/>
            <a:r>
              <a:rPr lang="en-ID" sz="8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</a:t>
            </a:r>
            <a:endParaRPr lang="en-US" sz="8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7506745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154</TotalTime>
  <Words>1690</Words>
  <Application>Microsoft Office PowerPoint</Application>
  <PresentationFormat>Widescreen</PresentationFormat>
  <Paragraphs>54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Trebuchet MS</vt:lpstr>
      <vt:lpstr>Wingdings</vt:lpstr>
      <vt:lpstr>Wingdings 3</vt:lpstr>
      <vt:lpstr>Facet</vt:lpstr>
      <vt:lpstr>Development of Village Owned Enterprise Governance in Order  to Improve Community Welfare</vt:lpstr>
      <vt:lpstr>INTRODUCTION</vt:lpstr>
      <vt:lpstr>INTRODUCTION</vt:lpstr>
      <vt:lpstr>LITERATURE REVIEW</vt:lpstr>
      <vt:lpstr>LITERATURE REVIEW</vt:lpstr>
      <vt:lpstr>LITERATURE REVIEW</vt:lpstr>
      <vt:lpstr>LITERATURE REVIEW</vt:lpstr>
      <vt:lpstr>LITERATURE REVIEW</vt:lpstr>
      <vt:lpstr>RESEARCH METHODS</vt:lpstr>
      <vt:lpstr>FINDINGS AND DISCUSSION</vt:lpstr>
      <vt:lpstr>FINDINGS AND DISCUSSION</vt:lpstr>
      <vt:lpstr>CONCLUSION AND IMPLICATION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Development of Village Owned Enterprise Governance in Order  to Improve Community Welfare</dc:title>
  <dc:creator>Adi Soepra</dc:creator>
  <cp:lastModifiedBy>Adi Soepra</cp:lastModifiedBy>
  <cp:revision>12</cp:revision>
  <dcterms:created xsi:type="dcterms:W3CDTF">2022-10-25T02:52:55Z</dcterms:created>
  <dcterms:modified xsi:type="dcterms:W3CDTF">2022-10-25T05:26:57Z</dcterms:modified>
</cp:coreProperties>
</file>
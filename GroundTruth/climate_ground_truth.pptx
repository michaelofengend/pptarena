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F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5"/>
    <p:restoredTop sz="94649"/>
  </p:normalViewPr>
  <p:slideViewPr>
    <p:cSldViewPr snapToGrid="0" snapToObjects="1">
      <p:cViewPr>
        <p:scale>
          <a:sx n="98" d="100"/>
          <a:sy n="98" d="100"/>
        </p:scale>
        <p:origin x="2168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Global Avg Temp (°C)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1991–2020 Avg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14.38</c:v>
                </c:pt>
                <c:pt idx="1">
                  <c:v>14.98</c:v>
                </c:pt>
                <c:pt idx="2">
                  <c:v>15.1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5F-244D-82DA-5162F0AED4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333333"/>
                </a:solidFill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333333"/>
                </a:solidFill>
                <a:latin typeface="Calibr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limate.copernicus.eu/copernicus-2024-first-year-exceed-15degc-above-pre-industrial-level#:~:text=2024%20is%20confirmed%20by%20the,temperatures%20observed%20during%20the%20year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climate.copernicus.eu/copernicus-2024-first-year-exceed-15degc-above-pre-industrial-level#:~:text=Global%20surface%20air%20temperature%20highlights%3A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hyperlink" Target="https://climate.copernicus.eu/copernicus-2024-first-year-exceed-15degc-above-pre-industrial-level#:~:text=According%20to%20ERA5%20,industrial%20level" TargetMode="Externa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limate.copernicus.eu/copernicus-2024-first-year-exceed-15degc-above-pre-industrial-level#:~:text=,DOWNLOAD%20DATA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climate.copernicus.eu/copernicus-2024-first-year-exceed-15degc-above-pre-industrial-level#:~:text=Carlo%20Buontempo%2C%20Director%20of%20the,%E2%80%9D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limate.copernicus.eu/copernicus-2024-first-year-exceed-15degc-above-pre-industrial-level#:~:text=Carlo%20Buontempo%2C%20Director%20of%20the,%E2%80%9D" TargetMode="External"/><Relationship Id="rId7" Type="http://schemas.openxmlformats.org/officeDocument/2006/relationships/hyperlink" Target="https://climate.copernicus.eu/copernicus-2024-first-year-exceed-15degc-above-pre-industrial-level#:~:text=2024%20is%20confirmed%20by%20the,temperatures%20observed%20during%20the%20year" TargetMode="External"/><Relationship Id="rId2" Type="http://schemas.openxmlformats.org/officeDocument/2006/relationships/hyperlink" Target="https://climate.copernicus.eu/copernicus-2024-first-year-exceed-15degc-above-pre-industrial-level#:~:text=,DOWNLOAD%20DATA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limate.copernicus.eu/copernicus-2024-first-year-exceed-15degc-above-pre-industrial-level#:~:text=July%202024%2C%20at%2017" TargetMode="External"/><Relationship Id="rId5" Type="http://schemas.openxmlformats.org/officeDocument/2006/relationships/hyperlink" Target="https://climate.copernicus.eu/copernicus-2024-first-year-exceed-15degc-above-pre-industrial-level#:~:text=According%20to%20ERA5%20,industrial%20level" TargetMode="External"/><Relationship Id="rId4" Type="http://schemas.openxmlformats.org/officeDocument/2006/relationships/hyperlink" Target="https://climate.copernicus.eu/copernicus-2024-first-year-exceed-15degc-above-pre-industrial-level#:~:text=Global%20surface%20air%20temperature%20highlights%3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3366"/>
                </a:solidFill>
                <a:latin typeface="Calibri"/>
              </a:rPr>
              <a:t>2024 Global Climate Highlights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333333"/>
                </a:solidFill>
                <a:latin typeface="Calibri"/>
              </a:rPr>
              <a:t>Copernicus Climate Change Service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537960"/>
            <a:ext cx="8229600" cy="1371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6537960"/>
            <a:ext cx="1175657" cy="137160"/>
          </a:xfrm>
          <a:prstGeom prst="rect">
            <a:avLst/>
          </a:prstGeom>
          <a:solidFill>
            <a:srgbClr val="E26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366"/>
                </a:solidFill>
                <a:latin typeface="Calibri"/>
              </a:rP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rPr dirty="0">
                <a:solidFill>
                  <a:srgbClr val="333333"/>
                </a:solidFill>
                <a:latin typeface="Calibri"/>
              </a:rPr>
              <a:t>In 2024, global surface temperatures reached unprecedented levels, exceeding 1.5°C above the pre-industrial baseline. The Copernicus Climate Change Service reported that 2024 was not only the warmest year on record but also the first calendar year to surpass the 1.5°C threshold. Human-induced climate change is the primary driver of these extreme temperatures, with phenomena like El Niño adding variability.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endParaRPr dirty="0"/>
          </a:p>
          <a:p>
            <a:r>
              <a:rPr dirty="0">
                <a:solidFill>
                  <a:srgbClr val="333333"/>
                </a:solidFill>
                <a:latin typeface="Calibri"/>
                <a:hlinkClick r:id="rId2"/>
              </a:rPr>
              <a:t>[1]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37960"/>
            <a:ext cx="8229600" cy="1371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6537960"/>
            <a:ext cx="2351314" cy="137160"/>
          </a:xfrm>
          <a:prstGeom prst="rect">
            <a:avLst/>
          </a:prstGeom>
          <a:solidFill>
            <a:srgbClr val="E26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366"/>
                </a:solidFill>
                <a:latin typeface="Calibri"/>
              </a:rPr>
              <a:t>2024 Climate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400"/>
            </a:pPr>
            <a:r>
              <a:rPr dirty="0">
                <a:solidFill>
                  <a:srgbClr val="333333"/>
                </a:solidFill>
                <a:latin typeface="Calibri"/>
              </a:rPr>
              <a:t>2024 recorded a global average temperature of 15.10°C, which is 0.72°C above the 1991–2020 average and 0.12°C warmer than 2023.</a:t>
            </a:r>
          </a:p>
          <a:p>
            <a:pPr>
              <a:defRPr sz="1400"/>
            </a:pPr>
            <a:r>
              <a:rPr dirty="0">
                <a:solidFill>
                  <a:srgbClr val="333333"/>
                </a:solidFill>
                <a:latin typeface="Calibri"/>
              </a:rPr>
              <a:t>2024 is the first calendar year to exceed 1.5°C above pre-industrial levels.</a:t>
            </a:r>
          </a:p>
          <a:p>
            <a:pPr>
              <a:defRPr sz="1400"/>
            </a:pPr>
            <a:r>
              <a:rPr dirty="0">
                <a:solidFill>
                  <a:srgbClr val="333333"/>
                </a:solidFill>
                <a:latin typeface="Calibri"/>
              </a:rPr>
              <a:t>Each year from 2015 to 2024 ranks among the ten warmest years on record.</a:t>
            </a:r>
          </a:p>
          <a:p>
            <a:pPr>
              <a:defRPr sz="1400"/>
            </a:pPr>
            <a:r>
              <a:rPr dirty="0">
                <a:solidFill>
                  <a:srgbClr val="333333"/>
                </a:solidFill>
                <a:latin typeface="Calibri"/>
              </a:rPr>
              <a:t>Monthly global temperatures exceeded 1.5°C for 11 months, with a record daily high of 17.16°C on July 22, 2024.</a:t>
            </a:r>
          </a:p>
          <a:p>
            <a:pPr>
              <a:defRPr sz="1400"/>
            </a:pPr>
            <a:r>
              <a:rPr dirty="0">
                <a:solidFill>
                  <a:srgbClr val="333333"/>
                </a:solidFill>
                <a:latin typeface="Calibri"/>
              </a:rPr>
              <a:t>2024 was the warmest year for almost all continental regions, except Antarctica and Australasia.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800"/>
            </a:pPr>
            <a:r>
              <a:rPr dirty="0">
                <a:solidFill>
                  <a:srgbClr val="333333"/>
                </a:solidFill>
                <a:latin typeface="Calibri"/>
                <a:hlinkClick r:id="rId2"/>
              </a:rPr>
              <a:t>[2] [3]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37960"/>
            <a:ext cx="8229600" cy="1371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6537960"/>
            <a:ext cx="3526971" cy="137160"/>
          </a:xfrm>
          <a:prstGeom prst="rect">
            <a:avLst/>
          </a:prstGeom>
          <a:solidFill>
            <a:srgbClr val="E26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solidFill>
                  <a:srgbClr val="003366"/>
                </a:solidFill>
                <a:latin typeface="Calibri"/>
              </a:rPr>
              <a:t>Global Average Temperature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424107"/>
            <a:ext cx="274320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200"/>
            </a:pPr>
            <a:r>
              <a:rPr dirty="0">
                <a:solidFill>
                  <a:srgbClr val="333333"/>
                </a:solidFill>
                <a:latin typeface="Calibri"/>
              </a:rPr>
              <a:t>This bar chart compares the 1991–2020 average global surface temperature with the record-breaking years 2023 and 2024. The 2024 bar stands tallest, highlighting the unprecedented warming that exceeded the 1.5°C threshold above pre-industrial levels.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800"/>
            </a:pPr>
            <a:r>
              <a:rPr dirty="0">
                <a:solidFill>
                  <a:srgbClr val="333333"/>
                </a:solidFill>
                <a:latin typeface="Calibri"/>
                <a:hlinkClick r:id="rId2"/>
              </a:rPr>
              <a:t>[4]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371600" y="1371600"/>
          <a:ext cx="4572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6537960"/>
            <a:ext cx="8229600" cy="1371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6537960"/>
            <a:ext cx="4702628" cy="137160"/>
          </a:xfrm>
          <a:prstGeom prst="rect">
            <a:avLst/>
          </a:prstGeom>
          <a:solidFill>
            <a:srgbClr val="E26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366"/>
                </a:solidFill>
                <a:latin typeface="Calibri"/>
              </a:rPr>
              <a:t>Temperature Trends &amp; Anomalies</a:t>
            </a:r>
          </a:p>
        </p:txBody>
      </p:sp>
      <p:pic>
        <p:nvPicPr>
          <p:cNvPr id="4" name="Picture 3" descr="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7023"/>
            <a:ext cx="4363798" cy="2011997"/>
          </a:xfrm>
          <a:prstGeom prst="rect">
            <a:avLst/>
          </a:prstGeom>
          <a:ln w="12700">
            <a:solidFill>
              <a:srgbClr val="666666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029200" y="1600518"/>
            <a:ext cx="40191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solidFill>
                  <a:srgbClr val="333333"/>
                </a:solidFill>
                <a:latin typeface="Calibri"/>
              </a:rPr>
              <a:t>Global surface temperature increase above pre-industrial (ERA5 &amp; other sources).</a:t>
            </a:r>
          </a:p>
        </p:txBody>
      </p:sp>
      <p:pic>
        <p:nvPicPr>
          <p:cNvPr id="6" name="Picture 5" descr="fi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429000"/>
            <a:ext cx="3657600" cy="2743200"/>
          </a:xfrm>
          <a:prstGeom prst="rect">
            <a:avLst/>
          </a:prstGeom>
          <a:ln w="12700">
            <a:solidFill>
              <a:srgbClr val="66666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918850" y="4800600"/>
            <a:ext cx="39021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solidFill>
                  <a:srgbClr val="333333"/>
                </a:solidFill>
                <a:latin typeface="Calibri"/>
              </a:rPr>
              <a:t>Surface air temperature anomalies in 2024 relative to 1991–2020.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2898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800"/>
            </a:pPr>
            <a:r>
              <a:rPr>
                <a:solidFill>
                  <a:srgbClr val="333333"/>
                </a:solidFill>
                <a:latin typeface="Calibri"/>
                <a:hlinkClick r:id="rId4"/>
              </a:rPr>
              <a:t>[5]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537960"/>
            <a:ext cx="8229600" cy="1371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6537960"/>
            <a:ext cx="5878285" cy="137160"/>
          </a:xfrm>
          <a:prstGeom prst="rect">
            <a:avLst/>
          </a:prstGeom>
          <a:solidFill>
            <a:srgbClr val="E26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366"/>
                </a:solidFill>
                <a:latin typeface="Calibri"/>
              </a:rPr>
              <a:t>Conclusions &amp;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400"/>
            </a:pPr>
            <a:r>
              <a:rPr dirty="0">
                <a:solidFill>
                  <a:srgbClr val="333333"/>
                </a:solidFill>
                <a:latin typeface="Calibri"/>
              </a:rPr>
              <a:t>Leading climate scientists warn that the unprecedented warmth of 2024 underscores an urgent need for evidence-based responses. According to Carlo Buontempo, the future is in our hands, and decisive action can alter the trajectory of our climate.</a:t>
            </a:r>
          </a:p>
          <a:p>
            <a:pPr>
              <a:defRPr sz="1400"/>
            </a:pPr>
            <a:r>
              <a:rPr dirty="0">
                <a:solidFill>
                  <a:srgbClr val="333333"/>
                </a:solidFill>
                <a:latin typeface="Calibri"/>
              </a:rPr>
              <a:t>Strategic Lead Samantha Burgess notes that every year in the last decade ranks among the warmest on record, and global temperatures are already above the 1.5°C threshold set by the Paris Agreement.</a:t>
            </a:r>
          </a:p>
          <a:p>
            <a:pPr>
              <a:defRPr sz="1400"/>
            </a:pPr>
            <a:r>
              <a:rPr dirty="0">
                <a:solidFill>
                  <a:srgbClr val="333333"/>
                </a:solidFill>
                <a:latin typeface="Calibri"/>
              </a:rPr>
              <a:t>High temperatures coupled with record atmospheric water </a:t>
            </a:r>
            <a:r>
              <a:rPr dirty="0" err="1">
                <a:solidFill>
                  <a:srgbClr val="333333"/>
                </a:solidFill>
                <a:latin typeface="Calibri"/>
              </a:rPr>
              <a:t>vapour</a:t>
            </a:r>
            <a:r>
              <a:rPr dirty="0">
                <a:solidFill>
                  <a:srgbClr val="333333"/>
                </a:solidFill>
                <a:latin typeface="Calibri"/>
              </a:rPr>
              <a:t> have led to more frequent heatwaves and heavy rainfall, causing adverse impacts on human societies and ecosystems.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800"/>
            </a:pPr>
            <a:r>
              <a:rPr>
                <a:solidFill>
                  <a:srgbClr val="333333"/>
                </a:solidFill>
                <a:latin typeface="Calibri"/>
                <a:hlinkClick r:id="rId2"/>
              </a:rPr>
              <a:t>[6]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37960"/>
            <a:ext cx="8229600" cy="1371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6537960"/>
            <a:ext cx="7053942" cy="137160"/>
          </a:xfrm>
          <a:prstGeom prst="rect">
            <a:avLst/>
          </a:prstGeom>
          <a:solidFill>
            <a:srgbClr val="E26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3366"/>
                </a:solidFill>
                <a:latin typeface="Calibri"/>
              </a:rPr>
              <a:t>Bibliography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200">
                <a:solidFill>
                  <a:srgbClr val="333333"/>
                </a:solidFill>
                <a:latin typeface="Calibri"/>
              </a:defRPr>
            </a:pPr>
            <a:r>
              <a:rPr sz="1600" u="sng" dirty="0">
                <a:solidFill>
                  <a:schemeClr val="accent6"/>
                </a:solidFill>
                <a:hlinkClick r:id="rId2"/>
              </a:rPr>
              <a:t>(climate.copernicus.eu)</a:t>
            </a:r>
          </a:p>
          <a:p>
            <a:pPr>
              <a:defRPr sz="1200">
                <a:solidFill>
                  <a:srgbClr val="333333"/>
                </a:solidFill>
                <a:latin typeface="Calibri"/>
              </a:defRPr>
            </a:pPr>
            <a:r>
              <a:rPr sz="1600" u="sng" dirty="0">
                <a:solidFill>
                  <a:schemeClr val="accent6"/>
                </a:solidFill>
                <a:hlinkClick r:id="rId3"/>
              </a:rPr>
              <a:t>(</a:t>
            </a:r>
            <a:r>
              <a:rPr lang="en-US" sz="1600" u="sng" dirty="0">
                <a:solidFill>
                  <a:schemeClr val="accent6"/>
                </a:solidFill>
                <a:hlinkClick r:id="rId3"/>
              </a:rPr>
              <a:t>https://www.un.org/en/climatechange/what-is-climate-change</a:t>
            </a:r>
            <a:r>
              <a:rPr sz="1600" u="sng" dirty="0">
                <a:solidFill>
                  <a:schemeClr val="accent6"/>
                </a:solidFill>
                <a:hlinkClick r:id="rId3"/>
              </a:rPr>
              <a:t>)</a:t>
            </a:r>
          </a:p>
          <a:p>
            <a:pPr>
              <a:defRPr sz="1200">
                <a:solidFill>
                  <a:srgbClr val="333333"/>
                </a:solidFill>
                <a:latin typeface="Calibri"/>
              </a:defRPr>
            </a:pPr>
            <a:r>
              <a:rPr sz="1600" u="sng" dirty="0">
                <a:solidFill>
                  <a:schemeClr val="accent6"/>
                </a:solidFill>
                <a:hlinkClick r:id="rId4"/>
              </a:rPr>
              <a:t>(</a:t>
            </a:r>
            <a:r>
              <a:rPr lang="en-US" sz="1600" u="sng" dirty="0">
                <a:solidFill>
                  <a:schemeClr val="accent6"/>
                </a:solidFill>
                <a:hlinkClick r:id="rId4"/>
              </a:rPr>
              <a:t>https://en.wikipedia.org/wiki/Climate_change</a:t>
            </a:r>
            <a:r>
              <a:rPr sz="1600" u="sng" dirty="0">
                <a:solidFill>
                  <a:schemeClr val="accent6"/>
                </a:solidFill>
                <a:hlinkClick r:id="rId4"/>
              </a:rPr>
              <a:t>)</a:t>
            </a:r>
          </a:p>
          <a:p>
            <a:pPr>
              <a:defRPr sz="1200">
                <a:solidFill>
                  <a:srgbClr val="333333"/>
                </a:solidFill>
                <a:latin typeface="Calibri"/>
              </a:defRPr>
            </a:pPr>
            <a:r>
              <a:rPr sz="1600" u="sng" dirty="0">
                <a:solidFill>
                  <a:schemeClr val="accent6"/>
                </a:solidFill>
                <a:hlinkClick r:id="rId5"/>
              </a:rPr>
              <a:t>(</a:t>
            </a:r>
            <a:r>
              <a:rPr lang="en-US" sz="1600" u="sng" dirty="0">
                <a:solidFill>
                  <a:schemeClr val="accent6"/>
                </a:solidFill>
                <a:hlinkClick r:id="rId5"/>
              </a:rPr>
              <a:t>https://science.nasa.gov/climate-change/</a:t>
            </a:r>
            <a:r>
              <a:rPr sz="1600" u="sng" dirty="0">
                <a:solidFill>
                  <a:schemeClr val="accent6"/>
                </a:solidFill>
                <a:hlinkClick r:id="rId5"/>
              </a:rPr>
              <a:t>)</a:t>
            </a:r>
          </a:p>
          <a:p>
            <a:pPr>
              <a:defRPr sz="1200">
                <a:solidFill>
                  <a:srgbClr val="333333"/>
                </a:solidFill>
                <a:latin typeface="Calibri"/>
              </a:defRPr>
            </a:pPr>
            <a:r>
              <a:rPr sz="1600" u="sng" dirty="0">
                <a:solidFill>
                  <a:schemeClr val="accent6"/>
                </a:solidFill>
                <a:hlinkClick r:id="rId6"/>
              </a:rPr>
              <a:t>(</a:t>
            </a:r>
            <a:r>
              <a:rPr lang="en-US" sz="1600" u="sng" dirty="0">
                <a:solidFill>
                  <a:schemeClr val="accent6"/>
                </a:solidFill>
                <a:hlinkClick r:id="rId6"/>
              </a:rPr>
              <a:t>https://www.epa.gov/climate-change</a:t>
            </a:r>
            <a:r>
              <a:rPr sz="1600" u="sng" dirty="0">
                <a:solidFill>
                  <a:schemeClr val="accent6"/>
                </a:solidFill>
                <a:hlinkClick r:id="rId6"/>
              </a:rPr>
              <a:t>)</a:t>
            </a:r>
          </a:p>
          <a:p>
            <a:pPr>
              <a:defRPr sz="1200">
                <a:solidFill>
                  <a:srgbClr val="333333"/>
                </a:solidFill>
                <a:latin typeface="Calibri"/>
              </a:defRPr>
            </a:pPr>
            <a:r>
              <a:rPr sz="1600" u="sng" dirty="0">
                <a:solidFill>
                  <a:schemeClr val="accent6"/>
                </a:solidFill>
                <a:hlinkClick r:id="rId2"/>
              </a:rPr>
              <a:t>(</a:t>
            </a:r>
            <a:r>
              <a:rPr lang="en-US" sz="1600" u="sng" dirty="0">
                <a:solidFill>
                  <a:schemeClr val="accent6"/>
                </a:solidFill>
                <a:hlinkClick r:id="rId2"/>
              </a:rPr>
              <a:t>https://www.climate.gov/news-features/understanding-climate/climate-change-global-temperature</a:t>
            </a:r>
            <a:r>
              <a:rPr sz="1600" u="sng" dirty="0">
                <a:solidFill>
                  <a:schemeClr val="accent6"/>
                </a:solidFill>
                <a:hlinkClick r:id="rId2"/>
              </a:rPr>
              <a:t>)</a:t>
            </a:r>
          </a:p>
          <a:p>
            <a:pPr>
              <a:defRPr sz="1200">
                <a:solidFill>
                  <a:srgbClr val="333333"/>
                </a:solidFill>
                <a:latin typeface="Calibri"/>
              </a:defRPr>
            </a:pPr>
            <a:r>
              <a:rPr sz="1600" u="sng" dirty="0">
                <a:solidFill>
                  <a:schemeClr val="accent6"/>
                </a:solidFill>
                <a:hlinkClick r:id="rId7"/>
              </a:rPr>
              <a:t>(</a:t>
            </a:r>
            <a:r>
              <a:rPr lang="en-US" sz="1600" u="sng" dirty="0">
                <a:solidFill>
                  <a:schemeClr val="accent6"/>
                </a:solidFill>
                <a:hlinkClick r:id="rId7"/>
              </a:rPr>
              <a:t>https://www.fao.org/climate-change/en</a:t>
            </a:r>
            <a:r>
              <a:rPr sz="1600" u="sng" dirty="0">
                <a:solidFill>
                  <a:schemeClr val="accent6"/>
                </a:solidFill>
                <a:hlinkClick r:id="rId7"/>
              </a:rPr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537960"/>
            <a:ext cx="8229600" cy="1371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6537960"/>
            <a:ext cx="8229600" cy="137160"/>
          </a:xfrm>
          <a:prstGeom prst="rect">
            <a:avLst/>
          </a:prstGeom>
          <a:solidFill>
            <a:srgbClr val="E26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465</Words>
  <Application>Microsoft Macintosh PowerPoint</Application>
  <PresentationFormat>On-screen Show (4:3)</PresentationFormat>
  <Paragraphs>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2024 Global Climate Highlights</vt:lpstr>
      <vt:lpstr>Overview</vt:lpstr>
      <vt:lpstr>2024 Climate Highlights</vt:lpstr>
      <vt:lpstr>Global Average Temperature Comparison</vt:lpstr>
      <vt:lpstr>Temperature Trends &amp; Anomalies</vt:lpstr>
      <vt:lpstr>Conclusions &amp; Outlook</vt:lpstr>
      <vt:lpstr>Bibliography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4</cp:revision>
  <dcterms:created xsi:type="dcterms:W3CDTF">2013-01-27T09:14:16Z</dcterms:created>
  <dcterms:modified xsi:type="dcterms:W3CDTF">2025-11-18T22:31:40Z</dcterms:modified>
  <cp:category/>
</cp:coreProperties>
</file>
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Format Python Code Blocks - Original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Slides 3, 5, and 7 contain unstyled Python code.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548640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Utilities: Fibonacci and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188720"/>
            <a:ext cx="10149840" cy="4937760"/>
          </a:xfrm>
          <a:prstGeom prst="rect">
            <a:avLst/>
          </a:prstGeom>
          <a:solidFill>
            <a:srgbClr val="1E1E1E"/>
          </a:solidFill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from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__future__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import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annotations</a:t>
            </a:r>
          </a:p>
          <a:p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from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dataclasses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import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dataclass</a:t>
            </a:r>
          </a:p>
          <a:p>
            <a:endParaRPr lang="en-US" sz="1600">
              <a:solidFill>
                <a:srgbClr val="D4D4D4"/>
              </a:solidFill>
              <a:latin typeface="Consolas"/>
              <a:cs typeface="Consolas"/>
            </a:endParaRPr>
          </a:p>
          <a:p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def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fib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(n: </a:t>
            </a:r>
            <a:r>
              <a:rPr lang="en-US" sz="1600">
                <a:solidFill>
                  <a:srgbClr val="4EC9B0"/>
                </a:solidFill>
                <a:latin typeface="Consolas"/>
                <a:cs typeface="Consolas"/>
              </a:rPr>
              <a:t>int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) -&gt; </a:t>
            </a:r>
            <a:r>
              <a:rPr lang="en-US" sz="1600">
                <a:solidFill>
                  <a:srgbClr val="4EC9B0"/>
                </a:solidFill>
                <a:latin typeface="Consolas"/>
                <a:cs typeface="Consolas"/>
              </a:rPr>
              <a:t>int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: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600">
                <a:solidFill>
                  <a:srgbClr val="CE9178"/>
                </a:solidFill>
                <a:latin typeface="Consolas"/>
                <a:cs typeface="Consolas"/>
              </a:rPr>
              <a:t>"""Return nth Fibonacci number using iterative DP."""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if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n &lt; </a:t>
            </a:r>
            <a:r>
              <a:rPr lang="en-US" sz="1600">
                <a:solidFill>
                  <a:srgbClr val="B5CEA8"/>
                </a:solidFill>
                <a:latin typeface="Consolas"/>
                <a:cs typeface="Consolas"/>
              </a:rPr>
              <a:t>2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: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   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return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n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a, b = </a:t>
            </a:r>
            <a:r>
              <a:rPr lang="en-US" sz="1600">
                <a:solidFill>
                  <a:srgbClr val="B5CEA8"/>
                </a:solidFill>
                <a:latin typeface="Consolas"/>
                <a:cs typeface="Consolas"/>
              </a:rPr>
              <a:t>0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, </a:t>
            </a:r>
            <a:r>
              <a:rPr lang="en-US" sz="1600">
                <a:solidFill>
                  <a:srgbClr val="B5CEA8"/>
                </a:solidFill>
                <a:latin typeface="Consolas"/>
                <a:cs typeface="Consolas"/>
              </a:rPr>
              <a:t>1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for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_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in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range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lang="en-US" sz="1600">
                <a:solidFill>
                  <a:srgbClr val="B5CEA8"/>
                </a:solidFill>
                <a:latin typeface="Consolas"/>
                <a:cs typeface="Consolas"/>
              </a:rPr>
              <a:t>2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, n + </a:t>
            </a:r>
            <a:r>
              <a:rPr lang="en-US" sz="160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):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    a, b = b, a + b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return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b</a:t>
            </a:r>
          </a:p>
          <a:p>
            <a:endParaRPr lang="en-US" sz="1600">
              <a:solidFill>
                <a:srgbClr val="D4D4D4"/>
              </a:solidFill>
              <a:latin typeface="Consolas"/>
              <a:cs typeface="Consolas"/>
            </a:endParaRPr>
          </a:p>
          <a:p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@dataclass</a:t>
            </a:r>
          </a:p>
          <a:p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class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lang="en-US" sz="1600">
                <a:solidFill>
                  <a:srgbClr val="4EC9B0"/>
                </a:solidFill>
                <a:latin typeface="Consolas"/>
                <a:cs typeface="Consolas"/>
              </a:rPr>
              <a:t>Point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: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x: </a:t>
            </a:r>
            <a:r>
              <a:rPr lang="en-US" sz="1600">
                <a:solidFill>
                  <a:srgbClr val="4EC9B0"/>
                </a:solidFill>
                <a:latin typeface="Consolas"/>
                <a:cs typeface="Consolas"/>
              </a:rPr>
              <a:t>float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y: </a:t>
            </a:r>
            <a:r>
              <a:rPr lang="en-US" sz="1600">
                <a:solidFill>
                  <a:srgbClr val="4EC9B0"/>
                </a:solidFill>
                <a:latin typeface="Consolas"/>
                <a:cs typeface="Consolas"/>
              </a:rPr>
              <a:t>float</a:t>
            </a:r>
          </a:p>
          <a:p>
            <a:endParaRPr lang="en-US" sz="1600">
              <a:solidFill>
                <a:srgbClr val="D4D4D4"/>
              </a:solidFill>
              <a:latin typeface="Consolas"/>
              <a:cs typeface="Consolas"/>
            </a:endParaRPr>
          </a:p>
          <a:p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if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__name__ == </a:t>
            </a:r>
            <a:r>
              <a:rPr lang="en-US" sz="1600">
                <a:solidFill>
                  <a:srgbClr val="CE9178"/>
                </a:solidFill>
                <a:latin typeface="Consolas"/>
                <a:cs typeface="Consolas"/>
              </a:rPr>
              <a:t>"__main__"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: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p = </a:t>
            </a:r>
            <a:r>
              <a:rPr lang="en-US" sz="1600">
                <a:solidFill>
                  <a:srgbClr val="4EC9B0"/>
                </a:solidFill>
                <a:latin typeface="Consolas"/>
                <a:cs typeface="Consolas"/>
              </a:rPr>
              <a:t>Point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lang="en-US" sz="1600">
                <a:solidFill>
                  <a:srgbClr val="B5CEA8"/>
                </a:solidFill>
                <a:latin typeface="Consolas"/>
                <a:cs typeface="Consolas"/>
              </a:rPr>
              <a:t>3.0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, </a:t>
            </a:r>
            <a:r>
              <a:rPr lang="en-US" sz="1600">
                <a:solidFill>
                  <a:srgbClr val="B5CEA8"/>
                </a:solidFill>
                <a:latin typeface="Consolas"/>
                <a:cs typeface="Consolas"/>
              </a:rPr>
              <a:t>4.0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print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lang="en-US" sz="1600">
                <a:solidFill>
                  <a:srgbClr val="CE9178"/>
                </a:solidFill>
                <a:latin typeface="Consolas"/>
                <a:cs typeface="Consolas"/>
              </a:rPr>
              <a:t>f"fib(10) = {fib(10)}; |p|^2 = {p.x**2 + p.y**2}"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548640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Async I/O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188720"/>
            <a:ext cx="10149840" cy="4937760"/>
          </a:xfrm>
          <a:prstGeom prst="rect">
            <a:avLst/>
          </a:prstGeom>
          <a:solidFill>
            <a:srgbClr val="1E1E1E"/>
          </a:solidFill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import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asyncio</a:t>
            </a:r>
          </a:p>
          <a:p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import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time</a:t>
            </a:r>
          </a:p>
          <a:p>
            <a:endParaRPr lang="en-US" sz="1600">
              <a:solidFill>
                <a:srgbClr val="D4D4D4"/>
              </a:solidFill>
              <a:latin typeface="Consolas"/>
              <a:cs typeface="Consolas"/>
            </a:endParaRPr>
          </a:p>
          <a:p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async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def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fetch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(n: </a:t>
            </a:r>
            <a:r>
              <a:rPr lang="en-US" sz="1600">
                <a:solidFill>
                  <a:srgbClr val="4EC9B0"/>
                </a:solidFill>
                <a:latin typeface="Consolas"/>
                <a:cs typeface="Consolas"/>
              </a:rPr>
              <a:t>int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) -&gt; </a:t>
            </a:r>
            <a:r>
              <a:rPr lang="en-US" sz="1600">
                <a:solidFill>
                  <a:srgbClr val="4EC9B0"/>
                </a:solidFill>
                <a:latin typeface="Consolas"/>
                <a:cs typeface="Consolas"/>
              </a:rPr>
              <a:t>str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: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await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asyncio.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sleep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lang="en-US" sz="1600">
                <a:solidFill>
                  <a:srgbClr val="B5CEA8"/>
                </a:solidFill>
                <a:latin typeface="Consolas"/>
                <a:cs typeface="Consolas"/>
              </a:rPr>
              <a:t>0.1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* n)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return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lang="en-US" sz="1600">
                <a:solidFill>
                  <a:srgbClr val="CE9178"/>
                </a:solidFill>
                <a:latin typeface="Consolas"/>
                <a:cs typeface="Consolas"/>
              </a:rPr>
              <a:t>f"done {n}"</a:t>
            </a:r>
          </a:p>
          <a:p>
            <a:endParaRPr lang="en-US" sz="1600">
              <a:solidFill>
                <a:srgbClr val="D4D4D4"/>
              </a:solidFill>
              <a:latin typeface="Consolas"/>
              <a:cs typeface="Consolas"/>
            </a:endParaRPr>
          </a:p>
          <a:p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async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def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main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():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t0 = time.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perf_counter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()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results =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await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asyncio.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gather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(*(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fetch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(i)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for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i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in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range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lang="en-US" sz="1600">
                <a:solidFill>
                  <a:srgbClr val="B5CEA8"/>
                </a:solidFill>
                <a:latin typeface="Consolas"/>
                <a:cs typeface="Consolas"/>
              </a:rPr>
              <a:t>5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)))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dt = time.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perf_counter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() - t0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for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r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in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results: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    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print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(r)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print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lang="en-US" sz="1600">
                <a:solidFill>
                  <a:srgbClr val="CE9178"/>
                </a:solidFill>
                <a:latin typeface="Consolas"/>
                <a:cs typeface="Consolas"/>
              </a:rPr>
              <a:t>f"{len(results)} tasks in {dt:.3f}s"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)</a:t>
            </a:r>
          </a:p>
          <a:p>
            <a:endParaRPr lang="en-US" sz="1600">
              <a:solidFill>
                <a:srgbClr val="D4D4D4"/>
              </a:solidFill>
              <a:latin typeface="Consolas"/>
              <a:cs typeface="Consolas"/>
            </a:endParaRPr>
          </a:p>
          <a:p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if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__name__ == </a:t>
            </a:r>
            <a:r>
              <a:rPr lang="en-US" sz="1600">
                <a:solidFill>
                  <a:srgbClr val="CE9178"/>
                </a:solidFill>
                <a:latin typeface="Consolas"/>
                <a:cs typeface="Consolas"/>
              </a:rPr>
              <a:t>"__main__"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: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asyncio.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run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main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())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548640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Decorators and context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188720"/>
            <a:ext cx="10149840" cy="4937760"/>
          </a:xfrm>
          <a:prstGeom prst="rect">
            <a:avLst/>
          </a:prstGeom>
          <a:solidFill>
            <a:srgbClr val="1E1E1E"/>
          </a:solidFill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from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contextlib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import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contextmanager</a:t>
            </a:r>
          </a:p>
          <a:p>
            <a:endParaRPr lang="en-US" sz="1600">
              <a:solidFill>
                <a:srgbClr val="D4D4D4"/>
              </a:solidFill>
              <a:latin typeface="Consolas"/>
              <a:cs typeface="Consolas"/>
            </a:endParaRPr>
          </a:p>
          <a:p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def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deco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(fn):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def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wrapper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(*args, **kwargs):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    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print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lang="en-US" sz="1600">
                <a:solidFill>
                  <a:srgbClr val="CE9178"/>
                </a:solidFill>
                <a:latin typeface="Consolas"/>
                <a:cs typeface="Consolas"/>
              </a:rPr>
              <a:t>f"calling {fn.__name__}"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   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return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fn(*args, **kwargs)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return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wrapper</a:t>
            </a:r>
          </a:p>
          <a:p>
            <a:endParaRPr lang="en-US" sz="1600">
              <a:solidFill>
                <a:srgbClr val="D4D4D4"/>
              </a:solidFill>
              <a:latin typeface="Consolas"/>
              <a:cs typeface="Consolas"/>
            </a:endParaRPr>
          </a:p>
          <a:p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@deco</a:t>
            </a:r>
          </a:p>
          <a:p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def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square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(x: </a:t>
            </a:r>
            <a:r>
              <a:rPr lang="en-US" sz="1600">
                <a:solidFill>
                  <a:srgbClr val="4EC9B0"/>
                </a:solidFill>
                <a:latin typeface="Consolas"/>
                <a:cs typeface="Consolas"/>
              </a:rPr>
              <a:t>int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) -&gt; </a:t>
            </a:r>
            <a:r>
              <a:rPr lang="en-US" sz="1600">
                <a:solidFill>
                  <a:srgbClr val="4EC9B0"/>
                </a:solidFill>
                <a:latin typeface="Consolas"/>
                <a:cs typeface="Consolas"/>
              </a:rPr>
              <a:t>int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: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return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x * x</a:t>
            </a:r>
          </a:p>
          <a:p>
            <a:endParaRPr lang="en-US" sz="1600">
              <a:solidFill>
                <a:srgbClr val="D4D4D4"/>
              </a:solidFill>
              <a:latin typeface="Consolas"/>
              <a:cs typeface="Consolas"/>
            </a:endParaRPr>
          </a:p>
          <a:p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@contextmanager</a:t>
            </a:r>
          </a:p>
          <a:p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def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timer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():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import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time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t0 = time.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perf_counter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()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try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: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   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yield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finally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: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    dt = time.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perf_counter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() - t0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    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print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lang="en-US" sz="1600">
                <a:solidFill>
                  <a:srgbClr val="CE9178"/>
                </a:solidFill>
                <a:latin typeface="Consolas"/>
                <a:cs typeface="Consolas"/>
              </a:rPr>
              <a:t>f"elapsed: {dt:.6f}s"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)</a:t>
            </a:r>
          </a:p>
          <a:p>
            <a:endParaRPr lang="en-US" sz="1600">
              <a:solidFill>
                <a:srgbClr val="D4D4D4"/>
              </a:solidFill>
              <a:latin typeface="Consolas"/>
              <a:cs typeface="Consolas"/>
            </a:endParaRPr>
          </a:p>
          <a:p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if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__name__ == </a:t>
            </a:r>
            <a:r>
              <a:rPr lang="en-US" sz="1600">
                <a:solidFill>
                  <a:srgbClr val="CE9178"/>
                </a:solidFill>
                <a:latin typeface="Consolas"/>
                <a:cs typeface="Consolas"/>
              </a:rPr>
              <a:t>"__main__"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: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600">
                <a:solidFill>
                  <a:srgbClr val="569CD6"/>
                </a:solidFill>
                <a:latin typeface="Consolas"/>
                <a:cs typeface="Consolas"/>
              </a:rPr>
              <a:t>with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timer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():</a:t>
            </a:r>
          </a:p>
          <a:p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        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print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lang="en-US" sz="1600">
                <a:solidFill>
                  <a:srgbClr val="DCDCAA"/>
                </a:solidFill>
                <a:latin typeface="Consolas"/>
                <a:cs typeface="Consolas"/>
              </a:rPr>
              <a:t>square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lang="en-US" sz="1600">
                <a:solidFill>
                  <a:srgbClr val="B5CEA8"/>
                </a:solidFill>
                <a:latin typeface="Consolas"/>
                <a:cs typeface="Consolas"/>
              </a:rPr>
              <a:t>12</a:t>
            </a:r>
            <a:r>
              <a:rPr lang="en-US" sz="1600">
                <a:solidFill>
                  <a:srgbClr val="D4D4D4"/>
                </a:solidFill>
                <a:latin typeface="Consolas"/>
                <a:cs typeface="Consolas"/>
              </a:rPr>
              <a:t>))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414</Words>
  <Application>Microsoft Macintosh PowerPoint</Application>
  <PresentationFormat>Widescreen</PresentationFormat>
  <Paragraphs>67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Format Python Code Blocks - Original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2025-09-22T19:33:55Z</dcterms:modified>
  <cp:category/>
</cp:coreProperties>
</file>
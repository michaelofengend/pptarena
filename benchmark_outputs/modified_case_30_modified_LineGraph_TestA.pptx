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4.xml" ContentType="application/vnd.openxmlformats-officedocument.theme+xml"/>
  <Override PartName="/ppt/slideLayouts/slideLayout16.xml" ContentType="application/vnd.openxmlformats-officedocument.presentationml.slideLayout+xml"/>
  <Override PartName="/ppt/theme/theme5.xml" ContentType="application/vnd.openxmlformats-officedocument.theme+xml"/>
  <Override PartName="/ppt/slideLayouts/slideLayout17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2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3.xml" ContentType="application/vnd.openxmlformats-officedocument.themeOverr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4.xml" ContentType="application/vnd.openxmlformats-officedocument.themeOverr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5.xml" ContentType="application/vnd.openxmlformats-officedocument.themeOverr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6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88" r:id="rId1"/>
    <p:sldMasterId id="2147483682" r:id="rId2"/>
    <p:sldMasterId id="2147483668" r:id="rId3"/>
    <p:sldMasterId id="2147483673" r:id="rId4"/>
    <p:sldMasterId id="2147483678" r:id="rId5"/>
    <p:sldMasterId id="2147483680" r:id="rId6"/>
  </p:sldMasterIdLst>
  <p:notesMasterIdLst>
    <p:notesMasterId r:id="rId16"/>
  </p:notesMasterIdLst>
  <p:handoutMasterIdLst>
    <p:handoutMasterId r:id="rId17"/>
  </p:handoutMasterIdLst>
  <p:sldIdLst>
    <p:sldId id="283" r:id="rId7"/>
    <p:sldId id="285" r:id="rId8"/>
    <p:sldId id="286" r:id="rId9"/>
    <p:sldId id="292" r:id="rId10"/>
    <p:sldId id="287" r:id="rId11"/>
    <p:sldId id="293" r:id="rId12"/>
    <p:sldId id="294" r:id="rId13"/>
    <p:sldId id="290" r:id="rId14"/>
    <p:sldId id="295" r:id="rId15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endal Orgera" initials="KO" lastIdx="9" clrIdx="0">
    <p:extLst>
      <p:ext uri="{19B8F6BF-5375-455C-9EA6-DF929625EA0E}">
        <p15:presenceInfo xmlns:p15="http://schemas.microsoft.com/office/powerpoint/2012/main" userId="S-1-5-21-1957994488-602162358-682003330-40837" providerId="AD"/>
      </p:ext>
    </p:extLst>
  </p:cmAuthor>
  <p:cmAuthor id="2" name="Kendal Orgera" initials="KO [2]" lastIdx="3" clrIdx="1">
    <p:extLst>
      <p:ext uri="{19B8F6BF-5375-455C-9EA6-DF929625EA0E}">
        <p15:presenceInfo xmlns:p15="http://schemas.microsoft.com/office/powerpoint/2012/main" userId="Kendal Orger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7C8"/>
    <a:srgbClr val="BFBFBF"/>
    <a:srgbClr val="0E3B5E"/>
    <a:srgbClr val="323A45"/>
    <a:srgbClr val="5556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>
      <p:cViewPr varScale="1">
        <p:scale>
          <a:sx n="127" d="100"/>
          <a:sy n="127" d="100"/>
        </p:scale>
        <p:origin x="1720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10" Type="http://schemas.openxmlformats.org/officeDocument/2006/relationships/slide" Target="slides/slide4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L:\KCMU\Kendal%20O\Race%20&amp;%20Ethnicity%20Projects\Infographics\data_for_race_infographics_v3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kff.org\washington\shared\KCMU\Kendal%20O\Race%20&amp;%20Ethnicity%20Projects\Infographics\data_for_race_infographics_v3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oleObject" Target="file:////kff.org\washington\shared\KCMU\Kendal%20O\Race%20&amp;%20Ethnicity%20Projects\Infographics\data_for_race_infographics_v3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oleObject" Target="file:///L:\KCMU\Kendal%20O\Race%20&amp;%20Ethnicity%20Projects\Infographics\data_for_race_infographics_v3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oleObject" Target="file:///L:\KCMU\Kendal%20O\Race%20&amp;%20Ethnicity%20Projects\Infographics\data_for_race_infographics_v3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oleObject" Target="file:///L:\KCMU\Kendal%20O\Race%20&amp;%20Ethnicity%20Projects\Infographics\data_for_race_infographics_v3.xlsx" TargetMode="Externa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oleObject" Target="file:///L:\KCMU\Kendal%20O\Race%20&amp;%20Ethnicity%20Projects\Infographics\data_for_race_infographics_v3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pieChart>
        <c:varyColors val="1"/>
        <c:ser>
          <c:idx val="0"/>
          <c:order val="0"/>
          <c:tx>
            <c:strRef>
              <c:f>'ASIAN NHOPI'!$B$2</c:f>
              <c:strCache>
                <c:ptCount val="1"/>
                <c:pt idx="0">
                  <c:v>%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1E70-4439-B6E3-051F5B5ED2E4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E70-4439-B6E3-051F5B5ED2E4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1E70-4439-B6E3-051F5B5ED2E4}"/>
              </c:ext>
            </c:extLst>
          </c:dPt>
          <c:dPt>
            <c:idx val="3"/>
            <c:bubble3D val="0"/>
            <c:spPr>
              <a:solidFill>
                <a:schemeClr val="bg1">
                  <a:lumMod val="8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1E70-4439-B6E3-051F5B5ED2E4}"/>
              </c:ext>
            </c:extLst>
          </c:dPt>
          <c:dPt>
            <c:idx val="4"/>
            <c:bubble3D val="0"/>
            <c:spPr>
              <a:solidFill>
                <a:schemeClr val="bg1">
                  <a:lumMod val="7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1E70-4439-B6E3-051F5B5ED2E4}"/>
              </c:ext>
            </c:extLst>
          </c:dPt>
          <c:dPt>
            <c:idx val="5"/>
            <c:bubble3D val="0"/>
            <c:spPr>
              <a:solidFill>
                <a:schemeClr val="bg1">
                  <a:lumMod val="6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1E70-4439-B6E3-051F5B5ED2E4}"/>
              </c:ext>
            </c:extLst>
          </c:dPt>
          <c:dPt>
            <c:idx val="6"/>
            <c:bubble3D val="0"/>
            <c:spPr>
              <a:solidFill>
                <a:schemeClr val="accent6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E70-4439-B6E3-051F5B5ED2E4}"/>
              </c:ext>
            </c:extLst>
          </c:dPt>
          <c:dPt>
            <c:idx val="7"/>
            <c:bubble3D val="0"/>
            <c:spPr>
              <a:solidFill>
                <a:schemeClr val="tx1">
                  <a:lumMod val="50000"/>
                  <a:lumOff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1E70-4439-B6E3-051F5B5ED2E4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1E70-4439-B6E3-051F5B5ED2E4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E70-4439-B6E3-051F5B5ED2E4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E70-4439-B6E3-051F5B5ED2E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'ASIAN NHOPI'!$A$3:$A$10</c:f>
              <c:strCache>
                <c:ptCount val="8"/>
                <c:pt idx="0">
                  <c:v>Asian Indian</c:v>
                </c:pt>
                <c:pt idx="1">
                  <c:v>Chinese</c:v>
                </c:pt>
                <c:pt idx="2">
                  <c:v>Filipino</c:v>
                </c:pt>
                <c:pt idx="3">
                  <c:v>Japanese</c:v>
                </c:pt>
                <c:pt idx="4">
                  <c:v>Korean</c:v>
                </c:pt>
                <c:pt idx="5">
                  <c:v>Vietnamese</c:v>
                </c:pt>
                <c:pt idx="6">
                  <c:v>Other Asian</c:v>
                </c:pt>
                <c:pt idx="7">
                  <c:v>NHOPI</c:v>
                </c:pt>
              </c:strCache>
            </c:strRef>
          </c:cat>
          <c:val>
            <c:numRef>
              <c:f>'ASIAN NHOPI'!$B$3:$B$10</c:f>
              <c:numCache>
                <c:formatCode>0%</c:formatCode>
                <c:ptCount val="8"/>
                <c:pt idx="0">
                  <c:v>0.22828226123696599</c:v>
                </c:pt>
                <c:pt idx="1">
                  <c:v>0.215493168539373</c:v>
                </c:pt>
                <c:pt idx="2">
                  <c:v>0.14957632751877001</c:v>
                </c:pt>
                <c:pt idx="3">
                  <c:v>3.3728098015427102E-2</c:v>
                </c:pt>
                <c:pt idx="4">
                  <c:v>7.6715113004819105E-2</c:v>
                </c:pt>
                <c:pt idx="5">
                  <c:v>9.9085297419673202E-2</c:v>
                </c:pt>
                <c:pt idx="6">
                  <c:v>0.165631750738918</c:v>
                </c:pt>
                <c:pt idx="7">
                  <c:v>3.1487983526052997E-2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70-4439-B6E3-051F5B5ED2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1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600" b="1" dirty="0">
                <a:solidFill>
                  <a:schemeClr val="tx1"/>
                </a:solidFill>
              </a:rPr>
              <a:t>Asian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476-4BBB-A0D2-F56D4372C38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476-4BBB-A0D2-F56D4372C38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476-4BBB-A0D2-F56D4372C382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D476-4BBB-A0D2-F56D4372C382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D476-4BBB-A0D2-F56D4372C382}"/>
              </c:ext>
            </c:extLst>
          </c:dPt>
          <c:dLbls>
            <c:dLbl>
              <c:idx val="4"/>
              <c:dLblPos val="ctr"/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476-4BBB-A0D2-F56D4372C38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'ASIAN NHOPI'!$A$67:$A$71</c:f>
              <c:strCache>
                <c:ptCount val="5"/>
                <c:pt idx="0">
                  <c:v>Asian</c:v>
                </c:pt>
                <c:pt idx="1">
                  <c:v>CA</c:v>
                </c:pt>
                <c:pt idx="2">
                  <c:v>NY</c:v>
                </c:pt>
                <c:pt idx="3">
                  <c:v>TX</c:v>
                </c:pt>
                <c:pt idx="4">
                  <c:v>Remaining 48 States</c:v>
                </c:pt>
              </c:strCache>
            </c:strRef>
          </c:cat>
          <c:val>
            <c:numRef>
              <c:f>'ASIAN NHOPI'!$B$67:$B$71</c:f>
              <c:numCache>
                <c:formatCode>0%</c:formatCode>
                <c:ptCount val="5"/>
                <c:pt idx="1">
                  <c:v>0.30712603778819803</c:v>
                </c:pt>
                <c:pt idx="2">
                  <c:v>9.5601004827957095E-2</c:v>
                </c:pt>
                <c:pt idx="3">
                  <c:v>7.6925928878347594E-2</c:v>
                </c:pt>
                <c:pt idx="4">
                  <c:v>0.5203470285054973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476-4BBB-A0D2-F56D4372C3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1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solidFill>
                  <a:schemeClr val="tx1"/>
                </a:solidFill>
              </a:rPr>
              <a:t>NHOPI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476-4BBB-A0D2-F56D4372C38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476-4BBB-A0D2-F56D4372C38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476-4BBB-A0D2-F56D4372C382}"/>
              </c:ext>
            </c:extLst>
          </c:dPt>
          <c:dPt>
            <c:idx val="3"/>
            <c:bubble3D val="0"/>
            <c:spPr>
              <a:solidFill>
                <a:srgbClr val="43B4FF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D476-4BBB-A0D2-F56D4372C382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D476-4BBB-A0D2-F56D4372C38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1"/>
            <c:showSerName val="0"/>
            <c:showPercent val="0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'ASIAN NHOPI'!$A$73:$A$76</c:f>
              <c:strCache>
                <c:ptCount val="4"/>
                <c:pt idx="0">
                  <c:v>NHOPI</c:v>
                </c:pt>
                <c:pt idx="1">
                  <c:v>CA</c:v>
                </c:pt>
                <c:pt idx="2">
                  <c:v>HI</c:v>
                </c:pt>
                <c:pt idx="3">
                  <c:v>Remaining 49 States</c:v>
                </c:pt>
              </c:strCache>
            </c:strRef>
          </c:cat>
          <c:val>
            <c:numRef>
              <c:f>'ASIAN NHOPI'!$B$73:$B$76</c:f>
              <c:numCache>
                <c:formatCode>0%</c:formatCode>
                <c:ptCount val="4"/>
                <c:pt idx="1">
                  <c:v>0.243235233424511</c:v>
                </c:pt>
                <c:pt idx="2">
                  <c:v>0.25108776304986402</c:v>
                </c:pt>
                <c:pt idx="3">
                  <c:v>0.50567700352562495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476-4BBB-A0D2-F56D4372C3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1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'ASIAN NHOPI'!$I$14</c:f>
              <c:strCache>
                <c:ptCount val="1"/>
                <c:pt idx="0">
                  <c:v>Asian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F46E3D9F-46D4-46F8-AC61-A39C0CBA24BE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6690-42CA-B7EE-0EA1B8C5A56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D83BD465-471B-46EB-A870-79A879FB990A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6690-42CA-B7EE-0EA1B8C5A56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67C7831C-C4B1-4281-8D4B-E49719227A19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6690-42CA-B7EE-0EA1B8C5A56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88DBCD69-63D0-4CC5-B605-50B604AF80EA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6-6690-42CA-B7EE-0EA1B8C5A56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NHOPI'!$H$15:$H$18</c:f>
              <c:strCache>
                <c:ptCount val="4"/>
                <c:pt idx="0">
                  <c:v>Full-Time Worker
in Family</c:v>
                </c:pt>
                <c:pt idx="1">
                  <c:v>34 and Younger</c:v>
                </c:pt>
                <c:pt idx="2">
                  <c:v>Family Income
Below Poverty</c:v>
                </c:pt>
                <c:pt idx="3">
                  <c:v>Non-Citizen</c:v>
                </c:pt>
              </c:strCache>
            </c:strRef>
          </c:cat>
          <c:val>
            <c:numRef>
              <c:f>'ASIAN NHOPI'!$I$15:$I$18</c:f>
              <c:numCache>
                <c:formatCode>0%</c:formatCode>
                <c:ptCount val="4"/>
                <c:pt idx="0">
                  <c:v>0.86996013713116704</c:v>
                </c:pt>
                <c:pt idx="1">
                  <c:v>0.51877232613116897</c:v>
                </c:pt>
                <c:pt idx="2">
                  <c:v>8.7021571811397538E-2</c:v>
                </c:pt>
                <c:pt idx="3">
                  <c:v>0.2926793712630178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2F-4133-92C2-5FB4D3B6A8A1}"/>
            </c:ext>
          </c:extLst>
        </c:ser>
        <c:ser>
          <c:idx val="1"/>
          <c:order val="1"/>
          <c:tx>
            <c:strRef>
              <c:f>'ASIAN NHOPI'!$J$14</c:f>
              <c:strCache>
                <c:ptCount val="1"/>
                <c:pt idx="0">
                  <c:v>NHOPI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1"/>
              <c:tx>
                <c:rich>
                  <a:bodyPr/>
                  <a:lstStyle/>
                  <a:p>
                    <a:fld id="{70B7B32D-0662-40EC-9909-FD7419BC0D51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6690-42CA-B7EE-0EA1B8C5A56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9FB5BAC3-9922-4B0D-9231-AA3BB09F7852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6690-42CA-B7EE-0EA1B8C5A56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E77429AB-3038-466D-B348-3CB1C6E08715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6690-42CA-B7EE-0EA1B8C5A56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NHOPI'!$H$15:$H$18</c:f>
              <c:strCache>
                <c:ptCount val="4"/>
                <c:pt idx="0">
                  <c:v>Full-Time Worker
in Family</c:v>
                </c:pt>
                <c:pt idx="1">
                  <c:v>34 and Younger</c:v>
                </c:pt>
                <c:pt idx="2">
                  <c:v>Family Income
Below Poverty</c:v>
                </c:pt>
                <c:pt idx="3">
                  <c:v>Non-Citizen</c:v>
                </c:pt>
              </c:strCache>
            </c:strRef>
          </c:cat>
          <c:val>
            <c:numRef>
              <c:f>'ASIAN NHOPI'!$J$15:$J$18</c:f>
              <c:numCache>
                <c:formatCode>0%</c:formatCode>
                <c:ptCount val="4"/>
                <c:pt idx="0">
                  <c:v>0.83006309245217602</c:v>
                </c:pt>
                <c:pt idx="1">
                  <c:v>0.57237191617528904</c:v>
                </c:pt>
                <c:pt idx="2">
                  <c:v>0.15733597938189595</c:v>
                </c:pt>
                <c:pt idx="3">
                  <c:v>0.14326201588507251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32F-4133-92C2-5FB4D3B6A8A1}"/>
            </c:ext>
          </c:extLst>
        </c:ser>
        <c:ser>
          <c:idx val="2"/>
          <c:order val="2"/>
          <c:tx>
            <c:strRef>
              <c:f>'ASIAN NHOPI'!$K$14</c:f>
              <c:strCache>
                <c:ptCount val="1"/>
                <c:pt idx="0">
                  <c:v>White</c:v>
                </c:pt>
              </c:strCache>
            </c:strRef>
          </c:tx>
          <c:spPr>
            <a:solidFill>
              <a:srgbClr val="BFBFB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NHOPI'!$H$15:$H$18</c:f>
              <c:strCache>
                <c:ptCount val="4"/>
                <c:pt idx="0">
                  <c:v>Full-Time Worker
in Family</c:v>
                </c:pt>
                <c:pt idx="1">
                  <c:v>34 and Younger</c:v>
                </c:pt>
                <c:pt idx="2">
                  <c:v>Family Income
Below Poverty</c:v>
                </c:pt>
                <c:pt idx="3">
                  <c:v>Non-Citizen</c:v>
                </c:pt>
              </c:strCache>
            </c:strRef>
          </c:cat>
          <c:val>
            <c:numRef>
              <c:f>'ASIAN NHOPI'!$K$15:$K$18</c:f>
              <c:numCache>
                <c:formatCode>0%</c:formatCode>
                <c:ptCount val="4"/>
                <c:pt idx="0">
                  <c:v>0.84117002870915203</c:v>
                </c:pt>
                <c:pt idx="1">
                  <c:v>0.48923840652959899</c:v>
                </c:pt>
                <c:pt idx="2">
                  <c:v>7.7586580868031441E-2</c:v>
                </c:pt>
                <c:pt idx="3">
                  <c:v>1.6627545629728416E-2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690-42CA-B7EE-0EA1B8C5A5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981436511"/>
        <c:axId val="981439423"/>
      </c:barChart>
      <c:catAx>
        <c:axId val="9814365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1439423"/>
        <c:crosses val="autoZero"/>
        <c:auto val="1"/>
        <c:lblAlgn val="ctr"/>
        <c:lblOffset val="100"/>
        <c:noMultiLvlLbl val="0"/>
      </c:catAx>
      <c:valAx>
        <c:axId val="981439423"/>
        <c:scaling>
          <c:orientation val="minMax"/>
          <c:max val="1"/>
        </c:scaling>
        <c:delete val="1"/>
        <c:axPos val="l"/>
        <c:numFmt formatCode="0%" sourceLinked="1"/>
        <c:majorTickMark val="none"/>
        <c:minorTickMark val="none"/>
        <c:tickLblPos val="nextTo"/>
        <c:crossAx val="9814365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3629723711892498"/>
          <c:y val="6.8446269678302529E-2"/>
          <c:w val="0.27689012650881434"/>
          <c:h val="6.126974117968313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1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'ASIAN NHOPI'!$B$25</c:f>
              <c:strCache>
                <c:ptCount val="1"/>
                <c:pt idx="0">
                  <c:v>Asian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B6435FD7-F3E6-4D5F-9405-C42172DBF9E1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848F-480F-B73A-E7F2032E961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4989AD09-9DAD-4F05-8CC4-31F7FFC64EC7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848F-480F-B73A-E7F2032E961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474F7B3E-48F1-474C-AA55-D6F7C6B68FD2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848F-480F-B73A-E7F2032E961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EFFC1384-017B-4C91-B044-CCF3D3B79B30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ACB7-4555-BADE-53F29062FD4C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F6D75A9D-D55B-4BD3-9155-BE25561AA30C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848F-480F-B73A-E7F2032E961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NHOPI'!$A$26:$A$31</c:f>
              <c:strCache>
                <c:ptCount val="6"/>
                <c:pt idx="0">
                  <c:v>Problems Paying 
Medical Bills</c:v>
                </c:pt>
                <c:pt idx="1">
                  <c:v>Fair or Poor
Health Status</c:v>
                </c:pt>
                <c:pt idx="2">
                  <c:v>Ever Had 
Asthma</c:v>
                </c:pt>
                <c:pt idx="3">
                  <c:v>Told By Doctor
They Have Diabetes</c:v>
                </c:pt>
                <c:pt idx="4">
                  <c:v>No Mammogram in Past 2 Years (Women 50-74)</c:v>
                </c:pt>
                <c:pt idx="5">
                  <c:v>No Pap Smear in Past 3 Years (Women 21-65)</c:v>
                </c:pt>
              </c:strCache>
            </c:strRef>
          </c:cat>
          <c:val>
            <c:numRef>
              <c:f>'ASIAN NHOPI'!$B$26:$B$31</c:f>
              <c:numCache>
                <c:formatCode>0%</c:formatCode>
                <c:ptCount val="6"/>
                <c:pt idx="0">
                  <c:v>8.6310354888931906E-2</c:v>
                </c:pt>
                <c:pt idx="1">
                  <c:v>6.10608353516226E-2</c:v>
                </c:pt>
                <c:pt idx="2">
                  <c:v>8.41190376177329E-2</c:v>
                </c:pt>
                <c:pt idx="3">
                  <c:v>5.7738687814080002E-2</c:v>
                </c:pt>
                <c:pt idx="4">
                  <c:v>0.21069586007653901</c:v>
                </c:pt>
                <c:pt idx="5">
                  <c:v>0.31298507138637299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2F-4133-92C2-5FB4D3B6A8A1}"/>
            </c:ext>
          </c:extLst>
        </c:ser>
        <c:ser>
          <c:idx val="1"/>
          <c:order val="1"/>
          <c:tx>
            <c:strRef>
              <c:f>'ASIAN NHOPI'!$C$25</c:f>
              <c:strCache>
                <c:ptCount val="1"/>
                <c:pt idx="0">
                  <c:v>NHOPI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FCFDD8BA-7373-490E-8EFA-F95945D0999C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437A-4A6F-B2EC-D3720EFA55AB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59F2E65B-A66D-42EC-A4BD-A4F77E1E6469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437A-4A6F-B2EC-D3720EFA55AB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71F4B83A-0063-42BA-81D1-A78D1E9A19B7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437A-4A6F-B2EC-D3720EFA55AB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107ECED5-347E-4FDA-AF42-9AB6D957D431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ACB7-4555-BADE-53F29062FD4C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N/A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848F-480F-B73A-E7F2032E961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NHOPI'!$A$26:$A$31</c:f>
              <c:strCache>
                <c:ptCount val="6"/>
                <c:pt idx="0">
                  <c:v>Problems Paying 
Medical Bills</c:v>
                </c:pt>
                <c:pt idx="1">
                  <c:v>Fair or Poor
Health Status</c:v>
                </c:pt>
                <c:pt idx="2">
                  <c:v>Ever Had 
Asthma</c:v>
                </c:pt>
                <c:pt idx="3">
                  <c:v>Told By Doctor
They Have Diabetes</c:v>
                </c:pt>
                <c:pt idx="4">
                  <c:v>No Mammogram in Past 2 Years (Women 50-74)</c:v>
                </c:pt>
                <c:pt idx="5">
                  <c:v>No Pap Smear in Past 3 Years (Women 21-65)</c:v>
                </c:pt>
              </c:strCache>
            </c:strRef>
          </c:cat>
          <c:val>
            <c:numRef>
              <c:f>'ASIAN NHOPI'!$C$26:$C$31</c:f>
              <c:numCache>
                <c:formatCode>0%</c:formatCode>
                <c:ptCount val="6"/>
                <c:pt idx="0">
                  <c:v>0.23279909274463301</c:v>
                </c:pt>
                <c:pt idx="1">
                  <c:v>0.12087723035079399</c:v>
                </c:pt>
                <c:pt idx="2">
                  <c:v>0.18822843232756101</c:v>
                </c:pt>
                <c:pt idx="3">
                  <c:v>0.111018833084118</c:v>
                </c:pt>
                <c:pt idx="4">
                  <c:v>0</c:v>
                </c:pt>
                <c:pt idx="5">
                  <c:v>0.27695881488617502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32F-4133-92C2-5FB4D3B6A8A1}"/>
            </c:ext>
          </c:extLst>
        </c:ser>
        <c:ser>
          <c:idx val="2"/>
          <c:order val="2"/>
          <c:tx>
            <c:strRef>
              <c:f>'ASIAN NHOPI'!$D$25</c:f>
              <c:strCache>
                <c:ptCount val="1"/>
                <c:pt idx="0">
                  <c:v>White</c:v>
                </c:pt>
              </c:strCache>
            </c:strRef>
          </c:tx>
          <c:spPr>
            <a:solidFill>
              <a:srgbClr val="BFBFB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NHOPI'!$A$26:$A$31</c:f>
              <c:strCache>
                <c:ptCount val="6"/>
                <c:pt idx="0">
                  <c:v>Problems Paying 
Medical Bills</c:v>
                </c:pt>
                <c:pt idx="1">
                  <c:v>Fair or Poor
Health Status</c:v>
                </c:pt>
                <c:pt idx="2">
                  <c:v>Ever Had 
Asthma</c:v>
                </c:pt>
                <c:pt idx="3">
                  <c:v>Told By Doctor
They Have Diabetes</c:v>
                </c:pt>
                <c:pt idx="4">
                  <c:v>No Mammogram in Past 2 Years (Women 50-74)</c:v>
                </c:pt>
                <c:pt idx="5">
                  <c:v>No Pap Smear in Past 3 Years (Women 21-65)</c:v>
                </c:pt>
              </c:strCache>
            </c:strRef>
          </c:cat>
          <c:val>
            <c:numRef>
              <c:f>'ASIAN NHOPI'!$D$26:$D$31</c:f>
              <c:numCache>
                <c:formatCode>0%</c:formatCode>
                <c:ptCount val="6"/>
                <c:pt idx="0">
                  <c:v>0.15913734295830301</c:v>
                </c:pt>
                <c:pt idx="1">
                  <c:v>9.1997869342778094E-2</c:v>
                </c:pt>
                <c:pt idx="2">
                  <c:v>0.13766457277699501</c:v>
                </c:pt>
                <c:pt idx="3">
                  <c:v>6.8898439984850596E-2</c:v>
                </c:pt>
                <c:pt idx="4">
                  <c:v>0.223670224646805</c:v>
                </c:pt>
                <c:pt idx="5">
                  <c:v>0.18879836280486101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32F-4133-92C2-5FB4D3B6A8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981436511"/>
        <c:axId val="981439423"/>
      </c:barChart>
      <c:catAx>
        <c:axId val="9814365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1439423"/>
        <c:crosses val="autoZero"/>
        <c:auto val="1"/>
        <c:lblAlgn val="ctr"/>
        <c:lblOffset val="100"/>
        <c:noMultiLvlLbl val="0"/>
      </c:catAx>
      <c:valAx>
        <c:axId val="981439423"/>
        <c:scaling>
          <c:orientation val="minMax"/>
          <c:max val="1"/>
        </c:scaling>
        <c:delete val="1"/>
        <c:axPos val="l"/>
        <c:numFmt formatCode="0%" sourceLinked="1"/>
        <c:majorTickMark val="none"/>
        <c:minorTickMark val="none"/>
        <c:tickLblPos val="nextTo"/>
        <c:crossAx val="9814365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1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'ASIAN NHOPI'!$B$35</c:f>
              <c:strCache>
                <c:ptCount val="1"/>
                <c:pt idx="0">
                  <c:v>Asian Indian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NHOPI'!$A$36:$A$38</c:f>
              <c:strCache>
                <c:ptCount val="3"/>
                <c:pt idx="0">
                  <c:v>Fair or Poor
Health Status</c:v>
                </c:pt>
                <c:pt idx="1">
                  <c:v>Problems Paying
Medical Bills </c:v>
                </c:pt>
                <c:pt idx="2">
                  <c:v>Ever Had 
Asthma</c:v>
                </c:pt>
              </c:strCache>
            </c:strRef>
          </c:cat>
          <c:val>
            <c:numRef>
              <c:f>'ASIAN NHOPI'!$B$36:$B$38</c:f>
              <c:numCache>
                <c:formatCode>0%</c:formatCode>
                <c:ptCount val="3"/>
                <c:pt idx="0">
                  <c:v>3.1598193363065998E-2</c:v>
                </c:pt>
                <c:pt idx="1">
                  <c:v>6.9962551616841201E-2</c:v>
                </c:pt>
                <c:pt idx="2">
                  <c:v>5.2576207684896598E-2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2F-4133-92C2-5FB4D3B6A8A1}"/>
            </c:ext>
          </c:extLst>
        </c:ser>
        <c:ser>
          <c:idx val="1"/>
          <c:order val="1"/>
          <c:tx>
            <c:strRef>
              <c:f>'ASIAN NHOPI'!$C$35</c:f>
              <c:strCache>
                <c:ptCount val="1"/>
                <c:pt idx="0">
                  <c:v>Chinese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N/A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FB6D-4337-BE8E-A75F80F19CCD}"/>
                </c:ext>
              </c:extLst>
            </c:dLbl>
            <c:dLbl>
              <c:idx val="2"/>
              <c:layout>
                <c:manualLayout>
                  <c:x val="-1.039439917649825E-16"/>
                  <c:y val="1.09289617486338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2C5-45BF-931F-9661D886962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NHOPI'!$A$36:$A$38</c:f>
              <c:strCache>
                <c:ptCount val="3"/>
                <c:pt idx="0">
                  <c:v>Fair or Poor
Health Status</c:v>
                </c:pt>
                <c:pt idx="1">
                  <c:v>Problems Paying
Medical Bills </c:v>
                </c:pt>
                <c:pt idx="2">
                  <c:v>Ever Had 
Asthma</c:v>
                </c:pt>
              </c:strCache>
            </c:strRef>
          </c:cat>
          <c:val>
            <c:numRef>
              <c:f>'ASIAN NHOPI'!$C$36:$C$38</c:f>
              <c:numCache>
                <c:formatCode>0%</c:formatCode>
                <c:ptCount val="3"/>
                <c:pt idx="0">
                  <c:v>5.3947503834986602E-2</c:v>
                </c:pt>
                <c:pt idx="1">
                  <c:v>0</c:v>
                </c:pt>
                <c:pt idx="2">
                  <c:v>6.0633914281092799E-2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32F-4133-92C2-5FB4D3B6A8A1}"/>
            </c:ext>
          </c:extLst>
        </c:ser>
        <c:ser>
          <c:idx val="2"/>
          <c:order val="2"/>
          <c:tx>
            <c:strRef>
              <c:f>'ASIAN NHOPI'!$D$35</c:f>
              <c:strCache>
                <c:ptCount val="1"/>
                <c:pt idx="0">
                  <c:v>Filipino</c:v>
                </c:pt>
              </c:strCache>
            </c:strRef>
          </c:tx>
          <c:spPr>
            <a:solidFill>
              <a:srgbClr val="BFBFB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NHOPI'!$A$36:$A$38</c:f>
              <c:strCache>
                <c:ptCount val="3"/>
                <c:pt idx="0">
                  <c:v>Fair or Poor
Health Status</c:v>
                </c:pt>
                <c:pt idx="1">
                  <c:v>Problems Paying
Medical Bills </c:v>
                </c:pt>
                <c:pt idx="2">
                  <c:v>Ever Had 
Asthma</c:v>
                </c:pt>
              </c:strCache>
            </c:strRef>
          </c:cat>
          <c:val>
            <c:numRef>
              <c:f>'ASIAN NHOPI'!$D$36:$D$38</c:f>
              <c:numCache>
                <c:formatCode>0%</c:formatCode>
                <c:ptCount val="3"/>
                <c:pt idx="0">
                  <c:v>7.9263982238254399E-2</c:v>
                </c:pt>
                <c:pt idx="1">
                  <c:v>9.3054159983205598E-2</c:v>
                </c:pt>
                <c:pt idx="2">
                  <c:v>0.18207387015370499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32F-4133-92C2-5FB4D3B6A8A1}"/>
            </c:ext>
          </c:extLst>
        </c:ser>
        <c:ser>
          <c:idx val="3"/>
          <c:order val="3"/>
          <c:tx>
            <c:strRef>
              <c:f>'ASIAN NHOPI'!$E$35</c:f>
              <c:strCache>
                <c:ptCount val="1"/>
                <c:pt idx="0">
                  <c:v>Other Asian</c:v>
                </c:pt>
              </c:strCache>
            </c:strRef>
          </c:tx>
          <c:spPr>
            <a:solidFill>
              <a:srgbClr val="43B4F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NHOPI'!$A$36:$A$38</c:f>
              <c:strCache>
                <c:ptCount val="3"/>
                <c:pt idx="0">
                  <c:v>Fair or Poor
Health Status</c:v>
                </c:pt>
                <c:pt idx="1">
                  <c:v>Problems Paying
Medical Bills </c:v>
                </c:pt>
                <c:pt idx="2">
                  <c:v>Ever Had 
Asthma</c:v>
                </c:pt>
              </c:strCache>
            </c:strRef>
          </c:cat>
          <c:val>
            <c:numRef>
              <c:f>'ASIAN NHOPI'!$E$36:$E$38</c:f>
              <c:numCache>
                <c:formatCode>0%</c:formatCode>
                <c:ptCount val="3"/>
                <c:pt idx="0">
                  <c:v>7.54957455540545E-2</c:v>
                </c:pt>
                <c:pt idx="1">
                  <c:v>8.8044357628045994E-2</c:v>
                </c:pt>
                <c:pt idx="2">
                  <c:v>5.8886088163970597E-2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69-4ABF-A345-7E71548F40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981436511"/>
        <c:axId val="981439423"/>
      </c:barChart>
      <c:catAx>
        <c:axId val="9814365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1439423"/>
        <c:crosses val="autoZero"/>
        <c:auto val="1"/>
        <c:lblAlgn val="ctr"/>
        <c:lblOffset val="100"/>
        <c:noMultiLvlLbl val="0"/>
      </c:catAx>
      <c:valAx>
        <c:axId val="981439423"/>
        <c:scaling>
          <c:orientation val="minMax"/>
          <c:max val="1"/>
        </c:scaling>
        <c:delete val="1"/>
        <c:axPos val="l"/>
        <c:numFmt formatCode="0%" sourceLinked="1"/>
        <c:majorTickMark val="none"/>
        <c:minorTickMark val="none"/>
        <c:tickLblPos val="nextTo"/>
        <c:crossAx val="9814365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1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'ASIAN NHOPI'!$B$57</c:f>
              <c:strCache>
                <c:ptCount val="1"/>
                <c:pt idx="0">
                  <c:v>uninsured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8233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27B8-4018-9696-C834223BA2B0}"/>
              </c:ext>
            </c:extLst>
          </c:dPt>
          <c:dPt>
            <c:idx val="1"/>
            <c:invertIfNegative val="0"/>
            <c:bubble3D val="0"/>
            <c:spPr>
              <a:solidFill>
                <a:srgbClr val="0E3B5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7B8-4018-9696-C834223BA2B0}"/>
              </c:ext>
            </c:extLst>
          </c:dPt>
          <c:dPt>
            <c:idx val="2"/>
            <c:invertIfNegative val="0"/>
            <c:bubble3D val="0"/>
            <c:spPr>
              <a:solidFill>
                <a:srgbClr val="00579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27B8-4018-9696-C834223BA2B0}"/>
              </c:ext>
            </c:extLst>
          </c:dPt>
          <c:dPt>
            <c:idx val="3"/>
            <c:invertIfNegative val="0"/>
            <c:bubble3D val="0"/>
            <c:spPr>
              <a:solidFill>
                <a:srgbClr val="0077C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7B8-4018-9696-C834223BA2B0}"/>
              </c:ext>
            </c:extLst>
          </c:dPt>
          <c:dPt>
            <c:idx val="4"/>
            <c:invertIfNegative val="0"/>
            <c:bubble3D val="0"/>
            <c:spPr>
              <a:solidFill>
                <a:srgbClr val="43B4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27B8-4018-9696-C834223BA2B0}"/>
              </c:ext>
            </c:extLst>
          </c:dPt>
          <c:dPt>
            <c:idx val="5"/>
            <c:invertIfNegative val="0"/>
            <c:bubble3D val="0"/>
            <c:spPr>
              <a:solidFill>
                <a:srgbClr val="C0E6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7B8-4018-9696-C834223BA2B0}"/>
              </c:ext>
            </c:extLst>
          </c:dPt>
          <c:dPt>
            <c:idx val="6"/>
            <c:invertIfNegative val="0"/>
            <c:bubble3D val="0"/>
            <c:spPr>
              <a:solidFill>
                <a:srgbClr val="08233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27B8-4018-9696-C834223BA2B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NHOPI'!$A$58:$A$64</c:f>
              <c:strCache>
                <c:ptCount val="7"/>
                <c:pt idx="0">
                  <c:v>Asian 
Indian</c:v>
                </c:pt>
                <c:pt idx="1">
                  <c:v>Korean</c:v>
                </c:pt>
                <c:pt idx="2">
                  <c:v>Chinese</c:v>
                </c:pt>
                <c:pt idx="3">
                  <c:v>Filipino</c:v>
                </c:pt>
                <c:pt idx="4">
                  <c:v>Japanese</c:v>
                </c:pt>
                <c:pt idx="5">
                  <c:v>Vietnamese</c:v>
                </c:pt>
                <c:pt idx="6">
                  <c:v>Other 
Asian</c:v>
                </c:pt>
              </c:strCache>
            </c:strRef>
          </c:cat>
          <c:val>
            <c:numRef>
              <c:f>'ASIAN NHOPI'!$B$58:$B$64</c:f>
              <c:numCache>
                <c:formatCode>0%</c:formatCode>
                <c:ptCount val="7"/>
                <c:pt idx="0">
                  <c:v>4.7795681308236797E-2</c:v>
                </c:pt>
                <c:pt idx="1">
                  <c:v>0.103188260743228</c:v>
                </c:pt>
                <c:pt idx="2">
                  <c:v>7.1180612924850895E-2</c:v>
                </c:pt>
                <c:pt idx="3">
                  <c:v>5.9701912691707E-2</c:v>
                </c:pt>
                <c:pt idx="4">
                  <c:v>4.4465169562471499E-2</c:v>
                </c:pt>
                <c:pt idx="5">
                  <c:v>9.1528505989913703E-2</c:v>
                </c:pt>
                <c:pt idx="6">
                  <c:v>9.10923439842386E-2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9C-4B51-BEE4-28B3C6F3D4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360812191"/>
        <c:axId val="1360803455"/>
      </c:barChart>
      <c:catAx>
        <c:axId val="13608121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60803455"/>
        <c:crosses val="autoZero"/>
        <c:auto val="1"/>
        <c:lblAlgn val="ctr"/>
        <c:lblOffset val="100"/>
        <c:noMultiLvlLbl val="0"/>
      </c:catAx>
      <c:valAx>
        <c:axId val="1360803455"/>
        <c:scaling>
          <c:orientation val="minMax"/>
          <c:max val="0.2"/>
        </c:scaling>
        <c:delete val="1"/>
        <c:axPos val="l"/>
        <c:numFmt formatCode="0%" sourceLinked="1"/>
        <c:majorTickMark val="out"/>
        <c:minorTickMark val="none"/>
        <c:tickLblPos val="nextTo"/>
        <c:crossAx val="13608121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1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NHOPI</c:v>
          </c:tx>
          <c:spPr>
            <a:ln w="28575">
              <a:solidFill>
                <a:srgbClr val="4472C4"/>
              </a:solidFill>
            </a:ln>
          </c:spPr>
          <c:marker>
            <c:symbol val="circle"/>
            <c:size val="5"/>
            <c:spPr>
              <a:solidFill>
                <a:srgbClr val="4472C4"/>
              </a:solidFill>
              <a:ln>
                <a:solidFill>
                  <a:srgbClr val="4472C4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14</c:v>
                </c:pt>
                <c:pt idx="2">
                  <c:v>10</c:v>
                </c:pt>
                <c:pt idx="3">
                  <c:v>11</c:v>
                </c:pt>
                <c:pt idx="4">
                  <c:v>11</c:v>
                </c:pt>
              </c:numCache>
            </c:numRef>
          </c:val>
        </c:ser>
        <c:ser>
          <c:idx val="1"/>
          <c:order val="1"/>
          <c:tx>
            <c:v>Asian</c:v>
          </c:tx>
          <c:spPr>
            <a:ln w="28575">
              <a:solidFill>
                <a:srgbClr val="ED7D31"/>
              </a:solidFill>
            </a:ln>
          </c:spPr>
          <c:marker>
            <c:symbol val="circle"/>
            <c:size val="5"/>
            <c:spPr>
              <a:solidFill>
                <a:srgbClr val="ED7D31"/>
              </a:solidFill>
              <a:ln>
                <a:solidFill>
                  <a:srgbClr val="ED7D31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16</c:v>
                </c:pt>
                <c:pt idx="1">
                  <c:v>11</c:v>
                </c:pt>
                <c:pt idx="2">
                  <c:v>8</c:v>
                </c:pt>
                <c:pt idx="3">
                  <c:v>7</c:v>
                </c:pt>
                <c:pt idx="4">
                  <c:v>7</c:v>
                </c:pt>
              </c:numCache>
            </c:numRef>
          </c:val>
        </c:ser>
        <c:ser>
          <c:idx val="2"/>
          <c:order val="2"/>
          <c:tx>
            <c:v>White</c:v>
          </c:tx>
          <c:spPr>
            <a:ln w="28575">
              <a:solidFill>
                <a:srgbClr val="A5A5A5"/>
              </a:solidFill>
            </a:ln>
          </c:spPr>
          <c:marker>
            <c:symbol val="circle"/>
            <c:size val="5"/>
            <c:spPr>
              <a:solidFill>
                <a:srgbClr val="A5A5A5"/>
              </a:solidFill>
              <a:ln>
                <a:solidFill>
                  <a:srgbClr val="A5A5A5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12</c:v>
                </c:pt>
                <c:pt idx="1">
                  <c:v>10</c:v>
                </c:pt>
                <c:pt idx="2">
                  <c:v>8</c:v>
                </c:pt>
                <c:pt idx="3">
                  <c:v>7</c:v>
                </c:pt>
                <c:pt idx="4">
                  <c:v>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000000"/>
        <c:axId val="10000001"/>
      </c:lineChart>
      <c:catAx>
        <c:axId val="10000000"/>
        <c:scaling>
          <c:orientation val="minMax"/>
        </c:scaling>
        <c:delete val="0"/>
        <c:axPos val="b"/>
        <c:majorTickMark val="out"/>
        <c:minorTickMark val="none"/>
        <c:tickLblPos val="nextTo"/>
        <c:crossAx val="10000001"/>
        <c:crosses val="autoZero"/>
        <c:auto val="1"/>
        <c:lblAlgn val="ctr"/>
        <c:lblOffset val="100"/>
        <c:noMultiLvlLbl val="0"/>
      </c:catAx>
      <c:valAx>
        <c:axId val="10000001"/>
        <c:scaling>
          <c:orientation val="minMax"/>
        </c:scaling>
        <c:delete val="0"/>
        <c:axPos val="l"/>
        <c:majorGridlines/>
        <c:majorTickMark val="out"/>
        <c:minorTickMark val="none"/>
        <c:tickLblPos val="nextTo"/>
        <c:crossAx val="1000000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C43DA6-05E9-4D4D-B0E7-80B3EEB869A1}" type="datetimeFigureOut">
              <a:rPr lang="en-US" smtClean="0"/>
              <a:t>8/14/25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537C8F-D4B3-4C4D-A06B-7022DCE84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7142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1A4D92E5-9FFA-458A-9BEA-BDF5C2EF3530}" type="datetimeFigureOut">
              <a:rPr lang="en-US" smtClean="0"/>
              <a:t>8/14/25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F3E76084-7007-4F9A-9BF5-85CA96B02E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093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Angle -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" y="1097280"/>
            <a:ext cx="8961120" cy="502920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91440" y="56716"/>
            <a:ext cx="896112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318635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Angle - 2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/>
          <p:cNvSpPr>
            <a:spLocks noGrp="1"/>
          </p:cNvSpPr>
          <p:nvPr>
            <p:ph idx="1"/>
          </p:nvPr>
        </p:nvSpPr>
        <p:spPr>
          <a:xfrm>
            <a:off x="91440" y="1097280"/>
            <a:ext cx="4434840" cy="502920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91440" y="56716"/>
            <a:ext cx="896112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12"/>
          </p:nvPr>
        </p:nvSpPr>
        <p:spPr>
          <a:xfrm>
            <a:off x="4617720" y="1097280"/>
            <a:ext cx="4434840" cy="502920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4180699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Angle - 3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91440" y="1097280"/>
            <a:ext cx="2926080" cy="502920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91440" y="56715"/>
            <a:ext cx="896112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2"/>
          </p:nvPr>
        </p:nvSpPr>
        <p:spPr>
          <a:xfrm>
            <a:off x="3108960" y="1097280"/>
            <a:ext cx="2926080" cy="502920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13"/>
          </p:nvPr>
        </p:nvSpPr>
        <p:spPr>
          <a:xfrm>
            <a:off x="6126480" y="1097280"/>
            <a:ext cx="2926080" cy="502920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4196779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Angle 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 noChangeArrowheads="1"/>
          </p:cNvSpPr>
          <p:nvPr>
            <p:ph type="title"/>
          </p:nvPr>
        </p:nvSpPr>
        <p:spPr bwMode="auto">
          <a:xfrm>
            <a:off x="91440" y="56716"/>
            <a:ext cx="896112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1723151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No A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56716"/>
            <a:ext cx="82905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91440" y="1097280"/>
            <a:ext cx="8961120" cy="502920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3901353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 Gray A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KFF_Plate_Tab+Slab6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55"/>
          <a:stretch/>
        </p:blipFill>
        <p:spPr>
          <a:xfrm>
            <a:off x="6283784" y="0"/>
            <a:ext cx="2860217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" y="1097280"/>
            <a:ext cx="8961120" cy="502920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32104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55565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56716"/>
            <a:ext cx="82905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5010" y="6309360"/>
            <a:ext cx="79899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644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Slide Gray A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3481312" y="0"/>
            <a:ext cx="5662688" cy="6858000"/>
          </a:xfrm>
          <a:prstGeom prst="rect">
            <a:avLst/>
          </a:prstGeom>
          <a:solidFill>
            <a:srgbClr val="F5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1" name="Picture 10" descr="KFF_Plate_Tab+Slab6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55"/>
          <a:stretch/>
        </p:blipFill>
        <p:spPr>
          <a:xfrm>
            <a:off x="644983" y="0"/>
            <a:ext cx="2860217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" y="1097280"/>
            <a:ext cx="8961120" cy="502920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56716"/>
            <a:ext cx="82905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5010" y="6309360"/>
            <a:ext cx="798990" cy="548640"/>
          </a:xfrm>
          <a:prstGeom prst="rect">
            <a:avLst/>
          </a:prstGeom>
        </p:spPr>
      </p:pic>
      <p:sp>
        <p:nvSpPr>
          <p:cNvPr id="12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4219005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" y="1371600"/>
            <a:ext cx="896112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2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31036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1937511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/>
          <p:cNvSpPr>
            <a:spLocks noGrp="1"/>
          </p:cNvSpPr>
          <p:nvPr>
            <p:ph idx="1"/>
          </p:nvPr>
        </p:nvSpPr>
        <p:spPr>
          <a:xfrm>
            <a:off x="91440" y="1371600"/>
            <a:ext cx="443484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12"/>
          </p:nvPr>
        </p:nvSpPr>
        <p:spPr>
          <a:xfrm>
            <a:off x="4617720" y="1371600"/>
            <a:ext cx="443484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65760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2124979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91440" y="1371600"/>
            <a:ext cx="292608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32104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2"/>
          </p:nvPr>
        </p:nvSpPr>
        <p:spPr>
          <a:xfrm>
            <a:off x="3108960" y="1371600"/>
            <a:ext cx="292608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13"/>
          </p:nvPr>
        </p:nvSpPr>
        <p:spPr>
          <a:xfrm>
            <a:off x="6126480" y="1371600"/>
            <a:ext cx="292608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31036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8816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31036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13147119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" y="1371600"/>
            <a:ext cx="896112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2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31036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19157723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/>
          <p:cNvSpPr>
            <a:spLocks noGrp="1"/>
          </p:cNvSpPr>
          <p:nvPr>
            <p:ph idx="1"/>
          </p:nvPr>
        </p:nvSpPr>
        <p:spPr>
          <a:xfrm>
            <a:off x="91440" y="1371600"/>
            <a:ext cx="443484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12"/>
          </p:nvPr>
        </p:nvSpPr>
        <p:spPr>
          <a:xfrm>
            <a:off x="4617720" y="1371600"/>
            <a:ext cx="443484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31035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23653234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91440" y="1371600"/>
            <a:ext cx="292608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2"/>
          </p:nvPr>
        </p:nvSpPr>
        <p:spPr>
          <a:xfrm>
            <a:off x="3108960" y="1371600"/>
            <a:ext cx="292608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13"/>
          </p:nvPr>
        </p:nvSpPr>
        <p:spPr>
          <a:xfrm>
            <a:off x="6126480" y="1371600"/>
            <a:ext cx="292608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31036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37708896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32104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55565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31036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240752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2438400" y="1295400"/>
            <a:ext cx="6008786" cy="10005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2438400" y="2424199"/>
            <a:ext cx="4168742" cy="884238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600" b="0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STYLE</a:t>
            </a:r>
          </a:p>
        </p:txBody>
      </p:sp>
      <p:sp>
        <p:nvSpPr>
          <p:cNvPr id="22" name="Content Placeholder 21"/>
          <p:cNvSpPr>
            <a:spLocks noGrp="1"/>
          </p:cNvSpPr>
          <p:nvPr>
            <p:ph sz="quarter" idx="13" hasCustomPrompt="1"/>
          </p:nvPr>
        </p:nvSpPr>
        <p:spPr>
          <a:xfrm>
            <a:off x="2438400" y="3668799"/>
            <a:ext cx="1511267" cy="284362"/>
          </a:xfrm>
          <a:prstGeom prst="rect">
            <a:avLst/>
          </a:prstGeom>
        </p:spPr>
        <p:txBody>
          <a:bodyPr vert="horz"/>
          <a:lstStyle>
            <a:lvl1pPr marL="0" indent="0">
              <a:buFontTx/>
              <a:buNone/>
              <a:defRPr sz="1600" b="0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Authors</a:t>
            </a:r>
          </a:p>
        </p:txBody>
      </p:sp>
      <p:sp>
        <p:nvSpPr>
          <p:cNvPr id="28" name="Content Placeholder 27"/>
          <p:cNvSpPr>
            <a:spLocks noGrp="1"/>
          </p:cNvSpPr>
          <p:nvPr>
            <p:ph sz="quarter" idx="16" hasCustomPrompt="1"/>
          </p:nvPr>
        </p:nvSpPr>
        <p:spPr>
          <a:xfrm>
            <a:off x="2438400" y="4122031"/>
            <a:ext cx="3762342" cy="849313"/>
          </a:xfrm>
          <a:prstGeom prst="rect">
            <a:avLst/>
          </a:prstGeom>
        </p:spPr>
        <p:txBody>
          <a:bodyPr vert="horz"/>
          <a:lstStyle>
            <a:lvl1pPr marL="0" indent="0">
              <a:buFontTx/>
              <a:buNone/>
              <a:defRPr sz="12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Multiple Author Names, Name Last Name, Name </a:t>
            </a:r>
            <a:r>
              <a:rPr lang="en-US" dirty="0" err="1"/>
              <a:t>lastname</a:t>
            </a:r>
            <a:r>
              <a:rPr lang="en-US" dirty="0"/>
              <a:t> &amp; name </a:t>
            </a:r>
            <a:r>
              <a:rPr lang="en-US" dirty="0" err="1"/>
              <a:t>lastname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78460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620452" y="1680186"/>
            <a:ext cx="7772401" cy="14700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This is a Divider Slide	</a:t>
            </a:r>
          </a:p>
        </p:txBody>
      </p:sp>
      <p:sp>
        <p:nvSpPr>
          <p:cNvPr id="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24844" y="2536153"/>
            <a:ext cx="7705350" cy="17526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>
                <a:solidFill>
                  <a:srgbClr val="FFFFFF"/>
                </a:solidFill>
              </a:defRPr>
            </a:lvl1pPr>
            <a:lvl2pPr marL="4572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Add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087538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.jpeg"/><Relationship Id="rId5" Type="http://schemas.openxmlformats.org/officeDocument/2006/relationships/image" Target="../media/image2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.pn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15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85000"/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56716"/>
            <a:ext cx="89001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324600"/>
            <a:ext cx="609600" cy="404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939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lang="en-US" sz="2800" b="0" i="0" dirty="0" smtClean="0">
          <a:solidFill>
            <a:srgbClr val="323A45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85000"/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56716"/>
            <a:ext cx="82905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894"/>
            <a:ext cx="850394" cy="150876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324600"/>
            <a:ext cx="609600" cy="404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805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3" r:id="rId2"/>
    <p:sldLayoutId id="2147483687" r:id="rId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lang="en-US" sz="2800" b="0" i="0" dirty="0" smtClean="0">
          <a:solidFill>
            <a:srgbClr val="55565A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85000"/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894"/>
            <a:ext cx="850394" cy="1508763"/>
          </a:xfrm>
          <a:prstGeom prst="rect">
            <a:avLst/>
          </a:prstGeom>
        </p:spPr>
      </p:pic>
      <p:sp>
        <p:nvSpPr>
          <p:cNvPr id="8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65760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685800" y="91440"/>
            <a:ext cx="83667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0" dirty="0">
                <a:solidFill>
                  <a:srgbClr val="55565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Exhibit</a:t>
            </a:r>
            <a:r>
              <a:rPr lang="en-US" sz="1400" b="0" dirty="0">
                <a:solidFill>
                  <a:srgbClr val="55565A"/>
                </a:solidFill>
                <a:latin typeface="Calibri" pitchFamily="34" charset="0"/>
                <a:cs typeface="Meta Offc Pro"/>
              </a:rPr>
              <a:t> </a:t>
            </a:r>
            <a:fld id="{0C16F13B-3659-4888-B784-82F22626CC5F}" type="slidenum">
              <a:rPr lang="en-US" sz="1400" b="0" smtClean="0">
                <a:solidFill>
                  <a:srgbClr val="55565A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/>
              <a:t>‹#›</a:t>
            </a:fld>
            <a:endParaRPr lang="en-US" sz="1400" b="0" dirty="0" err="1">
              <a:solidFill>
                <a:srgbClr val="55565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324600"/>
            <a:ext cx="609600" cy="404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246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lang="en-US" sz="2800" b="0" i="0" dirty="0" smtClean="0">
          <a:solidFill>
            <a:srgbClr val="323A45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85000"/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65760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"/>
            <a:ext cx="83667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0" dirty="0">
                <a:solidFill>
                  <a:srgbClr val="55565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Figure</a:t>
            </a:r>
            <a:r>
              <a:rPr lang="en-US" sz="1400" b="0" dirty="0">
                <a:solidFill>
                  <a:srgbClr val="55565A"/>
                </a:solidFill>
                <a:latin typeface="Calibri" pitchFamily="34" charset="0"/>
                <a:cs typeface="Meta Offc Pro"/>
              </a:rPr>
              <a:t> </a:t>
            </a:r>
            <a:fld id="{0C16F13B-3659-4888-B784-82F22626CC5F}" type="slidenum">
              <a:rPr lang="en-US" sz="1400" b="0" smtClean="0">
                <a:solidFill>
                  <a:srgbClr val="55565A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/>
              <a:t>‹#›</a:t>
            </a:fld>
            <a:endParaRPr lang="en-US" sz="1400" b="0" dirty="0" err="1">
              <a:solidFill>
                <a:srgbClr val="55565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575" y="-2894"/>
            <a:ext cx="861969" cy="150876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324600"/>
            <a:ext cx="609600" cy="404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789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lang="en-US" sz="2800" b="0" i="0" dirty="0" smtClean="0">
          <a:solidFill>
            <a:srgbClr val="323A45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5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KFF_Large_K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308"/>
          <a:stretch/>
        </p:blipFill>
        <p:spPr>
          <a:xfrm>
            <a:off x="0" y="0"/>
            <a:ext cx="3358798" cy="6858000"/>
          </a:xfrm>
          <a:prstGeom prst="rect">
            <a:avLst/>
          </a:prstGeom>
        </p:spPr>
      </p:pic>
      <p:pic>
        <p:nvPicPr>
          <p:cNvPr id="6" name="Picture 5" descr="KFF_Full_Logo_KO.pn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574" y="5295540"/>
            <a:ext cx="1184364" cy="786320"/>
          </a:xfrm>
          <a:prstGeom prst="rect">
            <a:avLst/>
          </a:prstGeom>
        </p:spPr>
      </p:pic>
      <p:pic>
        <p:nvPicPr>
          <p:cNvPr id="7" name="Picture 6" descr="KFF_Tagline_KO.png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3031" y="6251604"/>
            <a:ext cx="4162012" cy="243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836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500"/>
                            </p:stCondLst>
                            <p:childTnLst>
                              <p:par>
                                <p:cTn id="10" presetID="42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45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457200" rtl="0" eaLnBrk="1" latinLnBrk="0" hangingPunct="1">
        <a:spcBef>
          <a:spcPct val="0"/>
        </a:spcBef>
        <a:buNone/>
        <a:defRPr sz="3200" kern="1200" baseline="0">
          <a:solidFill>
            <a:schemeClr val="bg1"/>
          </a:solidFill>
          <a:latin typeface="MetaSerif-Book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KFF_Large_K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308"/>
          <a:stretch/>
        </p:blipFill>
        <p:spPr>
          <a:xfrm>
            <a:off x="0" y="0"/>
            <a:ext cx="3358798" cy="6858000"/>
          </a:xfrm>
          <a:prstGeom prst="rect">
            <a:avLst/>
          </a:prstGeom>
        </p:spPr>
      </p:pic>
      <p:pic>
        <p:nvPicPr>
          <p:cNvPr id="6" name="Picture 5" descr="KFF_Full_Logo_KO.pn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574" y="5295540"/>
            <a:ext cx="1184364" cy="786320"/>
          </a:xfrm>
          <a:prstGeom prst="rect">
            <a:avLst/>
          </a:prstGeom>
        </p:spPr>
      </p:pic>
      <p:pic>
        <p:nvPicPr>
          <p:cNvPr id="7" name="Picture 6" descr="KFF_Tagline_KO.png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3031" y="6251604"/>
            <a:ext cx="4162012" cy="243326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-1" y="0"/>
            <a:ext cx="9144001" cy="6858000"/>
          </a:xfrm>
          <a:prstGeom prst="rect">
            <a:avLst/>
          </a:prstGeom>
          <a:solidFill>
            <a:srgbClr val="0B5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KFF_Plate_Tab+Slab6.png"/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55"/>
          <a:stretch/>
        </p:blipFill>
        <p:spPr>
          <a:xfrm>
            <a:off x="5331370" y="0"/>
            <a:ext cx="3812630" cy="6858000"/>
          </a:xfrm>
          <a:prstGeom prst="rect">
            <a:avLst/>
          </a:prstGeom>
        </p:spPr>
      </p:pic>
      <p:pic>
        <p:nvPicPr>
          <p:cNvPr id="10" name="Picture 9" descr="KFF_Plate_Tab+Slab9.png"/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613" b="85485"/>
          <a:stretch/>
        </p:blipFill>
        <p:spPr>
          <a:xfrm>
            <a:off x="0" y="0"/>
            <a:ext cx="1028125" cy="1695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802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500"/>
                            </p:stCondLst>
                            <p:childTnLst>
                              <p:par>
                                <p:cTn id="10" presetID="42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45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457200" rtl="0" eaLnBrk="1" latinLnBrk="0" hangingPunct="1">
        <a:spcBef>
          <a:spcPct val="0"/>
        </a:spcBef>
        <a:buNone/>
        <a:defRPr sz="3200" kern="1200" baseline="0">
          <a:solidFill>
            <a:schemeClr val="bg1"/>
          </a:solidFill>
          <a:latin typeface="MetaSerif-Book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3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2254163"/>
            <a:ext cx="6008786" cy="1000511"/>
          </a:xfrm>
        </p:spPr>
        <p:txBody>
          <a:bodyPr/>
          <a:lstStyle/>
          <a:p>
            <a:r>
              <a:rPr lang="en-US" dirty="0"/>
              <a:t>Health and Health Care for Asian Americans, Native Hawaiians and Other Pacific Islanders (NHOPIs) in the United States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438400" y="4144962"/>
            <a:ext cx="4168742" cy="884238"/>
          </a:xfrm>
        </p:spPr>
        <p:txBody>
          <a:bodyPr/>
          <a:lstStyle/>
          <a:p>
            <a:r>
              <a:rPr lang="en-US"/>
              <a:t>Updated May </a:t>
            </a:r>
            <a:r>
              <a:rPr lang="en-US" dirty="0"/>
              <a:t>2019</a:t>
            </a:r>
          </a:p>
        </p:txBody>
      </p:sp>
    </p:spTree>
    <p:extLst>
      <p:ext uri="{BB962C8B-B14F-4D97-AF65-F5344CB8AC3E}">
        <p14:creationId xmlns:p14="http://schemas.microsoft.com/office/powerpoint/2010/main" val="2563195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1950720"/>
            <a:ext cx="3489960" cy="4754880"/>
          </a:xfrm>
        </p:spPr>
        <p:txBody>
          <a:bodyPr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tx1"/>
                </a:solidFill>
              </a:rPr>
              <a:t>Nearly </a:t>
            </a:r>
            <a:r>
              <a:rPr lang="en-US" sz="2800" b="1" dirty="0">
                <a:solidFill>
                  <a:schemeClr val="accent4"/>
                </a:solidFill>
              </a:rPr>
              <a:t>18.2</a:t>
            </a:r>
            <a:r>
              <a:rPr lang="en-US" sz="2800" b="1" dirty="0">
                <a:solidFill>
                  <a:srgbClr val="0077C8"/>
                </a:solidFill>
              </a:rPr>
              <a:t> million individuals </a:t>
            </a:r>
            <a:r>
              <a:rPr lang="en-US" sz="2400" dirty="0">
                <a:solidFill>
                  <a:schemeClr val="tx1"/>
                </a:solidFill>
              </a:rPr>
              <a:t>self-identify as Asian or NHOPI.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050" dirty="0"/>
              <a:t>Note: Asians and NHOPIs are non-Hispanic. </a:t>
            </a:r>
          </a:p>
          <a:p>
            <a:r>
              <a:rPr lang="en-US" sz="1050" dirty="0"/>
              <a:t>Source: Kaiser Family Foundation analysis of 2017 American Community Survey (ACS), 1-Year Estimates.</a:t>
            </a:r>
          </a:p>
        </p:txBody>
      </p:sp>
      <p:sp>
        <p:nvSpPr>
          <p:cNvPr id="8" name="Content Placeholder 4"/>
          <p:cNvSpPr>
            <a:spLocks noGrp="1"/>
          </p:cNvSpPr>
          <p:nvPr>
            <p:ph idx="12"/>
          </p:nvPr>
        </p:nvSpPr>
        <p:spPr>
          <a:xfrm>
            <a:off x="5172542" y="1950720"/>
            <a:ext cx="3489960" cy="4754880"/>
          </a:xfrm>
        </p:spPr>
        <p:txBody>
          <a:bodyPr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tx1"/>
                </a:solidFill>
              </a:rPr>
              <a:t>Asians and NHOPIs account for </a:t>
            </a:r>
            <a:r>
              <a:rPr lang="en-US" sz="2800" b="1" dirty="0">
                <a:solidFill>
                  <a:srgbClr val="0077C8"/>
                </a:solidFill>
              </a:rPr>
              <a:t>6% </a:t>
            </a:r>
            <a:r>
              <a:rPr lang="en-US" sz="2400" dirty="0">
                <a:solidFill>
                  <a:schemeClr val="tx1"/>
                </a:solidFill>
              </a:rPr>
              <a:t>of the total United States population.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433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Asian and NHOPI populations are made up of diverse groups.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050" dirty="0"/>
              <a:t>Note: Includes nonelderly individuals 0-64 years of age. Asians and NHOPIs are non-Hispanic and exclude individuals of mixed race. </a:t>
            </a:r>
          </a:p>
          <a:p>
            <a:r>
              <a:rPr lang="en-US" sz="1050" dirty="0"/>
              <a:t>Source: Kaiser Family Foundation analysis of 2017 American Community Survey (ACS), 1-Year Estimates.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45436"/>
            <a:ext cx="792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j-lt"/>
                <a:cs typeface="Meta Offc Pro"/>
              </a:rPr>
              <a:t>DISTRIBUTION OF NONELDERLY ASIAN &amp; NHOPI POPULATIONS, 2017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0385503"/>
              </p:ext>
            </p:extLst>
          </p:nvPr>
        </p:nvGraphicFramePr>
        <p:xfrm>
          <a:off x="92075" y="1752600"/>
          <a:ext cx="8959850" cy="44531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32424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Asians and NHOPIs live across the U.S., but make up a greater share of the population in a few states.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050" dirty="0"/>
              <a:t>Note: Includes nonelderly individuals 0-64 years of age. Asians and NHOPIs are non-Hispanic and exclude individuals of mixed race. </a:t>
            </a:r>
          </a:p>
          <a:p>
            <a:r>
              <a:rPr lang="en-US" sz="1050" dirty="0"/>
              <a:t>Source: Kaiser Family Foundation analysis of 2017 American Community Survey (ACS), 1-Year Estimates.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45436"/>
            <a:ext cx="792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cs typeface="Meta Offc Pro"/>
              </a:rPr>
              <a:t>DISTRIBUTION OF NONELDERLY ASIAN &amp; NHOPI POPULATIONS BY STATE, 2017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BDBDB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3006951" y="2754548"/>
            <a:ext cx="652732" cy="386667"/>
          </a:xfrm>
          <a:prstGeom prst="rect">
            <a:avLst/>
          </a:prstGeom>
        </p:spPr>
      </p:pic>
      <p:graphicFrame>
        <p:nvGraphicFramePr>
          <p:cNvPr id="16" name="Content Placeholder 1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7768959"/>
              </p:ext>
            </p:extLst>
          </p:nvPr>
        </p:nvGraphicFramePr>
        <p:xfrm>
          <a:off x="92075" y="1644651"/>
          <a:ext cx="4433888" cy="42654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204119" y="5909936"/>
            <a:ext cx="2209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+mj-lt"/>
                <a:cs typeface="Meta Offc Pro"/>
              </a:rPr>
              <a:t>Total Asian: 15.5 Million </a:t>
            </a:r>
          </a:p>
        </p:txBody>
      </p:sp>
      <p:graphicFrame>
        <p:nvGraphicFramePr>
          <p:cNvPr id="18" name="Content Placeholder 17"/>
          <p:cNvGraphicFramePr>
            <a:graphicFrameLocks noGrp="1"/>
          </p:cNvGraphicFramePr>
          <p:nvPr>
            <p:ph idx="12"/>
            <p:extLst>
              <p:ext uri="{D42A27DB-BD31-4B8C-83A1-F6EECF244321}">
                <p14:modId xmlns:p14="http://schemas.microsoft.com/office/powerpoint/2010/main" val="1313222478"/>
              </p:ext>
            </p:extLst>
          </p:nvPr>
        </p:nvGraphicFramePr>
        <p:xfrm>
          <a:off x="4618038" y="1644651"/>
          <a:ext cx="4433887" cy="42654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730081" y="5909935"/>
            <a:ext cx="2209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+mj-lt"/>
                <a:cs typeface="Meta Offc Pro"/>
              </a:rPr>
              <a:t>Total NHOPI: 0.5 Million</a:t>
            </a:r>
          </a:p>
        </p:txBody>
      </p:sp>
    </p:spTree>
    <p:extLst>
      <p:ext uri="{BB962C8B-B14F-4D97-AF65-F5344CB8AC3E}">
        <p14:creationId xmlns:p14="http://schemas.microsoft.com/office/powerpoint/2010/main" val="824259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Most Asians and NHOPIs have a worker in the family and they are more likely to be poor, younger, and non-citizens than Whites.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050" dirty="0"/>
              <a:t>* Indicates statistically significant difference from the White population at the p&lt;0.05 level. </a:t>
            </a:r>
          </a:p>
          <a:p>
            <a:r>
              <a:rPr lang="en-US" sz="1050" dirty="0"/>
              <a:t>Note: Includes nonelderly individuals 0-64 years of age. All racial groups are non-Hispanic and exclude individuals of mixed race. </a:t>
            </a:r>
          </a:p>
          <a:p>
            <a:r>
              <a:rPr lang="en-US" sz="1050" dirty="0"/>
              <a:t>Source: Kaiser Family Foundation analysis of 2017 American Community Survey (ACS), 1-Year Estimates.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6438431"/>
              </p:ext>
            </p:extLst>
          </p:nvPr>
        </p:nvGraphicFramePr>
        <p:xfrm>
          <a:off x="92075" y="1600200"/>
          <a:ext cx="8959850" cy="44531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84876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331036"/>
            <a:ext cx="8534400" cy="914400"/>
          </a:xfrm>
        </p:spPr>
        <p:txBody>
          <a:bodyPr/>
          <a:lstStyle/>
          <a:p>
            <a:r>
              <a:rPr lang="en-US" sz="2750" dirty="0">
                <a:solidFill>
                  <a:schemeClr val="tx1"/>
                </a:solidFill>
              </a:rPr>
              <a:t>NHOPIs fare worse than Whites on many health measures. Asians often fare better than Whites, but… 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050" dirty="0"/>
              <a:t>* Indicates statistically significant difference from the White population at the p&lt;0.05 level. </a:t>
            </a:r>
          </a:p>
          <a:p>
            <a:r>
              <a:rPr lang="en-US" sz="1050" dirty="0"/>
              <a:t>Note: Includes nonelderly individuals 18-64 years of age, unless otherwise noted. All racial groups are non-Hispanic and exclude individuals of mixed race. N/A: Estimate does not meet minimum standards for statistical reliability. </a:t>
            </a:r>
          </a:p>
          <a:p>
            <a:r>
              <a:rPr lang="en-US" sz="1050" dirty="0"/>
              <a:t>Source: Kaiser Family Foundation analysis of 2014 National Health Interview Survey (NHIS) and 2016 Behavioral Risk Factor Surveillance System (BRFSS). NHOPI values for Fair/Poor Health Status, Ever Had Asthma, and Problems Paying Medical Bills come from the 2014 NHPI NHIS.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7335939"/>
              </p:ext>
            </p:extLst>
          </p:nvPr>
        </p:nvGraphicFramePr>
        <p:xfrm>
          <a:off x="92075" y="1414272"/>
          <a:ext cx="8959850" cy="42245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51546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…health experiences vary among subgroups of Asians.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050" dirty="0"/>
              <a:t>Note: Includes nonelderly individuals 18-64 years of age. All groups are non-Hispanic and exclude individuals of mixed race. N/A: Estimate does not meet minimum standards for statistical reliability.</a:t>
            </a:r>
          </a:p>
          <a:p>
            <a:r>
              <a:rPr lang="en-US" sz="1050" dirty="0"/>
              <a:t>Source: Kaiser Family Foundation analysis of 2017 National Health Interview Survey (NHIS).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3012595"/>
              </p:ext>
            </p:extLst>
          </p:nvPr>
        </p:nvGraphicFramePr>
        <p:xfrm>
          <a:off x="92075" y="1371600"/>
          <a:ext cx="8959850" cy="4648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24507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The uninsured rate for Asians and NHOPIs declined under the ACA.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050" dirty="0"/>
              <a:t>* Indicates statistically significant difference from the White population at the p&lt;0.05 level. </a:t>
            </a:r>
          </a:p>
          <a:p>
            <a:r>
              <a:rPr lang="en-US" sz="1050" dirty="0"/>
              <a:t>Note: Nonelderly includes individuals 0-64 years of age. All racial groups are non-Hispanic and exclude individuals of mixed race. </a:t>
            </a:r>
          </a:p>
          <a:p>
            <a:r>
              <a:rPr lang="en-US" sz="1050" dirty="0"/>
              <a:t>Source: Kaiser Family Foundation analysis of 2017 American Community Survey (ACS), 1-Year Estimates.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1219200"/>
            <a:ext cx="792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j-lt"/>
                <a:cs typeface="Meta Offc Pro"/>
              </a:rPr>
              <a:t>UNINSURED RATE AMONG NONELDERLY INDIVIDUALS, 2013-2017</a:t>
            </a:r>
          </a:p>
        </p:txBody>
      </p:sp>
      <p:graphicFrame>
        <p:nvGraphicFramePr>
          <p:cNvPr id="19" name="Chart 1"/>
          <p:cNvGraphicFramePr/>
          <p:nvPr/>
        </p:nvGraphicFramePr>
        <p:xfrm>
          <a:off x="609600" y="1600000"/>
          <a:ext cx="5800000" cy="32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0" name="Line 1"/>
          <p:cNvSpPr/>
          <p:nvPr/>
        </p:nvSpPr>
        <p:spPr>
          <a:xfrm>
            <a:off x="6600000" y="2000000"/>
            <a:ext cx="300000" cy="0"/>
          </a:xfrm>
          <a:prstGeom prst="line">
            <a:avLst/>
          </a:prstGeom>
          <a:ln w="28575">
            <a:solidFill>
              <a:srgbClr val="4472C4"/>
            </a:solidFill>
          </a:ln>
        </p:spPr>
        <p:txBody>
          <a:bodyPr/>
          <a:lstStyle/>
          <a:p/>
        </p:txBody>
      </p:sp>
      <p:sp>
        <p:nvSpPr>
          <p:cNvPr id="21" name="Marker 1"/>
          <p:cNvSpPr/>
          <p:nvPr/>
        </p:nvSpPr>
        <p:spPr>
          <a:xfrm>
            <a:off x="6700000" y="1950000"/>
            <a:ext cx="100000" cy="100000"/>
          </a:xfrm>
          <a:prstGeom prst="ellipse">
            <a:avLst/>
          </a:prstGeom>
          <a:solidFill>
            <a:srgbClr val="4472C4"/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22" name="Text NHOPI"/>
          <p:cNvSpPr txBox="1"/>
          <p:nvPr/>
        </p:nvSpPr>
        <p:spPr>
          <a:xfrm>
            <a:off x="7000000" y="1850000"/>
            <a:ext cx="1500000" cy="3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NHOPI</a:t>
            </a:r>
          </a:p>
        </p:txBody>
      </p:sp>
      <p:sp>
        <p:nvSpPr>
          <p:cNvPr id="23" name="Line 2"/>
          <p:cNvSpPr/>
          <p:nvPr/>
        </p:nvSpPr>
        <p:spPr>
          <a:xfrm>
            <a:off x="6600000" y="2400000"/>
            <a:ext cx="300000" cy="0"/>
          </a:xfrm>
          <a:prstGeom prst="line">
            <a:avLst/>
          </a:prstGeom>
          <a:ln w="28575">
            <a:solidFill>
              <a:srgbClr val="ED7D31"/>
            </a:solidFill>
          </a:ln>
        </p:spPr>
        <p:txBody>
          <a:bodyPr/>
          <a:lstStyle/>
          <a:p/>
        </p:txBody>
      </p:sp>
      <p:sp>
        <p:nvSpPr>
          <p:cNvPr id="24" name="Marker 2"/>
          <p:cNvSpPr/>
          <p:nvPr/>
        </p:nvSpPr>
        <p:spPr>
          <a:xfrm>
            <a:off x="6700000" y="2350000"/>
            <a:ext cx="100000" cy="100000"/>
          </a:xfrm>
          <a:prstGeom prst="ellipse">
            <a:avLst/>
          </a:prstGeom>
          <a:solidFill>
            <a:srgbClr val="ED7D31"/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25" name="Text Asian"/>
          <p:cNvSpPr txBox="1"/>
          <p:nvPr/>
        </p:nvSpPr>
        <p:spPr>
          <a:xfrm>
            <a:off x="7000000" y="2250000"/>
            <a:ext cx="1500000" cy="3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Asian</a:t>
            </a:r>
          </a:p>
        </p:txBody>
      </p:sp>
      <p:sp>
        <p:nvSpPr>
          <p:cNvPr id="26" name="Line 3"/>
          <p:cNvSpPr/>
          <p:nvPr/>
        </p:nvSpPr>
        <p:spPr>
          <a:xfrm>
            <a:off x="6600000" y="2800000"/>
            <a:ext cx="300000" cy="0"/>
          </a:xfrm>
          <a:prstGeom prst="line">
            <a:avLst/>
          </a:prstGeom>
          <a:ln w="28575">
            <a:solidFill>
              <a:srgbClr val="A5A5A5"/>
            </a:solidFill>
          </a:ln>
        </p:spPr>
        <p:txBody>
          <a:bodyPr/>
          <a:lstStyle/>
          <a:p/>
        </p:txBody>
      </p:sp>
      <p:sp>
        <p:nvSpPr>
          <p:cNvPr id="27" name="Marker 3"/>
          <p:cNvSpPr/>
          <p:nvPr/>
        </p:nvSpPr>
        <p:spPr>
          <a:xfrm>
            <a:off x="6700000" y="2750000"/>
            <a:ext cx="100000" cy="100000"/>
          </a:xfrm>
          <a:prstGeom prst="ellipse">
            <a:avLst/>
          </a:prstGeom>
          <a:solidFill>
            <a:srgbClr val="A5A5A5"/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28" name="Text White"/>
          <p:cNvSpPr txBox="1"/>
          <p:nvPr/>
        </p:nvSpPr>
        <p:spPr>
          <a:xfrm>
            <a:off x="7000000" y="2650000"/>
            <a:ext cx="1500000" cy="3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White</a:t>
            </a:r>
          </a:p>
        </p:txBody>
      </p:sp>
    </p:spTree>
    <p:extLst>
      <p:ext uri="{BB962C8B-B14F-4D97-AF65-F5344CB8AC3E}">
        <p14:creationId xmlns:p14="http://schemas.microsoft.com/office/powerpoint/2010/main" val="2883274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>
                <a:solidFill>
                  <a:schemeClr val="tx1"/>
                </a:solidFill>
              </a:rPr>
              <a:t>However, uninsured rates vary among subgroups of Asians.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050" dirty="0"/>
              <a:t>Note: Nonelderly includes individuals 0-64 years of age. All racial groups </a:t>
            </a:r>
            <a:r>
              <a:rPr lang="en-US" sz="1050"/>
              <a:t>are non-Hispanic and exclude individuals of mixed race. </a:t>
            </a:r>
            <a:endParaRPr lang="en-US" sz="1050" dirty="0"/>
          </a:p>
          <a:p>
            <a:r>
              <a:rPr lang="en-US" sz="1050" dirty="0"/>
              <a:t>Source: Kaiser Family Foundation analysis of 2017 American Community Survey (ACS), 1-Year Estimates. 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7288452"/>
              </p:ext>
            </p:extLst>
          </p:nvPr>
        </p:nvGraphicFramePr>
        <p:xfrm>
          <a:off x="92075" y="1371600"/>
          <a:ext cx="8959850" cy="45677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600" y="1216223"/>
            <a:ext cx="792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j-lt"/>
                <a:cs typeface="Meta Offc Pro"/>
              </a:rPr>
              <a:t>UNINSURED RATE AMONG NONELDERLY INDIVIDUALS, 2017</a:t>
            </a:r>
          </a:p>
        </p:txBody>
      </p:sp>
    </p:spTree>
    <p:extLst>
      <p:ext uri="{BB962C8B-B14F-4D97-AF65-F5344CB8AC3E}">
        <p14:creationId xmlns:p14="http://schemas.microsoft.com/office/powerpoint/2010/main" val="2574539182"/>
      </p:ext>
    </p:extLst>
  </p:cSld>
  <p:clrMapOvr>
    <a:masterClrMapping/>
  </p:clrMapOvr>
</p:sld>
</file>

<file path=ppt/theme/theme1.xml><?xml version="1.0" encoding="utf-8"?>
<a:theme xmlns:a="http://schemas.openxmlformats.org/drawingml/2006/main" name="No Angle">
  <a:themeElements>
    <a:clrScheme name="2018 KFF Blues">
      <a:dk1>
        <a:srgbClr val="000000"/>
      </a:dk1>
      <a:lt1>
        <a:srgbClr val="FFFFFF"/>
      </a:lt1>
      <a:dk2>
        <a:srgbClr val="F5821F"/>
      </a:dk2>
      <a:lt2>
        <a:srgbClr val="EE2C37"/>
      </a:lt2>
      <a:accent1>
        <a:srgbClr val="082338"/>
      </a:accent1>
      <a:accent2>
        <a:srgbClr val="0E3B5E"/>
      </a:accent2>
      <a:accent3>
        <a:srgbClr val="005791"/>
      </a:accent3>
      <a:accent4>
        <a:srgbClr val="0076C4"/>
      </a:accent4>
      <a:accent5>
        <a:srgbClr val="43B4FF"/>
      </a:accent5>
      <a:accent6>
        <a:srgbClr val="C0E6FF"/>
      </a:accent6>
      <a:hlink>
        <a:srgbClr val="8F9091"/>
      </a:hlink>
      <a:folHlink>
        <a:srgbClr val="DBDBD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mpd="sng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dirty="0" err="1" smtClean="0">
            <a:latin typeface="Calibri" pitchFamily="34" charset="0"/>
            <a:cs typeface="Meta Offc Pro"/>
          </a:defRPr>
        </a:defPPr>
      </a:lstStyle>
    </a:tx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6244D"/>
        </a:accent1>
        <a:accent2>
          <a:srgbClr val="F7871B"/>
        </a:accent2>
        <a:accent3>
          <a:srgbClr val="FFFFFF"/>
        </a:accent3>
        <a:accent4>
          <a:srgbClr val="000000"/>
        </a:accent4>
        <a:accent5>
          <a:srgbClr val="AAACB2"/>
        </a:accent5>
        <a:accent6>
          <a:srgbClr val="E07A17"/>
        </a:accent6>
        <a:hlink>
          <a:srgbClr val="747894"/>
        </a:hlink>
        <a:folHlink>
          <a:srgbClr val="FCB4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6244D"/>
        </a:accent1>
        <a:accent2>
          <a:srgbClr val="465274"/>
        </a:accent2>
        <a:accent3>
          <a:srgbClr val="FFFFFF"/>
        </a:accent3>
        <a:accent4>
          <a:srgbClr val="000000"/>
        </a:accent4>
        <a:accent5>
          <a:srgbClr val="AAACB2"/>
        </a:accent5>
        <a:accent6>
          <a:srgbClr val="3F4968"/>
        </a:accent6>
        <a:hlink>
          <a:srgbClr val="F7871B"/>
        </a:hlink>
        <a:folHlink>
          <a:srgbClr val="FCB4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5">
        <a:dk1>
          <a:srgbClr val="000000"/>
        </a:dk1>
        <a:lt1>
          <a:srgbClr val="FFFFFF"/>
        </a:lt1>
        <a:dk2>
          <a:srgbClr val="000000"/>
        </a:dk2>
        <a:lt2>
          <a:srgbClr val="B5B8C9"/>
        </a:lt2>
        <a:accent1>
          <a:srgbClr val="465274"/>
        </a:accent1>
        <a:accent2>
          <a:srgbClr val="06244D"/>
        </a:accent2>
        <a:accent3>
          <a:srgbClr val="FFFFFF"/>
        </a:accent3>
        <a:accent4>
          <a:srgbClr val="000000"/>
        </a:accent4>
        <a:accent5>
          <a:srgbClr val="B0B3BC"/>
        </a:accent5>
        <a:accent6>
          <a:srgbClr val="052045"/>
        </a:accent6>
        <a:hlink>
          <a:srgbClr val="FCB460"/>
        </a:hlink>
        <a:folHlink>
          <a:srgbClr val="F7871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6">
        <a:dk1>
          <a:srgbClr val="06244D"/>
        </a:dk1>
        <a:lt1>
          <a:srgbClr val="FFFFFF"/>
        </a:lt1>
        <a:dk2>
          <a:srgbClr val="06244D"/>
        </a:dk2>
        <a:lt2>
          <a:srgbClr val="B5B8C9"/>
        </a:lt2>
        <a:accent1>
          <a:srgbClr val="465274"/>
        </a:accent1>
        <a:accent2>
          <a:srgbClr val="06244D"/>
        </a:accent2>
        <a:accent3>
          <a:srgbClr val="FFFFFF"/>
        </a:accent3>
        <a:accent4>
          <a:srgbClr val="041D40"/>
        </a:accent4>
        <a:accent5>
          <a:srgbClr val="B0B3BC"/>
        </a:accent5>
        <a:accent6>
          <a:srgbClr val="052045"/>
        </a:accent6>
        <a:hlink>
          <a:srgbClr val="FCB460"/>
        </a:hlink>
        <a:folHlink>
          <a:srgbClr val="F7871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18 KFF Template 4x3" id="{3547520F-F083-4223-8D01-42B88717BF46}" vid="{9F268B79-1E5C-4B65-AAA6-FF4B67F7549D}"/>
    </a:ext>
  </a:extLst>
</a:theme>
</file>

<file path=ppt/theme/theme2.xml><?xml version="1.0" encoding="utf-8"?>
<a:theme xmlns:a="http://schemas.openxmlformats.org/drawingml/2006/main" name="Text Slide">
  <a:themeElements>
    <a:clrScheme name="2018 KFF Blues">
      <a:dk1>
        <a:srgbClr val="000000"/>
      </a:dk1>
      <a:lt1>
        <a:srgbClr val="FFFFFF"/>
      </a:lt1>
      <a:dk2>
        <a:srgbClr val="F5821F"/>
      </a:dk2>
      <a:lt2>
        <a:srgbClr val="EE2C37"/>
      </a:lt2>
      <a:accent1>
        <a:srgbClr val="082338"/>
      </a:accent1>
      <a:accent2>
        <a:srgbClr val="0E3B5E"/>
      </a:accent2>
      <a:accent3>
        <a:srgbClr val="005791"/>
      </a:accent3>
      <a:accent4>
        <a:srgbClr val="0076C4"/>
      </a:accent4>
      <a:accent5>
        <a:srgbClr val="43B4FF"/>
      </a:accent5>
      <a:accent6>
        <a:srgbClr val="C0E6FF"/>
      </a:accent6>
      <a:hlink>
        <a:srgbClr val="8F9091"/>
      </a:hlink>
      <a:folHlink>
        <a:srgbClr val="DBDBD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mpd="sng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dirty="0" err="1" smtClean="0">
            <a:latin typeface="Calibri" pitchFamily="34" charset="0"/>
            <a:cs typeface="Meta Offc Pro"/>
          </a:defRPr>
        </a:defPPr>
      </a:lstStyle>
    </a:tx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6244D"/>
        </a:accent1>
        <a:accent2>
          <a:srgbClr val="F7871B"/>
        </a:accent2>
        <a:accent3>
          <a:srgbClr val="FFFFFF"/>
        </a:accent3>
        <a:accent4>
          <a:srgbClr val="000000"/>
        </a:accent4>
        <a:accent5>
          <a:srgbClr val="AAACB2"/>
        </a:accent5>
        <a:accent6>
          <a:srgbClr val="E07A17"/>
        </a:accent6>
        <a:hlink>
          <a:srgbClr val="747894"/>
        </a:hlink>
        <a:folHlink>
          <a:srgbClr val="FCB4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6244D"/>
        </a:accent1>
        <a:accent2>
          <a:srgbClr val="465274"/>
        </a:accent2>
        <a:accent3>
          <a:srgbClr val="FFFFFF"/>
        </a:accent3>
        <a:accent4>
          <a:srgbClr val="000000"/>
        </a:accent4>
        <a:accent5>
          <a:srgbClr val="AAACB2"/>
        </a:accent5>
        <a:accent6>
          <a:srgbClr val="3F4968"/>
        </a:accent6>
        <a:hlink>
          <a:srgbClr val="F7871B"/>
        </a:hlink>
        <a:folHlink>
          <a:srgbClr val="FCB4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5">
        <a:dk1>
          <a:srgbClr val="000000"/>
        </a:dk1>
        <a:lt1>
          <a:srgbClr val="FFFFFF"/>
        </a:lt1>
        <a:dk2>
          <a:srgbClr val="000000"/>
        </a:dk2>
        <a:lt2>
          <a:srgbClr val="B5B8C9"/>
        </a:lt2>
        <a:accent1>
          <a:srgbClr val="465274"/>
        </a:accent1>
        <a:accent2>
          <a:srgbClr val="06244D"/>
        </a:accent2>
        <a:accent3>
          <a:srgbClr val="FFFFFF"/>
        </a:accent3>
        <a:accent4>
          <a:srgbClr val="000000"/>
        </a:accent4>
        <a:accent5>
          <a:srgbClr val="B0B3BC"/>
        </a:accent5>
        <a:accent6>
          <a:srgbClr val="052045"/>
        </a:accent6>
        <a:hlink>
          <a:srgbClr val="FCB460"/>
        </a:hlink>
        <a:folHlink>
          <a:srgbClr val="F7871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6">
        <a:dk1>
          <a:srgbClr val="06244D"/>
        </a:dk1>
        <a:lt1>
          <a:srgbClr val="FFFFFF"/>
        </a:lt1>
        <a:dk2>
          <a:srgbClr val="06244D"/>
        </a:dk2>
        <a:lt2>
          <a:srgbClr val="B5B8C9"/>
        </a:lt2>
        <a:accent1>
          <a:srgbClr val="465274"/>
        </a:accent1>
        <a:accent2>
          <a:srgbClr val="06244D"/>
        </a:accent2>
        <a:accent3>
          <a:srgbClr val="FFFFFF"/>
        </a:accent3>
        <a:accent4>
          <a:srgbClr val="041D40"/>
        </a:accent4>
        <a:accent5>
          <a:srgbClr val="B0B3BC"/>
        </a:accent5>
        <a:accent6>
          <a:srgbClr val="052045"/>
        </a:accent6>
        <a:hlink>
          <a:srgbClr val="FCB460"/>
        </a:hlink>
        <a:folHlink>
          <a:srgbClr val="F7871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18 KFF Template 4x3" id="{3547520F-F083-4223-8D01-42B88717BF46}" vid="{0ED3A404-2A8C-463E-A613-ACD8B60D6DE3}"/>
    </a:ext>
  </a:extLst>
</a:theme>
</file>

<file path=ppt/theme/theme3.xml><?xml version="1.0" encoding="utf-8"?>
<a:theme xmlns:a="http://schemas.openxmlformats.org/drawingml/2006/main" name="Default with exhibit #">
  <a:themeElements>
    <a:clrScheme name="2018 KFF Blues">
      <a:dk1>
        <a:srgbClr val="000000"/>
      </a:dk1>
      <a:lt1>
        <a:srgbClr val="FFFFFF"/>
      </a:lt1>
      <a:dk2>
        <a:srgbClr val="F5821F"/>
      </a:dk2>
      <a:lt2>
        <a:srgbClr val="EE2C37"/>
      </a:lt2>
      <a:accent1>
        <a:srgbClr val="082338"/>
      </a:accent1>
      <a:accent2>
        <a:srgbClr val="0E3B5E"/>
      </a:accent2>
      <a:accent3>
        <a:srgbClr val="005791"/>
      </a:accent3>
      <a:accent4>
        <a:srgbClr val="0076C4"/>
      </a:accent4>
      <a:accent5>
        <a:srgbClr val="43B4FF"/>
      </a:accent5>
      <a:accent6>
        <a:srgbClr val="C0E6FF"/>
      </a:accent6>
      <a:hlink>
        <a:srgbClr val="8F9091"/>
      </a:hlink>
      <a:folHlink>
        <a:srgbClr val="DBDBD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mpd="sng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dirty="0" err="1" smtClean="0">
            <a:latin typeface="Calibri" pitchFamily="34" charset="0"/>
            <a:cs typeface="Meta Offc Pro"/>
          </a:defRPr>
        </a:defPPr>
      </a:lstStyle>
    </a:tx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6244D"/>
        </a:accent1>
        <a:accent2>
          <a:srgbClr val="F7871B"/>
        </a:accent2>
        <a:accent3>
          <a:srgbClr val="FFFFFF"/>
        </a:accent3>
        <a:accent4>
          <a:srgbClr val="000000"/>
        </a:accent4>
        <a:accent5>
          <a:srgbClr val="AAACB2"/>
        </a:accent5>
        <a:accent6>
          <a:srgbClr val="E07A17"/>
        </a:accent6>
        <a:hlink>
          <a:srgbClr val="747894"/>
        </a:hlink>
        <a:folHlink>
          <a:srgbClr val="FCB4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6244D"/>
        </a:accent1>
        <a:accent2>
          <a:srgbClr val="465274"/>
        </a:accent2>
        <a:accent3>
          <a:srgbClr val="FFFFFF"/>
        </a:accent3>
        <a:accent4>
          <a:srgbClr val="000000"/>
        </a:accent4>
        <a:accent5>
          <a:srgbClr val="AAACB2"/>
        </a:accent5>
        <a:accent6>
          <a:srgbClr val="3F4968"/>
        </a:accent6>
        <a:hlink>
          <a:srgbClr val="F7871B"/>
        </a:hlink>
        <a:folHlink>
          <a:srgbClr val="FCB4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5">
        <a:dk1>
          <a:srgbClr val="000000"/>
        </a:dk1>
        <a:lt1>
          <a:srgbClr val="FFFFFF"/>
        </a:lt1>
        <a:dk2>
          <a:srgbClr val="000000"/>
        </a:dk2>
        <a:lt2>
          <a:srgbClr val="B5B8C9"/>
        </a:lt2>
        <a:accent1>
          <a:srgbClr val="465274"/>
        </a:accent1>
        <a:accent2>
          <a:srgbClr val="06244D"/>
        </a:accent2>
        <a:accent3>
          <a:srgbClr val="FFFFFF"/>
        </a:accent3>
        <a:accent4>
          <a:srgbClr val="000000"/>
        </a:accent4>
        <a:accent5>
          <a:srgbClr val="B0B3BC"/>
        </a:accent5>
        <a:accent6>
          <a:srgbClr val="052045"/>
        </a:accent6>
        <a:hlink>
          <a:srgbClr val="FCB460"/>
        </a:hlink>
        <a:folHlink>
          <a:srgbClr val="F7871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6">
        <a:dk1>
          <a:srgbClr val="06244D"/>
        </a:dk1>
        <a:lt1>
          <a:srgbClr val="FFFFFF"/>
        </a:lt1>
        <a:dk2>
          <a:srgbClr val="06244D"/>
        </a:dk2>
        <a:lt2>
          <a:srgbClr val="B5B8C9"/>
        </a:lt2>
        <a:accent1>
          <a:srgbClr val="465274"/>
        </a:accent1>
        <a:accent2>
          <a:srgbClr val="06244D"/>
        </a:accent2>
        <a:accent3>
          <a:srgbClr val="FFFFFF"/>
        </a:accent3>
        <a:accent4>
          <a:srgbClr val="041D40"/>
        </a:accent4>
        <a:accent5>
          <a:srgbClr val="B0B3BC"/>
        </a:accent5>
        <a:accent6>
          <a:srgbClr val="052045"/>
        </a:accent6>
        <a:hlink>
          <a:srgbClr val="FCB460"/>
        </a:hlink>
        <a:folHlink>
          <a:srgbClr val="F7871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18 KFF Template 4x3" id="{3547520F-F083-4223-8D01-42B88717BF46}" vid="{FA918423-3A2B-42E7-A3DE-5B9F673F12C1}"/>
    </a:ext>
  </a:extLst>
</a:theme>
</file>

<file path=ppt/theme/theme4.xml><?xml version="1.0" encoding="utf-8"?>
<a:theme xmlns:a="http://schemas.openxmlformats.org/drawingml/2006/main" name="Default with figure #">
  <a:themeElements>
    <a:clrScheme name="2018 KFF Blues">
      <a:dk1>
        <a:srgbClr val="000000"/>
      </a:dk1>
      <a:lt1>
        <a:srgbClr val="FFFFFF"/>
      </a:lt1>
      <a:dk2>
        <a:srgbClr val="F5821F"/>
      </a:dk2>
      <a:lt2>
        <a:srgbClr val="EE2C37"/>
      </a:lt2>
      <a:accent1>
        <a:srgbClr val="082338"/>
      </a:accent1>
      <a:accent2>
        <a:srgbClr val="0E3B5E"/>
      </a:accent2>
      <a:accent3>
        <a:srgbClr val="005791"/>
      </a:accent3>
      <a:accent4>
        <a:srgbClr val="0076C4"/>
      </a:accent4>
      <a:accent5>
        <a:srgbClr val="43B4FF"/>
      </a:accent5>
      <a:accent6>
        <a:srgbClr val="C0E6FF"/>
      </a:accent6>
      <a:hlink>
        <a:srgbClr val="8F9091"/>
      </a:hlink>
      <a:folHlink>
        <a:srgbClr val="DBDBD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mpd="sng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dirty="0" err="1" smtClean="0">
            <a:latin typeface="Calibri" pitchFamily="34" charset="0"/>
            <a:cs typeface="Meta Offc Pro"/>
          </a:defRPr>
        </a:defPPr>
      </a:lstStyle>
    </a:tx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6244D"/>
        </a:accent1>
        <a:accent2>
          <a:srgbClr val="F7871B"/>
        </a:accent2>
        <a:accent3>
          <a:srgbClr val="FFFFFF"/>
        </a:accent3>
        <a:accent4>
          <a:srgbClr val="000000"/>
        </a:accent4>
        <a:accent5>
          <a:srgbClr val="AAACB2"/>
        </a:accent5>
        <a:accent6>
          <a:srgbClr val="E07A17"/>
        </a:accent6>
        <a:hlink>
          <a:srgbClr val="747894"/>
        </a:hlink>
        <a:folHlink>
          <a:srgbClr val="FCB4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6244D"/>
        </a:accent1>
        <a:accent2>
          <a:srgbClr val="465274"/>
        </a:accent2>
        <a:accent3>
          <a:srgbClr val="FFFFFF"/>
        </a:accent3>
        <a:accent4>
          <a:srgbClr val="000000"/>
        </a:accent4>
        <a:accent5>
          <a:srgbClr val="AAACB2"/>
        </a:accent5>
        <a:accent6>
          <a:srgbClr val="3F4968"/>
        </a:accent6>
        <a:hlink>
          <a:srgbClr val="F7871B"/>
        </a:hlink>
        <a:folHlink>
          <a:srgbClr val="FCB4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5">
        <a:dk1>
          <a:srgbClr val="000000"/>
        </a:dk1>
        <a:lt1>
          <a:srgbClr val="FFFFFF"/>
        </a:lt1>
        <a:dk2>
          <a:srgbClr val="000000"/>
        </a:dk2>
        <a:lt2>
          <a:srgbClr val="B5B8C9"/>
        </a:lt2>
        <a:accent1>
          <a:srgbClr val="465274"/>
        </a:accent1>
        <a:accent2>
          <a:srgbClr val="06244D"/>
        </a:accent2>
        <a:accent3>
          <a:srgbClr val="FFFFFF"/>
        </a:accent3>
        <a:accent4>
          <a:srgbClr val="000000"/>
        </a:accent4>
        <a:accent5>
          <a:srgbClr val="B0B3BC"/>
        </a:accent5>
        <a:accent6>
          <a:srgbClr val="052045"/>
        </a:accent6>
        <a:hlink>
          <a:srgbClr val="FCB460"/>
        </a:hlink>
        <a:folHlink>
          <a:srgbClr val="F7871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6">
        <a:dk1>
          <a:srgbClr val="06244D"/>
        </a:dk1>
        <a:lt1>
          <a:srgbClr val="FFFFFF"/>
        </a:lt1>
        <a:dk2>
          <a:srgbClr val="06244D"/>
        </a:dk2>
        <a:lt2>
          <a:srgbClr val="B5B8C9"/>
        </a:lt2>
        <a:accent1>
          <a:srgbClr val="465274"/>
        </a:accent1>
        <a:accent2>
          <a:srgbClr val="06244D"/>
        </a:accent2>
        <a:accent3>
          <a:srgbClr val="FFFFFF"/>
        </a:accent3>
        <a:accent4>
          <a:srgbClr val="041D40"/>
        </a:accent4>
        <a:accent5>
          <a:srgbClr val="B0B3BC"/>
        </a:accent5>
        <a:accent6>
          <a:srgbClr val="052045"/>
        </a:accent6>
        <a:hlink>
          <a:srgbClr val="FCB460"/>
        </a:hlink>
        <a:folHlink>
          <a:srgbClr val="F7871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18 KFF Template 4x3" id="{3547520F-F083-4223-8D01-42B88717BF46}" vid="{1A1F5094-47C8-469C-BA83-EBE9D180C5E8}"/>
    </a:ext>
  </a:extLst>
</a:theme>
</file>

<file path=ppt/theme/theme5.xml><?xml version="1.0" encoding="utf-8"?>
<a:theme xmlns:a="http://schemas.openxmlformats.org/drawingml/2006/main" name="Title Slide">
  <a:themeElements>
    <a:clrScheme name="2018 KFF Blues">
      <a:dk1>
        <a:srgbClr val="000000"/>
      </a:dk1>
      <a:lt1>
        <a:srgbClr val="FFFFFF"/>
      </a:lt1>
      <a:dk2>
        <a:srgbClr val="F5821F"/>
      </a:dk2>
      <a:lt2>
        <a:srgbClr val="EE2C37"/>
      </a:lt2>
      <a:accent1>
        <a:srgbClr val="082338"/>
      </a:accent1>
      <a:accent2>
        <a:srgbClr val="0E3B5E"/>
      </a:accent2>
      <a:accent3>
        <a:srgbClr val="005791"/>
      </a:accent3>
      <a:accent4>
        <a:srgbClr val="0076C4"/>
      </a:accent4>
      <a:accent5>
        <a:srgbClr val="43B4FF"/>
      </a:accent5>
      <a:accent6>
        <a:srgbClr val="C0E6FF"/>
      </a:accent6>
      <a:hlink>
        <a:srgbClr val="8F9091"/>
      </a:hlink>
      <a:folHlink>
        <a:srgbClr val="DBDBDB"/>
      </a:folHlink>
    </a:clrScheme>
    <a:fontScheme name="Calibr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dirty="0" err="1" smtClean="0">
            <a:latin typeface="Calibri" pitchFamily="34" charset="0"/>
            <a:cs typeface="Meta Offc Pro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2018 KFF Template 4x3" id="{3547520F-F083-4223-8D01-42B88717BF46}" vid="{5772D8E2-3545-4F47-BE78-F556EB9E8B67}"/>
    </a:ext>
  </a:extLst>
</a:theme>
</file>

<file path=ppt/theme/theme6.xml><?xml version="1.0" encoding="utf-8"?>
<a:theme xmlns:a="http://schemas.openxmlformats.org/drawingml/2006/main" name="Divider Slide">
  <a:themeElements>
    <a:clrScheme name="Default KFF theme colors">
      <a:dk1>
        <a:srgbClr val="000000"/>
      </a:dk1>
      <a:lt1>
        <a:srgbClr val="FFFFFF"/>
      </a:lt1>
      <a:dk2>
        <a:srgbClr val="FF8811"/>
      </a:dk2>
      <a:lt2>
        <a:srgbClr val="FFD204"/>
      </a:lt2>
      <a:accent1>
        <a:srgbClr val="133559"/>
      </a:accent1>
      <a:accent2>
        <a:srgbClr val="025189"/>
      </a:accent2>
      <a:accent3>
        <a:srgbClr val="0072C0"/>
      </a:accent3>
      <a:accent4>
        <a:srgbClr val="31A3E3"/>
      </a:accent4>
      <a:accent5>
        <a:srgbClr val="7BC7ED"/>
      </a:accent5>
      <a:accent6>
        <a:srgbClr val="B0DDF4"/>
      </a:accent6>
      <a:hlink>
        <a:srgbClr val="ADA07A"/>
      </a:hlink>
      <a:folHlink>
        <a:srgbClr val="CDC6AF"/>
      </a:folHlink>
    </a:clrScheme>
    <a:fontScheme name="Calibr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dirty="0" err="1" smtClean="0">
            <a:latin typeface="Calibri" pitchFamily="34" charset="0"/>
            <a:cs typeface="Meta Offc Pro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2018 KFF Template 4x3" id="{3547520F-F083-4223-8D01-42B88717BF46}" vid="{AFF18BDB-5E5E-4E8E-956D-6FA61A8CC656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2018 KFF Blues">
    <a:dk1>
      <a:srgbClr val="000000"/>
    </a:dk1>
    <a:lt1>
      <a:srgbClr val="FFFFFF"/>
    </a:lt1>
    <a:dk2>
      <a:srgbClr val="F5821F"/>
    </a:dk2>
    <a:lt2>
      <a:srgbClr val="EE2C37"/>
    </a:lt2>
    <a:accent1>
      <a:srgbClr val="082338"/>
    </a:accent1>
    <a:accent2>
      <a:srgbClr val="0E3B5E"/>
    </a:accent2>
    <a:accent3>
      <a:srgbClr val="005791"/>
    </a:accent3>
    <a:accent4>
      <a:srgbClr val="0076C4"/>
    </a:accent4>
    <a:accent5>
      <a:srgbClr val="43B4FF"/>
    </a:accent5>
    <a:accent6>
      <a:srgbClr val="C0E6FF"/>
    </a:accent6>
    <a:hlink>
      <a:srgbClr val="8F9091"/>
    </a:hlink>
    <a:folHlink>
      <a:srgbClr val="DBDBDB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2018 KFF Blues">
    <a:dk1>
      <a:srgbClr val="000000"/>
    </a:dk1>
    <a:lt1>
      <a:srgbClr val="FFFFFF"/>
    </a:lt1>
    <a:dk2>
      <a:srgbClr val="F5821F"/>
    </a:dk2>
    <a:lt2>
      <a:srgbClr val="EE2C37"/>
    </a:lt2>
    <a:accent1>
      <a:srgbClr val="082338"/>
    </a:accent1>
    <a:accent2>
      <a:srgbClr val="0E3B5E"/>
    </a:accent2>
    <a:accent3>
      <a:srgbClr val="005791"/>
    </a:accent3>
    <a:accent4>
      <a:srgbClr val="0076C4"/>
    </a:accent4>
    <a:accent5>
      <a:srgbClr val="43B4FF"/>
    </a:accent5>
    <a:accent6>
      <a:srgbClr val="C0E6FF"/>
    </a:accent6>
    <a:hlink>
      <a:srgbClr val="8F9091"/>
    </a:hlink>
    <a:folHlink>
      <a:srgbClr val="DBDBDB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2018 KFF Blues">
    <a:dk1>
      <a:srgbClr val="000000"/>
    </a:dk1>
    <a:lt1>
      <a:srgbClr val="FFFFFF"/>
    </a:lt1>
    <a:dk2>
      <a:srgbClr val="F5821F"/>
    </a:dk2>
    <a:lt2>
      <a:srgbClr val="EE2C37"/>
    </a:lt2>
    <a:accent1>
      <a:srgbClr val="082338"/>
    </a:accent1>
    <a:accent2>
      <a:srgbClr val="0E3B5E"/>
    </a:accent2>
    <a:accent3>
      <a:srgbClr val="005791"/>
    </a:accent3>
    <a:accent4>
      <a:srgbClr val="0076C4"/>
    </a:accent4>
    <a:accent5>
      <a:srgbClr val="43B4FF"/>
    </a:accent5>
    <a:accent6>
      <a:srgbClr val="C0E6FF"/>
    </a:accent6>
    <a:hlink>
      <a:srgbClr val="8F9091"/>
    </a:hlink>
    <a:folHlink>
      <a:srgbClr val="DBDBDB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2018 KFF Blues">
    <a:dk1>
      <a:srgbClr val="000000"/>
    </a:dk1>
    <a:lt1>
      <a:srgbClr val="FFFFFF"/>
    </a:lt1>
    <a:dk2>
      <a:srgbClr val="F5821F"/>
    </a:dk2>
    <a:lt2>
      <a:srgbClr val="EE2C37"/>
    </a:lt2>
    <a:accent1>
      <a:srgbClr val="082338"/>
    </a:accent1>
    <a:accent2>
      <a:srgbClr val="0E3B5E"/>
    </a:accent2>
    <a:accent3>
      <a:srgbClr val="005791"/>
    </a:accent3>
    <a:accent4>
      <a:srgbClr val="0076C4"/>
    </a:accent4>
    <a:accent5>
      <a:srgbClr val="43B4FF"/>
    </a:accent5>
    <a:accent6>
      <a:srgbClr val="C0E6FF"/>
    </a:accent6>
    <a:hlink>
      <a:srgbClr val="8F9091"/>
    </a:hlink>
    <a:folHlink>
      <a:srgbClr val="DBDBDB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.xml><?xml version="1.0" encoding="utf-8"?>
<a:themeOverride xmlns:a="http://schemas.openxmlformats.org/drawingml/2006/main">
  <a:clrScheme name="2018 KFF Blues">
    <a:dk1>
      <a:srgbClr val="000000"/>
    </a:dk1>
    <a:lt1>
      <a:srgbClr val="FFFFFF"/>
    </a:lt1>
    <a:dk2>
      <a:srgbClr val="F5821F"/>
    </a:dk2>
    <a:lt2>
      <a:srgbClr val="EE2C37"/>
    </a:lt2>
    <a:accent1>
      <a:srgbClr val="082338"/>
    </a:accent1>
    <a:accent2>
      <a:srgbClr val="0E3B5E"/>
    </a:accent2>
    <a:accent3>
      <a:srgbClr val="005791"/>
    </a:accent3>
    <a:accent4>
      <a:srgbClr val="0076C4"/>
    </a:accent4>
    <a:accent5>
      <a:srgbClr val="43B4FF"/>
    </a:accent5>
    <a:accent6>
      <a:srgbClr val="C0E6FF"/>
    </a:accent6>
    <a:hlink>
      <a:srgbClr val="8F9091"/>
    </a:hlink>
    <a:folHlink>
      <a:srgbClr val="DBDBDB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6.xml><?xml version="1.0" encoding="utf-8"?>
<a:themeOverride xmlns:a="http://schemas.openxmlformats.org/drawingml/2006/main">
  <a:clrScheme name="2018 KFF Blues">
    <a:dk1>
      <a:srgbClr val="000000"/>
    </a:dk1>
    <a:lt1>
      <a:srgbClr val="FFFFFF"/>
    </a:lt1>
    <a:dk2>
      <a:srgbClr val="F5821F"/>
    </a:dk2>
    <a:lt2>
      <a:srgbClr val="EE2C37"/>
    </a:lt2>
    <a:accent1>
      <a:srgbClr val="082338"/>
    </a:accent1>
    <a:accent2>
      <a:srgbClr val="0E3B5E"/>
    </a:accent2>
    <a:accent3>
      <a:srgbClr val="005791"/>
    </a:accent3>
    <a:accent4>
      <a:srgbClr val="0076C4"/>
    </a:accent4>
    <a:accent5>
      <a:srgbClr val="43B4FF"/>
    </a:accent5>
    <a:accent6>
      <a:srgbClr val="C0E6FF"/>
    </a:accent6>
    <a:hlink>
      <a:srgbClr val="8F9091"/>
    </a:hlink>
    <a:folHlink>
      <a:srgbClr val="DBDBDB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KFF_Template</Template>
  <TotalTime>2750</TotalTime>
  <Words>689</Words>
  <Application>Microsoft Macintosh PowerPoint</Application>
  <PresentationFormat>On-screen Show (4:3)</PresentationFormat>
  <Paragraphs>65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Arial</vt:lpstr>
      <vt:lpstr>Calibri</vt:lpstr>
      <vt:lpstr>Meta Offc Pro</vt:lpstr>
      <vt:lpstr>MetaSerif-Book</vt:lpstr>
      <vt:lpstr>Tahoma</vt:lpstr>
      <vt:lpstr>No Angle</vt:lpstr>
      <vt:lpstr>Text Slide</vt:lpstr>
      <vt:lpstr>Default with exhibit #</vt:lpstr>
      <vt:lpstr>Default with figure #</vt:lpstr>
      <vt:lpstr>Title Slide</vt:lpstr>
      <vt:lpstr>Divider Slide</vt:lpstr>
      <vt:lpstr>Health and Health Care for Asian Americans, Native Hawaiians and Other Pacific Islanders (NHOPIs) in the United States</vt:lpstr>
      <vt:lpstr>PowerPoint Presentation</vt:lpstr>
      <vt:lpstr>Asian and NHOPI populations are made up of diverse groups.</vt:lpstr>
      <vt:lpstr>Asians and NHOPIs live across the U.S., but make up a greater share of the population in a few states.</vt:lpstr>
      <vt:lpstr>Most Asians and NHOPIs have a worker in the family and they are more likely to be poor, younger, and non-citizens than Whites. </vt:lpstr>
      <vt:lpstr>NHOPIs fare worse than Whites on many health measures. Asians often fare better than Whites, but…  </vt:lpstr>
      <vt:lpstr>…health experiences vary among subgroups of Asians.</vt:lpstr>
      <vt:lpstr>The uninsured rate for Asians and NHOPIs declined under the ACA.</vt:lpstr>
      <vt:lpstr>However, uninsured rates vary among subgroups of Asians. </vt:lpstr>
    </vt:vector>
  </TitlesOfParts>
  <Company>HERMES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Kendal Orgera</dc:creator>
  <cp:lastModifiedBy>Michael Ofengenden</cp:lastModifiedBy>
  <cp:revision>130</cp:revision>
  <cp:lastPrinted>2019-04-26T16:43:14Z</cp:lastPrinted>
  <dcterms:created xsi:type="dcterms:W3CDTF">2018-11-01T18:04:52Z</dcterms:created>
  <dcterms:modified xsi:type="dcterms:W3CDTF">2025-08-14T16:24:22Z</dcterms:modified>
</cp:coreProperties>
</file>
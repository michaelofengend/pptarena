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2E629-C178-491C-9DDA-8BD83EB054B8}" v="3" dt="2019-03-29T20:19:33.0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5C31F-8322-481F-AE97-F1997DB85FD9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2A96D9-E666-4CF5-9617-77E874B6A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26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B0D1-58F8-3440-9546-B27737CF0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4EBEFF-1126-6A40-ABCE-70B491475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633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1309-A8F8-7748-B229-3CEF7EC6B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2BCF9-0A87-5D4B-BA88-192E9A67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B76E-E5C8-CB45-BDCE-BC720589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8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8484-62BD-F144-B375-814E7708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5B752-E81C-7348-A30C-3B7C3D448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133B-ED22-D340-ABD1-C0BF17E44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B8CC4-FAEF-3140-9B3B-36B83DE2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8BB46-E4DA-A747-A10F-D0AFB1071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3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B978D-3FFD-934F-90E8-422D6754E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2320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CE8EC-1665-A94C-9CC3-E6763181D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30292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A7EDA-CA31-2B4D-983A-A684E2256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A6EF-B433-9C45-B100-7E85C8C1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EB82-1E70-7F4A-B398-36997FE1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8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0B80-1196-9440-ACA5-6C4A0E1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E159D-BD52-7D42-B5FE-34CC31F4FA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1172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4434C-B960-F941-A511-A5EC3F299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17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C5EE8-239C-CA4D-B115-86AE6B13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4FD16-F2A4-634C-869B-5D03C7A09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52023-3F00-804A-9C04-BC3C005C7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1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8DA8-D023-0547-8348-DE2114E4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C341E-263A-1B4D-A0CF-0887C6E07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B8DB9B-EF4F-0246-A555-4DEF44CF0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4603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FB963-09DD-EA41-ADE0-AF81498E5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BD85D-C336-1146-9BF7-880A84625B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6"/>
            <a:ext cx="5183188" cy="24603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99D2BC-030E-1A45-9087-A6D69AC4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660285-2083-054C-83A5-CAFA0A267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F63C-FB7F-0B40-9272-9FE1F48F0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89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F735-26EF-074F-B91D-AABDB57AF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CF015-999C-4C42-B6EC-BF53CF9A4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04D54-9038-744E-9624-E066B4C5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A5386-3E73-5D46-B735-204B34BC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53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B0FB7-508C-D140-BE93-AC677CE8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598075-1B7E-ED40-9124-3D93C8DF3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88F3B-2019-7844-AFE7-A261FFD4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03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B56A6-0D6F-D244-A832-B8DBA8E0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F7E19-2B0E-074B-92BB-95482AD44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394608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5A79C-BE80-814F-8777-149767537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87610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A195FD-C2F7-8346-94FD-2F80C5BC3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31359-6524-EA4B-B972-B14A83D2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28FD9-66F7-5F43-867F-603FCE5C3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11FC-DE3D-E44F-A5DB-3223BA673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84A50-8588-084A-980B-9140117A0D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395671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B169F-C114-1C4B-9D22-5FADF237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2886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6F7BF-AC94-C646-839D-D55AC43C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965FE-DB66-4F45-94D0-1317367E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D02D3-4ECE-0949-B862-CB3CAC65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88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6E393-C759-5449-AB0E-E370D6497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F2850B-BF53-AC40-AA27-057442BF2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EDAC1-1A06-6D4C-AF19-58A8A555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A182B-A553-B642-8784-B5823E38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BF898-D260-3744-B820-37BE07FCF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483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64A32-67DA-6F44-8CED-2FE90822BB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456838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DC0BF-A122-6243-9797-5ADA89218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4568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20BD6-CCE2-7348-A71A-7B6FBF6C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C6B48-61B1-F742-847F-269DABBF6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67FC6-7428-804D-822D-7ABFE86E4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DC2BB7-0403-8742-8AFC-0C08D8B0E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03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C81C3EE-DCD0-5C4F-ABC1-DA909482AF47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99237-359F-F443-BACC-75B007CA8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E42D0-0A9E-A746-A23F-CE4673E7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703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A1E5C-7DCA-9647-A9B3-67A0970C80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50777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EA3F4-AA38-C641-9D28-682B34A3A034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0CD-3B3B-984F-92EC-05892E1C0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50777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19FB8-CA6E-EC48-B58F-3B145067F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50777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C2BB7-0403-8742-8AFC-0C08D8B0E8A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40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20699B-FE2F-4AB6-9552-0C33E1FCDC4E}"/>
              </a:ext>
            </a:extLst>
          </p:cNvPr>
          <p:cNvSpPr txBox="1">
            <a:spLocks/>
          </p:cNvSpPr>
          <p:nvPr/>
        </p:nvSpPr>
        <p:spPr>
          <a:xfrm>
            <a:off x="0" y="34385"/>
            <a:ext cx="12192000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Development: Drugs vs. Devices</a:t>
            </a: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02292C6D-051A-42D7-BA8A-80D4D5396916}"/>
              </a:ext>
            </a:extLst>
          </p:cNvPr>
          <p:cNvSpPr/>
          <p:nvPr/>
        </p:nvSpPr>
        <p:spPr bwMode="auto">
          <a:xfrm>
            <a:off x="646728" y="1889230"/>
            <a:ext cx="5291109" cy="3368570"/>
          </a:xfrm>
          <a:prstGeom prst="roundRect">
            <a:avLst/>
          </a:prstGeom>
          <a:solidFill>
            <a:srgbClr val="00206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/>
                </a:solidFill>
              </a:rPr>
              <a:t>Bringing a drug to market takes an average of </a:t>
            </a:r>
            <a:r>
              <a:rPr lang="en-US" sz="2800" b="1" i="1" u="sng" dirty="0">
                <a:solidFill>
                  <a:schemeClr val="bg1"/>
                </a:solidFill>
              </a:rPr>
              <a:t>12 years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/>
                </a:solidFill>
              </a:rPr>
              <a:t>Costs for development of a new drug is in </a:t>
            </a:r>
            <a:r>
              <a:rPr lang="en-US" sz="2800" b="1" i="1" u="sng" dirty="0">
                <a:solidFill>
                  <a:schemeClr val="bg1"/>
                </a:solidFill>
              </a:rPr>
              <a:t>excess of $1 billion</a:t>
            </a:r>
            <a:endParaRPr lang="en-US" sz="2800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7273B-03E3-46EE-9306-63E3AEC1C02E}"/>
              </a:ext>
            </a:extLst>
          </p:cNvPr>
          <p:cNvSpPr/>
          <p:nvPr/>
        </p:nvSpPr>
        <p:spPr>
          <a:xfrm>
            <a:off x="646727" y="1207124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Drugs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75CCD-04AF-4F21-9F55-5DC5DA0E3A6C}"/>
              </a:ext>
            </a:extLst>
          </p:cNvPr>
          <p:cNvSpPr/>
          <p:nvPr/>
        </p:nvSpPr>
        <p:spPr>
          <a:xfrm>
            <a:off x="6297720" y="1234946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Devices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B64EA76B-95B4-426F-88EB-2536295E805E}"/>
              </a:ext>
            </a:extLst>
          </p:cNvPr>
          <p:cNvSpPr/>
          <p:nvPr/>
        </p:nvSpPr>
        <p:spPr bwMode="auto">
          <a:xfrm>
            <a:off x="6297720" y="1889230"/>
            <a:ext cx="5291109" cy="3368570"/>
          </a:xfrm>
          <a:prstGeom prst="roundRect">
            <a:avLst/>
          </a:prstGeom>
          <a:solidFill>
            <a:srgbClr val="C00000"/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/>
                </a:solidFill>
              </a:rPr>
              <a:t>Bringing a device to market takes an average of </a:t>
            </a:r>
            <a:r>
              <a:rPr lang="en-US" sz="2800" b="1" i="1" u="sng" dirty="0">
                <a:solidFill>
                  <a:schemeClr val="bg1"/>
                </a:solidFill>
              </a:rPr>
              <a:t>3 - 7 years</a:t>
            </a:r>
            <a:endParaRPr lang="en-US" sz="2800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bg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bg1"/>
                </a:solidFill>
              </a:rPr>
              <a:t>Costs for development of medical devices run into </a:t>
            </a:r>
            <a:r>
              <a:rPr lang="en-US" sz="2800" b="1" i="1" u="sng" dirty="0">
                <a:solidFill>
                  <a:schemeClr val="bg1"/>
                </a:solidFill>
              </a:rPr>
              <a:t>millions of dollars</a:t>
            </a:r>
          </a:p>
        </p:txBody>
      </p:sp>
      <p:pic>
        <p:nvPicPr>
          <p:cNvPr id="11" name="Picture 2" descr="Image result for time&quot;">
            <a:extLst>
              <a:ext uri="{FF2B5EF4-FFF2-40B4-BE49-F238E27FC236}">
                <a16:creationId xmlns:a16="http://schemas.microsoft.com/office/drawing/2014/main" id="{D9C41996-DC1F-46EB-ADA6-23E86202B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23999" r="26000" b="22000"/>
          <a:stretch/>
        </p:blipFill>
        <p:spPr bwMode="auto">
          <a:xfrm>
            <a:off x="6510528" y="2129134"/>
            <a:ext cx="893877" cy="681249"/>
          </a:xfrm>
          <a:prstGeom prst="rect">
            <a:avLst/>
          </a:prstGeom>
          <a:solidFill>
            <a:srgbClr val="C00000"/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6746038" y="3744277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206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1073710" y="3947309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C0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pic>
        <p:nvPicPr>
          <p:cNvPr id="15" name="Picture 2" descr="Image result for time&quot;">
            <a:extLst>
              <a:ext uri="{FF2B5EF4-FFF2-40B4-BE49-F238E27FC236}">
                <a16:creationId xmlns:a16="http://schemas.microsoft.com/office/drawing/2014/main" id="{D9C41996-DC1F-46EB-ADA6-23E86202B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23999" r="26000" b="22000"/>
          <a:stretch/>
        </p:blipFill>
        <p:spPr bwMode="auto">
          <a:xfrm>
            <a:off x="765048" y="2398175"/>
            <a:ext cx="893877" cy="681249"/>
          </a:xfrm>
          <a:prstGeom prst="rect">
            <a:avLst/>
          </a:prstGeom>
          <a:solidFill>
            <a:srgbClr val="C00000"/>
          </a:solidFill>
        </p:spPr>
      </p:pic>
    </p:spTree>
    <p:extLst>
      <p:ext uri="{BB962C8B-B14F-4D97-AF65-F5344CB8AC3E}">
        <p14:creationId xmlns:p14="http://schemas.microsoft.com/office/powerpoint/2010/main" val="284803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37"/>
    </mc:Choice>
    <mc:Fallback xmlns="">
      <p:transition spd="slow" advTm="3633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/Users/michaelofengenden/Desktop/PPTArena/src/work_dir/extracted_xml_original/LighterColors_TestA.pptx_xml/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20699B-FE2F-4AB6-9552-0C33E1FCDC4E}"/>
              </a:ext>
            </a:extLst>
          </p:cNvPr>
          <p:cNvSpPr txBox="1">
            <a:spLocks/>
          </p:cNvSpPr>
          <p:nvPr/>
        </p:nvSpPr>
        <p:spPr>
          <a:xfrm>
            <a:off x="0" y="34385"/>
            <a:ext cx="12192000" cy="56673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Development: Drugs vs. Devices</a:t>
            </a:r>
          </a:p>
        </p:txBody>
      </p:sp>
      <p:sp>
        <p:nvSpPr>
          <p:cNvPr id="4" name="Rectangle: Rounded Corners 6">
            <a:extLst>
              <a:ext uri="{FF2B5EF4-FFF2-40B4-BE49-F238E27FC236}">
                <a16:creationId xmlns:a16="http://schemas.microsoft.com/office/drawing/2014/main" id="{02292C6D-051A-42D7-BA8A-80D4D5396916}"/>
              </a:ext>
            </a:extLst>
          </p:cNvPr>
          <p:cNvSpPr/>
          <p:nvPr/>
        </p:nvSpPr>
        <p:spPr bwMode="auto">
          <a:xfrm>
            <a:off x="646728" y="1889230"/>
            <a:ext cx="5291109" cy="3368570"/>
          </a:xfrm>
          <a:prstGeom prst="roundRect">
            <a:avLst/>
          </a:prstGeom>
          <a:solidFill>
            <a:srgbClr val="D9E2F3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/>
                </a:solidFill>
              </a:rPr>
              <a:t>Bringing a drug to market takes an average of </a:t>
            </a:r>
            <a:r>
              <a:rPr lang="en-US" sz="2800" b="1" i="1" u="sng" dirty="0">
                <a:solidFill>
                  <a:schemeClr val="tx1"/>
                </a:solidFill>
              </a:rPr>
              <a:t>12 years </a:t>
            </a: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chemeClr val="tx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/>
                </a:solidFill>
              </a:rPr>
              <a:t>Costs for development of a new drug is in </a:t>
            </a:r>
            <a:r>
              <a:rPr lang="en-US" sz="2800" b="1" i="1" u="sng" dirty="0">
                <a:solidFill>
                  <a:schemeClr val="tx1"/>
                </a:solidFill>
              </a:rPr>
              <a:t>excess of $1 billion</a:t>
            </a:r>
            <a:endParaRPr lang="en-US" sz="28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7273B-03E3-46EE-9306-63E3AEC1C02E}"/>
              </a:ext>
            </a:extLst>
          </p:cNvPr>
          <p:cNvSpPr/>
          <p:nvPr/>
        </p:nvSpPr>
        <p:spPr>
          <a:xfrm>
            <a:off x="646727" y="1207124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Drugs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675CCD-04AF-4F21-9F55-5DC5DA0E3A6C}"/>
              </a:ext>
            </a:extLst>
          </p:cNvPr>
          <p:cNvSpPr/>
          <p:nvPr/>
        </p:nvSpPr>
        <p:spPr>
          <a:xfrm>
            <a:off x="6297720" y="1234946"/>
            <a:ext cx="52911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1" dirty="0"/>
              <a:t>Devices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B64EA76B-95B4-426F-88EB-2536295E805E}"/>
              </a:ext>
            </a:extLst>
          </p:cNvPr>
          <p:cNvSpPr/>
          <p:nvPr/>
        </p:nvSpPr>
        <p:spPr bwMode="auto">
          <a:xfrm>
            <a:off x="6297720" y="1889230"/>
            <a:ext cx="5291109" cy="3368570"/>
          </a:xfrm>
          <a:prstGeom prst="roundRect">
            <a:avLst/>
          </a:prstGeom>
          <a:solidFill>
            <a:srgbClr val="FBE5D6"/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/>
                </a:solidFill>
              </a:rPr>
              <a:t>Bringing a device to market takes an average of </a:t>
            </a:r>
            <a:r>
              <a:rPr lang="en-US" sz="2800" b="1" i="1" u="sng" dirty="0">
                <a:solidFill>
                  <a:schemeClr val="tx1"/>
                </a:solidFill>
              </a:rPr>
              <a:t>3 - 7 years</a:t>
            </a:r>
            <a:endParaRPr lang="en-US" sz="2800" b="1" i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ヒラギノ角ゴ Pro W3" pitchFamily="-111" charset="-128"/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chemeClr val="tx1"/>
              </a:solidFill>
            </a:endParaRPr>
          </a:p>
          <a:p>
            <a:pPr lvl="2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schemeClr val="tx1"/>
                </a:solidFill>
              </a:rPr>
              <a:t>Costs for development of medical devices run into </a:t>
            </a:r>
            <a:r>
              <a:rPr lang="en-US" sz="2800" b="1" i="1" u="sng" dirty="0">
                <a:solidFill>
                  <a:schemeClr val="tx1"/>
                </a:solidFill>
              </a:rPr>
              <a:t>millions of dollars</a:t>
            </a:r>
          </a:p>
        </p:txBody>
      </p:sp>
      <p:pic>
        <p:nvPicPr>
          <p:cNvPr id="11" name="Picture 2" descr="Image result for time&quot;">
            <a:extLst>
              <a:ext uri="{FF2B5EF4-FFF2-40B4-BE49-F238E27FC236}">
                <a16:creationId xmlns:a16="http://schemas.microsoft.com/office/drawing/2014/main" id="{D9C41996-DC1F-46EB-ADA6-23E86202B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23999" r="26000" b="22000"/>
          <a:stretch/>
        </p:blipFill>
        <p:spPr bwMode="auto">
          <a:xfrm>
            <a:off x="6510528" y="2129134"/>
            <a:ext cx="893877" cy="681249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6746038" y="3744277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98C5E-487E-40CE-AE57-E2D3A79F9456}"/>
              </a:ext>
            </a:extLst>
          </p:cNvPr>
          <p:cNvSpPr/>
          <p:nvPr/>
        </p:nvSpPr>
        <p:spPr>
          <a:xfrm>
            <a:off x="1073710" y="3947309"/>
            <a:ext cx="42285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00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$</a:t>
            </a:r>
          </a:p>
        </p:txBody>
      </p:sp>
      <p:pic>
        <p:nvPicPr>
          <p:cNvPr id="15" name="Picture 2" descr="Image result for time&quot;">
            <a:extLst>
              <a:ext uri="{FF2B5EF4-FFF2-40B4-BE49-F238E27FC236}">
                <a16:creationId xmlns:a16="http://schemas.microsoft.com/office/drawing/2014/main" id="{D9C41996-DC1F-46EB-ADA6-23E86202BA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23999" r="26000" b="22000"/>
          <a:stretch/>
        </p:blipFill>
        <p:spPr bwMode="auto">
          <a:xfrm>
            <a:off x="765048" y="2398175"/>
            <a:ext cx="893877" cy="681249"/>
          </a:xfrm>
          <a:prstGeom prst="rect">
            <a:avLst/>
          </a:prstGeom>
          <a:solidFill>
            <a:srgbClr val="000000"/>
          </a:solidFill>
        </p:spPr>
      </p:pic>
    </p:spTree>
    <p:extLst>
      <p:ext uri="{BB962C8B-B14F-4D97-AF65-F5344CB8AC3E}">
        <p14:creationId xmlns:p14="http://schemas.microsoft.com/office/powerpoint/2010/main" val="284803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37"/>
    </mc:Choice>
    <mc:Fallback xmlns="">
      <p:transition spd="slow" advTm="36337"/>
    </mc:Fallback>
  </mc:AlternateContent>
</p:sld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C7B1899E4AA44BB6175E2A0E8EF214" ma:contentTypeVersion="16" ma:contentTypeDescription="Create a new document." ma:contentTypeScope="" ma:versionID="e88ef69827feb5325e47591560d531ad">
  <xsd:schema xmlns:xsd="http://www.w3.org/2001/XMLSchema" xmlns:xs="http://www.w3.org/2001/XMLSchema" xmlns:p="http://schemas.microsoft.com/office/2006/metadata/properties" xmlns:ns1="http://schemas.microsoft.com/sharepoint/v3" xmlns:ns2="489e9bcd-fd4d-4b97-a05a-accb63884c74" xmlns:ns3="cd8fc7b6-a46b-44db-88a0-95470b7d925b" targetNamespace="http://schemas.microsoft.com/office/2006/metadata/properties" ma:root="true" ma:fieldsID="5f2ffc7578053a453550e1cfc197a6ed" ns1:_="" ns2:_="" ns3:_="">
    <xsd:import namespace="http://schemas.microsoft.com/sharepoint/v3"/>
    <xsd:import namespace="489e9bcd-fd4d-4b97-a05a-accb63884c74"/>
    <xsd:import namespace="cd8fc7b6-a46b-44db-88a0-95470b7d925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9e9bcd-fd4d-4b97-a05a-accb63884c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8fc7b6-a46b-44db-88a0-95470b7d92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DA87939B-7BB0-4EC9-8D48-9B3CEBBFAF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89e9bcd-fd4d-4b97-a05a-accb63884c74"/>
    <ds:schemaRef ds:uri="cd8fc7b6-a46b-44db-88a0-95470b7d92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730E4A-1883-489B-9174-4742A1908D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784DAA-D4F9-4D96-BEB7-1BB331DC480C}">
  <ds:schemaRefs>
    <ds:schemaRef ds:uri="http://purl.org/dc/dcmitype/"/>
    <ds:schemaRef ds:uri="http://schemas.microsoft.com/office/2006/documentManagement/types"/>
    <ds:schemaRef ds:uri="http://schemas.microsoft.com/sharepoint/v3"/>
    <ds:schemaRef ds:uri="489e9bcd-fd4d-4b97-a05a-accb63884c74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cd8fc7b6-a46b-44db-88a0-95470b7d925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59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Kaysha Johnston</dc:creator>
  <cp:lastModifiedBy>Michael Ofengenden</cp:lastModifiedBy>
  <cp:revision>28</cp:revision>
  <dcterms:created xsi:type="dcterms:W3CDTF">2019-03-26T15:12:40Z</dcterms:created>
  <dcterms:modified xsi:type="dcterms:W3CDTF">2025-09-08T21:41:31Z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0x010100DAC7B1899E4AA44BB6175E2A0E8EF214</vt:lpwstr>
  </property>
</Properties>
</file>
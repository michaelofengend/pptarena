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6" r:id="rId2"/>
    <p:sldId id="257" r:id="rId3"/>
  </p:sldIdLst>
  <p:sldSz cx="32918400" cy="43891200"/>
  <p:notesSz cx="6858000" cy="9144000"/>
  <p:embeddedFontLst>
    <p:embeddedFont>
      <p:font typeface="Poppins" pitchFamily="2" charset="77"/>
      <p:regular r:id="rId5"/>
      <p:bold r:id="rId6"/>
      <p:italic r:id="rId7"/>
      <p:boldItalic r:id="rId8"/>
    </p:embeddedFont>
    <p:embeddedFont>
      <p:font typeface="Poppins Medium" panose="00000600000000000000" pitchFamily="2" charset="77"/>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30" d="100"/>
          <a:sy n="30" d="100"/>
        </p:scale>
        <p:origin x="1152" y="-26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D82E4"/>
        </a:solidFill>
        <a:effectLst/>
      </p:bgPr>
    </p:bg>
    <p:spTree>
      <p:nvGrpSpPr>
        <p:cNvPr id="1" name="Shape 83"/>
        <p:cNvGrpSpPr/>
        <p:nvPr/>
      </p:nvGrpSpPr>
      <p:grpSpPr>
        <a:xfrm>
          <a:off x="0" y="0"/>
          <a:ext cx="0" cy="0"/>
          <a:chOff x="0" y="0"/>
          <a:chExt cx="0" cy="0"/>
        </a:xfrm>
      </p:grpSpPr>
      <p:grpSp>
        <p:nvGrpSpPr>
          <p:cNvPr id="84" name="Google Shape;84;p13"/>
          <p:cNvGrpSpPr/>
          <p:nvPr/>
        </p:nvGrpSpPr>
        <p:grpSpPr>
          <a:xfrm>
            <a:off x="9961659" y="9649080"/>
            <a:ext cx="12514703" cy="13834613"/>
            <a:chOff x="0" y="-85725"/>
            <a:chExt cx="812800" cy="898525"/>
          </a:xfrm>
        </p:grpSpPr>
        <p:sp>
          <p:nvSpPr>
            <p:cNvPr id="85" name="Google Shape;8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EA5E"/>
                </a:gs>
                <a:gs pos="100000">
                  <a:srgbClr val="FFA17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 name="Google Shape;87;p13"/>
          <p:cNvSpPr/>
          <p:nvPr/>
        </p:nvSpPr>
        <p:spPr>
          <a:xfrm rot="-492179">
            <a:off x="8470715" y="9218745"/>
            <a:ext cx="9526547" cy="13680421"/>
          </a:xfrm>
          <a:custGeom>
            <a:avLst/>
            <a:gdLst/>
            <a:ahLst/>
            <a:cxnLst/>
            <a:rect l="l" t="t" r="r" b="b"/>
            <a:pathLst>
              <a:path w="9526547" h="13680421" extrusionOk="0">
                <a:moveTo>
                  <a:pt x="0" y="0"/>
                </a:moveTo>
                <a:lnTo>
                  <a:pt x="9526548" y="0"/>
                </a:lnTo>
                <a:lnTo>
                  <a:pt x="9526548" y="13680421"/>
                </a:lnTo>
                <a:lnTo>
                  <a:pt x="0" y="13680421"/>
                </a:lnTo>
                <a:lnTo>
                  <a:pt x="0" y="0"/>
                </a:lnTo>
                <a:close/>
              </a:path>
            </a:pathLst>
          </a:custGeom>
          <a:blipFill rotWithShape="1">
            <a:blip r:embed="rId3">
              <a:alphaModFix/>
            </a:blip>
            <a:stretch>
              <a:fillRect/>
            </a:stretch>
          </a:blipFill>
          <a:ln>
            <a:noFill/>
          </a:ln>
        </p:spPr>
        <p:txBody>
          <a:bodyPr/>
          <a:lstStyle/>
          <a:p>
            <a:endParaRPr/>
          </a:p>
        </p:txBody>
      </p:sp>
      <p:sp>
        <p:nvSpPr>
          <p:cNvPr id="88" name="Google Shape;88;p13"/>
          <p:cNvSpPr/>
          <p:nvPr/>
        </p:nvSpPr>
        <p:spPr>
          <a:xfrm>
            <a:off x="10723757" y="15840517"/>
            <a:ext cx="12861455" cy="12884882"/>
          </a:xfrm>
          <a:custGeom>
            <a:avLst/>
            <a:gdLst/>
            <a:ahLst/>
            <a:cxnLst/>
            <a:rect l="l" t="t" r="r" b="b"/>
            <a:pathLst>
              <a:path w="12861455" h="12884882" extrusionOk="0">
                <a:moveTo>
                  <a:pt x="0" y="0"/>
                </a:moveTo>
                <a:lnTo>
                  <a:pt x="12861455" y="0"/>
                </a:lnTo>
                <a:lnTo>
                  <a:pt x="12861455" y="12884882"/>
                </a:lnTo>
                <a:lnTo>
                  <a:pt x="0" y="12884882"/>
                </a:lnTo>
                <a:lnTo>
                  <a:pt x="0" y="0"/>
                </a:lnTo>
                <a:close/>
              </a:path>
            </a:pathLst>
          </a:custGeom>
          <a:blipFill rotWithShape="1">
            <a:blip r:embed="rId4">
              <a:alphaModFix/>
            </a:blip>
            <a:stretch>
              <a:fillRect/>
            </a:stretch>
          </a:blipFill>
          <a:ln>
            <a:noFill/>
          </a:ln>
        </p:spPr>
        <p:txBody>
          <a:bodyPr/>
          <a:lstStyle/>
          <a:p>
            <a:endParaRPr/>
          </a:p>
        </p:txBody>
      </p:sp>
      <p:sp>
        <p:nvSpPr>
          <p:cNvPr id="89" name="Google Shape;89;p13"/>
          <p:cNvSpPr/>
          <p:nvPr/>
        </p:nvSpPr>
        <p:spPr>
          <a:xfrm>
            <a:off x="11470635" y="11492209"/>
            <a:ext cx="11367698" cy="16453247"/>
          </a:xfrm>
          <a:custGeom>
            <a:avLst/>
            <a:gdLst/>
            <a:ahLst/>
            <a:cxnLst/>
            <a:rect l="l" t="t" r="r" b="b"/>
            <a:pathLst>
              <a:path w="11367698" h="16453247" extrusionOk="0">
                <a:moveTo>
                  <a:pt x="0" y="0"/>
                </a:moveTo>
                <a:lnTo>
                  <a:pt x="11367698" y="0"/>
                </a:lnTo>
                <a:lnTo>
                  <a:pt x="11367698" y="16453247"/>
                </a:lnTo>
                <a:lnTo>
                  <a:pt x="0" y="16453247"/>
                </a:lnTo>
                <a:lnTo>
                  <a:pt x="0" y="0"/>
                </a:lnTo>
                <a:close/>
              </a:path>
            </a:pathLst>
          </a:custGeom>
          <a:blipFill rotWithShape="1">
            <a:blip r:embed="rId5">
              <a:alphaModFix/>
            </a:blip>
            <a:stretch>
              <a:fillRect/>
            </a:stretch>
          </a:blipFill>
          <a:ln>
            <a:noFill/>
          </a:ln>
        </p:spPr>
        <p:txBody>
          <a:bodyPr/>
          <a:lstStyle/>
          <a:p>
            <a:endParaRPr/>
          </a:p>
        </p:txBody>
      </p:sp>
      <p:grpSp>
        <p:nvGrpSpPr>
          <p:cNvPr id="90" name="Google Shape;90;p13"/>
          <p:cNvGrpSpPr/>
          <p:nvPr/>
        </p:nvGrpSpPr>
        <p:grpSpPr>
          <a:xfrm>
            <a:off x="10442037" y="-603980"/>
            <a:ext cx="12034325" cy="3343278"/>
            <a:chOff x="0" y="-161925"/>
            <a:chExt cx="1050616" cy="291874"/>
          </a:xfrm>
        </p:grpSpPr>
        <p:sp>
          <p:nvSpPr>
            <p:cNvPr id="91" name="Google Shape;91;p13"/>
            <p:cNvSpPr/>
            <p:nvPr/>
          </p:nvSpPr>
          <p:spPr>
            <a:xfrm>
              <a:off x="0" y="0"/>
              <a:ext cx="1050616" cy="129949"/>
            </a:xfrm>
            <a:custGeom>
              <a:avLst/>
              <a:gdLst/>
              <a:ahLst/>
              <a:cxnLst/>
              <a:rect l="l" t="t" r="r" b="b"/>
              <a:pathLst>
                <a:path w="1050616" h="129949" extrusionOk="0">
                  <a:moveTo>
                    <a:pt x="64974" y="0"/>
                  </a:moveTo>
                  <a:lnTo>
                    <a:pt x="985641" y="0"/>
                  </a:lnTo>
                  <a:cubicBezTo>
                    <a:pt x="1021526" y="0"/>
                    <a:pt x="1050616" y="29090"/>
                    <a:pt x="1050616" y="64974"/>
                  </a:cubicBezTo>
                  <a:lnTo>
                    <a:pt x="1050616" y="64974"/>
                  </a:lnTo>
                  <a:cubicBezTo>
                    <a:pt x="1050616" y="82207"/>
                    <a:pt x="1043770" y="98733"/>
                    <a:pt x="1031585" y="110918"/>
                  </a:cubicBezTo>
                  <a:cubicBezTo>
                    <a:pt x="1019400" y="123103"/>
                    <a:pt x="1002874" y="129949"/>
                    <a:pt x="985641" y="129949"/>
                  </a:cubicBezTo>
                  <a:lnTo>
                    <a:pt x="64974" y="129949"/>
                  </a:lnTo>
                  <a:cubicBezTo>
                    <a:pt x="29090" y="129949"/>
                    <a:pt x="0" y="100859"/>
                    <a:pt x="0" y="64974"/>
                  </a:cubicBezTo>
                  <a:lnTo>
                    <a:pt x="0" y="64974"/>
                  </a:lnTo>
                  <a:cubicBezTo>
                    <a:pt x="0" y="29090"/>
                    <a:pt x="29090" y="0"/>
                    <a:pt x="64974" y="0"/>
                  </a:cubicBezTo>
                  <a:close/>
                </a:path>
              </a:pathLst>
            </a:custGeom>
            <a:solidFill>
              <a:srgbClr val="C9E1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txBox="1"/>
            <p:nvPr/>
          </p:nvSpPr>
          <p:spPr>
            <a:xfrm>
              <a:off x="0" y="-161925"/>
              <a:ext cx="1050616" cy="291874"/>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 name="Google Shape;93;p13"/>
          <p:cNvGrpSpPr/>
          <p:nvPr/>
        </p:nvGrpSpPr>
        <p:grpSpPr>
          <a:xfrm>
            <a:off x="0" y="28046208"/>
            <a:ext cx="32918400" cy="15844992"/>
            <a:chOff x="0" y="-161925"/>
            <a:chExt cx="2873829" cy="1383293"/>
          </a:xfrm>
        </p:grpSpPr>
        <p:sp>
          <p:nvSpPr>
            <p:cNvPr id="94" name="Google Shape;94;p13"/>
            <p:cNvSpPr/>
            <p:nvPr/>
          </p:nvSpPr>
          <p:spPr>
            <a:xfrm>
              <a:off x="0" y="0"/>
              <a:ext cx="2873829" cy="1221368"/>
            </a:xfrm>
            <a:custGeom>
              <a:avLst/>
              <a:gdLst/>
              <a:ahLst/>
              <a:cxnLst/>
              <a:rect l="l" t="t" r="r" b="b"/>
              <a:pathLst>
                <a:path w="2873829" h="1221368" extrusionOk="0">
                  <a:moveTo>
                    <a:pt x="0" y="0"/>
                  </a:moveTo>
                  <a:lnTo>
                    <a:pt x="2873829" y="0"/>
                  </a:lnTo>
                  <a:lnTo>
                    <a:pt x="2873829" y="1221368"/>
                  </a:lnTo>
                  <a:lnTo>
                    <a:pt x="0" y="1221368"/>
                  </a:lnTo>
                  <a:close/>
                </a:path>
              </a:pathLst>
            </a:custGeom>
            <a:solidFill>
              <a:srgbClr val="C9E16D"/>
            </a:solidFill>
            <a:ln>
              <a:noFill/>
            </a:ln>
          </p:spPr>
          <p:txBody>
            <a:bodyPr/>
            <a:lstStyle/>
            <a:p>
              <a:endParaRPr lang="en-US"/>
            </a:p>
          </p:txBody>
        </p:sp>
        <p:sp>
          <p:nvSpPr>
            <p:cNvPr id="95" name="Google Shape;95;p13"/>
            <p:cNvSpPr txBox="1"/>
            <p:nvPr/>
          </p:nvSpPr>
          <p:spPr>
            <a:xfrm>
              <a:off x="0" y="-161925"/>
              <a:ext cx="2873829" cy="1383293"/>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6" name="Google Shape;96;p13"/>
          <p:cNvSpPr/>
          <p:nvPr/>
        </p:nvSpPr>
        <p:spPr>
          <a:xfrm>
            <a:off x="-3048648" y="-116977"/>
            <a:ext cx="9645849" cy="9663419"/>
          </a:xfrm>
          <a:custGeom>
            <a:avLst/>
            <a:gdLst/>
            <a:ahLst/>
            <a:cxnLst/>
            <a:rect l="l" t="t" r="r" b="b"/>
            <a:pathLst>
              <a:path w="9645849" h="9663419" extrusionOk="0">
                <a:moveTo>
                  <a:pt x="0" y="0"/>
                </a:moveTo>
                <a:lnTo>
                  <a:pt x="9645849" y="0"/>
                </a:lnTo>
                <a:lnTo>
                  <a:pt x="9645849" y="9663419"/>
                </a:lnTo>
                <a:lnTo>
                  <a:pt x="0" y="9663419"/>
                </a:lnTo>
                <a:lnTo>
                  <a:pt x="0" y="0"/>
                </a:lnTo>
                <a:close/>
              </a:path>
            </a:pathLst>
          </a:custGeom>
          <a:blipFill rotWithShape="1">
            <a:blip r:embed="rId4">
              <a:alphaModFix/>
            </a:blip>
            <a:stretch>
              <a:fillRect/>
            </a:stretch>
          </a:blipFill>
          <a:ln>
            <a:noFill/>
          </a:ln>
        </p:spPr>
        <p:txBody>
          <a:bodyPr/>
          <a:lstStyle/>
          <a:p>
            <a:endParaRPr/>
          </a:p>
        </p:txBody>
      </p:sp>
      <p:sp>
        <p:nvSpPr>
          <p:cNvPr id="97" name="Google Shape;97;p13"/>
          <p:cNvSpPr/>
          <p:nvPr/>
        </p:nvSpPr>
        <p:spPr>
          <a:xfrm flipH="1">
            <a:off x="25840821" y="-116977"/>
            <a:ext cx="9645849" cy="9663419"/>
          </a:xfrm>
          <a:custGeom>
            <a:avLst/>
            <a:gdLst/>
            <a:ahLst/>
            <a:cxnLst/>
            <a:rect l="l" t="t" r="r" b="b"/>
            <a:pathLst>
              <a:path w="9645849" h="9663419" extrusionOk="0">
                <a:moveTo>
                  <a:pt x="9645849" y="0"/>
                </a:moveTo>
                <a:lnTo>
                  <a:pt x="0" y="0"/>
                </a:lnTo>
                <a:lnTo>
                  <a:pt x="0" y="9663419"/>
                </a:lnTo>
                <a:lnTo>
                  <a:pt x="9645849" y="9663419"/>
                </a:lnTo>
                <a:lnTo>
                  <a:pt x="9645849" y="0"/>
                </a:lnTo>
                <a:close/>
              </a:path>
            </a:pathLst>
          </a:custGeom>
          <a:blipFill rotWithShape="1">
            <a:blip r:embed="rId4">
              <a:alphaModFix/>
            </a:blip>
            <a:stretch>
              <a:fillRect/>
            </a:stretch>
          </a:blipFill>
          <a:ln>
            <a:noFill/>
          </a:ln>
        </p:spPr>
        <p:txBody>
          <a:bodyPr/>
          <a:lstStyle/>
          <a:p>
            <a:endParaRPr/>
          </a:p>
        </p:txBody>
      </p:sp>
      <p:cxnSp>
        <p:nvCxnSpPr>
          <p:cNvPr id="98" name="Google Shape;98;p13"/>
          <p:cNvCxnSpPr/>
          <p:nvPr/>
        </p:nvCxnSpPr>
        <p:spPr>
          <a:xfrm>
            <a:off x="6664058" y="12964807"/>
            <a:ext cx="8810306" cy="0"/>
          </a:xfrm>
          <a:prstGeom prst="straightConnector1">
            <a:avLst/>
          </a:prstGeom>
          <a:noFill/>
          <a:ln w="152400" cap="flat" cmpd="sng">
            <a:solidFill>
              <a:srgbClr val="FFFFFF"/>
            </a:solidFill>
            <a:prstDash val="solid"/>
            <a:round/>
            <a:headEnd type="none" w="sm" len="sm"/>
            <a:tailEnd type="none" w="sm" len="sm"/>
          </a:ln>
        </p:spPr>
      </p:cxnSp>
      <p:grpSp>
        <p:nvGrpSpPr>
          <p:cNvPr id="99" name="Google Shape;99;p13"/>
          <p:cNvGrpSpPr/>
          <p:nvPr/>
        </p:nvGrpSpPr>
        <p:grpSpPr>
          <a:xfrm>
            <a:off x="2672423" y="10547997"/>
            <a:ext cx="3991635" cy="4412628"/>
            <a:chOff x="0" y="-85725"/>
            <a:chExt cx="812800" cy="898525"/>
          </a:xfrm>
        </p:grpSpPr>
        <p:sp>
          <p:nvSpPr>
            <p:cNvPr id="100" name="Google Shape;100;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02" name="Google Shape;102;p13"/>
          <p:cNvCxnSpPr/>
          <p:nvPr/>
        </p:nvCxnSpPr>
        <p:spPr>
          <a:xfrm>
            <a:off x="6664058" y="21588788"/>
            <a:ext cx="5731563" cy="0"/>
          </a:xfrm>
          <a:prstGeom prst="straightConnector1">
            <a:avLst/>
          </a:prstGeom>
          <a:noFill/>
          <a:ln w="152400" cap="flat" cmpd="sng">
            <a:solidFill>
              <a:srgbClr val="FFFFFF"/>
            </a:solidFill>
            <a:prstDash val="solid"/>
            <a:round/>
            <a:headEnd type="none" w="sm" len="sm"/>
            <a:tailEnd type="none" w="sm" len="sm"/>
          </a:ln>
        </p:spPr>
      </p:cxnSp>
      <p:grpSp>
        <p:nvGrpSpPr>
          <p:cNvPr id="103" name="Google Shape;103;p13"/>
          <p:cNvGrpSpPr/>
          <p:nvPr/>
        </p:nvGrpSpPr>
        <p:grpSpPr>
          <a:xfrm>
            <a:off x="2672423" y="19171978"/>
            <a:ext cx="3991635" cy="4412628"/>
            <a:chOff x="0" y="-85725"/>
            <a:chExt cx="812800" cy="898525"/>
          </a:xfrm>
        </p:grpSpPr>
        <p:sp>
          <p:nvSpPr>
            <p:cNvPr id="104" name="Google Shape;104;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 name="Google Shape;106;p13"/>
          <p:cNvSpPr/>
          <p:nvPr/>
        </p:nvSpPr>
        <p:spPr>
          <a:xfrm>
            <a:off x="3695604" y="20450973"/>
            <a:ext cx="1945273" cy="2247689"/>
          </a:xfrm>
          <a:custGeom>
            <a:avLst/>
            <a:gdLst/>
            <a:ahLst/>
            <a:cxnLst/>
            <a:rect l="l" t="t" r="r" b="b"/>
            <a:pathLst>
              <a:path w="1945273" h="2247689" extrusionOk="0">
                <a:moveTo>
                  <a:pt x="0" y="0"/>
                </a:moveTo>
                <a:lnTo>
                  <a:pt x="1945273" y="0"/>
                </a:lnTo>
                <a:lnTo>
                  <a:pt x="1945273" y="2247690"/>
                </a:lnTo>
                <a:lnTo>
                  <a:pt x="0" y="2247690"/>
                </a:lnTo>
                <a:lnTo>
                  <a:pt x="0" y="0"/>
                </a:lnTo>
                <a:close/>
              </a:path>
            </a:pathLst>
          </a:custGeom>
          <a:blipFill rotWithShape="1">
            <a:blip r:embed="rId6">
              <a:alphaModFix/>
            </a:blip>
            <a:stretch>
              <a:fillRect/>
            </a:stretch>
          </a:blipFill>
          <a:ln>
            <a:noFill/>
          </a:ln>
        </p:spPr>
        <p:txBody>
          <a:bodyPr/>
          <a:lstStyle/>
          <a:p>
            <a:endParaRPr/>
          </a:p>
        </p:txBody>
      </p:sp>
      <p:sp>
        <p:nvSpPr>
          <p:cNvPr id="107" name="Google Shape;107;p13"/>
          <p:cNvSpPr/>
          <p:nvPr/>
        </p:nvSpPr>
        <p:spPr>
          <a:xfrm>
            <a:off x="3575136" y="12328819"/>
            <a:ext cx="2186210" cy="1271977"/>
          </a:xfrm>
          <a:custGeom>
            <a:avLst/>
            <a:gdLst/>
            <a:ahLst/>
            <a:cxnLst/>
            <a:rect l="l" t="t" r="r" b="b"/>
            <a:pathLst>
              <a:path w="2186210" h="1271977" extrusionOk="0">
                <a:moveTo>
                  <a:pt x="0" y="0"/>
                </a:moveTo>
                <a:lnTo>
                  <a:pt x="2186210" y="0"/>
                </a:lnTo>
                <a:lnTo>
                  <a:pt x="2186210" y="1271977"/>
                </a:lnTo>
                <a:lnTo>
                  <a:pt x="0" y="1271977"/>
                </a:lnTo>
                <a:lnTo>
                  <a:pt x="0" y="0"/>
                </a:lnTo>
                <a:close/>
              </a:path>
            </a:pathLst>
          </a:custGeom>
          <a:blipFill rotWithShape="1">
            <a:blip r:embed="rId7">
              <a:alphaModFix/>
            </a:blip>
            <a:stretch>
              <a:fillRect/>
            </a:stretch>
          </a:blipFill>
          <a:ln>
            <a:noFill/>
          </a:ln>
        </p:spPr>
        <p:txBody>
          <a:bodyPr/>
          <a:lstStyle/>
          <a:p>
            <a:endParaRPr/>
          </a:p>
        </p:txBody>
      </p:sp>
      <p:cxnSp>
        <p:nvCxnSpPr>
          <p:cNvPr id="108" name="Google Shape;108;p13"/>
          <p:cNvCxnSpPr/>
          <p:nvPr/>
        </p:nvCxnSpPr>
        <p:spPr>
          <a:xfrm>
            <a:off x="21966437" y="14368019"/>
            <a:ext cx="3893091" cy="0"/>
          </a:xfrm>
          <a:prstGeom prst="straightConnector1">
            <a:avLst/>
          </a:prstGeom>
          <a:noFill/>
          <a:ln w="152400" cap="flat" cmpd="sng">
            <a:solidFill>
              <a:srgbClr val="FFFFFF"/>
            </a:solidFill>
            <a:prstDash val="solid"/>
            <a:round/>
            <a:headEnd type="none" w="sm" len="sm"/>
            <a:tailEnd type="none" w="sm" len="sm"/>
          </a:ln>
        </p:spPr>
      </p:cxnSp>
      <p:grpSp>
        <p:nvGrpSpPr>
          <p:cNvPr id="109" name="Google Shape;109;p13"/>
          <p:cNvGrpSpPr/>
          <p:nvPr/>
        </p:nvGrpSpPr>
        <p:grpSpPr>
          <a:xfrm>
            <a:off x="25840821" y="11873007"/>
            <a:ext cx="3991635" cy="4412628"/>
            <a:chOff x="0" y="-85725"/>
            <a:chExt cx="812800" cy="898525"/>
          </a:xfrm>
        </p:grpSpPr>
        <p:sp>
          <p:nvSpPr>
            <p:cNvPr id="110" name="Google Shape;110;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2" name="Google Shape;112;p13"/>
          <p:cNvSpPr/>
          <p:nvPr/>
        </p:nvSpPr>
        <p:spPr>
          <a:xfrm>
            <a:off x="26758841" y="13240363"/>
            <a:ext cx="2375309" cy="2098909"/>
          </a:xfrm>
          <a:custGeom>
            <a:avLst/>
            <a:gdLst/>
            <a:ahLst/>
            <a:cxnLst/>
            <a:rect l="l" t="t" r="r" b="b"/>
            <a:pathLst>
              <a:path w="2375309" h="2098909" extrusionOk="0">
                <a:moveTo>
                  <a:pt x="0" y="0"/>
                </a:moveTo>
                <a:lnTo>
                  <a:pt x="2375309" y="0"/>
                </a:lnTo>
                <a:lnTo>
                  <a:pt x="2375309" y="2098910"/>
                </a:lnTo>
                <a:lnTo>
                  <a:pt x="0" y="2098910"/>
                </a:lnTo>
                <a:lnTo>
                  <a:pt x="0" y="0"/>
                </a:lnTo>
                <a:close/>
              </a:path>
            </a:pathLst>
          </a:custGeom>
          <a:blipFill rotWithShape="1">
            <a:blip r:embed="rId8">
              <a:alphaModFix/>
            </a:blip>
            <a:stretch>
              <a:fillRect/>
            </a:stretch>
          </a:blipFill>
          <a:ln>
            <a:noFill/>
          </a:ln>
        </p:spPr>
        <p:txBody>
          <a:bodyPr/>
          <a:lstStyle/>
          <a:p>
            <a:endParaRPr/>
          </a:p>
        </p:txBody>
      </p:sp>
      <p:cxnSp>
        <p:nvCxnSpPr>
          <p:cNvPr id="113" name="Google Shape;113;p13"/>
          <p:cNvCxnSpPr/>
          <p:nvPr/>
        </p:nvCxnSpPr>
        <p:spPr>
          <a:xfrm>
            <a:off x="15630767" y="23461873"/>
            <a:ext cx="10047569" cy="0"/>
          </a:xfrm>
          <a:prstGeom prst="straightConnector1">
            <a:avLst/>
          </a:prstGeom>
          <a:noFill/>
          <a:ln w="152400" cap="flat" cmpd="sng">
            <a:solidFill>
              <a:srgbClr val="FFFFFF"/>
            </a:solidFill>
            <a:prstDash val="solid"/>
            <a:round/>
            <a:headEnd type="none" w="sm" len="sm"/>
            <a:tailEnd type="none" w="sm" len="sm"/>
          </a:ln>
        </p:spPr>
      </p:cxnSp>
      <p:grpSp>
        <p:nvGrpSpPr>
          <p:cNvPr id="114" name="Google Shape;114;p13"/>
          <p:cNvGrpSpPr/>
          <p:nvPr/>
        </p:nvGrpSpPr>
        <p:grpSpPr>
          <a:xfrm>
            <a:off x="25678335" y="20966861"/>
            <a:ext cx="3991635" cy="4412628"/>
            <a:chOff x="0" y="-85725"/>
            <a:chExt cx="812800" cy="898525"/>
          </a:xfrm>
        </p:grpSpPr>
        <p:sp>
          <p:nvSpPr>
            <p:cNvPr id="115" name="Google Shape;11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13"/>
          <p:cNvSpPr/>
          <p:nvPr/>
        </p:nvSpPr>
        <p:spPr>
          <a:xfrm>
            <a:off x="26993978" y="21901189"/>
            <a:ext cx="1360351" cy="3121367"/>
          </a:xfrm>
          <a:custGeom>
            <a:avLst/>
            <a:gdLst/>
            <a:ahLst/>
            <a:cxnLst/>
            <a:rect l="l" t="t" r="r" b="b"/>
            <a:pathLst>
              <a:path w="1360351" h="3121367" extrusionOk="0">
                <a:moveTo>
                  <a:pt x="0" y="0"/>
                </a:moveTo>
                <a:lnTo>
                  <a:pt x="1360351" y="0"/>
                </a:lnTo>
                <a:lnTo>
                  <a:pt x="1360351" y="3121368"/>
                </a:lnTo>
                <a:lnTo>
                  <a:pt x="0" y="3121368"/>
                </a:lnTo>
                <a:lnTo>
                  <a:pt x="0" y="0"/>
                </a:lnTo>
                <a:close/>
              </a:path>
            </a:pathLst>
          </a:custGeom>
          <a:blipFill rotWithShape="1">
            <a:blip r:embed="rId9">
              <a:alphaModFix/>
            </a:blip>
            <a:stretch>
              <a:fillRect t="-17868" b="-37778"/>
            </a:stretch>
          </a:blipFill>
          <a:ln>
            <a:noFill/>
          </a:ln>
        </p:spPr>
        <p:txBody>
          <a:bodyPr/>
          <a:lstStyle/>
          <a:p>
            <a:endParaRPr/>
          </a:p>
        </p:txBody>
      </p:sp>
      <p:cxnSp>
        <p:nvCxnSpPr>
          <p:cNvPr id="118" name="Google Shape;118;p13"/>
          <p:cNvCxnSpPr/>
          <p:nvPr/>
        </p:nvCxnSpPr>
        <p:spPr>
          <a:xfrm>
            <a:off x="0" y="35509535"/>
            <a:ext cx="32918400" cy="0"/>
          </a:xfrm>
          <a:prstGeom prst="straightConnector1">
            <a:avLst/>
          </a:prstGeom>
          <a:noFill/>
          <a:ln w="152400" cap="flat" cmpd="sng">
            <a:solidFill>
              <a:srgbClr val="FFFFFF"/>
            </a:solidFill>
            <a:prstDash val="dot"/>
            <a:round/>
            <a:headEnd type="none" w="sm" len="sm"/>
            <a:tailEnd type="none" w="sm" len="sm"/>
          </a:ln>
        </p:spPr>
      </p:cxnSp>
      <p:sp>
        <p:nvSpPr>
          <p:cNvPr id="119" name="Google Shape;119;p13"/>
          <p:cNvSpPr/>
          <p:nvPr/>
        </p:nvSpPr>
        <p:spPr>
          <a:xfrm>
            <a:off x="1809238" y="30766500"/>
            <a:ext cx="6293788" cy="3606034"/>
          </a:xfrm>
          <a:custGeom>
            <a:avLst/>
            <a:gdLst/>
            <a:ahLst/>
            <a:cxnLst/>
            <a:rect l="l" t="t" r="r" b="b"/>
            <a:pathLst>
              <a:path w="6293788" h="3606034" extrusionOk="0">
                <a:moveTo>
                  <a:pt x="0" y="0"/>
                </a:moveTo>
                <a:lnTo>
                  <a:pt x="6293788" y="0"/>
                </a:lnTo>
                <a:lnTo>
                  <a:pt x="6293788" y="3606034"/>
                </a:lnTo>
                <a:lnTo>
                  <a:pt x="0" y="3606034"/>
                </a:lnTo>
                <a:lnTo>
                  <a:pt x="0" y="0"/>
                </a:lnTo>
                <a:close/>
              </a:path>
            </a:pathLst>
          </a:custGeom>
          <a:blipFill rotWithShape="1">
            <a:blip r:embed="rId10">
              <a:alphaModFix/>
            </a:blip>
            <a:stretch>
              <a:fillRect/>
            </a:stretch>
          </a:blipFill>
          <a:ln>
            <a:noFill/>
          </a:ln>
        </p:spPr>
        <p:txBody>
          <a:bodyPr/>
          <a:lstStyle/>
          <a:p>
            <a:endParaRPr/>
          </a:p>
        </p:txBody>
      </p:sp>
      <p:cxnSp>
        <p:nvCxnSpPr>
          <p:cNvPr id="120" name="Google Shape;120;p13"/>
          <p:cNvCxnSpPr/>
          <p:nvPr/>
        </p:nvCxnSpPr>
        <p:spPr>
          <a:xfrm rot="10800000">
            <a:off x="16928501" y="30628182"/>
            <a:ext cx="0" cy="4148773"/>
          </a:xfrm>
          <a:prstGeom prst="straightConnector1">
            <a:avLst/>
          </a:prstGeom>
          <a:noFill/>
          <a:ln w="152400" cap="flat" cmpd="sng">
            <a:solidFill>
              <a:srgbClr val="FFFFFF"/>
            </a:solidFill>
            <a:prstDash val="dot"/>
            <a:round/>
            <a:headEnd type="none" w="sm" len="sm"/>
            <a:tailEnd type="none" w="sm" len="sm"/>
          </a:ln>
        </p:spPr>
      </p:cxnSp>
      <p:grpSp>
        <p:nvGrpSpPr>
          <p:cNvPr id="121" name="Google Shape;121;p13"/>
          <p:cNvGrpSpPr/>
          <p:nvPr/>
        </p:nvGrpSpPr>
        <p:grpSpPr>
          <a:xfrm>
            <a:off x="17926273" y="30354827"/>
            <a:ext cx="2591814" cy="2865169"/>
            <a:chOff x="0" y="-85725"/>
            <a:chExt cx="812800" cy="898525"/>
          </a:xfrm>
        </p:grpSpPr>
        <p:sp>
          <p:nvSpPr>
            <p:cNvPr id="122" name="Google Shape;122;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13"/>
          <p:cNvSpPr/>
          <p:nvPr/>
        </p:nvSpPr>
        <p:spPr>
          <a:xfrm>
            <a:off x="18303849" y="31004085"/>
            <a:ext cx="1666352" cy="1669388"/>
          </a:xfrm>
          <a:custGeom>
            <a:avLst/>
            <a:gdLst/>
            <a:ahLst/>
            <a:cxnLst/>
            <a:rect l="l" t="t" r="r" b="b"/>
            <a:pathLst>
              <a:path w="1666352" h="1669388" extrusionOk="0">
                <a:moveTo>
                  <a:pt x="0" y="0"/>
                </a:moveTo>
                <a:lnTo>
                  <a:pt x="1666353" y="0"/>
                </a:lnTo>
                <a:lnTo>
                  <a:pt x="1666353" y="1669388"/>
                </a:lnTo>
                <a:lnTo>
                  <a:pt x="0" y="1669388"/>
                </a:lnTo>
                <a:lnTo>
                  <a:pt x="0" y="0"/>
                </a:lnTo>
                <a:close/>
              </a:path>
            </a:pathLst>
          </a:custGeom>
          <a:blipFill rotWithShape="1">
            <a:blip r:embed="rId4">
              <a:alphaModFix/>
            </a:blip>
            <a:stretch>
              <a:fillRect/>
            </a:stretch>
          </a:blipFill>
          <a:ln>
            <a:noFill/>
          </a:ln>
        </p:spPr>
        <p:txBody>
          <a:bodyPr/>
          <a:lstStyle/>
          <a:p>
            <a:endParaRPr/>
          </a:p>
        </p:txBody>
      </p:sp>
      <p:grpSp>
        <p:nvGrpSpPr>
          <p:cNvPr id="125" name="Google Shape;125;p13"/>
          <p:cNvGrpSpPr/>
          <p:nvPr/>
        </p:nvGrpSpPr>
        <p:grpSpPr>
          <a:xfrm>
            <a:off x="21080495" y="30354827"/>
            <a:ext cx="2591814" cy="2865169"/>
            <a:chOff x="0" y="-85725"/>
            <a:chExt cx="812800" cy="898525"/>
          </a:xfrm>
        </p:grpSpPr>
        <p:sp>
          <p:nvSpPr>
            <p:cNvPr id="126" name="Google Shape;12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8" name="Google Shape;128;p13"/>
          <p:cNvSpPr/>
          <p:nvPr/>
        </p:nvSpPr>
        <p:spPr>
          <a:xfrm>
            <a:off x="21966437" y="30996185"/>
            <a:ext cx="819930" cy="1855808"/>
          </a:xfrm>
          <a:custGeom>
            <a:avLst/>
            <a:gdLst/>
            <a:ahLst/>
            <a:cxnLst/>
            <a:rect l="l" t="t" r="r" b="b"/>
            <a:pathLst>
              <a:path w="819930" h="1855808" extrusionOk="0">
                <a:moveTo>
                  <a:pt x="0" y="0"/>
                </a:moveTo>
                <a:lnTo>
                  <a:pt x="819930" y="0"/>
                </a:lnTo>
                <a:lnTo>
                  <a:pt x="819930" y="1855808"/>
                </a:lnTo>
                <a:lnTo>
                  <a:pt x="0" y="1855808"/>
                </a:lnTo>
                <a:lnTo>
                  <a:pt x="0" y="0"/>
                </a:lnTo>
                <a:close/>
              </a:path>
            </a:pathLst>
          </a:custGeom>
          <a:blipFill rotWithShape="1">
            <a:blip r:embed="rId11">
              <a:alphaModFix/>
            </a:blip>
            <a:stretch>
              <a:fillRect/>
            </a:stretch>
          </a:blipFill>
          <a:ln>
            <a:noFill/>
          </a:ln>
        </p:spPr>
        <p:txBody>
          <a:bodyPr/>
          <a:lstStyle/>
          <a:p>
            <a:endParaRPr/>
          </a:p>
        </p:txBody>
      </p:sp>
      <p:sp>
        <p:nvSpPr>
          <p:cNvPr id="129" name="Google Shape;129;p13"/>
          <p:cNvSpPr txBox="1"/>
          <p:nvPr/>
        </p:nvSpPr>
        <p:spPr>
          <a:xfrm>
            <a:off x="10967077" y="1550200"/>
            <a:ext cx="11381100" cy="884700"/>
          </a:xfrm>
          <a:prstGeom prst="rect">
            <a:avLst/>
          </a:prstGeom>
          <a:noFill/>
          <a:ln>
            <a:noFill/>
          </a:ln>
        </p:spPr>
        <p:txBody>
          <a:bodyPr spcFirstLastPara="1" wrap="square" lIns="0" tIns="0" rIns="0" bIns="0" anchor="t" anchorCtr="0">
            <a:spAutoFit/>
          </a:bodyPr>
          <a:lstStyle/>
          <a:p>
            <a:pPr marL="0" marR="0" lvl="0" indent="0" algn="ctr" rtl="0">
              <a:lnSpc>
                <a:spcPct val="139986"/>
              </a:lnSpc>
              <a:spcBef>
                <a:spcPts val="0"/>
              </a:spcBef>
              <a:spcAft>
                <a:spcPts val="0"/>
              </a:spcAft>
              <a:buNone/>
            </a:pPr>
            <a:r>
              <a:rPr lang="en-US" sz="5747" b="1" i="0" u="none" strike="noStrike" cap="none">
                <a:solidFill>
                  <a:srgbClr val="61407F"/>
                </a:solidFill>
                <a:latin typeface="Poppins"/>
                <a:ea typeface="Poppins"/>
                <a:cs typeface="Poppins"/>
                <a:sym typeface="Poppins"/>
              </a:rPr>
              <a:t>ANIMAL RESEARCH POSTER</a:t>
            </a:r>
            <a:endParaRPr/>
          </a:p>
        </p:txBody>
      </p:sp>
      <p:sp>
        <p:nvSpPr>
          <p:cNvPr id="130" name="Google Shape;130;p13"/>
          <p:cNvSpPr txBox="1"/>
          <p:nvPr/>
        </p:nvSpPr>
        <p:spPr>
          <a:xfrm>
            <a:off x="8441285" y="2950186"/>
            <a:ext cx="16035900" cy="3033000"/>
          </a:xfrm>
          <a:prstGeom prst="rect">
            <a:avLst/>
          </a:prstGeom>
          <a:noFill/>
          <a:ln>
            <a:noFill/>
          </a:ln>
        </p:spPr>
        <p:txBody>
          <a:bodyPr spcFirstLastPara="1" wrap="square" lIns="0" tIns="0" rIns="0" bIns="0" anchor="t" anchorCtr="0">
            <a:spAutoFit/>
          </a:bodyPr>
          <a:lstStyle/>
          <a:p>
            <a:pPr marL="0" marR="0" lvl="0" indent="0" algn="l" rtl="0">
              <a:lnSpc>
                <a:spcPct val="139996"/>
              </a:lnSpc>
              <a:spcBef>
                <a:spcPts val="0"/>
              </a:spcBef>
              <a:spcAft>
                <a:spcPts val="0"/>
              </a:spcAft>
              <a:buNone/>
            </a:pPr>
            <a:r>
              <a:rPr lang="en-US" sz="19704" b="1" i="0" u="none" strike="noStrike" cap="none">
                <a:solidFill>
                  <a:srgbClr val="FFE2AA"/>
                </a:solidFill>
                <a:latin typeface="Poppins"/>
                <a:ea typeface="Poppins"/>
                <a:cs typeface="Poppins"/>
                <a:sym typeface="Poppins"/>
              </a:rPr>
              <a:t>THE TOUCAN</a:t>
            </a:r>
            <a:endParaRPr/>
          </a:p>
        </p:txBody>
      </p:sp>
      <p:sp>
        <p:nvSpPr>
          <p:cNvPr id="131" name="Google Shape;131;p13"/>
          <p:cNvSpPr txBox="1"/>
          <p:nvPr/>
        </p:nvSpPr>
        <p:spPr>
          <a:xfrm>
            <a:off x="7543483" y="6016230"/>
            <a:ext cx="17831400" cy="2502300"/>
          </a:xfrm>
          <a:prstGeom prst="rect">
            <a:avLst/>
          </a:prstGeom>
          <a:noFill/>
          <a:ln>
            <a:noFill/>
          </a:ln>
        </p:spPr>
        <p:txBody>
          <a:bodyPr spcFirstLastPara="1" wrap="square" lIns="0" tIns="0" rIns="0" bIns="0" anchor="t" anchorCtr="0">
            <a:spAutoFit/>
          </a:bodyPr>
          <a:lstStyle/>
          <a:p>
            <a:r>
              <a:rPr sz="4926" b="0" i="0">
                <a:solidFill>
                  <a:srgbClr val="FFFFFF"/>
                </a:solidFill>
                <a:latin typeface="Poppins Medium"/>
              </a:rPr>
              <a:t>Toucans are members of the Neotropical near passerine bird family Ramphastidae. Known for their brightly colored plumage and oversized, colorful bills, they inhabit the canopies of Central and South American rainforests.</a:t>
            </a:r>
          </a:p>
        </p:txBody>
      </p:sp>
      <p:sp>
        <p:nvSpPr>
          <p:cNvPr id="132" name="Google Shape;132;p13"/>
          <p:cNvSpPr txBox="1"/>
          <p:nvPr/>
        </p:nvSpPr>
        <p:spPr>
          <a:xfrm>
            <a:off x="2881412" y="15339622"/>
            <a:ext cx="3573658"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FFFFFF"/>
                </a:solidFill>
                <a:latin typeface="Poppins"/>
                <a:ea typeface="Poppins"/>
                <a:cs typeface="Poppins"/>
                <a:sym typeface="Poppins"/>
              </a:rPr>
              <a:t>THE EYES</a:t>
            </a:r>
            <a:endParaRPr/>
          </a:p>
        </p:txBody>
      </p:sp>
      <p:sp>
        <p:nvSpPr>
          <p:cNvPr id="133" name="Google Shape;133;p13"/>
          <p:cNvSpPr txBox="1"/>
          <p:nvPr/>
        </p:nvSpPr>
        <p:spPr>
          <a:xfrm>
            <a:off x="2199282" y="16376755"/>
            <a:ext cx="4938000" cy="2249400"/>
          </a:xfrm>
          <a:prstGeom prst="rect">
            <a:avLst/>
          </a:prstGeom>
          <a:noFill/>
          <a:ln>
            <a:noFill/>
          </a:ln>
        </p:spPr>
        <p:txBody>
          <a:bodyPr spcFirstLastPara="1" wrap="square" lIns="0" tIns="0" rIns="0" bIns="0" anchor="t" anchorCtr="0">
            <a:spAutoFit/>
          </a:bodyPr>
          <a:lstStyle/>
          <a:p>
            <a:r>
              <a:rPr sz="3284" b="0" i="0">
                <a:solidFill>
                  <a:srgbClr val="FFFFFF"/>
                </a:solidFill>
                <a:latin typeface="Poppins Medium"/>
              </a:rPr>
              <a:t>Toucans have excellent vision. The colorful skin around their eyes helps them blend into the vibrant rainforest canopy.</a:t>
            </a:r>
          </a:p>
        </p:txBody>
      </p:sp>
      <p:sp>
        <p:nvSpPr>
          <p:cNvPr id="134" name="Google Shape;134;p13"/>
          <p:cNvSpPr txBox="1"/>
          <p:nvPr/>
        </p:nvSpPr>
        <p:spPr>
          <a:xfrm>
            <a:off x="2021491" y="23959564"/>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FFFFFF"/>
                </a:solidFill>
                <a:latin typeface="Poppins"/>
                <a:ea typeface="Poppins"/>
                <a:cs typeface="Poppins"/>
                <a:sym typeface="Poppins"/>
              </a:rPr>
              <a:t>THE FEATHERS</a:t>
            </a:r>
            <a:endParaRPr dirty="0"/>
          </a:p>
        </p:txBody>
      </p:sp>
      <p:sp>
        <p:nvSpPr>
          <p:cNvPr id="135" name="Google Shape;135;p13"/>
          <p:cNvSpPr txBox="1"/>
          <p:nvPr/>
        </p:nvSpPr>
        <p:spPr>
          <a:xfrm>
            <a:off x="2199282" y="25000736"/>
            <a:ext cx="4938000" cy="2249400"/>
          </a:xfrm>
          <a:prstGeom prst="rect">
            <a:avLst/>
          </a:prstGeom>
          <a:noFill/>
          <a:ln>
            <a:noFill/>
          </a:ln>
        </p:spPr>
        <p:txBody>
          <a:bodyPr spcFirstLastPara="1" wrap="square" lIns="0" tIns="0" rIns="0" bIns="0" anchor="t" anchorCtr="0">
            <a:spAutoFit/>
          </a:bodyPr>
          <a:lstStyle/>
          <a:p>
            <a:r>
              <a:rPr sz="3284" b="0" i="0">
                <a:solidFill>
                  <a:srgbClr val="FFFFFF"/>
                </a:solidFill>
                <a:latin typeface="Poppins Medium"/>
              </a:rPr>
              <a:t>Their plumage is typically black with patches of bright yellow, orange, or red. This contrasting coloration serves as effective camouflage.</a:t>
            </a:r>
          </a:p>
        </p:txBody>
      </p:sp>
      <p:sp>
        <p:nvSpPr>
          <p:cNvPr id="136" name="Google Shape;136;p13"/>
          <p:cNvSpPr txBox="1"/>
          <p:nvPr/>
        </p:nvSpPr>
        <p:spPr>
          <a:xfrm>
            <a:off x="26159667" y="16774248"/>
            <a:ext cx="3573658"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FFFFFF"/>
                </a:solidFill>
                <a:latin typeface="Poppins"/>
                <a:ea typeface="Poppins"/>
                <a:cs typeface="Poppins"/>
                <a:sym typeface="Poppins"/>
              </a:rPr>
              <a:t>THE BEAK</a:t>
            </a:r>
            <a:endParaRPr dirty="0"/>
          </a:p>
        </p:txBody>
      </p:sp>
      <p:sp>
        <p:nvSpPr>
          <p:cNvPr id="137" name="Google Shape;137;p13"/>
          <p:cNvSpPr txBox="1"/>
          <p:nvPr/>
        </p:nvSpPr>
        <p:spPr>
          <a:xfrm>
            <a:off x="25477537" y="17811382"/>
            <a:ext cx="4938000" cy="2249400"/>
          </a:xfrm>
          <a:prstGeom prst="rect">
            <a:avLst/>
          </a:prstGeom>
          <a:noFill/>
          <a:ln>
            <a:noFill/>
          </a:ln>
        </p:spPr>
        <p:txBody>
          <a:bodyPr spcFirstLastPara="1" wrap="square" lIns="0" tIns="0" rIns="0" bIns="0" anchor="t" anchorCtr="0">
            <a:spAutoFit/>
          </a:bodyPr>
          <a:lstStyle/>
          <a:p>
            <a:r>
              <a:rPr sz="3284" b="0" i="0">
                <a:solidFill>
                  <a:srgbClr val="FFFFFF"/>
                </a:solidFill>
                <a:latin typeface="Poppins Medium"/>
              </a:rPr>
              <a:t>Despite its large size, the toucan's beak is lightweight and made of keratin. It helps in regulating body temperature and reaching distant fruit.</a:t>
            </a:r>
          </a:p>
        </p:txBody>
      </p:sp>
      <p:sp>
        <p:nvSpPr>
          <p:cNvPr id="138" name="Google Shape;138;p13"/>
          <p:cNvSpPr txBox="1"/>
          <p:nvPr/>
        </p:nvSpPr>
        <p:spPr>
          <a:xfrm>
            <a:off x="25576669" y="25519844"/>
            <a:ext cx="4093302"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FFFFFF"/>
                </a:solidFill>
                <a:latin typeface="Poppins"/>
                <a:ea typeface="Poppins"/>
                <a:cs typeface="Poppins"/>
                <a:sym typeface="Poppins"/>
              </a:rPr>
              <a:t>THE CLAWS</a:t>
            </a:r>
            <a:endParaRPr dirty="0"/>
          </a:p>
        </p:txBody>
      </p:sp>
      <p:sp>
        <p:nvSpPr>
          <p:cNvPr id="139" name="Google Shape;139;p13"/>
          <p:cNvSpPr txBox="1"/>
          <p:nvPr/>
        </p:nvSpPr>
        <p:spPr>
          <a:xfrm>
            <a:off x="25154361" y="26576264"/>
            <a:ext cx="4938000" cy="2249400"/>
          </a:xfrm>
          <a:prstGeom prst="rect">
            <a:avLst/>
          </a:prstGeom>
          <a:noFill/>
          <a:ln>
            <a:noFill/>
          </a:ln>
        </p:spPr>
        <p:txBody>
          <a:bodyPr spcFirstLastPara="1" wrap="square" lIns="0" tIns="0" rIns="0" bIns="0" anchor="t" anchorCtr="0">
            <a:spAutoFit/>
          </a:bodyPr>
          <a:lstStyle/>
          <a:p>
            <a:r>
              <a:rPr sz="3284" b="0" i="0">
                <a:solidFill>
                  <a:srgbClr val="FFFFFF"/>
                </a:solidFill>
                <a:latin typeface="Poppins Medium"/>
              </a:rPr>
              <a:t>Toucans have zygodactyl feet, with two toes pointing forward and two backward, allowing them to firmly grasp branches.</a:t>
            </a:r>
          </a:p>
        </p:txBody>
      </p:sp>
      <p:sp>
        <p:nvSpPr>
          <p:cNvPr id="140" name="Google Shape;140;p13"/>
          <p:cNvSpPr txBox="1"/>
          <p:nvPr/>
        </p:nvSpPr>
        <p:spPr>
          <a:xfrm>
            <a:off x="8572233" y="30633150"/>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dirty="0">
                <a:solidFill>
                  <a:srgbClr val="61407F"/>
                </a:solidFill>
                <a:latin typeface="Poppins"/>
                <a:ea typeface="Poppins"/>
                <a:cs typeface="Poppins"/>
                <a:sym typeface="Poppins"/>
              </a:rPr>
              <a:t>POPULATION</a:t>
            </a:r>
            <a:endParaRPr dirty="0"/>
          </a:p>
        </p:txBody>
      </p:sp>
      <p:sp>
        <p:nvSpPr>
          <p:cNvPr id="141" name="Google Shape;141;p13"/>
          <p:cNvSpPr txBox="1"/>
          <p:nvPr/>
        </p:nvSpPr>
        <p:spPr>
          <a:xfrm>
            <a:off x="8572233" y="31751751"/>
            <a:ext cx="7646700" cy="28308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There are over 40 different species of toucans. While their overall populations are generally stable, some species are threatened by habitat loss in the Amazon.</a:t>
            </a:r>
          </a:p>
        </p:txBody>
      </p:sp>
      <p:sp>
        <p:nvSpPr>
          <p:cNvPr id="142" name="Google Shape;142;p13"/>
          <p:cNvSpPr txBox="1"/>
          <p:nvPr/>
        </p:nvSpPr>
        <p:spPr>
          <a:xfrm>
            <a:off x="24568341" y="30633150"/>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61407F"/>
                </a:solidFill>
                <a:latin typeface="Poppins"/>
                <a:ea typeface="Poppins"/>
                <a:cs typeface="Poppins"/>
                <a:sym typeface="Poppins"/>
              </a:rPr>
              <a:t>TOUCAN DIET</a:t>
            </a:r>
            <a:endParaRPr/>
          </a:p>
        </p:txBody>
      </p:sp>
      <p:sp>
        <p:nvSpPr>
          <p:cNvPr id="143" name="Google Shape;143;p13"/>
          <p:cNvSpPr txBox="1"/>
          <p:nvPr/>
        </p:nvSpPr>
        <p:spPr>
          <a:xfrm>
            <a:off x="24568341" y="31751751"/>
            <a:ext cx="6586500" cy="28308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Toucans are primarily frugivorous, eating a wide variety of fruits. They occasionally supplement their diet with insects, small reptiles, and bird eggs.</a:t>
            </a:r>
          </a:p>
        </p:txBody>
      </p:sp>
      <p:sp>
        <p:nvSpPr>
          <p:cNvPr id="144" name="Google Shape;144;p13"/>
          <p:cNvSpPr txBox="1"/>
          <p:nvPr/>
        </p:nvSpPr>
        <p:spPr>
          <a:xfrm>
            <a:off x="17515584" y="33532379"/>
            <a:ext cx="3242883" cy="71384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5" b="1" i="0" u="none" strike="noStrike" cap="none">
                <a:solidFill>
                  <a:srgbClr val="000000"/>
                </a:solidFill>
                <a:latin typeface="Poppins"/>
                <a:ea typeface="Poppins"/>
                <a:cs typeface="Poppins"/>
                <a:sym typeface="Poppins"/>
              </a:rPr>
              <a:t>PLANTS</a:t>
            </a:r>
            <a:endParaRPr/>
          </a:p>
        </p:txBody>
      </p:sp>
      <p:sp>
        <p:nvSpPr>
          <p:cNvPr id="145" name="Google Shape;145;p13"/>
          <p:cNvSpPr txBox="1"/>
          <p:nvPr/>
        </p:nvSpPr>
        <p:spPr>
          <a:xfrm>
            <a:off x="20854921" y="33532379"/>
            <a:ext cx="3242883" cy="71384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5" b="1" i="0" u="none" strike="noStrike" cap="none">
                <a:solidFill>
                  <a:srgbClr val="000000"/>
                </a:solidFill>
                <a:latin typeface="Poppins"/>
                <a:ea typeface="Poppins"/>
                <a:cs typeface="Poppins"/>
                <a:sym typeface="Poppins"/>
              </a:rPr>
              <a:t>FRUITS</a:t>
            </a:r>
            <a:endParaRPr/>
          </a:p>
        </p:txBody>
      </p:sp>
      <p:cxnSp>
        <p:nvCxnSpPr>
          <p:cNvPr id="146" name="Google Shape;146;p13"/>
          <p:cNvCxnSpPr/>
          <p:nvPr/>
        </p:nvCxnSpPr>
        <p:spPr>
          <a:xfrm>
            <a:off x="0" y="41971261"/>
            <a:ext cx="32918400" cy="0"/>
          </a:xfrm>
          <a:prstGeom prst="straightConnector1">
            <a:avLst/>
          </a:prstGeom>
          <a:noFill/>
          <a:ln w="152400" cap="flat" cmpd="sng">
            <a:solidFill>
              <a:srgbClr val="FFFFFF"/>
            </a:solidFill>
            <a:prstDash val="dot"/>
            <a:round/>
            <a:headEnd type="none" w="sm" len="sm"/>
            <a:tailEnd type="none" w="sm" len="sm"/>
          </a:ln>
        </p:spPr>
      </p:cxnSp>
      <p:grpSp>
        <p:nvGrpSpPr>
          <p:cNvPr id="147" name="Google Shape;147;p13"/>
          <p:cNvGrpSpPr/>
          <p:nvPr/>
        </p:nvGrpSpPr>
        <p:grpSpPr>
          <a:xfrm>
            <a:off x="1982045" y="36212729"/>
            <a:ext cx="5293575" cy="4831425"/>
            <a:chOff x="0" y="-323850"/>
            <a:chExt cx="7058100" cy="6441899"/>
          </a:xfrm>
        </p:grpSpPr>
        <p:sp>
          <p:nvSpPr>
            <p:cNvPr id="148" name="Google Shape;148;p13"/>
            <p:cNvSpPr txBox="1"/>
            <p:nvPr/>
          </p:nvSpPr>
          <p:spPr>
            <a:xfrm>
              <a:off x="691808" y="-323850"/>
              <a:ext cx="5674500" cy="2712196"/>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i="0" u="none" strike="noStrike" cap="none" dirty="0">
                  <a:solidFill>
                    <a:srgbClr val="61407F"/>
                  </a:solidFill>
                  <a:latin typeface="Poppins"/>
                  <a:ea typeface="Poppins"/>
                  <a:cs typeface="Poppins"/>
                  <a:sym typeface="Poppins"/>
                </a:rPr>
                <a:t>1</a:t>
              </a:r>
              <a:endParaRPr dirty="0"/>
            </a:p>
          </p:txBody>
        </p:sp>
        <p:sp>
          <p:nvSpPr>
            <p:cNvPr id="149" name="Google Shape;149;p13"/>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dirty="0">
                  <a:solidFill>
                    <a:srgbClr val="61407F"/>
                  </a:solidFill>
                  <a:latin typeface="Poppins"/>
                  <a:ea typeface="Poppins"/>
                  <a:cs typeface="Poppins"/>
                  <a:sym typeface="Poppins"/>
                </a:rPr>
                <a:t>POINT 01</a:t>
              </a:r>
              <a:endParaRPr dirty="0"/>
            </a:p>
          </p:txBody>
        </p:sp>
        <p:sp>
          <p:nvSpPr>
            <p:cNvPr id="150" name="Google Shape;150;p13"/>
            <p:cNvSpPr txBox="1"/>
            <p:nvPr/>
          </p:nvSpPr>
          <p:spPr>
            <a:xfrm>
              <a:off x="526999" y="3893848"/>
              <a:ext cx="6003900" cy="222420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3284" b="0" i="0" u="none" strike="noStrike" cap="none" dirty="0">
                  <a:solidFill>
                    <a:srgbClr val="000000"/>
                  </a:solidFill>
                  <a:latin typeface="Poppins Medium"/>
                  <a:ea typeface="Poppins Medium"/>
                  <a:cs typeface="Poppins Medium"/>
                  <a:sym typeface="Poppins Medium"/>
                </a:rPr>
                <a:t>Lorem ipsum dolor sit </a:t>
              </a:r>
              <a:r>
                <a:rPr lang="en-US" sz="3284" b="0" i="0" u="none" strike="noStrike" cap="none" dirty="0" err="1">
                  <a:solidFill>
                    <a:srgbClr val="000000"/>
                  </a:solidFill>
                  <a:latin typeface="Poppins Medium"/>
                  <a:ea typeface="Poppins Medium"/>
                  <a:cs typeface="Poppins Medium"/>
                  <a:sym typeface="Poppins Medium"/>
                </a:rPr>
                <a:t>amet</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consectetur</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adipiscing</a:t>
              </a:r>
              <a:r>
                <a:rPr lang="en-US" sz="3284" b="0" i="0" u="none" strike="noStrike" cap="none" dirty="0">
                  <a:solidFill>
                    <a:srgbClr val="000000"/>
                  </a:solidFill>
                  <a:latin typeface="Poppins Medium"/>
                  <a:ea typeface="Poppins Medium"/>
                  <a:cs typeface="Poppins Medium"/>
                  <a:sym typeface="Poppins Medium"/>
                </a:rPr>
                <a:t>.</a:t>
              </a:r>
              <a:endParaRPr dirty="0"/>
            </a:p>
          </p:txBody>
        </p:sp>
      </p:grpSp>
      <p:grpSp>
        <p:nvGrpSpPr>
          <p:cNvPr id="151" name="Google Shape;151;p13"/>
          <p:cNvGrpSpPr/>
          <p:nvPr/>
        </p:nvGrpSpPr>
        <p:grpSpPr>
          <a:xfrm>
            <a:off x="7696463" y="36212729"/>
            <a:ext cx="5293575" cy="4831425"/>
            <a:chOff x="0" y="-323850"/>
            <a:chExt cx="7058100" cy="6441898"/>
          </a:xfrm>
        </p:grpSpPr>
        <p:sp>
          <p:nvSpPr>
            <p:cNvPr id="152" name="Google Shape;152;p13"/>
            <p:cNvSpPr txBox="1"/>
            <p:nvPr/>
          </p:nvSpPr>
          <p:spPr>
            <a:xfrm>
              <a:off x="691808" y="-323850"/>
              <a:ext cx="5674500" cy="2712195"/>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dirty="0">
                  <a:solidFill>
                    <a:srgbClr val="61407F"/>
                  </a:solidFill>
                  <a:latin typeface="Poppins"/>
                  <a:cs typeface="Poppins"/>
                  <a:sym typeface="Poppins"/>
                </a:rPr>
                <a:t>2</a:t>
              </a:r>
              <a:endParaRPr dirty="0"/>
            </a:p>
          </p:txBody>
        </p:sp>
        <p:sp>
          <p:nvSpPr>
            <p:cNvPr id="153" name="Google Shape;153;p13"/>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a:solidFill>
                    <a:srgbClr val="61407F"/>
                  </a:solidFill>
                  <a:latin typeface="Poppins"/>
                  <a:ea typeface="Poppins"/>
                  <a:cs typeface="Poppins"/>
                  <a:sym typeface="Poppins"/>
                </a:rPr>
                <a:t>POINT 02</a:t>
              </a:r>
              <a:endParaRPr/>
            </a:p>
          </p:txBody>
        </p:sp>
        <p:sp>
          <p:nvSpPr>
            <p:cNvPr id="154" name="Google Shape;154;p13"/>
            <p:cNvSpPr txBox="1"/>
            <p:nvPr/>
          </p:nvSpPr>
          <p:spPr>
            <a:xfrm>
              <a:off x="526999" y="3893847"/>
              <a:ext cx="6003900" cy="222420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3284" b="0" i="0" u="none" strike="noStrike" cap="none" dirty="0">
                  <a:solidFill>
                    <a:srgbClr val="000000"/>
                  </a:solidFill>
                  <a:latin typeface="Poppins Medium"/>
                  <a:ea typeface="Poppins Medium"/>
                  <a:cs typeface="Poppins Medium"/>
                  <a:sym typeface="Poppins Medium"/>
                </a:rPr>
                <a:t>Lorem ipsum dolor sit </a:t>
              </a:r>
              <a:r>
                <a:rPr lang="en-US" sz="3284" b="0" i="0" u="none" strike="noStrike" cap="none" dirty="0" err="1">
                  <a:solidFill>
                    <a:srgbClr val="000000"/>
                  </a:solidFill>
                  <a:latin typeface="Poppins Medium"/>
                  <a:ea typeface="Poppins Medium"/>
                  <a:cs typeface="Poppins Medium"/>
                  <a:sym typeface="Poppins Medium"/>
                </a:rPr>
                <a:t>amet</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consectetur</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adipiscing</a:t>
              </a:r>
              <a:r>
                <a:rPr lang="en-US" sz="3284" b="0" i="0" u="none" strike="noStrike" cap="none" dirty="0">
                  <a:solidFill>
                    <a:srgbClr val="000000"/>
                  </a:solidFill>
                  <a:latin typeface="Poppins Medium"/>
                  <a:ea typeface="Poppins Medium"/>
                  <a:cs typeface="Poppins Medium"/>
                  <a:sym typeface="Poppins Medium"/>
                </a:rPr>
                <a:t>.</a:t>
              </a:r>
              <a:endParaRPr dirty="0"/>
            </a:p>
          </p:txBody>
        </p:sp>
      </p:grpSp>
      <p:grpSp>
        <p:nvGrpSpPr>
          <p:cNvPr id="155" name="Google Shape;155;p13"/>
          <p:cNvGrpSpPr/>
          <p:nvPr/>
        </p:nvGrpSpPr>
        <p:grpSpPr>
          <a:xfrm>
            <a:off x="13410882" y="36212729"/>
            <a:ext cx="5293575" cy="4831425"/>
            <a:chOff x="0" y="-323850"/>
            <a:chExt cx="7058100" cy="6441898"/>
          </a:xfrm>
        </p:grpSpPr>
        <p:sp>
          <p:nvSpPr>
            <p:cNvPr id="156" name="Google Shape;156;p13"/>
            <p:cNvSpPr txBox="1"/>
            <p:nvPr/>
          </p:nvSpPr>
          <p:spPr>
            <a:xfrm>
              <a:off x="691808" y="-323850"/>
              <a:ext cx="5674500" cy="2712195"/>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dirty="0">
                  <a:solidFill>
                    <a:srgbClr val="61407F"/>
                  </a:solidFill>
                  <a:latin typeface="Poppins"/>
                  <a:cs typeface="Poppins"/>
                  <a:sym typeface="Poppins"/>
                </a:rPr>
                <a:t>3</a:t>
              </a:r>
              <a:endParaRPr dirty="0"/>
            </a:p>
          </p:txBody>
        </p:sp>
        <p:sp>
          <p:nvSpPr>
            <p:cNvPr id="157" name="Google Shape;157;p13"/>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a:solidFill>
                    <a:srgbClr val="61407F"/>
                  </a:solidFill>
                  <a:latin typeface="Poppins"/>
                  <a:ea typeface="Poppins"/>
                  <a:cs typeface="Poppins"/>
                  <a:sym typeface="Poppins"/>
                </a:rPr>
                <a:t>POINT 03</a:t>
              </a:r>
              <a:endParaRPr/>
            </a:p>
          </p:txBody>
        </p:sp>
        <p:sp>
          <p:nvSpPr>
            <p:cNvPr id="158" name="Google Shape;158;p13"/>
            <p:cNvSpPr txBox="1"/>
            <p:nvPr/>
          </p:nvSpPr>
          <p:spPr>
            <a:xfrm>
              <a:off x="526999" y="3893847"/>
              <a:ext cx="6003900" cy="222420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3284" b="0" i="0" u="none" strike="noStrike" cap="none" dirty="0">
                  <a:solidFill>
                    <a:srgbClr val="000000"/>
                  </a:solidFill>
                  <a:latin typeface="Poppins Medium"/>
                  <a:ea typeface="Poppins Medium"/>
                  <a:cs typeface="Poppins Medium"/>
                  <a:sym typeface="Poppins Medium"/>
                </a:rPr>
                <a:t>Lorem ipsum dolor sit </a:t>
              </a:r>
              <a:r>
                <a:rPr lang="en-US" sz="3284" b="0" i="0" u="none" strike="noStrike" cap="none" dirty="0" err="1">
                  <a:solidFill>
                    <a:srgbClr val="000000"/>
                  </a:solidFill>
                  <a:latin typeface="Poppins Medium"/>
                  <a:ea typeface="Poppins Medium"/>
                  <a:cs typeface="Poppins Medium"/>
                  <a:sym typeface="Poppins Medium"/>
                </a:rPr>
                <a:t>amet</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consectetur</a:t>
              </a:r>
              <a:r>
                <a:rPr lang="en-US" sz="3284" b="0" i="0" u="none" strike="noStrike" cap="none" dirty="0">
                  <a:solidFill>
                    <a:srgbClr val="000000"/>
                  </a:solidFill>
                  <a:latin typeface="Poppins Medium"/>
                  <a:ea typeface="Poppins Medium"/>
                  <a:cs typeface="Poppins Medium"/>
                  <a:sym typeface="Poppins Medium"/>
                </a:rPr>
                <a:t> </a:t>
              </a:r>
              <a:r>
                <a:rPr lang="en-US" sz="3284" b="0" i="0" u="none" strike="noStrike" cap="none" dirty="0" err="1">
                  <a:solidFill>
                    <a:srgbClr val="000000"/>
                  </a:solidFill>
                  <a:latin typeface="Poppins Medium"/>
                  <a:ea typeface="Poppins Medium"/>
                  <a:cs typeface="Poppins Medium"/>
                  <a:sym typeface="Poppins Medium"/>
                </a:rPr>
                <a:t>adipiscing</a:t>
              </a:r>
              <a:r>
                <a:rPr lang="en-US" sz="3284" b="0" i="0" u="none" strike="noStrike" cap="none" dirty="0">
                  <a:solidFill>
                    <a:srgbClr val="000000"/>
                  </a:solidFill>
                  <a:latin typeface="Poppins Medium"/>
                  <a:ea typeface="Poppins Medium"/>
                  <a:cs typeface="Poppins Medium"/>
                  <a:sym typeface="Poppins Medium"/>
                </a:rPr>
                <a:t>.</a:t>
              </a:r>
              <a:endParaRPr dirty="0"/>
            </a:p>
          </p:txBody>
        </p:sp>
      </p:grpSp>
      <p:cxnSp>
        <p:nvCxnSpPr>
          <p:cNvPr id="159" name="Google Shape;159;p13"/>
          <p:cNvCxnSpPr/>
          <p:nvPr/>
        </p:nvCxnSpPr>
        <p:spPr>
          <a:xfrm rot="10800000">
            <a:off x="19892001" y="36455617"/>
            <a:ext cx="0" cy="4569563"/>
          </a:xfrm>
          <a:prstGeom prst="straightConnector1">
            <a:avLst/>
          </a:prstGeom>
          <a:noFill/>
          <a:ln w="152400" cap="flat" cmpd="sng">
            <a:solidFill>
              <a:srgbClr val="FFFFFF"/>
            </a:solidFill>
            <a:prstDash val="dot"/>
            <a:round/>
            <a:headEnd type="none" w="sm" len="sm"/>
            <a:tailEnd type="none" w="sm" len="sm"/>
          </a:ln>
        </p:spPr>
      </p:cxnSp>
      <p:sp>
        <p:nvSpPr>
          <p:cNvPr id="160" name="Google Shape;160;p13"/>
          <p:cNvSpPr/>
          <p:nvPr/>
        </p:nvSpPr>
        <p:spPr>
          <a:xfrm flipH="1">
            <a:off x="27861642" y="36553318"/>
            <a:ext cx="3022146" cy="4374159"/>
          </a:xfrm>
          <a:custGeom>
            <a:avLst/>
            <a:gdLst/>
            <a:ahLst/>
            <a:cxnLst/>
            <a:rect l="l" t="t" r="r" b="b"/>
            <a:pathLst>
              <a:path w="3022146" h="4374159" extrusionOk="0">
                <a:moveTo>
                  <a:pt x="3022146" y="0"/>
                </a:moveTo>
                <a:lnTo>
                  <a:pt x="0" y="0"/>
                </a:lnTo>
                <a:lnTo>
                  <a:pt x="0" y="4374159"/>
                </a:lnTo>
                <a:lnTo>
                  <a:pt x="3022146" y="4374159"/>
                </a:lnTo>
                <a:lnTo>
                  <a:pt x="3022146" y="0"/>
                </a:lnTo>
                <a:close/>
              </a:path>
            </a:pathLst>
          </a:custGeom>
          <a:blipFill rotWithShape="1">
            <a:blip r:embed="rId5">
              <a:alphaModFix/>
            </a:blip>
            <a:stretch>
              <a:fillRect/>
            </a:stretch>
          </a:blipFill>
          <a:ln>
            <a:noFill/>
          </a:ln>
        </p:spPr>
        <p:txBody>
          <a:bodyPr/>
          <a:lstStyle/>
          <a:p>
            <a:endParaRPr/>
          </a:p>
        </p:txBody>
      </p:sp>
      <p:sp>
        <p:nvSpPr>
          <p:cNvPr id="161" name="Google Shape;161;p13"/>
          <p:cNvSpPr txBox="1"/>
          <p:nvPr/>
        </p:nvSpPr>
        <p:spPr>
          <a:xfrm>
            <a:off x="20707551" y="36322267"/>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61407F"/>
                </a:solidFill>
                <a:latin typeface="Poppins"/>
                <a:ea typeface="Poppins"/>
                <a:cs typeface="Poppins"/>
                <a:sym typeface="Poppins"/>
              </a:rPr>
              <a:t>FUN FACTS</a:t>
            </a:r>
            <a:endParaRPr/>
          </a:p>
        </p:txBody>
      </p:sp>
      <p:sp>
        <p:nvSpPr>
          <p:cNvPr id="162" name="Google Shape;162;p13"/>
          <p:cNvSpPr txBox="1"/>
          <p:nvPr/>
        </p:nvSpPr>
        <p:spPr>
          <a:xfrm>
            <a:off x="20707551" y="37412293"/>
            <a:ext cx="7646700" cy="34119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 Toucans sleep by tucking their large beak under their wings to stay warm.</a:t>
            </a:r>
          </a:p>
          <a:p>
            <a:r>
              <a:rPr sz="3284" b="0" i="0">
                <a:solidFill>
                  <a:srgbClr val="000000"/>
                </a:solidFill>
                <a:latin typeface="Poppins Medium"/>
              </a:rPr>
              <a:t>• Their bills are serrated like a knife to help tear apart food.</a:t>
            </a:r>
          </a:p>
          <a:p>
            <a:r>
              <a:rPr sz="3284" b="0" i="0">
                <a:solidFill>
                  <a:srgbClr val="000000"/>
                </a:solidFill>
                <a:latin typeface="Poppins Medium"/>
              </a:rPr>
              <a:t>• A toucan's tongue is long, narrow, and frayed on each side.</a:t>
            </a:r>
          </a:p>
        </p:txBody>
      </p:sp>
      <p:sp>
        <p:nvSpPr>
          <p:cNvPr id="163" name="Google Shape;163;p13"/>
          <p:cNvSpPr txBox="1"/>
          <p:nvPr/>
        </p:nvSpPr>
        <p:spPr>
          <a:xfrm>
            <a:off x="5791586" y="42498619"/>
            <a:ext cx="21335100" cy="758100"/>
          </a:xfrm>
          <a:prstGeom prst="rect">
            <a:avLst/>
          </a:prstGeom>
          <a:noFill/>
          <a:ln>
            <a:noFill/>
          </a:ln>
        </p:spPr>
        <p:txBody>
          <a:bodyPr spcFirstLastPara="1" wrap="square" lIns="0" tIns="0" rIns="0" bIns="0" anchor="t" anchorCtr="0">
            <a:spAutoFit/>
          </a:bodyPr>
          <a:lstStyle/>
          <a:p>
            <a:r>
              <a:rPr sz="4926" b="0" i="0">
                <a:solidFill>
                  <a:srgbClr val="61407F"/>
                </a:solidFill>
                <a:latin typeface="Poppins"/>
              </a:rPr>
              <a:t>SOURCES: National Geographic (nationalgeographic.com) | San Diego Zoo Wildlife Alliance (sandiegozoo.org) | Audubon Society (audubon.org)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BD4C6"/>
        </a:solidFill>
        <a:effectLst/>
      </p:bgPr>
    </p:bg>
    <p:spTree>
      <p:nvGrpSpPr>
        <p:cNvPr id="1" name="Shape 167"/>
        <p:cNvGrpSpPr/>
        <p:nvPr/>
      </p:nvGrpSpPr>
      <p:grpSpPr>
        <a:xfrm>
          <a:off x="0" y="0"/>
          <a:ext cx="0" cy="0"/>
          <a:chOff x="0" y="0"/>
          <a:chExt cx="0" cy="0"/>
        </a:xfrm>
      </p:grpSpPr>
      <p:grpSp>
        <p:nvGrpSpPr>
          <p:cNvPr id="168" name="Google Shape;168;p14"/>
          <p:cNvGrpSpPr/>
          <p:nvPr/>
        </p:nvGrpSpPr>
        <p:grpSpPr>
          <a:xfrm>
            <a:off x="942109" y="-1854777"/>
            <a:ext cx="18499075" cy="46735893"/>
            <a:chOff x="0" y="-161925"/>
            <a:chExt cx="1614999" cy="4080118"/>
          </a:xfrm>
        </p:grpSpPr>
        <p:sp>
          <p:nvSpPr>
            <p:cNvPr id="169" name="Google Shape;169;p14"/>
            <p:cNvSpPr/>
            <p:nvPr/>
          </p:nvSpPr>
          <p:spPr>
            <a:xfrm>
              <a:off x="0" y="0"/>
              <a:ext cx="1614999" cy="3918193"/>
            </a:xfrm>
            <a:custGeom>
              <a:avLst/>
              <a:gdLst/>
              <a:ahLst/>
              <a:cxnLst/>
              <a:rect l="l" t="t" r="r" b="b"/>
              <a:pathLst>
                <a:path w="1614999" h="3918193" extrusionOk="0">
                  <a:moveTo>
                    <a:pt x="0" y="0"/>
                  </a:moveTo>
                  <a:lnTo>
                    <a:pt x="1614999" y="0"/>
                  </a:lnTo>
                  <a:lnTo>
                    <a:pt x="1614999" y="3918193"/>
                  </a:lnTo>
                  <a:lnTo>
                    <a:pt x="0" y="3918193"/>
                  </a:lnTo>
                  <a:close/>
                </a:path>
              </a:pathLst>
            </a:custGeom>
            <a:solidFill>
              <a:srgbClr val="F6FFD4"/>
            </a:solidFill>
            <a:ln>
              <a:noFill/>
            </a:ln>
          </p:spPr>
          <p:txBody>
            <a:bodyPr/>
            <a:lstStyle/>
            <a:p>
              <a:endParaRPr lang="en-US"/>
            </a:p>
          </p:txBody>
        </p:sp>
        <p:sp>
          <p:nvSpPr>
            <p:cNvPr id="170" name="Google Shape;170;p14"/>
            <p:cNvSpPr txBox="1"/>
            <p:nvPr/>
          </p:nvSpPr>
          <p:spPr>
            <a:xfrm>
              <a:off x="0" y="-161925"/>
              <a:ext cx="1614999" cy="4080118"/>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1" name="Google Shape;171;p14"/>
          <p:cNvSpPr/>
          <p:nvPr/>
        </p:nvSpPr>
        <p:spPr>
          <a:xfrm rot="9128909">
            <a:off x="-3106350" y="-1108443"/>
            <a:ext cx="18952299" cy="17987455"/>
          </a:xfrm>
          <a:custGeom>
            <a:avLst/>
            <a:gdLst/>
            <a:ahLst/>
            <a:cxnLst/>
            <a:rect l="l" t="t" r="r" b="b"/>
            <a:pathLst>
              <a:path w="18952299" h="17987455" extrusionOk="0">
                <a:moveTo>
                  <a:pt x="0" y="0"/>
                </a:moveTo>
                <a:lnTo>
                  <a:pt x="18952299" y="0"/>
                </a:lnTo>
                <a:lnTo>
                  <a:pt x="18952299" y="17987454"/>
                </a:lnTo>
                <a:lnTo>
                  <a:pt x="0" y="17987454"/>
                </a:lnTo>
                <a:lnTo>
                  <a:pt x="0" y="0"/>
                </a:lnTo>
                <a:close/>
              </a:path>
            </a:pathLst>
          </a:custGeom>
          <a:blipFill rotWithShape="1">
            <a:blip r:embed="rId3">
              <a:alphaModFix/>
            </a:blip>
            <a:stretch>
              <a:fillRect/>
            </a:stretch>
          </a:blipFill>
          <a:ln>
            <a:noFill/>
          </a:ln>
        </p:spPr>
        <p:txBody>
          <a:bodyPr/>
          <a:lstStyle/>
          <a:p>
            <a:endParaRPr/>
          </a:p>
        </p:txBody>
      </p:sp>
      <p:grpSp>
        <p:nvGrpSpPr>
          <p:cNvPr id="172" name="Google Shape;172;p14"/>
          <p:cNvGrpSpPr/>
          <p:nvPr/>
        </p:nvGrpSpPr>
        <p:grpSpPr>
          <a:xfrm>
            <a:off x="4174484" y="20090826"/>
            <a:ext cx="12034325" cy="3343278"/>
            <a:chOff x="0" y="-161925"/>
            <a:chExt cx="1050616" cy="291874"/>
          </a:xfrm>
        </p:grpSpPr>
        <p:sp>
          <p:nvSpPr>
            <p:cNvPr id="173" name="Google Shape;173;p14"/>
            <p:cNvSpPr/>
            <p:nvPr/>
          </p:nvSpPr>
          <p:spPr>
            <a:xfrm>
              <a:off x="0" y="0"/>
              <a:ext cx="1050616" cy="129949"/>
            </a:xfrm>
            <a:custGeom>
              <a:avLst/>
              <a:gdLst/>
              <a:ahLst/>
              <a:cxnLst/>
              <a:rect l="l" t="t" r="r" b="b"/>
              <a:pathLst>
                <a:path w="1050616" h="129949" extrusionOk="0">
                  <a:moveTo>
                    <a:pt x="64974" y="0"/>
                  </a:moveTo>
                  <a:lnTo>
                    <a:pt x="985641" y="0"/>
                  </a:lnTo>
                  <a:cubicBezTo>
                    <a:pt x="1021526" y="0"/>
                    <a:pt x="1050616" y="29090"/>
                    <a:pt x="1050616" y="64974"/>
                  </a:cubicBezTo>
                  <a:lnTo>
                    <a:pt x="1050616" y="64974"/>
                  </a:lnTo>
                  <a:cubicBezTo>
                    <a:pt x="1050616" y="82207"/>
                    <a:pt x="1043770" y="98733"/>
                    <a:pt x="1031585" y="110918"/>
                  </a:cubicBezTo>
                  <a:cubicBezTo>
                    <a:pt x="1019400" y="123103"/>
                    <a:pt x="1002874" y="129949"/>
                    <a:pt x="985641" y="129949"/>
                  </a:cubicBezTo>
                  <a:lnTo>
                    <a:pt x="64974" y="129949"/>
                  </a:lnTo>
                  <a:cubicBezTo>
                    <a:pt x="29090" y="129949"/>
                    <a:pt x="0" y="100859"/>
                    <a:pt x="0" y="64974"/>
                  </a:cubicBezTo>
                  <a:lnTo>
                    <a:pt x="0" y="64974"/>
                  </a:lnTo>
                  <a:cubicBezTo>
                    <a:pt x="0" y="29090"/>
                    <a:pt x="29090" y="0"/>
                    <a:pt x="64974" y="0"/>
                  </a:cubicBezTo>
                  <a:close/>
                </a:path>
              </a:pathLst>
            </a:custGeom>
            <a:solidFill>
              <a:srgbClr val="C9E1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txBox="1"/>
            <p:nvPr/>
          </p:nvSpPr>
          <p:spPr>
            <a:xfrm>
              <a:off x="0" y="-161925"/>
              <a:ext cx="1050616" cy="291874"/>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 name="Google Shape;175;p14"/>
          <p:cNvGrpSpPr/>
          <p:nvPr/>
        </p:nvGrpSpPr>
        <p:grpSpPr>
          <a:xfrm>
            <a:off x="2966598" y="34118493"/>
            <a:ext cx="3886343" cy="4296231"/>
            <a:chOff x="0" y="-85725"/>
            <a:chExt cx="812800" cy="898525"/>
          </a:xfrm>
        </p:grpSpPr>
        <p:sp>
          <p:nvSpPr>
            <p:cNvPr id="176" name="Google Shape;176;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8" name="Google Shape;178;p14"/>
          <p:cNvGrpSpPr/>
          <p:nvPr/>
        </p:nvGrpSpPr>
        <p:grpSpPr>
          <a:xfrm>
            <a:off x="8315223" y="34219811"/>
            <a:ext cx="3752847" cy="4148655"/>
            <a:chOff x="0" y="-85725"/>
            <a:chExt cx="812800" cy="898525"/>
          </a:xfrm>
        </p:grpSpPr>
        <p:sp>
          <p:nvSpPr>
            <p:cNvPr id="179" name="Google Shape;179;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 name="Google Shape;181;p14"/>
          <p:cNvGrpSpPr/>
          <p:nvPr/>
        </p:nvGrpSpPr>
        <p:grpSpPr>
          <a:xfrm>
            <a:off x="13514792" y="34219811"/>
            <a:ext cx="3752847" cy="4148655"/>
            <a:chOff x="0" y="-85725"/>
            <a:chExt cx="812800" cy="898525"/>
          </a:xfrm>
        </p:grpSpPr>
        <p:sp>
          <p:nvSpPr>
            <p:cNvPr id="182" name="Google Shape;182;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4" name="Google Shape;184;p14"/>
          <p:cNvSpPr/>
          <p:nvPr/>
        </p:nvSpPr>
        <p:spPr>
          <a:xfrm>
            <a:off x="4331352" y="35089531"/>
            <a:ext cx="1230441" cy="2939909"/>
          </a:xfrm>
          <a:custGeom>
            <a:avLst/>
            <a:gdLst/>
            <a:ahLst/>
            <a:cxnLst/>
            <a:rect l="l" t="t" r="r" b="b"/>
            <a:pathLst>
              <a:path w="1230441" h="2939909" extrusionOk="0">
                <a:moveTo>
                  <a:pt x="0" y="0"/>
                </a:moveTo>
                <a:lnTo>
                  <a:pt x="1230441" y="0"/>
                </a:lnTo>
                <a:lnTo>
                  <a:pt x="1230441" y="2939909"/>
                </a:lnTo>
                <a:lnTo>
                  <a:pt x="0" y="2939909"/>
                </a:lnTo>
                <a:lnTo>
                  <a:pt x="0" y="0"/>
                </a:lnTo>
                <a:close/>
              </a:path>
            </a:pathLst>
          </a:custGeom>
          <a:blipFill rotWithShape="1">
            <a:blip r:embed="rId4">
              <a:alphaModFix/>
            </a:blip>
            <a:stretch>
              <a:fillRect/>
            </a:stretch>
          </a:blipFill>
          <a:ln>
            <a:noFill/>
          </a:ln>
        </p:spPr>
        <p:txBody>
          <a:bodyPr/>
          <a:lstStyle/>
          <a:p>
            <a:endParaRPr/>
          </a:p>
        </p:txBody>
      </p:sp>
      <p:sp>
        <p:nvSpPr>
          <p:cNvPr id="185" name="Google Shape;185;p14"/>
          <p:cNvSpPr/>
          <p:nvPr/>
        </p:nvSpPr>
        <p:spPr>
          <a:xfrm>
            <a:off x="8992142" y="35521534"/>
            <a:ext cx="2399009" cy="1941016"/>
          </a:xfrm>
          <a:custGeom>
            <a:avLst/>
            <a:gdLst/>
            <a:ahLst/>
            <a:cxnLst/>
            <a:rect l="l" t="t" r="r" b="b"/>
            <a:pathLst>
              <a:path w="2399009" h="1941016" extrusionOk="0">
                <a:moveTo>
                  <a:pt x="0" y="0"/>
                </a:moveTo>
                <a:lnTo>
                  <a:pt x="2399009" y="0"/>
                </a:lnTo>
                <a:lnTo>
                  <a:pt x="2399009" y="1941017"/>
                </a:lnTo>
                <a:lnTo>
                  <a:pt x="0" y="1941017"/>
                </a:lnTo>
                <a:lnTo>
                  <a:pt x="0" y="0"/>
                </a:lnTo>
                <a:close/>
              </a:path>
            </a:pathLst>
          </a:custGeom>
          <a:blipFill rotWithShape="1">
            <a:blip r:embed="rId5">
              <a:alphaModFix/>
            </a:blip>
            <a:stretch>
              <a:fillRect/>
            </a:stretch>
          </a:blipFill>
          <a:ln>
            <a:noFill/>
          </a:ln>
        </p:spPr>
        <p:txBody>
          <a:bodyPr/>
          <a:lstStyle/>
          <a:p>
            <a:endParaRPr/>
          </a:p>
        </p:txBody>
      </p:sp>
      <p:sp>
        <p:nvSpPr>
          <p:cNvPr id="186" name="Google Shape;186;p14"/>
          <p:cNvSpPr/>
          <p:nvPr/>
        </p:nvSpPr>
        <p:spPr>
          <a:xfrm>
            <a:off x="14840343" y="35110021"/>
            <a:ext cx="1406092" cy="2723065"/>
          </a:xfrm>
          <a:custGeom>
            <a:avLst/>
            <a:gdLst/>
            <a:ahLst/>
            <a:cxnLst/>
            <a:rect l="l" t="t" r="r" b="b"/>
            <a:pathLst>
              <a:path w="1406092" h="2723065" extrusionOk="0">
                <a:moveTo>
                  <a:pt x="0" y="0"/>
                </a:moveTo>
                <a:lnTo>
                  <a:pt x="1406092" y="0"/>
                </a:lnTo>
                <a:lnTo>
                  <a:pt x="1406092" y="2723064"/>
                </a:lnTo>
                <a:lnTo>
                  <a:pt x="0" y="2723064"/>
                </a:lnTo>
                <a:lnTo>
                  <a:pt x="0" y="0"/>
                </a:lnTo>
                <a:close/>
              </a:path>
            </a:pathLst>
          </a:custGeom>
          <a:blipFill rotWithShape="1">
            <a:blip r:embed="rId6">
              <a:alphaModFix/>
            </a:blip>
            <a:stretch>
              <a:fillRect/>
            </a:stretch>
          </a:blipFill>
          <a:ln>
            <a:noFill/>
          </a:ln>
        </p:spPr>
        <p:txBody>
          <a:bodyPr/>
          <a:lstStyle/>
          <a:p>
            <a:endParaRPr/>
          </a:p>
        </p:txBody>
      </p:sp>
      <p:cxnSp>
        <p:nvCxnSpPr>
          <p:cNvPr id="187" name="Google Shape;187;p14"/>
          <p:cNvCxnSpPr/>
          <p:nvPr/>
        </p:nvCxnSpPr>
        <p:spPr>
          <a:xfrm>
            <a:off x="20329736" y="12253491"/>
            <a:ext cx="11256511" cy="0"/>
          </a:xfrm>
          <a:prstGeom prst="straightConnector1">
            <a:avLst/>
          </a:prstGeom>
          <a:noFill/>
          <a:ln w="152400" cap="flat" cmpd="sng">
            <a:solidFill>
              <a:srgbClr val="FFFFFF"/>
            </a:solidFill>
            <a:prstDash val="dot"/>
            <a:round/>
            <a:headEnd type="none" w="sm" len="sm"/>
            <a:tailEnd type="none" w="sm" len="sm"/>
          </a:ln>
        </p:spPr>
      </p:cxnSp>
      <p:cxnSp>
        <p:nvCxnSpPr>
          <p:cNvPr id="188" name="Google Shape;188;p14"/>
          <p:cNvCxnSpPr/>
          <p:nvPr/>
        </p:nvCxnSpPr>
        <p:spPr>
          <a:xfrm>
            <a:off x="20329736" y="20188074"/>
            <a:ext cx="11256511" cy="0"/>
          </a:xfrm>
          <a:prstGeom prst="straightConnector1">
            <a:avLst/>
          </a:prstGeom>
          <a:noFill/>
          <a:ln w="152400" cap="flat" cmpd="sng">
            <a:solidFill>
              <a:srgbClr val="FFFFFF"/>
            </a:solidFill>
            <a:prstDash val="dot"/>
            <a:round/>
            <a:headEnd type="none" w="sm" len="sm"/>
            <a:tailEnd type="none" w="sm" len="sm"/>
          </a:ln>
        </p:spPr>
      </p:cxnSp>
      <p:cxnSp>
        <p:nvCxnSpPr>
          <p:cNvPr id="189" name="Google Shape;189;p14"/>
          <p:cNvCxnSpPr/>
          <p:nvPr/>
        </p:nvCxnSpPr>
        <p:spPr>
          <a:xfrm>
            <a:off x="20329736" y="31451301"/>
            <a:ext cx="11256511" cy="0"/>
          </a:xfrm>
          <a:prstGeom prst="straightConnector1">
            <a:avLst/>
          </a:prstGeom>
          <a:noFill/>
          <a:ln w="152400" cap="flat" cmpd="sng">
            <a:solidFill>
              <a:srgbClr val="FFFFFF"/>
            </a:solidFill>
            <a:prstDash val="dot"/>
            <a:round/>
            <a:headEnd type="none" w="sm" len="sm"/>
            <a:tailEnd type="none" w="sm" len="sm"/>
          </a:ln>
        </p:spPr>
      </p:cxnSp>
      <p:pic>
        <p:nvPicPr>
          <p:cNvPr id="190" name="Google Shape;190;p14"/>
          <p:cNvPicPr preferRelativeResize="0"/>
          <p:nvPr/>
        </p:nvPicPr>
        <p:blipFill rotWithShape="1">
          <a:blip r:embed="rId7">
            <a:alphaModFix/>
          </a:blip>
          <a:srcRect/>
          <a:stretch/>
        </p:blipFill>
        <p:spPr>
          <a:xfrm>
            <a:off x="19387728" y="19530068"/>
            <a:ext cx="12925277" cy="8205997"/>
          </a:xfrm>
          <a:prstGeom prst="rect">
            <a:avLst/>
          </a:prstGeom>
          <a:noFill/>
          <a:ln>
            <a:noFill/>
          </a:ln>
        </p:spPr>
      </p:pic>
      <p:cxnSp>
        <p:nvCxnSpPr>
          <p:cNvPr id="191" name="Google Shape;191;p14"/>
          <p:cNvCxnSpPr/>
          <p:nvPr/>
        </p:nvCxnSpPr>
        <p:spPr>
          <a:xfrm>
            <a:off x="20376313" y="38414724"/>
            <a:ext cx="11256511" cy="0"/>
          </a:xfrm>
          <a:prstGeom prst="straightConnector1">
            <a:avLst/>
          </a:prstGeom>
          <a:noFill/>
          <a:ln w="152400" cap="flat" cmpd="sng">
            <a:solidFill>
              <a:srgbClr val="FFFFFF"/>
            </a:solidFill>
            <a:prstDash val="dot"/>
            <a:round/>
            <a:headEnd type="none" w="sm" len="sm"/>
            <a:tailEnd type="none" w="sm" len="sm"/>
          </a:ln>
        </p:spPr>
      </p:cxnSp>
      <p:cxnSp>
        <p:nvCxnSpPr>
          <p:cNvPr id="192" name="Google Shape;192;p14"/>
          <p:cNvCxnSpPr/>
          <p:nvPr/>
        </p:nvCxnSpPr>
        <p:spPr>
          <a:xfrm rot="10800000">
            <a:off x="26105314" y="4821167"/>
            <a:ext cx="0" cy="5091121"/>
          </a:xfrm>
          <a:prstGeom prst="straightConnector1">
            <a:avLst/>
          </a:prstGeom>
          <a:noFill/>
          <a:ln w="152400" cap="flat" cmpd="sng">
            <a:solidFill>
              <a:srgbClr val="C9E16D"/>
            </a:solidFill>
            <a:prstDash val="dot"/>
            <a:round/>
            <a:headEnd type="none" w="sm" len="sm"/>
            <a:tailEnd type="none" w="sm" len="sm"/>
          </a:ln>
        </p:spPr>
      </p:cxnSp>
      <p:grpSp>
        <p:nvGrpSpPr>
          <p:cNvPr id="193" name="Google Shape;193;p14"/>
          <p:cNvGrpSpPr/>
          <p:nvPr/>
        </p:nvGrpSpPr>
        <p:grpSpPr>
          <a:xfrm>
            <a:off x="25785467" y="3956319"/>
            <a:ext cx="792511" cy="848234"/>
            <a:chOff x="0" y="-57150"/>
            <a:chExt cx="812800" cy="869950"/>
          </a:xfrm>
        </p:grpSpPr>
        <p:sp>
          <p:nvSpPr>
            <p:cNvPr id="194" name="Google Shape;19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6" name="Google Shape;196;p14"/>
          <p:cNvSpPr txBox="1"/>
          <p:nvPr/>
        </p:nvSpPr>
        <p:spPr>
          <a:xfrm>
            <a:off x="4255785" y="22236950"/>
            <a:ext cx="12034200" cy="884700"/>
          </a:xfrm>
          <a:prstGeom prst="rect">
            <a:avLst/>
          </a:prstGeom>
          <a:noFill/>
          <a:ln>
            <a:noFill/>
          </a:ln>
        </p:spPr>
        <p:txBody>
          <a:bodyPr spcFirstLastPara="1" wrap="square" lIns="0" tIns="0" rIns="0" bIns="0" anchor="t" anchorCtr="0">
            <a:spAutoFit/>
          </a:bodyPr>
          <a:lstStyle/>
          <a:p>
            <a:pPr marL="0" marR="0" lvl="0" indent="0" algn="ctr" rtl="0">
              <a:lnSpc>
                <a:spcPct val="139986"/>
              </a:lnSpc>
              <a:spcBef>
                <a:spcPts val="0"/>
              </a:spcBef>
              <a:spcAft>
                <a:spcPts val="0"/>
              </a:spcAft>
              <a:buNone/>
            </a:pPr>
            <a:r>
              <a:rPr lang="en-US" sz="5747" b="1" i="0" u="none" strike="noStrike" cap="none">
                <a:solidFill>
                  <a:srgbClr val="61407F"/>
                </a:solidFill>
                <a:latin typeface="Poppins"/>
                <a:ea typeface="Poppins"/>
                <a:cs typeface="Poppins"/>
                <a:sym typeface="Poppins"/>
              </a:rPr>
              <a:t>ANIMAL RESEARCH POSTER</a:t>
            </a:r>
            <a:endParaRPr/>
          </a:p>
        </p:txBody>
      </p:sp>
      <p:sp>
        <p:nvSpPr>
          <p:cNvPr id="197" name="Google Shape;197;p14"/>
          <p:cNvSpPr txBox="1"/>
          <p:nvPr/>
        </p:nvSpPr>
        <p:spPr>
          <a:xfrm>
            <a:off x="3413611" y="23598768"/>
            <a:ext cx="13556100" cy="3033000"/>
          </a:xfrm>
          <a:prstGeom prst="rect">
            <a:avLst/>
          </a:prstGeom>
          <a:noFill/>
          <a:ln>
            <a:noFill/>
          </a:ln>
        </p:spPr>
        <p:txBody>
          <a:bodyPr spcFirstLastPara="1" wrap="square" lIns="0" tIns="0" rIns="0" bIns="0" anchor="t" anchorCtr="0">
            <a:spAutoFit/>
          </a:bodyPr>
          <a:lstStyle/>
          <a:p>
            <a:pPr marL="0" marR="0" lvl="0" indent="0" algn="l" rtl="0">
              <a:lnSpc>
                <a:spcPct val="139996"/>
              </a:lnSpc>
              <a:spcBef>
                <a:spcPts val="0"/>
              </a:spcBef>
              <a:spcAft>
                <a:spcPts val="0"/>
              </a:spcAft>
              <a:buNone/>
            </a:pPr>
            <a:r>
              <a:rPr lang="en-US" sz="19704" b="1" i="0" u="none" strike="noStrike" cap="none">
                <a:solidFill>
                  <a:srgbClr val="0C7060"/>
                </a:solidFill>
                <a:latin typeface="Poppins"/>
                <a:ea typeface="Poppins"/>
                <a:cs typeface="Poppins"/>
                <a:sym typeface="Poppins"/>
              </a:rPr>
              <a:t>THE SNAKE</a:t>
            </a:r>
            <a:endParaRPr/>
          </a:p>
        </p:txBody>
      </p:sp>
      <p:sp>
        <p:nvSpPr>
          <p:cNvPr id="198" name="Google Shape;198;p14"/>
          <p:cNvSpPr txBox="1"/>
          <p:nvPr/>
        </p:nvSpPr>
        <p:spPr>
          <a:xfrm>
            <a:off x="3990082" y="28770222"/>
            <a:ext cx="12565500" cy="2876100"/>
          </a:xfrm>
          <a:prstGeom prst="rect">
            <a:avLst/>
          </a:prstGeom>
          <a:noFill/>
          <a:ln>
            <a:noFill/>
          </a:ln>
        </p:spPr>
        <p:txBody>
          <a:bodyPr spcFirstLastPara="1" wrap="square" lIns="0" tIns="0" rIns="0" bIns="0" anchor="t" anchorCtr="0">
            <a:spAutoFit/>
          </a:bodyPr>
          <a:lstStyle/>
          <a:p>
            <a:r>
              <a:rPr sz="4199" b="0" i="0">
                <a:solidFill>
                  <a:srgbClr val="000000"/>
                </a:solidFill>
                <a:latin typeface="Poppins Medium"/>
              </a:rPr>
              <a:t>Snakes are elongated, legless, carnivorous reptiles found on every continent except Antarctica. They have adapted to thrive in a vast range of diverse ecosystems, from arid deserts to lush rainforests.</a:t>
            </a:r>
          </a:p>
        </p:txBody>
      </p:sp>
      <p:sp>
        <p:nvSpPr>
          <p:cNvPr id="199" name="Google Shape;199;p14"/>
          <p:cNvSpPr txBox="1"/>
          <p:nvPr/>
        </p:nvSpPr>
        <p:spPr>
          <a:xfrm>
            <a:off x="5378147" y="33025993"/>
            <a:ext cx="9789490" cy="89395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30" b="1" i="0" u="none" strike="noStrike" cap="none">
                <a:solidFill>
                  <a:srgbClr val="0C7060"/>
                </a:solidFill>
                <a:latin typeface="Poppins"/>
                <a:ea typeface="Poppins"/>
                <a:cs typeface="Poppins"/>
                <a:sym typeface="Poppins"/>
              </a:rPr>
              <a:t>OBJECTIVE</a:t>
            </a:r>
            <a:endParaRPr/>
          </a:p>
        </p:txBody>
      </p:sp>
      <p:sp>
        <p:nvSpPr>
          <p:cNvPr id="200" name="Google Shape;200;p14"/>
          <p:cNvSpPr txBox="1"/>
          <p:nvPr/>
        </p:nvSpPr>
        <p:spPr>
          <a:xfrm>
            <a:off x="3325017" y="38750582"/>
            <a:ext cx="309964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POINT 01</a:t>
            </a:r>
            <a:endParaRPr/>
          </a:p>
        </p:txBody>
      </p:sp>
      <p:sp>
        <p:nvSpPr>
          <p:cNvPr id="201" name="Google Shape;201;p14"/>
          <p:cNvSpPr txBox="1"/>
          <p:nvPr/>
        </p:nvSpPr>
        <p:spPr>
          <a:xfrm>
            <a:off x="2508561" y="40002505"/>
            <a:ext cx="4732500" cy="22494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Snakes rely on their forked tongues to collect airborne particles for 'smelling'.</a:t>
            </a:r>
          </a:p>
        </p:txBody>
      </p:sp>
      <p:sp>
        <p:nvSpPr>
          <p:cNvPr id="202" name="Google Shape;202;p14"/>
          <p:cNvSpPr txBox="1"/>
          <p:nvPr/>
        </p:nvSpPr>
        <p:spPr>
          <a:xfrm>
            <a:off x="8233598" y="38750582"/>
            <a:ext cx="3916096"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POINT 02</a:t>
            </a:r>
            <a:endParaRPr/>
          </a:p>
        </p:txBody>
      </p:sp>
      <p:sp>
        <p:nvSpPr>
          <p:cNvPr id="203" name="Google Shape;203;p14"/>
          <p:cNvSpPr txBox="1"/>
          <p:nvPr/>
        </p:nvSpPr>
        <p:spPr>
          <a:xfrm>
            <a:off x="7825370" y="40080707"/>
            <a:ext cx="4732500" cy="22494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They have highly flexible jaws allowing them to swallow their prey completely whole.</a:t>
            </a:r>
          </a:p>
        </p:txBody>
      </p:sp>
      <p:sp>
        <p:nvSpPr>
          <p:cNvPr id="204" name="Google Shape;204;p14"/>
          <p:cNvSpPr txBox="1"/>
          <p:nvPr/>
        </p:nvSpPr>
        <p:spPr>
          <a:xfrm>
            <a:off x="13958636" y="38750582"/>
            <a:ext cx="309964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POINT 03</a:t>
            </a:r>
            <a:endParaRPr/>
          </a:p>
        </p:txBody>
      </p:sp>
      <p:sp>
        <p:nvSpPr>
          <p:cNvPr id="205" name="Google Shape;205;p14"/>
          <p:cNvSpPr txBox="1"/>
          <p:nvPr/>
        </p:nvSpPr>
        <p:spPr>
          <a:xfrm>
            <a:off x="13142180" y="40002505"/>
            <a:ext cx="4732500" cy="22494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Snakes periodically shed their skin to allow for continued physical growth.</a:t>
            </a:r>
          </a:p>
        </p:txBody>
      </p:sp>
      <p:sp>
        <p:nvSpPr>
          <p:cNvPr id="206" name="Google Shape;206;p14"/>
          <p:cNvSpPr txBox="1"/>
          <p:nvPr/>
        </p:nvSpPr>
        <p:spPr>
          <a:xfrm>
            <a:off x="23382364" y="818160"/>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METHODOLOGY</a:t>
            </a:r>
            <a:endParaRPr/>
          </a:p>
        </p:txBody>
      </p:sp>
      <p:sp>
        <p:nvSpPr>
          <p:cNvPr id="207" name="Google Shape;207;p14"/>
          <p:cNvSpPr txBox="1"/>
          <p:nvPr/>
        </p:nvSpPr>
        <p:spPr>
          <a:xfrm>
            <a:off x="20400859" y="1788484"/>
            <a:ext cx="11256600" cy="16680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Research on snakes typically involves field observation, telemetry for tracking movements, and venom extraction for scientific and medical studies.</a:t>
            </a:r>
          </a:p>
        </p:txBody>
      </p:sp>
      <p:sp>
        <p:nvSpPr>
          <p:cNvPr id="208" name="Google Shape;208;p14"/>
          <p:cNvSpPr txBox="1"/>
          <p:nvPr/>
        </p:nvSpPr>
        <p:spPr>
          <a:xfrm>
            <a:off x="20777469" y="14082709"/>
            <a:ext cx="4255788" cy="2065131"/>
          </a:xfrm>
          <a:prstGeom prst="rect">
            <a:avLst/>
          </a:prstGeom>
          <a:noFill/>
          <a:ln>
            <a:noFill/>
          </a:ln>
        </p:spPr>
        <p:txBody>
          <a:bodyPr spcFirstLastPara="1" wrap="square" lIns="0" tIns="0" rIns="0" bIns="0" anchor="t" anchorCtr="0">
            <a:spAutoFit/>
          </a:bodyPr>
          <a:lstStyle/>
          <a:p>
            <a:pPr marL="0" marR="0" lvl="0" indent="0" algn="ctr" rtl="0">
              <a:lnSpc>
                <a:spcPct val="139994"/>
              </a:lnSpc>
              <a:spcBef>
                <a:spcPts val="0"/>
              </a:spcBef>
              <a:spcAft>
                <a:spcPts val="0"/>
              </a:spcAft>
              <a:buNone/>
            </a:pPr>
            <a:r>
              <a:rPr lang="en-US" sz="11494" b="1" i="0" u="none" strike="noStrike" cap="none">
                <a:solidFill>
                  <a:srgbClr val="0C7060"/>
                </a:solidFill>
                <a:latin typeface="Poppins"/>
                <a:ea typeface="Poppins"/>
                <a:cs typeface="Poppins"/>
                <a:sym typeface="Poppins"/>
              </a:rPr>
              <a:t>1,000</a:t>
            </a:r>
            <a:endParaRPr/>
          </a:p>
        </p:txBody>
      </p:sp>
      <p:sp>
        <p:nvSpPr>
          <p:cNvPr id="209" name="Google Shape;209;p14"/>
          <p:cNvSpPr txBox="1"/>
          <p:nvPr/>
        </p:nvSpPr>
        <p:spPr>
          <a:xfrm>
            <a:off x="20258613" y="16014489"/>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POINT 01</a:t>
            </a:r>
            <a:endParaRPr/>
          </a:p>
        </p:txBody>
      </p:sp>
      <p:sp>
        <p:nvSpPr>
          <p:cNvPr id="210" name="Google Shape;210;p14"/>
          <p:cNvSpPr txBox="1"/>
          <p:nvPr/>
        </p:nvSpPr>
        <p:spPr>
          <a:xfrm>
            <a:off x="20653862" y="17305514"/>
            <a:ext cx="4503000" cy="16680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Snake venom contains complex compounds with highly significant medical potential.</a:t>
            </a:r>
          </a:p>
        </p:txBody>
      </p:sp>
      <p:sp>
        <p:nvSpPr>
          <p:cNvPr id="211" name="Google Shape;211;p14"/>
          <p:cNvSpPr txBox="1"/>
          <p:nvPr/>
        </p:nvSpPr>
        <p:spPr>
          <a:xfrm>
            <a:off x="26407129" y="14006686"/>
            <a:ext cx="5225695" cy="2065131"/>
          </a:xfrm>
          <a:prstGeom prst="rect">
            <a:avLst/>
          </a:prstGeom>
          <a:noFill/>
          <a:ln>
            <a:noFill/>
          </a:ln>
        </p:spPr>
        <p:txBody>
          <a:bodyPr spcFirstLastPara="1" wrap="square" lIns="0" tIns="0" rIns="0" bIns="0" anchor="t" anchorCtr="0">
            <a:spAutoFit/>
          </a:bodyPr>
          <a:lstStyle/>
          <a:p>
            <a:pPr marL="0" marR="0" lvl="0" indent="0" algn="ctr" rtl="0">
              <a:lnSpc>
                <a:spcPct val="139994"/>
              </a:lnSpc>
              <a:spcBef>
                <a:spcPts val="0"/>
              </a:spcBef>
              <a:spcAft>
                <a:spcPts val="0"/>
              </a:spcAft>
              <a:buNone/>
            </a:pPr>
            <a:r>
              <a:rPr lang="en-US" sz="11494" b="1" i="0" u="none" strike="noStrike" cap="none">
                <a:solidFill>
                  <a:srgbClr val="0C7060"/>
                </a:solidFill>
                <a:latin typeface="Poppins"/>
                <a:ea typeface="Poppins"/>
                <a:cs typeface="Poppins"/>
                <a:sym typeface="Poppins"/>
              </a:rPr>
              <a:t>10,000</a:t>
            </a:r>
            <a:endParaRPr/>
          </a:p>
        </p:txBody>
      </p:sp>
      <p:sp>
        <p:nvSpPr>
          <p:cNvPr id="212" name="Google Shape;212;p14"/>
          <p:cNvSpPr txBox="1"/>
          <p:nvPr/>
        </p:nvSpPr>
        <p:spPr>
          <a:xfrm>
            <a:off x="26373226" y="16014489"/>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POINT 02</a:t>
            </a:r>
            <a:endParaRPr/>
          </a:p>
        </p:txBody>
      </p:sp>
      <p:sp>
        <p:nvSpPr>
          <p:cNvPr id="213" name="Google Shape;213;p14"/>
          <p:cNvSpPr txBox="1"/>
          <p:nvPr/>
        </p:nvSpPr>
        <p:spPr>
          <a:xfrm>
            <a:off x="26768475" y="17305514"/>
            <a:ext cx="4503000" cy="16680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Telemetry data indicates varied seasonal migration patterns across different regions.</a:t>
            </a:r>
          </a:p>
        </p:txBody>
      </p:sp>
      <p:sp>
        <p:nvSpPr>
          <p:cNvPr id="214" name="Google Shape;214;p14"/>
          <p:cNvSpPr txBox="1"/>
          <p:nvPr/>
        </p:nvSpPr>
        <p:spPr>
          <a:xfrm>
            <a:off x="22079782" y="39110049"/>
            <a:ext cx="8203883" cy="75057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200" b="1" i="0" u="none" strike="noStrike" cap="none">
                <a:solidFill>
                  <a:srgbClr val="0C7060"/>
                </a:solidFill>
                <a:latin typeface="Poppins"/>
                <a:ea typeface="Poppins"/>
                <a:cs typeface="Poppins"/>
                <a:sym typeface="Poppins"/>
              </a:rPr>
              <a:t>RELATED LITERATURE</a:t>
            </a:r>
            <a:endParaRPr/>
          </a:p>
        </p:txBody>
      </p:sp>
      <p:sp>
        <p:nvSpPr>
          <p:cNvPr id="215" name="Google Shape;215;p14"/>
          <p:cNvSpPr txBox="1"/>
          <p:nvPr/>
        </p:nvSpPr>
        <p:spPr>
          <a:xfrm>
            <a:off x="20581142" y="40295025"/>
            <a:ext cx="10780800" cy="2413500"/>
          </a:xfrm>
          <a:prstGeom prst="rect">
            <a:avLst/>
          </a:prstGeom>
          <a:noFill/>
          <a:ln>
            <a:noFill/>
          </a:ln>
        </p:spPr>
        <p:txBody>
          <a:bodyPr spcFirstLastPara="1" wrap="square" lIns="0" tIns="0" rIns="0" bIns="0" anchor="t" anchorCtr="0">
            <a:spAutoFit/>
          </a:bodyPr>
          <a:lstStyle/>
          <a:p>
            <a:r>
              <a:rPr sz="2800" b="0" i="0">
                <a:solidFill>
                  <a:srgbClr val="000000"/>
                </a:solidFill>
                <a:latin typeface="Poppins Medium"/>
              </a:rPr>
              <a:t>1. Greene, H. W. (1997). Snakes: The Evolution of Mystery in Nature.</a:t>
            </a:r>
          </a:p>
          <a:p>
            <a:r>
              <a:rPr sz="2800" b="0" i="0">
                <a:solidFill>
                  <a:srgbClr val="000000"/>
                </a:solidFill>
                <a:latin typeface="Poppins Medium"/>
              </a:rPr>
              <a:t>2. Vitt, L. J., &amp; Caldwell, J. P. (2013). Herpetology.</a:t>
            </a:r>
          </a:p>
          <a:p>
            <a:r>
              <a:rPr sz="2800" b="0" i="0">
                <a:solidFill>
                  <a:srgbClr val="000000"/>
                </a:solidFill>
                <a:latin typeface="Poppins Medium"/>
              </a:rPr>
              <a:t>3. Lillywhite, H. B. (2014). How Snakes Work.</a:t>
            </a:r>
          </a:p>
          <a:p>
            <a:r>
              <a:rPr sz="2800" b="0" i="0">
                <a:solidFill>
                  <a:srgbClr val="000000"/>
                </a:solidFill>
                <a:latin typeface="Poppins Medium"/>
              </a:rPr>
              <a:t>4. O'Shea, M. (2018). The Book of Snakes.</a:t>
            </a:r>
          </a:p>
        </p:txBody>
      </p:sp>
      <p:sp>
        <p:nvSpPr>
          <p:cNvPr id="216" name="Google Shape;216;p14"/>
          <p:cNvSpPr txBox="1"/>
          <p:nvPr/>
        </p:nvSpPr>
        <p:spPr>
          <a:xfrm>
            <a:off x="20865110" y="28413303"/>
            <a:ext cx="9970500" cy="22494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Analysis of global snake populations reveals incredible evolutionary adaptations, ranging from the development of potent venom to specialized camouflage and thermal heat-sensing pits.</a:t>
            </a:r>
          </a:p>
        </p:txBody>
      </p:sp>
      <p:sp>
        <p:nvSpPr>
          <p:cNvPr id="217" name="Google Shape;217;p14"/>
          <p:cNvSpPr txBox="1"/>
          <p:nvPr/>
        </p:nvSpPr>
        <p:spPr>
          <a:xfrm>
            <a:off x="23101591" y="27396133"/>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ANALYSIS</a:t>
            </a:r>
            <a:endParaRPr/>
          </a:p>
        </p:txBody>
      </p:sp>
      <p:sp>
        <p:nvSpPr>
          <p:cNvPr id="218" name="Google Shape;218;p14"/>
          <p:cNvSpPr txBox="1"/>
          <p:nvPr/>
        </p:nvSpPr>
        <p:spPr>
          <a:xfrm>
            <a:off x="5718966" y="27626854"/>
            <a:ext cx="9789490" cy="89395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30" b="1" i="0" u="none" strike="noStrike" cap="none">
                <a:solidFill>
                  <a:srgbClr val="0C7060"/>
                </a:solidFill>
                <a:latin typeface="Poppins"/>
                <a:ea typeface="Poppins"/>
                <a:cs typeface="Poppins"/>
                <a:sym typeface="Poppins"/>
              </a:rPr>
              <a:t>INTRODUCTION</a:t>
            </a:r>
            <a:endParaRPr/>
          </a:p>
        </p:txBody>
      </p:sp>
      <p:grpSp>
        <p:nvGrpSpPr>
          <p:cNvPr id="219" name="Google Shape;219;p14"/>
          <p:cNvGrpSpPr/>
          <p:nvPr/>
        </p:nvGrpSpPr>
        <p:grpSpPr>
          <a:xfrm>
            <a:off x="25709059" y="6708314"/>
            <a:ext cx="792511" cy="848234"/>
            <a:chOff x="0" y="-57150"/>
            <a:chExt cx="812800" cy="869950"/>
          </a:xfrm>
        </p:grpSpPr>
        <p:sp>
          <p:nvSpPr>
            <p:cNvPr id="220" name="Google Shape;22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14"/>
          <p:cNvGrpSpPr/>
          <p:nvPr/>
        </p:nvGrpSpPr>
        <p:grpSpPr>
          <a:xfrm>
            <a:off x="25709666" y="9409452"/>
            <a:ext cx="792511" cy="848234"/>
            <a:chOff x="0" y="-57150"/>
            <a:chExt cx="812800" cy="869950"/>
          </a:xfrm>
        </p:grpSpPr>
        <p:sp>
          <p:nvSpPr>
            <p:cNvPr id="223" name="Google Shape;223;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5" name="Google Shape;225;p14"/>
          <p:cNvSpPr txBox="1"/>
          <p:nvPr/>
        </p:nvSpPr>
        <p:spPr>
          <a:xfrm>
            <a:off x="20200914" y="3992992"/>
            <a:ext cx="5293500" cy="875003"/>
          </a:xfrm>
          <a:prstGeom prst="rect">
            <a:avLst/>
          </a:prstGeom>
          <a:noFill/>
          <a:ln>
            <a:noFill/>
          </a:ln>
        </p:spPr>
        <p:txBody>
          <a:bodyPr spcFirstLastPara="1" wrap="square" lIns="0" tIns="0" rIns="0" bIns="0" anchor="t" anchorCtr="0">
            <a:spAutoFit/>
          </a:bodyPr>
          <a:lstStyle/>
          <a:p>
            <a:pPr marL="0" marR="0" lvl="0" indent="0" algn="r" rtl="0">
              <a:lnSpc>
                <a:spcPct val="139991"/>
              </a:lnSpc>
              <a:spcBef>
                <a:spcPts val="0"/>
              </a:spcBef>
              <a:spcAft>
                <a:spcPts val="0"/>
              </a:spcAft>
              <a:buNone/>
            </a:pPr>
            <a:r>
              <a:rPr lang="en-US" sz="4926" b="1" i="0" u="none" strike="noStrike" cap="none">
                <a:solidFill>
                  <a:srgbClr val="D44293"/>
                </a:solidFill>
                <a:latin typeface="Poppins"/>
                <a:ea typeface="Poppins"/>
                <a:cs typeface="Poppins"/>
                <a:sym typeface="Poppins"/>
              </a:rPr>
              <a:t>POINT 01</a:t>
            </a:r>
            <a:endParaRPr/>
          </a:p>
        </p:txBody>
      </p:sp>
      <p:sp>
        <p:nvSpPr>
          <p:cNvPr id="226" name="Google Shape;226;p14"/>
          <p:cNvSpPr txBox="1"/>
          <p:nvPr/>
        </p:nvSpPr>
        <p:spPr>
          <a:xfrm>
            <a:off x="20523443" y="4782270"/>
            <a:ext cx="5026500" cy="1421700"/>
          </a:xfrm>
          <a:prstGeom prst="rect">
            <a:avLst/>
          </a:prstGeom>
          <a:noFill/>
          <a:ln>
            <a:noFill/>
          </a:ln>
        </p:spPr>
        <p:txBody>
          <a:bodyPr spcFirstLastPara="1" wrap="square" lIns="0" tIns="0" rIns="0" bIns="0" anchor="t" anchorCtr="0">
            <a:spAutoFit/>
          </a:bodyPr>
          <a:lstStyle/>
          <a:p>
            <a:r>
              <a:rPr sz="2799" b="0" i="0">
                <a:solidFill>
                  <a:srgbClr val="000000"/>
                </a:solidFill>
                <a:latin typeface="Poppins Medium"/>
              </a:rPr>
              <a:t>Tracking snake movements via radio telemetry in the wild.</a:t>
            </a:r>
          </a:p>
        </p:txBody>
      </p:sp>
      <p:sp>
        <p:nvSpPr>
          <p:cNvPr id="227" name="Google Shape;227;p14"/>
          <p:cNvSpPr txBox="1"/>
          <p:nvPr/>
        </p:nvSpPr>
        <p:spPr>
          <a:xfrm>
            <a:off x="20258613" y="9382683"/>
            <a:ext cx="5293500" cy="875003"/>
          </a:xfrm>
          <a:prstGeom prst="rect">
            <a:avLst/>
          </a:prstGeom>
          <a:noFill/>
          <a:ln>
            <a:noFill/>
          </a:ln>
        </p:spPr>
        <p:txBody>
          <a:bodyPr spcFirstLastPara="1" wrap="square" lIns="0" tIns="0" rIns="0" bIns="0" anchor="t" anchorCtr="0">
            <a:spAutoFit/>
          </a:bodyPr>
          <a:lstStyle/>
          <a:p>
            <a:pPr marL="0" marR="0" lvl="0" indent="0" algn="r" rtl="0">
              <a:lnSpc>
                <a:spcPct val="139991"/>
              </a:lnSpc>
              <a:spcBef>
                <a:spcPts val="0"/>
              </a:spcBef>
              <a:spcAft>
                <a:spcPts val="0"/>
              </a:spcAft>
              <a:buNone/>
            </a:pPr>
            <a:r>
              <a:rPr lang="en-US" sz="4926" b="1" i="0" u="none" strike="noStrike" cap="none">
                <a:solidFill>
                  <a:srgbClr val="D44293"/>
                </a:solidFill>
                <a:latin typeface="Poppins"/>
                <a:ea typeface="Poppins"/>
                <a:cs typeface="Poppins"/>
                <a:sym typeface="Poppins"/>
              </a:rPr>
              <a:t>POINT 03</a:t>
            </a:r>
            <a:endParaRPr/>
          </a:p>
        </p:txBody>
      </p:sp>
      <p:sp>
        <p:nvSpPr>
          <p:cNvPr id="228" name="Google Shape;228;p14"/>
          <p:cNvSpPr txBox="1"/>
          <p:nvPr/>
        </p:nvSpPr>
        <p:spPr>
          <a:xfrm>
            <a:off x="20581142" y="10171961"/>
            <a:ext cx="5026500" cy="1421700"/>
          </a:xfrm>
          <a:prstGeom prst="rect">
            <a:avLst/>
          </a:prstGeom>
          <a:noFill/>
          <a:ln>
            <a:noFill/>
          </a:ln>
        </p:spPr>
        <p:txBody>
          <a:bodyPr spcFirstLastPara="1" wrap="square" lIns="0" tIns="0" rIns="0" bIns="0" anchor="t" anchorCtr="0">
            <a:spAutoFit/>
          </a:bodyPr>
          <a:lstStyle/>
          <a:p>
            <a:r>
              <a:rPr sz="2799" b="0" i="0">
                <a:solidFill>
                  <a:srgbClr val="000000"/>
                </a:solidFill>
                <a:latin typeface="Poppins Medium"/>
              </a:rPr>
              <a:t>Collecting venom samples for biopharmaceutical research.</a:t>
            </a:r>
          </a:p>
        </p:txBody>
      </p:sp>
      <p:sp>
        <p:nvSpPr>
          <p:cNvPr id="229" name="Google Shape;229;p14"/>
          <p:cNvSpPr txBox="1"/>
          <p:nvPr/>
        </p:nvSpPr>
        <p:spPr>
          <a:xfrm>
            <a:off x="26979096" y="6690622"/>
            <a:ext cx="5293500" cy="875003"/>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D44293"/>
                </a:solidFill>
                <a:latin typeface="Poppins"/>
                <a:ea typeface="Poppins"/>
                <a:cs typeface="Poppins"/>
                <a:sym typeface="Poppins"/>
              </a:rPr>
              <a:t>POINT 02</a:t>
            </a:r>
            <a:endParaRPr/>
          </a:p>
        </p:txBody>
      </p:sp>
      <p:sp>
        <p:nvSpPr>
          <p:cNvPr id="230" name="Google Shape;230;p14"/>
          <p:cNvSpPr txBox="1"/>
          <p:nvPr/>
        </p:nvSpPr>
        <p:spPr>
          <a:xfrm>
            <a:off x="26979096" y="7479900"/>
            <a:ext cx="5026500" cy="1421700"/>
          </a:xfrm>
          <a:prstGeom prst="rect">
            <a:avLst/>
          </a:prstGeom>
          <a:noFill/>
          <a:ln>
            <a:noFill/>
          </a:ln>
        </p:spPr>
        <p:txBody>
          <a:bodyPr spcFirstLastPara="1" wrap="square" lIns="0" tIns="0" rIns="0" bIns="0" anchor="t" anchorCtr="0">
            <a:spAutoFit/>
          </a:bodyPr>
          <a:lstStyle/>
          <a:p>
            <a:r>
              <a:rPr sz="2799" b="0" i="0">
                <a:solidFill>
                  <a:srgbClr val="000000"/>
                </a:solidFill>
                <a:latin typeface="Poppins Medium"/>
              </a:rPr>
              <a:t>Gathering habitat structure and environmental variable data.</a:t>
            </a:r>
          </a:p>
        </p:txBody>
      </p:sp>
      <p:sp>
        <p:nvSpPr>
          <p:cNvPr id="231" name="Google Shape;231;p14"/>
          <p:cNvSpPr txBox="1"/>
          <p:nvPr/>
        </p:nvSpPr>
        <p:spPr>
          <a:xfrm>
            <a:off x="23382364" y="12957270"/>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RESULTS</a:t>
            </a:r>
            <a:endParaRPr/>
          </a:p>
        </p:txBody>
      </p:sp>
      <p:sp>
        <p:nvSpPr>
          <p:cNvPr id="232" name="Google Shape;232;p14"/>
          <p:cNvSpPr txBox="1"/>
          <p:nvPr/>
        </p:nvSpPr>
        <p:spPr>
          <a:xfrm>
            <a:off x="21003035" y="33667951"/>
            <a:ext cx="4788900" cy="34119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Snakes play a vital role in maintaining ecological balance by controlling pest populations, particularly those of disease-carrying rodents and destructive insects.</a:t>
            </a:r>
          </a:p>
        </p:txBody>
      </p:sp>
      <p:sp>
        <p:nvSpPr>
          <p:cNvPr id="233" name="Google Shape;233;p14"/>
          <p:cNvSpPr txBox="1"/>
          <p:nvPr/>
        </p:nvSpPr>
        <p:spPr>
          <a:xfrm>
            <a:off x="23241304" y="32156151"/>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CONCLUSION</a:t>
            </a:r>
            <a:endParaRPr/>
          </a:p>
        </p:txBody>
      </p:sp>
      <p:sp>
        <p:nvSpPr>
          <p:cNvPr id="234" name="Google Shape;234;p14"/>
          <p:cNvSpPr txBox="1"/>
          <p:nvPr/>
        </p:nvSpPr>
        <p:spPr>
          <a:xfrm>
            <a:off x="26573162" y="33659269"/>
            <a:ext cx="4788900" cy="3411900"/>
          </a:xfrm>
          <a:prstGeom prst="rect">
            <a:avLst/>
          </a:prstGeom>
          <a:noFill/>
          <a:ln>
            <a:noFill/>
          </a:ln>
        </p:spPr>
        <p:txBody>
          <a:bodyPr spcFirstLastPara="1" wrap="square" lIns="0" tIns="0" rIns="0" bIns="0" anchor="t" anchorCtr="0">
            <a:spAutoFit/>
          </a:bodyPr>
          <a:lstStyle/>
          <a:p>
            <a:r>
              <a:rPr sz="3284" b="0" i="0">
                <a:solidFill>
                  <a:srgbClr val="000000"/>
                </a:solidFill>
                <a:latin typeface="Poppins Medium"/>
              </a:rPr>
              <a:t>Continued conservation efforts are absolutely necessary to protect vulnerable snake species from growing threats like habitat destruction and climate change.</a:t>
            </a:r>
          </a:p>
        </p:txBody>
      </p:sp>
      <p:pic>
        <p:nvPicPr>
          <p:cNvPr id="235" name="Google Shape;235;p14"/>
          <p:cNvPicPr preferRelativeResize="0"/>
          <p:nvPr/>
        </p:nvPicPr>
        <p:blipFill>
          <a:blip r:embed="rId8">
            <a:alphaModFix/>
          </a:blip>
          <a:stretch>
            <a:fillRect/>
          </a:stretch>
        </p:blipFill>
        <p:spPr>
          <a:xfrm>
            <a:off x="-1010502" y="-2208675"/>
            <a:ext cx="20448027" cy="2313677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549</Words>
  <Application>Microsoft Macintosh PowerPoint</Application>
  <PresentationFormat>Custom</PresentationFormat>
  <Paragraphs>68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Poppins</vt:lpstr>
      <vt:lpstr>Calibri</vt:lpstr>
      <vt:lpstr>Poppins Medium</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Ofengenden</cp:lastModifiedBy>
  <cp:revision>4</cp:revision>
  <dcterms:modified xsi:type="dcterms:W3CDTF">2025-11-13T02:03:38Z</dcterms:modified>
</cp:coreProperties>
</file>
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Solar System is a vast and complex system that includes the Sun at its center, eight planets, more than 200 moons, dwarf planets like Pluto, countless asteroids, comets, and meteoroids. It stretches out over a distance of about 100,000 astronomical units from the Sun, reaching the Oort cloud, a theoretical cloud of icy bodies. Each planet in the Solar System has unique characteristics such as size, composition, and orbital period. The four inner planets—Mercury, Venus, Earth, and Mars—are small, rocky, and have solid surfaces, while the four outer planets—Jupiter, Saturn, Uranus, and Neptune—are gas or ice giants with no solid surface. The Solar System is constantly in motion, with all the planets orbiting the Sun due to gravitational forces. Learning about the Solar System helps us understand the formation of planets, the potential for life elsewhere, and the dynamics of our cosmic neighborhood.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Jupiter is the largest planet with a diameter of 139,820 km; it has a Great Red Spot, a giant storm that has lasted for centuries.</a:t>
            </a:r>
          </a:p>
          <a:p>
            <a:r>
              <a:t>It has at least 79 moons and a thin set of rings.</a:t>
            </a:r>
          </a:p>
          <a:p>
            <a:r>
              <a:t>Saturn is known for its prominent ring system composed of ice and rock particles.</a:t>
            </a:r>
          </a:p>
          <a:p>
            <a:r>
              <a:t>Saturn has a low density; it would float in water if a tub large enough existed.</a:t>
            </a:r>
          </a:p>
          <a:p>
            <a:r>
              <a:t>Uranus is an ice giant that rotates on its side with an axial tilt of 98 degrees.</a:t>
            </a:r>
          </a:p>
          <a:p>
            <a:r>
              <a:t>Its atmosphere contains methane, giving it a cyan color.</a:t>
            </a:r>
          </a:p>
          <a:p>
            <a:r>
              <a:t>Neptune is another ice giant known for its deep blue color and supersonic winds.</a:t>
            </a:r>
          </a:p>
          <a:p>
            <a:r>
              <a:t>Neptune’s largest moon, Triton, orbits the planet in the opposite direction of its rotation.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Solar System is a fascinating and dynamic arrangement of celestial bodies, each with their own unique characteristics and mysteries. By studying the planets, moons, and smaller objects, we gain insights into the processes that shaped our Solar System and continue to influence it today. The inner terrestrial planets offer clues about the formation of rocky worlds and potential habitability, while the outer gas and ice giants teach us about the diversity of planetary systems. Continued exploration and observation will expand our understanding of the universe and inspire future generations to reach for the stars.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a:r>
              <a:rPr sz="4400">
                <a:solidFill>
                  <a:srgbClr val="003399"/>
                </a:solidFill>
                <a:latin typeface="Arial"/>
              </a:rPr>
              <a:t>our solar system: an introduction</a:t>
            </a:r>
          </a:p>
        </p:txBody>
      </p:sp>
      <p:sp>
        <p:nvSpPr>
          <p:cNvPr id="3" name="Subtitle 2"/>
          <p:cNvSpPr>
            <a:spLocks noGrp="1"/>
          </p:cNvSpPr>
          <p:nvPr>
            <p:ph type="subTitle" idx="1"/>
          </p:nvPr>
        </p:nvSpPr>
        <p:spPr/>
        <p:txBody>
          <a:bodyPr/>
          <a:lstStyle/>
          <a:p>
            <a:r>
              <a:rPr sz="1400">
                <a:solidFill>
                  <a:srgbClr val="000000"/>
                </a:solidFill>
                <a:latin typeface="Times New Roman"/>
              </a:rPr>
              <a:t>The Solar System consists of the Sun and all the objects that orbit it, including eight planets, their moons, and many smaller objects such as dwarf planets, comets, and asteroids. It formed about 4.6 billion years ago from the gravitational collapse of a giant interstellar molecular cloud. The Solar System is heliocentric, meaning everything revolves around the Sun. Understanding its formation, composition, and the dynamics of its celestial bodies gives us a deeper insight into the universe and our place within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lgn="l">
              <a:defRPr sz="4000">
                <a:solidFill>
                  <a:srgbClr val="008000"/>
                </a:solidFill>
                <a:latin typeface="Arial Black"/>
              </a:defRPr>
            </a:pPr>
            <a:r>
              <a:rPr>
                <a:solidFill>
                  <a:srgbClr val="003399"/>
                </a:solidFill>
                <a:latin typeface="Arial"/>
              </a:rPr>
              <a:t>The Solar System</a:t>
            </a:r>
          </a:p>
        </p:txBody>
      </p:sp>
      <p:sp>
        <p:nvSpPr>
          <p:cNvPr id="3" name="TextBox 2"/>
          <p:cNvSpPr txBox="1"/>
          <p:nvPr/>
        </p:nvSpPr>
        <p:spPr>
          <a:xfrm>
            <a:off x="457200" y="1463040"/>
            <a:ext cx="4572000" cy="3657600"/>
          </a:xfrm>
          <a:prstGeom prst="rect">
            <a:avLst/>
          </a:prstGeom>
          <a:noFill/>
        </p:spPr>
        <p:txBody>
          <a:bodyPr wrap="none">
            <a:spAutoFit/>
          </a:bodyPr>
          <a:lstStyle/>
          <a:p/>
        </p:txBody>
      </p:sp>
      <p:pic>
        <p:nvPicPr>
          <p:cNvPr id="4" name="Picture 3" descr="montage.jpg"/>
          <p:cNvPicPr>
            <a:picLocks noChangeAspect="1"/>
          </p:cNvPicPr>
          <p:nvPr/>
        </p:nvPicPr>
        <p:blipFill>
          <a:blip r:embed="rId2"/>
          <a:stretch>
            <a:fillRect/>
          </a:stretch>
        </p:blipFill>
        <p:spPr>
          <a:xfrm>
            <a:off x="5029200" y="1828800"/>
            <a:ext cx="4572000" cy="4572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sz="3600">
                <a:solidFill>
                  <a:srgbClr val="003399"/>
                </a:solidFill>
                <a:latin typeface="Arial"/>
              </a:rPr>
              <a:t>Inner Planets</a:t>
            </a:r>
          </a:p>
        </p:txBody>
      </p:sp>
      <p:sp>
        <p:nvSpPr>
          <p:cNvPr id="3" name="Content Placeholder 2"/>
          <p:cNvSpPr>
            <a:spLocks noGrp="1"/>
          </p:cNvSpPr>
          <p:nvPr>
            <p:ph idx="1"/>
          </p:nvPr>
        </p:nvSpPr>
        <p:spPr/>
        <p:txBody>
          <a:bodyPr/>
          <a:lstStyle/>
          <a:p>
            <a:pPr/>
            <a:r>
              <a:rPr>
                <a:solidFill>
                  <a:srgbClr val="000000"/>
                </a:solidFill>
              </a:rPr>
              <a:t>Mercury: The smallest planet, closest to the Sun, featuring a heavily cratered surface and extreme temperature variations.</a:t>
            </a:r>
          </a:p>
          <a:p>
            <a:pPr/>
            <a:r>
              <a:rPr>
                <a:solidFill>
                  <a:srgbClr val="000000"/>
                </a:solidFill>
              </a:rPr>
              <a:t>Venus: Earth-sized but extremely hot, with a thick, toxic carbon dioxide atmosphere and crushing surface pressure.</a:t>
            </a:r>
          </a:p>
          <a:p>
            <a:pPr/>
            <a:r>
              <a:rPr>
                <a:solidFill>
                  <a:srgbClr val="000000"/>
                </a:solidFill>
              </a:rPr>
              <a:t>Earth: The only planet known to support life, distinguished by liquid water, a protective atmosphere, and a climate-stabilizing moon.</a:t>
            </a:r>
          </a:p>
          <a:p>
            <a:pPr/>
            <a:r>
              <a:rPr>
                <a:solidFill>
                  <a:srgbClr val="000000"/>
                </a:solidFill>
              </a:rPr>
              <a:t>Mars: The 'Red Planet', featuring the solar system's largest volcano, distinct seasons, and evidence of ancient water channels.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sz="4000">
                <a:solidFill>
                  <a:srgbClr val="003399"/>
                </a:solidFill>
                <a:latin typeface="Arial"/>
              </a:rPr>
              <a:t>Outer Planets</a:t>
            </a:r>
          </a:p>
        </p:txBody>
      </p:sp>
      <p:sp>
        <p:nvSpPr>
          <p:cNvPr id="3" name="Content Placeholder 2"/>
          <p:cNvSpPr>
            <a:spLocks noGrp="1"/>
          </p:cNvSpPr>
          <p:nvPr>
            <p:ph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r>
              <a:rPr sz="3600">
                <a:solidFill>
                  <a:srgbClr val="003399"/>
                </a:solidFill>
                <a:latin typeface="Arial"/>
              </a:rPr>
              <a:t>Conclusion</a:t>
            </a:r>
          </a:p>
        </p:txBody>
      </p:sp>
      <p:sp>
        <p:nvSpPr>
          <p:cNvPr id="3" name="TextBox 2"/>
          <p:cNvSpPr txBox="1"/>
          <p:nvPr/>
        </p:nvSpPr>
        <p:spPr>
          <a:xfrm>
            <a:off x="457200" y="1463040"/>
            <a:ext cx="5943600" cy="4114800"/>
          </a:xfrm>
          <a:prstGeom prst="rect">
            <a:avLst/>
          </a:prstGeom>
          <a:noFill/>
        </p:spPr>
        <p:txBody>
          <a:bodyPr wrap="none">
            <a:spAutoFit/>
          </a:bodyPr>
          <a:lstStyle/>
          <a:p/>
        </p:txBody>
      </p:sp>
      <p:pic>
        <p:nvPicPr>
          <p:cNvPr id="4" name="Picture 3" descr="montage.jpg"/>
          <p:cNvPicPr>
            <a:picLocks noChangeAspect="1"/>
          </p:cNvPicPr>
          <p:nvPr/>
        </p:nvPicPr>
        <p:blipFill>
          <a:blip r:embed="rId2"/>
          <a:stretch>
            <a:fillRect/>
          </a:stretch>
        </p:blipFill>
        <p:spPr>
          <a:xfrm>
            <a:off x="6400800" y="3200400"/>
            <a:ext cx="3657600" cy="3657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r>
              <a:rPr>
                <a:solidFill>
                  <a:srgbClr val="003399"/>
                </a:solidFill>
                <a:latin typeface="Arial"/>
              </a:rPr>
              <a:t>Planetary Sizes</a:t>
            </a:r>
          </a:p>
        </p:txBody>
      </p:sp>
      <p:sp>
        <p:nvSpPr>
          <p:cNvPr id="3" name="Rectangle 2"/>
          <p:cNvSpPr/>
          <p:nvPr/>
        </p:nvSpPr>
        <p:spPr>
          <a:xfrm>
            <a:off x="914400" y="1828800"/>
            <a:ext cx="7315200" cy="4114800"/>
          </a:xfrm>
          <a:prstGeom prst="rect">
            <a:avLst/>
          </a:prstGeom>
          <a:solidFill>
            <a:srgbClr val="E6E6E6"/>
          </a:solidFill>
          <a:ln>
            <a:solidFill>
              <a:srgbClr val="003399"/>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rgbClr val="000000"/>
                </a:solidFill>
              </a:rPr>
              <a:t>[Image Placeholder: An image illustrating the relative sizes of the planets in the solar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
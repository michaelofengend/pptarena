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barChart>
        <c:barDir val="col"/>
        <c:ser>
          <c:idx val="0"/>
          <c:order val="0"/>
          <c:tx>
            <c:v>Temperature</c:v>
          </c:tx>
          <c:cat>
            <c:strRef>
              <c:strCache>
                <c:ptCount val="3"/>
                <c:pt idx="0">
                  <c:v>1991-2020 Avg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14.38</c:v>
                </c:pt>
                <c:pt idx="1">
                  <c:v>14.98</c:v>
                </c:pt>
                <c:pt idx="2">
                  <c:v>15.10</c:v>
                </c:pt>
              </c:numCache>
            </c:numRef>
          </c:val>
        </c:ser>
        <c:axId val="10000000"/>
        <c:axId val="10000001"/>
      </c:barChart>
      <c:catAx>
        <c:axId val="10000000"/>
        <c:scaling>
          <c:orientation val="minMax"/>
        </c:scaling>
        <c:axPos val="b"/>
        <c:crossAx val="10000001"/>
      </c:catAx>
      <c:valAx>
        <c:axId val="10000001"/>
        <c:scaling>
          <c:orientation val="minMax"/>
        </c:scaling>
        <c:axPos val="l"/>
        <c:crossAx val="10000000"/>
      </c:valAx>
    </c:plotArea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Progress Bar"/>
          <p:cNvSpPr/>
          <p:nvPr/>
        </p:nvSpPr>
        <p:spPr>
          <a:xfrm>
            <a:off x="0" y="6758000"/>
            <a:ext cx="9144000" cy="100000"/>
          </a:xfrm>
          <a:prstGeom prst="rect">
            <a:avLst/>
          </a:prstGeom>
          <a:solidFill>
            <a:srgbClr val="00008B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008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40404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Global%20surface%20air%20temperature%20highlights%3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.copernicus.eu/copernicus-2024-first-year-exceed-15degc-above-pre-industrial-level#:~:text=According%20to%20ERA5%20,industrial%20leve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imate.copernicus.eu/copernicus-2024-first-year-exceed-15degc-above-pre-industrial-level#:~:text=,DOWNLOAD%20DATA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Carlo%20Buontempo%2C%20Director%20of%20the,%E2%80%9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 Global Climate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Copernicus Climate Change Service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 2024, global surface temperatures reached unprecedented levels, exceeding 1.5°C above the pre-industrial baseline. The Copernicus Climate Change Service reported that 2024 was not only the warmest year on record but also the first calendar year to surpass the 1.5°C threshold. Human-induced climate change is the primary driver of these extreme temperatures, with phenomena like El Niño adding variability.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endParaRPr/>
          </a:p>
          <a:p>
            <a:r>
              <a:rPr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Climate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2024 recorded a global average temperature of 15.10°C, which is 0.72°C above the 1991–2020 average and 0.12°C warmer than 2023.</a:t>
            </a:r>
          </a:p>
          <a:p>
            <a:pPr>
              <a:defRPr sz="1400"/>
            </a:pPr>
            <a:r>
              <a:t>2024 is the first calendar year to exceed 1.5°C above pre-industrial levels.</a:t>
            </a:r>
          </a:p>
          <a:p>
            <a:pPr>
              <a:defRPr sz="1400"/>
            </a:pPr>
            <a:r>
              <a:t>Each year from 2015 to 2024 ranks among the ten warmest years on record.</a:t>
            </a:r>
          </a:p>
          <a:p>
            <a:pPr>
              <a:defRPr sz="1400"/>
            </a:pPr>
            <a:r>
              <a:t>Monthly global temperatures exceeded 1.5°C for 11 months, with a record daily high of 17.16°C on July 22, 2024.</a:t>
            </a:r>
          </a:p>
          <a:p>
            <a:pPr>
              <a:defRPr sz="1400"/>
            </a:pPr>
            <a:r>
              <a:t>2024 was the warmest year for almost all continental regions, except Antarctica and Australasia.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hlinkClick r:id="rId2"/>
              </a:rPr>
              <a:t>[2] [3]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Average Temperature Comparison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371600" y="1371600"/>
          <a:ext cx="4572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/>
            </a:pPr>
            <a:r>
              <a:t>This bar chart compares the 1991–2020 average global surface temperature with the record-breaking years 2023 and 2024. The 2024 bar stands tallest, highlighting the unprecedented warming that exceeded the 1.5°C threshold above pre-industrial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hlinkClick r:id="rId3"/>
              </a:rPr>
              <a:t>[4]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Trends &amp;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886200" cy="22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00200"/>
            <a:ext cx="38862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Global surface temperature increase above pre-industrial (ERA5 &amp; other sources).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00200"/>
            <a:ext cx="3886200" cy="2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3900200"/>
            <a:ext cx="38862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Surface air temperature anomalies in 2024 relative to 1991–2020.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hlinkClick r:id="rId4"/>
              </a:rPr>
              <a:t>[5]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Leading climate scientists warn that the unprecedented warmth of 2024 underscores an urgent need for evidence-based responses. According to Carlo Buontempo, the future is in our hands, and decisive action can alter the trajectory of our climate.</a:t>
            </a:r>
          </a:p>
          <a:p>
            <a:pPr>
              <a:defRPr sz="1400"/>
            </a:pPr>
            <a:r>
              <a:t>Strategic Lead Samantha Burgess notes that every year in the last decade ranks among the warmest on record, and global temperatures are already above the 1.5°C threshold set by the Paris Agreement.</a:t>
            </a:r>
          </a:p>
          <a:p>
            <a:pPr>
              <a:defRPr sz="1400"/>
            </a:pPr>
            <a:r>
              <a:t>High temperatures coupled with record atmospheric water vapour have led to more frequent heatwaves and heavy rainfall, causing adverse impacts on human societies and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hlinkClick r:id="rId2"/>
              </a:rPr>
              <a:t>[6]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URL: https://climate.copernicus.eu/copernicus-2024-first-year-exceed-15degc-above-pre-industrial-level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376</Words>
  <Application>Microsoft Macintosh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2024 Global Climate Highlights</vt:lpstr>
      <vt:lpstr>Overview</vt:lpstr>
      <vt:lpstr>2024 Climate Highlights</vt:lpstr>
      <vt:lpstr>Global Average Temperature Comparison</vt:lpstr>
      <vt:lpstr>Temperature Trends &amp; Anomalies</vt:lpstr>
      <vt:lpstr>Conclusions &amp;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</cp:revision>
  <dcterms:created xsi:type="dcterms:W3CDTF">2013-01-27T09:14:16Z</dcterms:created>
  <dcterms:modified xsi:type="dcterms:W3CDTF">2025-10-07T04:39:46Z</dcterms:modified>
  <cp:category/>
</cp:coreProperties>
</file>
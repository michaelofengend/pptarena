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Relationship Id="rId3" Type="http://schemas.openxmlformats.org/officeDocument/2006/relationships/image" Target="../media/image3.tiff"/><Relationship Id="rId4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19" y="0"/>
            <a:ext cx="3437937" cy="11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4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-2" y="0"/>
            <a:ext cx="1884105" cy="1887824"/>
            <a:chOff x="-2" y="0"/>
            <a:chExt cx="1884105" cy="1887824"/>
          </a:xfrm>
        </p:grpSpPr>
        <p:grpSp>
          <p:nvGrpSpPr>
            <p:cNvPr id="8" name="Group 7"/>
            <p:cNvGrpSpPr/>
            <p:nvPr/>
          </p:nvGrpSpPr>
          <p:grpSpPr>
            <a:xfrm>
              <a:off x="-2" y="818"/>
              <a:ext cx="1884105" cy="1887006"/>
              <a:chOff x="-2" y="818"/>
              <a:chExt cx="1884105" cy="188700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566" y="818"/>
                <a:ext cx="944537" cy="94164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" y="942458"/>
                <a:ext cx="939567" cy="945366"/>
              </a:xfrm>
              <a:prstGeom prst="rect">
                <a:avLst/>
              </a:prstGeom>
            </p:spPr>
          </p:pic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939567" cy="942458"/>
            </a:xfrm>
            <a:prstGeom prst="rect">
              <a:avLst/>
            </a:prstGeom>
          </p:spPr>
        </p:pic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79132" y="0"/>
            <a:ext cx="10312867" cy="883167"/>
          </a:xfrm>
        </p:spPr>
        <p:txBody>
          <a:bodyPr>
            <a:normAutofit/>
          </a:bodyPr>
          <a:lstStyle>
            <a:lvl1pPr>
              <a:defRPr sz="2400" cap="all" baseline="0">
                <a:latin typeface="Arial Black" panose="020B0A04020102020204" pitchFamily="34" charset="0"/>
                <a:cs typeface="Adobe Naskh Medium" panose="01010101010101010101" pitchFamily="50" charset="-78"/>
              </a:defRPr>
            </a:lvl1pPr>
          </a:lstStyle>
          <a:p>
            <a:r>
              <a:rPr lang="en-US" smtClean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10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7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94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80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1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31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33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38258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DD24-6168-4C6E-B4D2-E6B466BDF756}" type="datetimeFigureOut">
              <a:rPr lang="fr-FR" smtClean="0"/>
              <a:t>11/10/2019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5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/>
              <a:t>C-3, IHO Secretariat, Monaco, 15 – 17 October 2019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882" y="1617365"/>
            <a:ext cx="977608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3rd Meeting of the IHO Council</a:t>
            </a:r>
          </a:p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IHO ANNUAL WORK PROGRAMME AND BUDGET</a:t>
            </a:r>
          </a:p>
          <a:p>
            <a:pPr algn="ctr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 smtClean="0">
                <a:solidFill>
                  <a:srgbClr val="00A9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Item 5.3</a:t>
            </a:r>
          </a:p>
          <a:p>
            <a:pPr algn="ctr"/>
            <a:r>
              <a:rPr lang="en-US" sz="3100" b="1" dirty="0" smtClean="0">
                <a:solidFill>
                  <a:srgbClr val="00A9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Budget for 2020</a:t>
            </a:r>
            <a:endParaRPr lang="en-US" sz="3100" dirty="0">
              <a:solidFill>
                <a:srgbClr val="00A9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58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proposed</a:t>
            </a:r>
            <a:r>
              <a:rPr lang="de-DE" dirty="0" smtClean="0"/>
              <a:t> IHO </a:t>
            </a:r>
            <a:r>
              <a:rPr lang="de-DE" dirty="0" err="1" smtClean="0"/>
              <a:t>budget</a:t>
            </a:r>
            <a:r>
              <a:rPr lang="de-DE" dirty="0" smtClean="0"/>
              <a:t> 2020</a:t>
            </a:r>
            <a:endParaRPr lang="fr-FR" dirty="0"/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C-3, IHO Secretariat, Monaco, 15 – 17 October 2019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9475" y="1108932"/>
            <a:ext cx="10661822" cy="4689257"/>
          </a:xfrm>
        </p:spPr>
        <p:txBody>
          <a:bodyPr>
            <a:normAutofit lnSpcReduction="10000"/>
          </a:bodyPr>
          <a:lstStyle/>
          <a:p>
            <a:pPr lvl="0"/>
            <a:r>
              <a:rPr lang="en-AU" dirty="0"/>
              <a:t>The proposed budget estimates for </a:t>
            </a:r>
            <a:r>
              <a:rPr lang="en-AU" dirty="0" smtClean="0"/>
              <a:t>2020 are </a:t>
            </a:r>
            <a:r>
              <a:rPr lang="en-AU" dirty="0"/>
              <a:t>based on the </a:t>
            </a:r>
            <a:r>
              <a:rPr lang="en-AU" dirty="0" smtClean="0"/>
              <a:t>third </a:t>
            </a:r>
            <a:r>
              <a:rPr lang="en-AU" dirty="0"/>
              <a:t>year of the three-year budget estimates approved by the </a:t>
            </a:r>
            <a:r>
              <a:rPr lang="en-AU" dirty="0" smtClean="0"/>
              <a:t>A1.  </a:t>
            </a:r>
          </a:p>
          <a:p>
            <a:r>
              <a:rPr lang="en-AU" dirty="0"/>
              <a:t>Variations to the approved budget estimates to </a:t>
            </a:r>
            <a:r>
              <a:rPr lang="de-DE" dirty="0" err="1"/>
              <a:t>cover</a:t>
            </a:r>
            <a:r>
              <a:rPr lang="de-DE" dirty="0"/>
              <a:t> a substantial </a:t>
            </a:r>
            <a:r>
              <a:rPr lang="de-DE" dirty="0" err="1"/>
              <a:t>increase</a:t>
            </a:r>
            <a:r>
              <a:rPr lang="de-DE" dirty="0"/>
              <a:t> in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insurance</a:t>
            </a:r>
            <a:r>
              <a:rPr lang="de-DE" dirty="0"/>
              <a:t> </a:t>
            </a:r>
            <a:r>
              <a:rPr lang="de-DE" dirty="0" err="1"/>
              <a:t>premiums</a:t>
            </a:r>
            <a:r>
              <a:rPr lang="de-DE" dirty="0"/>
              <a:t> 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approx</a:t>
            </a:r>
            <a:r>
              <a:rPr lang="de-DE" dirty="0"/>
              <a:t>. 100</a:t>
            </a:r>
            <a:r>
              <a:rPr lang="de-DE" dirty="0" smtClean="0"/>
              <a:t>%.</a:t>
            </a:r>
            <a:endParaRPr lang="fr-FR" dirty="0"/>
          </a:p>
          <a:p>
            <a:pPr lvl="0"/>
            <a:r>
              <a:rPr lang="en-AU" dirty="0" smtClean="0"/>
              <a:t>This </a:t>
            </a:r>
            <a:r>
              <a:rPr lang="en-AU" dirty="0"/>
              <a:t>increases are offset </a:t>
            </a:r>
            <a:r>
              <a:rPr lang="en-AU" dirty="0" smtClean="0"/>
              <a:t>by:</a:t>
            </a:r>
            <a:endParaRPr lang="fr-FR" dirty="0"/>
          </a:p>
          <a:p>
            <a:pPr lvl="1"/>
            <a:r>
              <a:rPr lang="en-AU" dirty="0" smtClean="0"/>
              <a:t>Numerous </a:t>
            </a:r>
            <a:r>
              <a:rPr lang="en-US" dirty="0"/>
              <a:t>minor </a:t>
            </a:r>
            <a:r>
              <a:rPr lang="en-US" dirty="0" smtClean="0"/>
              <a:t>reductions on </a:t>
            </a:r>
            <a:r>
              <a:rPr lang="en-US" dirty="0"/>
              <a:t>administrative costs, based on recent expenditure history</a:t>
            </a:r>
            <a:r>
              <a:rPr lang="en-AU" dirty="0" smtClean="0"/>
              <a:t>, </a:t>
            </a:r>
          </a:p>
          <a:p>
            <a:pPr lvl="1"/>
            <a:r>
              <a:rPr lang="en-US" dirty="0" smtClean="0"/>
              <a:t>Contributions </a:t>
            </a:r>
            <a:r>
              <a:rPr lang="en-US" dirty="0"/>
              <a:t>to the Retirement Fund is lowered by </a:t>
            </a:r>
            <a:r>
              <a:rPr lang="en-US" dirty="0" smtClean="0"/>
              <a:t>$40,000.</a:t>
            </a:r>
          </a:p>
          <a:p>
            <a:pPr lvl="1"/>
            <a:r>
              <a:rPr lang="en-US" dirty="0"/>
              <a:t>Provision for bad debts to cover potential arrears of Member States </a:t>
            </a:r>
            <a:r>
              <a:rPr lang="en-US" dirty="0" smtClean="0"/>
              <a:t>is </a:t>
            </a:r>
            <a:r>
              <a:rPr lang="en-US" dirty="0"/>
              <a:t>lowered </a:t>
            </a:r>
            <a:r>
              <a:rPr lang="en-US" dirty="0" smtClean="0"/>
              <a:t>by $30,000.</a:t>
            </a:r>
          </a:p>
          <a:p>
            <a:pPr lvl="1"/>
            <a:r>
              <a:rPr lang="en-US" dirty="0"/>
              <a:t>Travel costs are reduced by $60,000 (~20%)</a:t>
            </a:r>
            <a:r>
              <a:rPr lang="en-AU" dirty="0" smtClean="0"/>
              <a:t>.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6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proposed</a:t>
            </a:r>
            <a:r>
              <a:rPr lang="de-DE" dirty="0" smtClean="0"/>
              <a:t> IHO </a:t>
            </a:r>
            <a:r>
              <a:rPr lang="de-DE" dirty="0" err="1" smtClean="0"/>
              <a:t>budget</a:t>
            </a:r>
            <a:r>
              <a:rPr lang="de-DE" dirty="0" smtClean="0"/>
              <a:t> 2020</a:t>
            </a:r>
            <a:endParaRPr lang="fr-FR" dirty="0"/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C-3, IHO Secretariat, Monaco, 15 – 17 October 2019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9475" y="1108932"/>
            <a:ext cx="10661822" cy="46892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AU" dirty="0" smtClean="0"/>
              <a:t>The budget estimates for 2020 ($3,494,724) remain balanced with an expected budget surplus of about 0.05% of the budget.</a:t>
            </a:r>
            <a:r>
              <a:rPr lang="en-AU" dirty="0"/>
              <a:t/>
            </a:r>
            <a:r>
              <a:rPr lang="en-AU" dirty="0" smtClean="0"/>
              <a:t/>
            </a:r>
            <a:r>
              <a:rPr lang="fr-FR" dirty="0" smtClean="0"/>
              <a:t/>
            </a:r>
            <a:r>
              <a:rPr lang="en-AU" dirty="0" smtClean="0"/>
              <a:t/>
            </a:r>
            <a:r>
              <a:rPr lang="en-AU" dirty="0"/>
              <a:t/>
            </a:r>
            <a:r>
              <a:rPr lang="en-AU" dirty="0" smtClean="0"/>
              <a:t/>
            </a:r>
            <a:r>
              <a:rPr lang="en-AU" dirty="0"/>
              <a:t/>
            </a:r>
            <a:r>
              <a:rPr lang="en-AU" dirty="0" smtClean="0"/>
              <a:t/>
            </a:r>
            <a:r>
              <a:rPr lang="en-AU" dirty="0"/>
              <a:t/>
            </a:r>
            <a:r>
              <a:rPr lang="en-AU" dirty="0" smtClean="0"/>
              <a:t/>
            </a:r>
          </a:p>
          <a:p>
            <a:r>
              <a:rPr lang="en-US" dirty="0" smtClean="0"/>
              <a:t>A higher allocation ($44,000) in comparison with the three-years budget estimate is proposed for the Capacity Building Fund to raise it from $86,000 to $130,000.</a:t>
            </a:r>
            <a:r>
              <a:rPr lang="en-US" dirty="0"/>
              <a:t/>
            </a:r>
            <a:r>
              <a:rPr lang="en-US" dirty="0" smtClean="0"/>
              <a:t/>
            </a:r>
            <a:r>
              <a:rPr lang="en-US" dirty="0"/>
              <a:t/>
            </a:r>
            <a:r>
              <a:rPr lang="en-US" dirty="0" smtClean="0"/>
              <a:t/>
            </a:r>
            <a:r>
              <a:rPr lang="en-US" dirty="0"/>
              <a:t/>
            </a:r>
            <a:r>
              <a:rPr lang="en-US" dirty="0" smtClean="0"/>
              <a:t/>
            </a:r>
            <a:r>
              <a:rPr lang="en-US" dirty="0"/>
              <a:t/>
            </a:r>
            <a:r>
              <a:rPr lang="en-US" dirty="0" smtClean="0"/>
              <a:t/>
            </a:r>
          </a:p>
          <a:p>
            <a:r>
              <a:rPr lang="en-US" dirty="0" smtClean="0"/>
              <a:t>By </a:t>
            </a:r>
            <a:r>
              <a:rPr lang="en-US" dirty="0"/>
              <a:t>this allocation, the Capacity Building Fund reaches approximately the same level as the cumulated Special Project Fund ($135,000 by 1st July 2019). </a:t>
            </a:r>
            <a:endParaRPr lang="en-AU" dirty="0" smtClean="0"/>
          </a:p>
          <a:p>
            <a:pPr marL="0" lv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20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C-3, IHO Secretariat, Monaco, 15 – 17 October 2019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0265" y="217454"/>
            <a:ext cx="10515600" cy="54051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Actions to be considered by Council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C-3 is invited to:</a:t>
            </a:r>
          </a:p>
          <a:p>
            <a:r>
              <a:rPr lang="en-US" dirty="0" smtClean="0"/>
              <a:t>Take note of the offsets of the increases in health insurance premiums – in particular the reduction of travel expenses and the follow up consequences.</a:t>
            </a:r>
          </a:p>
          <a:p>
            <a:r>
              <a:rPr lang="en-US" dirty="0" smtClean="0"/>
              <a:t>Take note of the allocations made to the Capacity Building </a:t>
            </a:r>
            <a:r>
              <a:rPr lang="en-US" dirty="0" smtClean="0"/>
              <a:t>Fund </a:t>
            </a:r>
            <a:r>
              <a:rPr lang="en-US" dirty="0" smtClean="0"/>
              <a:t>and the Special Projects </a:t>
            </a:r>
            <a:r>
              <a:rPr lang="en-US" dirty="0" smtClean="0"/>
              <a:t>Fund.</a:t>
            </a:r>
            <a:endParaRPr lang="en-US" dirty="0" smtClean="0"/>
          </a:p>
          <a:p>
            <a:r>
              <a:rPr lang="en-US" dirty="0"/>
              <a:t>Approve the proposed IHO Budget for </a:t>
            </a:r>
            <a:r>
              <a:rPr lang="en-US" dirty="0" smtClean="0"/>
              <a:t>2020.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9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ster_IHO_New_Lo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_IHO_New_Logo" id="{92376390-61D0-4A4A-9DAB-DA9E6EE3EAC4}" vid="{E943696B-60C2-4457-926B-515312E413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Master_IHO_New_Logo</Template>
  <TotalTime>111</TotalTime>
  <Words>307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Adobe Naskh Medium</vt:lpstr>
      <vt:lpstr>Arial</vt:lpstr>
      <vt:lpstr>Arial Black</vt:lpstr>
      <vt:lpstr>Calibri</vt:lpstr>
      <vt:lpstr>Calibri Light</vt:lpstr>
      <vt:lpstr>Master_IHO_New_Logo</vt:lpstr>
      <vt:lpstr>PowerPoint Presentation</vt:lpstr>
      <vt:lpstr>proposed IHO budget 2020</vt:lpstr>
      <vt:lpstr>proposed IHO budget 2020</vt:lpstr>
      <vt:lpstr>Actions to be considered by Council</vt:lpstr>
    </vt:vector>
  </TitlesOfParts>
  <Company>International Hydrographic Bureau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Isabelle Belmonte</dc:creator>
  <cp:lastModifiedBy>Mathias Jonas</cp:lastModifiedBy>
  <cp:revision>18</cp:revision>
  <dcterms:created xsi:type="dcterms:W3CDTF">2019-06-26T12:25:46Z</dcterms:created>
  <dcterms:modified xsi:type="dcterms:W3CDTF">2019-10-11T14:08:12Z</dcterms:modified>
</cp:coreProperties>
</file>
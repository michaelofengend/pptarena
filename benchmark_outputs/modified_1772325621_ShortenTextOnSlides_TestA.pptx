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5" r:id="rId1"/>
  </p:sldMasterIdLst>
  <p:sldIdLst>
    <p:sldId id="257" r:id="rId2"/>
    <p:sldId id="259" r:id="rId3"/>
    <p:sldId id="260" r:id="rId4"/>
    <p:sldId id="265" r:id="rId5"/>
    <p:sldId id="266" r:id="rId6"/>
    <p:sldId id="267" r:id="rId7"/>
    <p:sldId id="268" r:id="rId8"/>
    <p:sldId id="269" r:id="rId9"/>
    <p:sldId id="262" r:id="rId10"/>
    <p:sldId id="271" r:id="rId11"/>
    <p:sldId id="272" r:id="rId12"/>
    <p:sldId id="270" r:id="rId13"/>
    <p:sldId id="273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69" d="100"/>
          <a:sy n="69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517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6273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433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10/25/2022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758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10/25/2022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4919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10/25/2022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7636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10/25/2022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7837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10/25/2022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6343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9996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576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407731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46784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58169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45740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10/25/2022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30063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424112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0372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  <p:sldLayoutId id="2147483700" r:id="rId15"/>
    <p:sldLayoutId id="214748370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C7D1C79-5700-4041-AFBF-07B22620DE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3" y="-252486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813" y="1683333"/>
            <a:ext cx="10058400" cy="2300970"/>
          </a:xfrm>
        </p:spPr>
        <p:txBody>
          <a:bodyPr>
            <a:normAutofit/>
          </a:bodyPr>
          <a:lstStyle/>
          <a:p>
            <a:r>
              <a:t>Developing Governance in Village Owned Enterprises to Improve Community Welfare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4716" y="4181262"/>
            <a:ext cx="10271464" cy="1370787"/>
          </a:xfrm>
        </p:spPr>
        <p:txBody>
          <a:bodyPr>
            <a:normAutofit fontScale="70000" lnSpcReduction="20000"/>
          </a:bodyPr>
          <a:lstStyle/>
          <a:p>
            <a:r>
              <a:t>Sriyono, Adi Soeprapto, Simon Pulung Nugroho</a:t>
            </a:r>
          </a:p>
          <a:p>
            <a:r>
              <a:t>UPN "Veteran" Yogyakarta, Indonesia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344" y="495064"/>
            <a:ext cx="8596668" cy="668784"/>
          </a:xfrm>
        </p:spPr>
        <p:txBody>
          <a:bodyPr>
            <a:normAutofit/>
          </a:bodyPr>
          <a:lstStyle/>
          <a:p>
            <a:r>
              <a:rPr lang="en-GB" sz="3200" b="1" dirty="0"/>
              <a:t>INTRODUCTION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2344" y="1190393"/>
            <a:ext cx="9558619" cy="4477214"/>
          </a:xfrm>
        </p:spPr>
        <p:txBody>
          <a:bodyPr>
            <a:noAutofit/>
          </a:bodyPr>
          <a:lstStyle/>
          <a:p>
            <a:r>
              <a:t>• Village funds aim to foster independent development via Village Owned Enterprises (BUMDes).</a:t>
            </a:r>
          </a:p>
          <a:p>
            <a:r>
              <a:t>• BUMDes helps solve local problems and improve community welfare.</a:t>
            </a:r>
          </a:p>
          <a:p>
            <a:r>
              <a:t>• Not all village communities are fully ready to implement these programs.</a:t>
            </a:r>
          </a:p>
          <a:p>
            <a:r>
              <a:t>• Despite exceeding growth targets, many BUMDes failed to generate income and stalled, especially during the pandemic.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698" y="331029"/>
            <a:ext cx="8596668" cy="668784"/>
          </a:xfrm>
        </p:spPr>
        <p:txBody>
          <a:bodyPr>
            <a:normAutofit/>
          </a:bodyPr>
          <a:lstStyle/>
          <a:p>
            <a:r>
              <a:rPr lang="en-GB" sz="3200" b="1" dirty="0"/>
              <a:t>INTRODUCTION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9698" y="1179519"/>
            <a:ext cx="9818702" cy="4178066"/>
          </a:xfrm>
        </p:spPr>
        <p:txBody>
          <a:bodyPr>
            <a:noAutofit/>
          </a:bodyPr>
          <a:lstStyle/>
          <a:p>
            <a:r>
              <a:t>• In 2019: Out of 50,199 BUMDes, thousands were non-operational or unprofitable.</a:t>
            </a:r>
          </a:p>
          <a:p>
            <a:r>
              <a:t>• In 2021: The pandemic caused 27,000 out of 57,273 BUMDes to suspend operations.</a:t>
            </a:r>
          </a:p>
          <a:p>
            <a:r>
              <a:t>• Key Issues: Business fields were mismatched with village potential, and incompetent management led to poor governance, inefficiency, and corruption.</a:t>
            </a:r>
          </a:p>
        </p:txBody>
      </p:sp>
    </p:spTree>
    <p:extLst>
      <p:ext uri="{BB962C8B-B14F-4D97-AF65-F5344CB8AC3E}">
        <p14:creationId xmlns:p14="http://schemas.microsoft.com/office/powerpoint/2010/main" val="2292148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86540"/>
          </a:xfrm>
        </p:spPr>
        <p:txBody>
          <a:bodyPr/>
          <a:lstStyle/>
          <a:p>
            <a:r>
              <a:rPr lang="en-GB" b="1" dirty="0"/>
              <a:t>LITERATURE REVIEW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216241"/>
            <a:ext cx="9736173" cy="4829452"/>
          </a:xfrm>
        </p:spPr>
        <p:txBody>
          <a:bodyPr/>
          <a:lstStyle/>
          <a:p>
            <a:r>
              <a:t>Resource Based View (RBV)</a:t>
            </a:r>
          </a:p>
          <a:p>
            <a:r>
              <a:t>• Organizations must utilize both physical and non-physical resources to achieve sustainable competitive advantage.</a:t>
            </a:r>
          </a:p>
          <a:p>
            <a:r>
              <a:t>• Resources must be valuable, scarce, and difficult to imitate or substitute.</a:t>
            </a:r>
          </a:p>
          <a:p>
            <a:r>
              <a:t>• Competitive advantage heavily relies on social, human, and financial capital.</a:t>
            </a:r>
          </a:p>
        </p:txBody>
      </p:sp>
    </p:spTree>
    <p:extLst>
      <p:ext uri="{BB962C8B-B14F-4D97-AF65-F5344CB8AC3E}">
        <p14:creationId xmlns:p14="http://schemas.microsoft.com/office/powerpoint/2010/main" val="309203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86540"/>
          </a:xfrm>
        </p:spPr>
        <p:txBody>
          <a:bodyPr/>
          <a:lstStyle/>
          <a:p>
            <a:r>
              <a:rPr lang="en-GB" b="1" dirty="0"/>
              <a:t>LITERATURE REVIEW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216241"/>
            <a:ext cx="9736173" cy="4829452"/>
          </a:xfrm>
        </p:spPr>
        <p:txBody>
          <a:bodyPr>
            <a:normAutofit lnSpcReduction="10000"/>
          </a:bodyPr>
          <a:lstStyle/>
          <a:p>
            <a:r>
              <a:t>Contingency Theory</a:t>
            </a:r>
          </a:p>
          <a:p>
            <a:r>
              <a:t>• There is no universally applicable way to organize; organizational effectiveness varies.</a:t>
            </a:r>
          </a:p>
          <a:p>
            <a:r>
              <a:t>• Control mechanisms must adapt to internal and external environmental conditions.</a:t>
            </a:r>
          </a:p>
          <a:p>
            <a:r>
              <a:t>• Interactions with stakeholders, community needs, and local obstacles directly influence management decisions.</a:t>
            </a:r>
          </a:p>
        </p:txBody>
      </p:sp>
    </p:spTree>
    <p:extLst>
      <p:ext uri="{BB962C8B-B14F-4D97-AF65-F5344CB8AC3E}">
        <p14:creationId xmlns:p14="http://schemas.microsoft.com/office/powerpoint/2010/main" val="2384268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86540"/>
          </a:xfrm>
        </p:spPr>
        <p:txBody>
          <a:bodyPr/>
          <a:lstStyle/>
          <a:p>
            <a:r>
              <a:rPr lang="en-GB" b="1" dirty="0"/>
              <a:t>LITERATURE REVIEW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216241"/>
            <a:ext cx="9736173" cy="4829452"/>
          </a:xfrm>
        </p:spPr>
        <p:txBody>
          <a:bodyPr>
            <a:normAutofit lnSpcReduction="10000"/>
          </a:bodyPr>
          <a:lstStyle/>
          <a:p>
            <a:r>
              <a:t>Community Development</a:t>
            </a:r>
          </a:p>
          <a:p>
            <a:r>
              <a:t>• Empowers marginalized groups to increase independence in their lives.</a:t>
            </a:r>
          </a:p>
          <a:p>
            <a:r>
              <a:t>• Five Core Components: Advocacy, Organizing, Networking, Capacity Building, and Communication/Education.</a:t>
            </a:r>
          </a:p>
          <a:p>
            <a:r>
              <a:t>• Requires active community participation in decision-making, tailored to diverse local contexts.</a:t>
            </a:r>
          </a:p>
        </p:txBody>
      </p:sp>
    </p:spTree>
    <p:extLst>
      <p:ext uri="{BB962C8B-B14F-4D97-AF65-F5344CB8AC3E}">
        <p14:creationId xmlns:p14="http://schemas.microsoft.com/office/powerpoint/2010/main" val="2350898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25767"/>
            <a:ext cx="8596668" cy="686540"/>
          </a:xfrm>
        </p:spPr>
        <p:txBody>
          <a:bodyPr/>
          <a:lstStyle/>
          <a:p>
            <a:r>
              <a:rPr lang="en-GB" b="1" dirty="0"/>
              <a:t>LITERATURE REVIEW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014273"/>
            <a:ext cx="9736173" cy="5511217"/>
          </a:xfrm>
        </p:spPr>
        <p:txBody>
          <a:bodyPr>
            <a:normAutofit lnSpcReduction="10000"/>
          </a:bodyPr>
          <a:lstStyle/>
          <a:p>
            <a:r>
              <a:t>Stakeholder Theory</a:t>
            </a:r>
          </a:p>
          <a:p>
            <a:r>
              <a:t>• Stakeholders include internal (employees), connected (customers, suppliers), and external (government) groups.</a:t>
            </a:r>
          </a:p>
          <a:p>
            <a:r>
              <a:t>• They have a vested interest in and are influenced by organizational activities.</a:t>
            </a:r>
          </a:p>
          <a:p>
            <a:r>
              <a:t>• Treating stakeholders well yields reciprocal benefits, such as loyalty, investment, tax incentives, and shared valuable information.</a:t>
            </a:r>
          </a:p>
        </p:txBody>
      </p:sp>
    </p:spTree>
    <p:extLst>
      <p:ext uri="{BB962C8B-B14F-4D97-AF65-F5344CB8AC3E}">
        <p14:creationId xmlns:p14="http://schemas.microsoft.com/office/powerpoint/2010/main" val="28280228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86540"/>
          </a:xfrm>
        </p:spPr>
        <p:txBody>
          <a:bodyPr/>
          <a:lstStyle/>
          <a:p>
            <a:r>
              <a:rPr lang="en-GB" b="1" dirty="0"/>
              <a:t>LITERATURE REVIEW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216241"/>
            <a:ext cx="9736173" cy="4829452"/>
          </a:xfrm>
        </p:spPr>
        <p:txBody>
          <a:bodyPr/>
          <a:lstStyle/>
          <a:p>
            <a:r>
              <a:t>Accounting Systems and Procedures</a:t>
            </a:r>
          </a:p>
          <a:p>
            <a:r>
              <a:t>• The Accounting Control System (SPA) safeguards assets, ensures data reliability, and drives policy compliance.</a:t>
            </a:r>
          </a:p>
          <a:p>
            <a:r>
              <a:t>• Coordinated organizational structures and methods are essential to produce reliable financial reports.</a:t>
            </a:r>
          </a:p>
          <a:p>
            <a:r>
              <a:t>• These systems help minimize fraud, achieve organizational goals, and build investor/creditor confidence.</a:t>
            </a:r>
          </a:p>
        </p:txBody>
      </p:sp>
    </p:spTree>
    <p:extLst>
      <p:ext uri="{BB962C8B-B14F-4D97-AF65-F5344CB8AC3E}">
        <p14:creationId xmlns:p14="http://schemas.microsoft.com/office/powerpoint/2010/main" val="2997371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15518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RESEARCH METHODS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352" y="1225118"/>
            <a:ext cx="9712171" cy="4843173"/>
          </a:xfrm>
        </p:spPr>
        <p:txBody>
          <a:bodyPr>
            <a:noAutofit/>
          </a:bodyPr>
          <a:lstStyle/>
          <a:p>
            <a:r>
              <a:t>• Method: Descriptive analysis to provide an accurate overview of the collected data.</a:t>
            </a:r>
          </a:p>
          <a:p>
            <a:r>
              <a:t>• Approach: Content analysis to systematically classify and code qualitative data into themes.</a:t>
            </a:r>
          </a:p>
          <a:p>
            <a:r>
              <a:t>• Validation: Data accuracy and credibility are ensured through respondent validation (member checking) and source triangulation.</a:t>
            </a:r>
          </a:p>
        </p:txBody>
      </p:sp>
    </p:spTree>
    <p:extLst>
      <p:ext uri="{BB962C8B-B14F-4D97-AF65-F5344CB8AC3E}">
        <p14:creationId xmlns:p14="http://schemas.microsoft.com/office/powerpoint/2010/main" val="3279620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698" y="123211"/>
            <a:ext cx="8596668" cy="668784"/>
          </a:xfrm>
        </p:spPr>
        <p:txBody>
          <a:bodyPr>
            <a:normAutofit/>
          </a:bodyPr>
          <a:lstStyle/>
          <a:p>
            <a:r>
              <a:rPr lang="en-GB" sz="3200" b="1" dirty="0"/>
              <a:t>FINDINGS AND DISCUSSION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9698" y="694610"/>
            <a:ext cx="9818702" cy="4178066"/>
          </a:xfrm>
        </p:spPr>
        <p:txBody>
          <a:bodyPr>
            <a:noAutofit/>
          </a:bodyPr>
          <a:lstStyle/>
          <a:p>
            <a:r>
              <a:t>BUMDes "SDM" Findings:</a:t>
            </a:r>
          </a:p>
          <a:p>
            <a:r>
              <a:t>• In 2021, BUMDes managers collaborated with UPN "Veteran" Yogyakarta to create a strategic HR master plan.</a:t>
            </a:r>
          </a:p>
          <a:p>
            <a:r>
              <a:t>• This master plan provides a clear vision, mission, and direction to build organizational competitiveness.</a:t>
            </a:r>
          </a:p>
          <a:p>
            <a:r>
              <a:t>• Analysis revealed that local communities frequently struggle with securing working capital for business development.</a:t>
            </a:r>
          </a:p>
        </p:txBody>
      </p:sp>
    </p:spTree>
    <p:extLst>
      <p:ext uri="{BB962C8B-B14F-4D97-AF65-F5344CB8AC3E}">
        <p14:creationId xmlns:p14="http://schemas.microsoft.com/office/powerpoint/2010/main" val="18506798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698" y="123211"/>
            <a:ext cx="8596668" cy="668784"/>
          </a:xfrm>
        </p:spPr>
        <p:txBody>
          <a:bodyPr>
            <a:normAutofit/>
          </a:bodyPr>
          <a:lstStyle/>
          <a:p>
            <a:r>
              <a:rPr lang="en-GB" sz="3200" b="1" dirty="0"/>
              <a:t>FINDINGS AND DISCUSSION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9698" y="694610"/>
            <a:ext cx="9818702" cy="4178066"/>
          </a:xfrm>
        </p:spPr>
        <p:txBody>
          <a:bodyPr>
            <a:noAutofit/>
          </a:bodyPr>
          <a:lstStyle/>
          <a:p>
            <a:r>
              <a:t>BUMDes "SDM" Strategy &amp; Implementation:</a:t>
            </a:r>
          </a:p>
          <a:p>
            <a:r>
              <a:t>• To combat predatory lending, BUMDes launched a Financial Services unit to provide savings and loans.</a:t>
            </a:r>
          </a:p>
          <a:p>
            <a:r>
              <a:t>• Implementing the master plan requires Good Corporate Governance (GCG) to foster positive stakeholder relationships.</a:t>
            </a:r>
          </a:p>
          <a:p>
            <a:r>
              <a:t>• Effective GCG relies on strong infrastructure, including standardized accounting procedures (SOPs) and an integrated information system.</a:t>
            </a:r>
          </a:p>
        </p:txBody>
      </p:sp>
    </p:spTree>
    <p:extLst>
      <p:ext uri="{BB962C8B-B14F-4D97-AF65-F5344CB8AC3E}">
        <p14:creationId xmlns:p14="http://schemas.microsoft.com/office/powerpoint/2010/main" val="19096728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7352" y="290945"/>
            <a:ext cx="8596668" cy="615518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CONCLUSION AND IMPLICATION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352" y="1225118"/>
            <a:ext cx="9712171" cy="4843173"/>
          </a:xfrm>
        </p:spPr>
        <p:txBody>
          <a:bodyPr>
            <a:noAutofit/>
          </a:bodyPr>
          <a:lstStyle/>
          <a:p>
            <a:r>
              <a:t>Conclusion &amp; Implications:</a:t>
            </a:r>
          </a:p>
          <a:p>
            <a:r>
              <a:t>• BUMDes "SDM" currently lacks the standard accounting procedures, SOPs, and integrated systems needed for Good Corporate Governance.</a:t>
            </a:r>
          </a:p>
          <a:p>
            <a:r>
              <a:t>• The organization must develop and implement these systems to ensure transparency and accountability tailored to its characteristics.</a:t>
            </a:r>
          </a:p>
          <a:p>
            <a:r>
              <a:t>• These findings were confirmed via rigorous validation measures, including member checking and source triangulation.</a:t>
            </a:r>
          </a:p>
        </p:txBody>
      </p:sp>
    </p:spTree>
    <p:extLst>
      <p:ext uri="{BB962C8B-B14F-4D97-AF65-F5344CB8AC3E}">
        <p14:creationId xmlns:p14="http://schemas.microsoft.com/office/powerpoint/2010/main" val="14429431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C7D1C79-5700-4041-AFBF-07B22620DE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3" y="-252486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9395" y="2376060"/>
            <a:ext cx="8845332" cy="1378522"/>
          </a:xfrm>
        </p:spPr>
        <p:txBody>
          <a:bodyPr>
            <a:normAutofit/>
          </a:bodyPr>
          <a:lstStyle/>
          <a:p>
            <a:pPr algn="ctr"/>
            <a:r>
              <a:rPr lang="en-ID" sz="8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</a:t>
            </a:r>
            <a:endParaRPr lang="en-US" sz="8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7506745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154</TotalTime>
  <Words>1690</Words>
  <Application>Microsoft Office PowerPoint</Application>
  <PresentationFormat>Widescreen</PresentationFormat>
  <Paragraphs>54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Trebuchet MS</vt:lpstr>
      <vt:lpstr>Wingdings</vt:lpstr>
      <vt:lpstr>Wingdings 3</vt:lpstr>
      <vt:lpstr>Facet</vt:lpstr>
      <vt:lpstr>Development of Village Owned Enterprise Governance in Order  to Improve Community Welfare</vt:lpstr>
      <vt:lpstr>INTRODUCTION</vt:lpstr>
      <vt:lpstr>INTRODUCTION</vt:lpstr>
      <vt:lpstr>LITERATURE REVIEW</vt:lpstr>
      <vt:lpstr>LITERATURE REVIEW</vt:lpstr>
      <vt:lpstr>LITERATURE REVIEW</vt:lpstr>
      <vt:lpstr>LITERATURE REVIEW</vt:lpstr>
      <vt:lpstr>LITERATURE REVIEW</vt:lpstr>
      <vt:lpstr>RESEARCH METHODS</vt:lpstr>
      <vt:lpstr>FINDINGS AND DISCUSSION</vt:lpstr>
      <vt:lpstr>FINDINGS AND DISCUSSION</vt:lpstr>
      <vt:lpstr>CONCLUSION AND IMPLICATION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Development of Village Owned Enterprise Governance in Order  to Improve Community Welfare</dc:title>
  <dc:creator>Adi Soepra</dc:creator>
  <cp:lastModifiedBy>Adi Soepra</cp:lastModifiedBy>
  <cp:revision>12</cp:revision>
  <dcterms:created xsi:type="dcterms:W3CDTF">2022-10-25T02:52:55Z</dcterms:created>
  <dcterms:modified xsi:type="dcterms:W3CDTF">2022-10-25T05:26:57Z</dcterms:modified>
</cp:coreProperties>
</file>
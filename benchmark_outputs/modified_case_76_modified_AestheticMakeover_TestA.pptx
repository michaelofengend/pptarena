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invertIfNegative val="0"/>
          <c:cat>
            <c:strRef>
              <c:f>Sheet1!$A$2:$A$7</c:f>
              <c:strCache>
                <c:ptCount val="6"/>
                <c:pt idx="0">
                  <c:v>North America</c:v>
                </c:pt>
                <c:pt idx="1">
                  <c:v>Europe</c:v>
                </c:pt>
                <c:pt idx="2">
                  <c:v>Asia</c:v>
                </c:pt>
                <c:pt idx="3">
                  <c:v>Latin America</c:v>
                </c:pt>
                <c:pt idx="4">
                  <c:v>Africa</c:v>
                </c:pt>
                <c:pt idx="5">
                  <c:v>Oceania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10</c:v>
                </c:pt>
                <c:pt idx="4">
                  <c:v>5</c:v>
                </c:pt>
                <c:pt idx="5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236F-7B49-8B6E-BBE0CD0870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4856704"/>
        <c:axId val="14858240"/>
      </c:barChart>
      <c:catAx>
        <c:axId val="14856704"/>
        <c:scaling>
          <c:orientation val="minMax"/>
        </c:scaling>
        <c:delete val="0"/>
        <c:axPos val="b"/>
        <c:majorTickMark val="out"/>
        <c:minorTickMark val="none"/>
        <c:tickLblPos val="nextTo"/>
        <c:crossAx val="14858240"/>
        <c:crosses val="autoZero"/>
        <c:auto val="1"/>
        <c:lblAlgn val="ctr"/>
        <c:lblOffset val="100"/>
        <c:noMultiLvlLbl val="0"/>
      </c:catAx>
      <c:valAx>
        <c:axId val="148582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4856704"/>
        <c:crosses val="autoZero"/>
        <c:crossBetween val="between"/>
      </c:valAx>
    </c:plotArea>
    <c:legend>
      <c:legendPos val="b"/>
      <c:overlay val="0"/>
    </c:legend>
    <c:plotVisOnly val="1"/>
    <c:dispBlanksAs val="gap"/>
    <c:showDLblsOverMax val="1"/>
  </c:chart>
  <c:txPr>
    <a:bodyPr/>
    <a:lstStyle/>
    <a:p>
      <a:pPr>
        <a:defRPr sz="12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00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400" b="1">
                <a:solidFill>
                  <a:schemeClr val="tx1"/>
                </a:solidFill>
              </a:rPr>
              <a:t>Quarterly</a:t>
            </a:r>
          </a:p>
          <a:p>
            <a:pPr algn="ctr"/>
            <a:r>
              <a:rPr sz="4400">
                <a:solidFill>
                  <a:schemeClr val="accent1"/>
                </a:solidFill>
              </a:rPr>
              <a:t>Business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0000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chemeClr val="tx2"/>
                </a:solidFill>
              </a:rPr>
              <a:t>FY2025 Q1-Q4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r>
              <a:t>Revenue increased 15% across tech sectors.</a:t>
            </a:r>
          </a:p>
          <a:p>
            <a:pPr lvl="0"/>
            <a:r>
              <a:t>Profit margins improved via efficient cost-cutting.</a:t>
            </a:r>
          </a:p>
          <a:p>
            <a:pPr lvl="0"/>
            <a:r>
              <a:t>Investments yielded above-market benchmark returns.</a:t>
            </a:r>
          </a:p>
          <a:p>
            <a:pPr lvl="0"/>
            <a:r>
              <a:t>Acquired 20,000 new clients due to better marketing.</a:t>
            </a:r>
          </a:p>
          <a:p>
            <a:pPr lvl="0"/>
            <a:r>
              <a:t>OpEx decreased from supply chain optimizations.</a:t>
            </a:r>
          </a:p>
          <a:p>
            <a:pPr lvl="0"/>
            <a:r>
              <a:t>R&amp;D expenditures increased for future innovation.</a:t>
            </a:r>
          </a:p>
          <a:p>
            <a:pPr lvl="0"/>
            <a:r>
              <a:t>Cash reserves remain highly robust for stability.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Data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572000" y="1800000"/>
          <a:ext cx="6000000" cy="400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chemeClr val="tx1"/>
                </a:solidFill>
              </a:defRPr>
            </a:pPr>
            <a:r>
              <a:t>Teams in Action</a:t>
            </a:r>
          </a:p>
        </p:txBody>
      </p:sp>
      <p:pic>
        <p:nvPicPr>
          <p:cNvPr id="3" name="Picture 2" descr="9ffb1008-0370-4882-8186-ee7b5754c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000" y="1400000"/>
            <a:ext cx="2600000" cy="1800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600000" y="3300000"/>
            <a:ext cx="2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chemeClr val="tx1"/>
                </a:solidFill>
              </a:defRPr>
            </a:pPr>
            <a:r>
              <a:t>Teamwork collaboration</a:t>
            </a:r>
          </a:p>
        </p:txBody>
      </p:sp>
      <p:pic>
        <p:nvPicPr>
          <p:cNvPr id="5" name="Picture 4" descr="a09b8dfc-46e4-4aa1-9c8f-4f84b5981e6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000" y="1400000"/>
            <a:ext cx="2600000" cy="1800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900000" y="3300000"/>
            <a:ext cx="2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chemeClr val="tx1"/>
                </a:solidFill>
              </a:defRPr>
            </a:pPr>
            <a:r>
              <a:t>Innovation breakthroughs</a:t>
            </a:r>
          </a:p>
        </p:txBody>
      </p:sp>
      <p:pic>
        <p:nvPicPr>
          <p:cNvPr id="7" name="Picture 6" descr="0e7af75b-8ec2-4ff7-9f13-21747329a0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000" y="4000000"/>
            <a:ext cx="2600000" cy="180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600000" y="5900000"/>
            <a:ext cx="2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chemeClr val="tx1"/>
                </a:solidFill>
              </a:defRPr>
            </a:pPr>
            <a:r>
              <a:t>Customer service excellence</a:t>
            </a:r>
          </a:p>
        </p:txBody>
      </p:sp>
      <p:pic>
        <p:nvPicPr>
          <p:cNvPr id="9" name="Picture 8" descr="1aa8a0c8-e207-44d5-9f7e-d34e90069d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0000" y="4000000"/>
            <a:ext cx="2600000" cy="1800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900000" y="5900000"/>
            <a:ext cx="26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chemeClr val="tx1"/>
                </a:solidFill>
              </a:defRPr>
            </a:pPr>
            <a:r>
              <a:t>Research advancement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8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chemeClr val="tx1"/>
                </a:solidFill>
              </a:defRPr>
            </a:pPr>
            <a:r>
              <a:t>Future Plans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00000"/>
            <a:ext cx="8229600" cy="450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/>
          <a:lstStyle/>
          <a:p>
            <a:pPr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0000" y="1600000"/>
            <a:ext cx="74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chemeClr val="tx1"/>
                </a:solidFill>
              </a:defRPr>
            </a:pPr>
            <a:r>
              <a:t>• Expand into new markets and regions with targeted strategies to capture emerging customer segments.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400000"/>
            <a:ext cx="74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chemeClr val="tx1"/>
                </a:solidFill>
              </a:defRPr>
            </a:pPr>
            <a:r>
              <a:t>• Invest heavily in R&amp;D to drive innovation in product development and maintain competitive advantage.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200000"/>
            <a:ext cx="74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chemeClr val="tx1"/>
                </a:solidFill>
              </a:defRPr>
            </a:pPr>
            <a:r>
              <a:t>• Strengthen online presence through social media and digital marketing campaigns.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4000000"/>
            <a:ext cx="74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chemeClr val="tx1"/>
                </a:solidFill>
              </a:defRPr>
            </a:pPr>
            <a:r>
              <a:t>• Adopt sustainable practices to reduce environmental impact and appeal to eco-conscious consumers.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800000"/>
            <a:ext cx="7400000" cy="6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chemeClr val="tx1"/>
                </a:solidFill>
              </a:defRPr>
            </a:pPr>
            <a:r>
              <a:t>• Enhance customer service offerings through AI-powered chatbots and personalized support.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252</Words>
  <Application>Microsoft Macintosh PowerPoint</Application>
  <PresentationFormat>On-screen Show (4:3)</PresentationFormat>
  <Paragraphs>23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Comic Sans MS</vt:lpstr>
      <vt:lpstr>Times New Roman</vt:lpstr>
      <vt:lpstr>Office Theme</vt:lpstr>
      <vt:lpstr>PowerPoint Presentation</vt:lpstr>
      <vt:lpstr>Financial Performance</vt:lpstr>
      <vt:lpstr>Sales Data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2</cp:revision>
  <dcterms:created xsi:type="dcterms:W3CDTF">2013-01-27T09:14:16Z</dcterms:created>
  <dcterms:modified xsi:type="dcterms:W3CDTF">2025-09-27T23:47:17Z</dcterms:modified>
  <cp:category/>
</cp:coreProperties>
</file>
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>
      <p:cViewPr>
        <p:scale>
          <a:sx n="102" d="100"/>
          <a:sy n="102" d="100"/>
        </p:scale>
        <p:origin x="2440" y="7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kff.org\washington\shared\KCMU\Kendal%20O\Race%20&amp;%20Ethnicity%20Projects\Infographics\data_for_race_infographics_v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dPt>
            <c:idx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40BBFF2-F82A-6746-B013-00B1F8359CA4}" type="CATEGORYNAME">
                      <a:rPr lang="en-US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
</a:t>
                    </a:r>
                    <a:fld id="{5A70644D-8C85-4F4C-B920-8C1712EE2021}" type="VALUE">
                      <a:rPr lang="en-US" baseline="0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009A72A-9EA9-244E-B93A-9E6E7E9007A6}" type="CATEGORYNAME">
                      <a:rPr lang="en-US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
</a:t>
                    </a:r>
                    <a:fld id="{248A7096-EEE1-DF49-80D6-2D76D981D770}" type="VALUE">
                      <a:rPr lang="en-US" baseline="0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6A0A49D-2252-8B44-8075-14ED2978E064}" type="CATEGORYNAME">
                      <a:rPr lang="en-US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>
                        <a:solidFill>
                          <a:schemeClr val="tx1"/>
                        </a:solidFill>
                      </a:rPr>
                      <a:t>
</a:t>
                    </a:r>
                    <a:fld id="{646913B3-1E91-644A-AF6B-994FA80F1CA5}" type="VALUE">
                      <a:rPr lang="en-US" baseline="0">
                        <a:solidFill>
                          <a:schemeClr val="tx1"/>
                        </a:solidFill>
                      </a:rPr>
                      <a:pPr>
                        <a:defRPr sz="1600" b="1"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US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59177888022679E-2"/>
          <c:y val="3.4223134839151265E-2"/>
          <c:w val="0.96881644223954644"/>
          <c:h val="0.88138831850330823"/>
        </c:manualLayout>
      </c:layout>
      <c:lineChart>
        <c:grouping val="standard"/>
        <c:varyColors val="0"/>
        <c:ser>
          <c:idx val="0"/>
          <c:order val="0"/>
          <c:tx>
            <c:strRef>
              <c:f>'ASIAN NHOPI'!$B$42</c:f>
              <c:strCache>
                <c:ptCount val="1"/>
                <c:pt idx="0">
                  <c:v>Asian</c:v>
                </c:pt>
              </c:strCache>
            </c:strRef>
          </c:tx>
          <c:spPr>
            <a:ln w="28575" cap="rnd">
              <a:solidFill>
                <a:srgbClr val="0077C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7C8"/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449E5D83-AB5F-4AF3-BDDF-50DD209D2D9B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1281-4FB8-A4CB-D2CB21CB74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48A3526-496A-493B-BE08-9F06E984ECE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281-4FB8-A4CB-D2CB21CB74E4}"/>
                </c:ext>
              </c:extLst>
            </c:dLbl>
            <c:dLbl>
              <c:idx val="2"/>
              <c:layout>
                <c:manualLayout>
                  <c:x val="6.2898374414750245E-3"/>
                  <c:y val="-3.3367556468172486E-2"/>
                </c:manualLayout>
              </c:layout>
              <c:tx>
                <c:rich>
                  <a:bodyPr/>
                  <a:lstStyle/>
                  <a:p>
                    <a:fld id="{B31D5676-AAA9-4F83-8720-6A76ECDFC2EE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*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281-4FB8-A4CB-D2CB21CB74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NHOPI'!$B$43:$B$47</c:f>
              <c:numCache>
                <c:formatCode>0%</c:formatCode>
                <c:ptCount val="5"/>
                <c:pt idx="0">
                  <c:v>0.157221594534947</c:v>
                </c:pt>
                <c:pt idx="1">
                  <c:v>0.112243007525009</c:v>
                </c:pt>
                <c:pt idx="2">
                  <c:v>8.4024241214783704E-2</c:v>
                </c:pt>
                <c:pt idx="3">
                  <c:v>7.1201946436851293E-2</c:v>
                </c:pt>
                <c:pt idx="4">
                  <c:v>7.0952839550011804E-2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ser>
          <c:idx val="1"/>
          <c:order val="1"/>
          <c:tx>
            <c:strRef>
              <c:f>'ASIAN NHOPI'!$C$42</c:f>
              <c:strCache>
                <c:ptCount val="1"/>
                <c:pt idx="0">
                  <c:v>NHOPI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3A3628DD-E1C5-4B3B-AF93-BE9F652E545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281-4FB8-A4CB-D2CB21CB74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44ABD6-6BF5-49A1-81BE-44D5F3D7A67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281-4FB8-A4CB-D2CB21CB74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D0FFE5F-DC61-4213-8BE6-02FA40570E8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1281-4FB8-A4CB-D2CB21CB74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BA1BD71-481A-4CC8-8EA7-B3472431941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281-4FB8-A4CB-D2CB21CB74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B3E6A61-9407-4E76-9A98-9F57249E385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1281-4FB8-A4CB-D2CB21CB74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NHOPI'!$C$43:$C$47</c:f>
              <c:numCache>
                <c:formatCode>0%</c:formatCode>
                <c:ptCount val="5"/>
                <c:pt idx="0">
                  <c:v>0.18091499677105299</c:v>
                </c:pt>
                <c:pt idx="1">
                  <c:v>0.13940775708259701</c:v>
                </c:pt>
                <c:pt idx="2">
                  <c:v>9.9442413931706206E-2</c:v>
                </c:pt>
                <c:pt idx="3">
                  <c:v>0.10828935047246099</c:v>
                </c:pt>
                <c:pt idx="4">
                  <c:v>0.105918045670681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81-4FB8-A4CB-D2CB21CB74E4}"/>
            </c:ext>
          </c:extLst>
        </c:ser>
        <c:ser>
          <c:idx val="2"/>
          <c:order val="2"/>
          <c:tx>
            <c:strRef>
              <c:f>'ASIAN NHOPI'!$D$42</c:f>
              <c:strCache>
                <c:ptCount val="1"/>
                <c:pt idx="0">
                  <c:v>White</c:v>
                </c:pt>
              </c:strCache>
            </c:strRef>
          </c:tx>
          <c:spPr>
            <a:ln w="28575" cap="rnd">
              <a:solidFill>
                <a:srgbClr val="BFBFB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FBFBF"/>
              </a:solidFill>
              <a:ln w="9525">
                <a:solidFill>
                  <a:srgbClr val="BFBFB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'ASIAN NHOPI'!$A$43:$A$47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'ASIAN NHOPI'!$D$43:$D$47</c:f>
              <c:numCache>
                <c:formatCode>0%</c:formatCode>
                <c:ptCount val="5"/>
                <c:pt idx="0">
                  <c:v>0.123326890929782</c:v>
                </c:pt>
                <c:pt idx="1">
                  <c:v>9.8339516614507502E-2</c:v>
                </c:pt>
                <c:pt idx="2">
                  <c:v>7.7230771511186097E-2</c:v>
                </c:pt>
                <c:pt idx="3">
                  <c:v>7.0504850485991394E-2</c:v>
                </c:pt>
                <c:pt idx="4">
                  <c:v>7.32832732853574E-2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81-4FB8-A4CB-D2CB21CB7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0812191"/>
        <c:axId val="1360803455"/>
      </c:line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438787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712873"/>
              </p:ext>
            </p:extLst>
          </p:nvPr>
        </p:nvGraphicFramePr>
        <p:xfrm>
          <a:off x="92075" y="1490472"/>
          <a:ext cx="8213725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8001000" y="3276600"/>
            <a:ext cx="1097280" cy="1098822"/>
            <a:chOff x="8001000" y="3124443"/>
            <a:chExt cx="1097280" cy="1098822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8001000" y="3278331"/>
              <a:ext cx="182880" cy="0"/>
            </a:xfrm>
            <a:prstGeom prst="line">
              <a:avLst/>
            </a:prstGeom>
            <a:ln w="28575">
              <a:solidFill>
                <a:srgbClr val="0E3B5E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183880" y="312444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E3B5E"/>
                  </a:solidFill>
                  <a:cs typeface="Arial" panose="020B0604020202020204" pitchFamily="34" charset="0"/>
                </a:rPr>
                <a:t>NHOPI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8001514" y="3637017"/>
              <a:ext cx="182880" cy="0"/>
            </a:xfrm>
            <a:prstGeom prst="line">
              <a:avLst/>
            </a:prstGeom>
            <a:ln w="28575">
              <a:solidFill>
                <a:srgbClr val="0077C8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8183880" y="3483129"/>
              <a:ext cx="7450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7C8"/>
                  </a:solidFill>
                  <a:cs typeface="Arial" panose="020B0604020202020204" pitchFamily="34" charset="0"/>
                </a:rPr>
                <a:t>Asian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001000" y="4038600"/>
              <a:ext cx="182880" cy="0"/>
            </a:xfrm>
            <a:prstGeom prst="line">
              <a:avLst/>
            </a:prstGeom>
            <a:ln w="28575">
              <a:solidFill>
                <a:srgbClr val="BFBFBF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183880" y="3884711"/>
              <a:ext cx="838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36363"/>
                  </a:solidFill>
                  <a:cs typeface="Arial" panose="020B0604020202020204" pitchFamily="34" charset="0"/>
                </a:rPr>
                <a:t>White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679</Words>
  <Application>Microsoft Macintosh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2025-08-14T16:12:23Z</dcterms:modified>
</cp:coreProperties>
</file>
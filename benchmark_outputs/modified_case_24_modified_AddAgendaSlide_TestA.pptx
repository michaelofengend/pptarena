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308" r:id="rId17"/>
    <p:sldId id="259" r:id="rId3"/>
    <p:sldId id="260" r:id="rId4"/>
    <p:sldId id="263" r:id="rId5"/>
    <p:sldId id="304" r:id="rId6"/>
    <p:sldId id="306" r:id="rId7"/>
    <p:sldId id="305" r:id="rId8"/>
    <p:sldId id="290" r:id="rId9"/>
    <p:sldId id="307"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B036"/>
    <a:srgbClr val="092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31D9-9E23-4F56-B961-8F3D22DFC74B}" type="datetimeFigureOut">
              <a:rPr lang="en-US" smtClean="0"/>
              <a:t>8/12/25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17A73-FF93-4CDF-9E25-4307163CC2DF}" type="slidenum">
              <a:rPr lang="en-US" smtClean="0"/>
              <a:t>‹#›</a:t>
            </a:fld>
            <a:endParaRPr lang="en-US"/>
          </a:p>
        </p:txBody>
      </p:sp>
    </p:spTree>
    <p:extLst>
      <p:ext uri="{BB962C8B-B14F-4D97-AF65-F5344CB8AC3E}">
        <p14:creationId xmlns:p14="http://schemas.microsoft.com/office/powerpoint/2010/main" val="356533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21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317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866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32871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159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666067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09919E-138A-4423-AA6D-5D0E1C693F5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27967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09919E-138A-4423-AA6D-5D0E1C693F5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9198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09919E-138A-4423-AA6D-5D0E1C693F5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256840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70945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18624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87844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5700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7596285" y="3514025"/>
            <a:ext cx="1185600" cy="395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25" name="Google Shape;25;p3"/>
          <p:cNvGrpSpPr/>
          <p:nvPr/>
        </p:nvGrpSpPr>
        <p:grpSpPr>
          <a:xfrm>
            <a:off x="0" y="-9451"/>
            <a:ext cx="11548531" cy="6867451"/>
            <a:chOff x="0" y="-7088"/>
            <a:chExt cx="8661398" cy="5150588"/>
          </a:xfrm>
        </p:grpSpPr>
        <p:sp>
          <p:nvSpPr>
            <p:cNvPr id="26" name="Google Shape;26;p3"/>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28" name="Google Shape;28;p3"/>
          <p:cNvGrpSpPr/>
          <p:nvPr/>
        </p:nvGrpSpPr>
        <p:grpSpPr>
          <a:xfrm rot="10800000" flipH="1">
            <a:off x="-2" y="3899768"/>
            <a:ext cx="8785449" cy="2703024"/>
            <a:chOff x="-9894852" y="-4493254"/>
            <a:chExt cx="21200407" cy="6522740"/>
          </a:xfrm>
        </p:grpSpPr>
        <p:sp>
          <p:nvSpPr>
            <p:cNvPr id="29" name="Google Shape;29;p3"/>
            <p:cNvSpPr/>
            <p:nvPr/>
          </p:nvSpPr>
          <p:spPr>
            <a:xfrm>
              <a:off x="-9894852" y="-4493114"/>
              <a:ext cx="146853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31" name="Google Shape;31;p3"/>
          <p:cNvGrpSpPr/>
          <p:nvPr/>
        </p:nvGrpSpPr>
        <p:grpSpPr>
          <a:xfrm>
            <a:off x="9262456" y="5963632"/>
            <a:ext cx="2937107"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9" name="Google Shape;39;p3"/>
          <p:cNvSpPr txBox="1">
            <a:spLocks noGrp="1"/>
          </p:cNvSpPr>
          <p:nvPr>
            <p:ph type="ctrTitle"/>
          </p:nvPr>
        </p:nvSpPr>
        <p:spPr>
          <a:xfrm>
            <a:off x="618033" y="3828197"/>
            <a:ext cx="54592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40" name="Google Shape;40;p3"/>
          <p:cNvSpPr txBox="1">
            <a:spLocks noGrp="1"/>
          </p:cNvSpPr>
          <p:nvPr>
            <p:ph type="subTitle" idx="1"/>
          </p:nvPr>
        </p:nvSpPr>
        <p:spPr>
          <a:xfrm>
            <a:off x="618033" y="5300599"/>
            <a:ext cx="5459200"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rgbClr val="FF9800"/>
                </a:solidFill>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endParaRPr/>
          </a:p>
        </p:txBody>
      </p:sp>
      <p:sp>
        <p:nvSpPr>
          <p:cNvPr id="41" name="Google Shape;41;p3"/>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709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09919E-138A-4423-AA6D-5D0E1C693F51}" type="datetimeFigureOut">
              <a:rPr lang="en-US" smtClean="0"/>
              <a:t>8/12/25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7BC25-E3E5-47DB-A230-2C3777224408}" type="slidenum">
              <a:rPr lang="en-US" smtClean="0"/>
              <a:t>‹#›</a:t>
            </a:fld>
            <a:endParaRPr lang="en-US"/>
          </a:p>
        </p:txBody>
      </p:sp>
    </p:spTree>
    <p:extLst>
      <p:ext uri="{BB962C8B-B14F-4D97-AF65-F5344CB8AC3E}">
        <p14:creationId xmlns:p14="http://schemas.microsoft.com/office/powerpoint/2010/main" val="343245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hyperlink" Target="mailto:%7bdewi.asmorowati@upnyk.ac.id"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3E1AD2A5-5749-496F-91C3-53B9406F6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711"/>
          <a:stretch/>
        </p:blipFill>
        <p:spPr>
          <a:xfrm>
            <a:off x="-13854" y="1"/>
            <a:ext cx="12219706" cy="6674644"/>
          </a:xfrm>
          <a:prstGeom prst="rect">
            <a:avLst/>
          </a:prstGeom>
        </p:spPr>
      </p:pic>
      <p:pic>
        <p:nvPicPr>
          <p:cNvPr id="15" name="Picture 14">
            <a:extLst>
              <a:ext uri="{FF2B5EF4-FFF2-40B4-BE49-F238E27FC236}">
                <a16:creationId xmlns:a16="http://schemas.microsoft.com/office/drawing/2014/main" id="{FFCDD71D-4E3A-4D1B-82BE-07A5D66FB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82650"/>
            <a:ext cx="12192000" cy="584775"/>
          </a:xfrm>
          <a:prstGeom prst="rect">
            <a:avLst/>
          </a:prstGeom>
        </p:spPr>
      </p:pic>
      <p:pic>
        <p:nvPicPr>
          <p:cNvPr id="24" name="Picture 23">
            <a:extLst>
              <a:ext uri="{FF2B5EF4-FFF2-40B4-BE49-F238E27FC236}">
                <a16:creationId xmlns:a16="http://schemas.microsoft.com/office/drawing/2014/main" id="{0124D4A1-50AF-441C-9468-88CF218CB1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08" y="72586"/>
            <a:ext cx="936748" cy="912552"/>
          </a:xfrm>
          <a:prstGeom prst="rect">
            <a:avLst/>
          </a:prstGeom>
        </p:spPr>
      </p:pic>
      <p:pic>
        <p:nvPicPr>
          <p:cNvPr id="23" name="Picture 22" descr="D:\Pictures\logo tm.jpeg">
            <a:extLst>
              <a:ext uri="{FF2B5EF4-FFF2-40B4-BE49-F238E27FC236}">
                <a16:creationId xmlns:a16="http://schemas.microsoft.com/office/drawing/2014/main" id="{E66DC733-5765-4631-B340-C06DC75C89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7341" y="72586"/>
            <a:ext cx="1095528" cy="109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DA085728-6993-4C02-A451-58368FC045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flipH="1">
            <a:off x="9393199" y="4059197"/>
            <a:ext cx="2900583" cy="2697018"/>
          </a:xfrm>
          <a:prstGeom prst="rect">
            <a:avLst/>
          </a:prstGeom>
        </p:spPr>
      </p:pic>
      <p:sp>
        <p:nvSpPr>
          <p:cNvPr id="2" name="Rectangle 1">
            <a:extLst>
              <a:ext uri="{FF2B5EF4-FFF2-40B4-BE49-F238E27FC236}">
                <a16:creationId xmlns:a16="http://schemas.microsoft.com/office/drawing/2014/main" id="{DD43C851-0ABD-482E-9130-7E244E47685A}"/>
              </a:ext>
            </a:extLst>
          </p:cNvPr>
          <p:cNvSpPr/>
          <p:nvPr/>
        </p:nvSpPr>
        <p:spPr>
          <a:xfrm>
            <a:off x="1334496" y="376386"/>
            <a:ext cx="9444405" cy="1200329"/>
          </a:xfrm>
          <a:prstGeom prst="rect">
            <a:avLst/>
          </a:prstGeom>
        </p:spPr>
        <p:txBody>
          <a:bodyPr wrap="square">
            <a:spAutoFit/>
          </a:bodyPr>
          <a:lstStyle/>
          <a:p>
            <a:pPr algn="ctr"/>
            <a:r>
              <a:rPr lang="en-US" sz="2400" b="1" dirty="0">
                <a:solidFill>
                  <a:schemeClr val="bg1"/>
                </a:solidFill>
                <a:latin typeface="Times New Roman" panose="02020603050405020304" pitchFamily="18" charset="0"/>
                <a:ea typeface="Calibri" panose="020F0502020204030204" pitchFamily="34" charset="0"/>
              </a:rPr>
              <a:t>EFFECT OF BORON CROSSLINKER AND VARIOUS BREAKERS ON THE FORMATION OF GUAR GUM FRACTURING FLUID RESIDUE</a:t>
            </a:r>
            <a:endParaRPr lang="en-ID" sz="2400" dirty="0">
              <a:solidFill>
                <a:schemeClr val="bg1"/>
              </a:solidFill>
            </a:endParaRPr>
          </a:p>
        </p:txBody>
      </p:sp>
      <p:sp>
        <p:nvSpPr>
          <p:cNvPr id="4" name="Rectangle 3">
            <a:extLst>
              <a:ext uri="{FF2B5EF4-FFF2-40B4-BE49-F238E27FC236}">
                <a16:creationId xmlns:a16="http://schemas.microsoft.com/office/drawing/2014/main" id="{41F5D0E2-2F5A-4482-9835-7AEED3357C84}"/>
              </a:ext>
            </a:extLst>
          </p:cNvPr>
          <p:cNvSpPr/>
          <p:nvPr/>
        </p:nvSpPr>
        <p:spPr>
          <a:xfrm>
            <a:off x="119217" y="4761399"/>
            <a:ext cx="11953561" cy="1563185"/>
          </a:xfrm>
          <a:prstGeom prst="rect">
            <a:avLst/>
          </a:prstGeom>
        </p:spPr>
        <p:txBody>
          <a:bodyPr wrap="square">
            <a:spAutoFit/>
          </a:bodyPr>
          <a:lstStyle/>
          <a:p>
            <a:pPr algn="ctr">
              <a:lnSpc>
                <a:spcPct val="115000"/>
              </a:lnSpc>
              <a:spcAft>
                <a:spcPts val="0"/>
              </a:spcAft>
            </a:pP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Dewi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Asmorowati</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Dedi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Kristanto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Mia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Ferian</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Helmy</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Susanti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Rina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Sukma</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Bayu</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Yusanto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Wahyu Endranaka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{dewi.asmorowati@upnyk.ac.id</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Petroleum Engineering Department, UPN Veteran Yogyakarta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PT. Bukit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Apit</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Bumi</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Persada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Correspondence author: dewi.asmorowati@upnyk.ac.id</a:t>
            </a:r>
            <a:endParaRPr lang="en-ID"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7A7B49B-3FF1-45C7-ADEF-D93219410419}"/>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2238" y="1744946"/>
            <a:ext cx="3607523" cy="2706039"/>
          </a:xfrm>
          <a:prstGeom prst="rect">
            <a:avLst/>
          </a:prstGeom>
          <a:noFill/>
          <a:ln>
            <a:noFill/>
          </a:ln>
        </p:spPr>
      </p:pic>
    </p:spTree>
    <p:extLst>
      <p:ext uri="{BB962C8B-B14F-4D97-AF65-F5344CB8AC3E}">
        <p14:creationId xmlns:p14="http://schemas.microsoft.com/office/powerpoint/2010/main" val="93555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INTRODUCTION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3</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None/>
            </a:pPr>
            <a:r>
              <a:rPr lang="en-US" sz="2400" dirty="0"/>
              <a:t>Some additive can cause any residue after it’s added to base fracturing fluid and can plug the pore throat and decreasing permeability in invaded zone. This research was conducted using compatibility test between Guar Gum based fracturing fluid and boron as crosslinker and three type of breaker. The types of breaker used include oxidizer, acid, and encapsulated breaker. </a:t>
            </a:r>
            <a:endParaRPr lang="id-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INTRODUCTION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4</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8" y="4734617"/>
            <a:ext cx="6836631"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Result and Discussion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5</a:t>
            </a:fld>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7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403417" y="1211960"/>
            <a:ext cx="11729295" cy="4799582"/>
          </a:xfrm>
        </p:spPr>
        <p:txBody>
          <a:bodyPr>
            <a:normAutofit/>
          </a:bodyPr>
          <a:lstStyle/>
          <a:p>
            <a:pPr marL="0" indent="0">
              <a:buNone/>
            </a:pPr>
            <a:r>
              <a:rPr lang="en-US" sz="2400" dirty="0"/>
              <a:t>This research is done in PT. </a:t>
            </a:r>
            <a:r>
              <a:rPr lang="en-US" sz="2400" dirty="0" err="1"/>
              <a:t>Bukitapit</a:t>
            </a:r>
            <a:r>
              <a:rPr lang="en-US" sz="2400" dirty="0"/>
              <a:t> </a:t>
            </a:r>
            <a:r>
              <a:rPr lang="en-US" sz="2400" dirty="0" err="1"/>
              <a:t>Bumi</a:t>
            </a:r>
            <a:r>
              <a:rPr lang="en-US" sz="2400" dirty="0"/>
              <a:t> </a:t>
            </a:r>
            <a:r>
              <a:rPr lang="en-US" sz="2400" dirty="0" err="1"/>
              <a:t>Persana</a:t>
            </a:r>
            <a:r>
              <a:rPr lang="en-US" sz="2400" dirty="0"/>
              <a:t> laboratory. The test procedures of residue concentration are:</a:t>
            </a:r>
            <a:endParaRPr lang="en-US" sz="1800" dirty="0"/>
          </a:p>
          <a:p>
            <a:pPr marL="514350" lvl="0" indent="-514350">
              <a:buFont typeface="+mj-lt"/>
              <a:buAutoNum type="arabicPeriod"/>
            </a:pPr>
            <a:endParaRPr lang="en-US" sz="2000" dirty="0"/>
          </a:p>
          <a:p>
            <a:pPr marL="514350" lvl="0" indent="-514350">
              <a:buFont typeface="+mj-lt"/>
              <a:buAutoNum type="arabicPeriod"/>
            </a:pPr>
            <a:r>
              <a:rPr lang="en-US" sz="2000" dirty="0"/>
              <a:t>Weight sample based on formulation</a:t>
            </a:r>
            <a:endParaRPr lang="en-ID" sz="2000" dirty="0"/>
          </a:p>
          <a:p>
            <a:pPr marL="514350" lvl="0" indent="-514350">
              <a:buFont typeface="+mj-lt"/>
              <a:buAutoNum type="arabicPeriod"/>
            </a:pPr>
            <a:r>
              <a:rPr lang="en-US" sz="2000" dirty="0"/>
              <a:t>Mixing additive in mixing blender until done</a:t>
            </a:r>
            <a:endParaRPr lang="en-ID" sz="2000" dirty="0"/>
          </a:p>
          <a:p>
            <a:pPr marL="514350" lvl="0" indent="-514350">
              <a:buFont typeface="+mj-lt"/>
              <a:buAutoNum type="arabicPeriod"/>
            </a:pPr>
            <a:r>
              <a:rPr lang="en-US" sz="2000" dirty="0"/>
              <a:t>Check viscosity of base gel based on specification</a:t>
            </a:r>
            <a:endParaRPr lang="en-ID" sz="2000" dirty="0"/>
          </a:p>
          <a:p>
            <a:pPr marL="514350" lvl="0" indent="-514350">
              <a:buFont typeface="+mj-lt"/>
              <a:buAutoNum type="arabicPeriod"/>
            </a:pPr>
            <a:r>
              <a:rPr lang="en-US" sz="2000" dirty="0"/>
              <a:t>Added base gel with buffer, crosslink and breaker with on-fly condition in mixing blender</a:t>
            </a:r>
            <a:endParaRPr lang="en-ID" sz="2000" dirty="0"/>
          </a:p>
          <a:p>
            <a:pPr marL="514350" lvl="0" indent="-514350">
              <a:buFont typeface="+mj-lt"/>
              <a:buAutoNum type="arabicPeriod"/>
            </a:pPr>
            <a:r>
              <a:rPr lang="en-US" sz="2000" dirty="0"/>
              <a:t>Put gel fracturing into water bath until break, see figure 1.</a:t>
            </a:r>
            <a:endParaRPr lang="en-ID" sz="2000" dirty="0"/>
          </a:p>
          <a:p>
            <a:pPr marL="514350" lvl="0" indent="-514350">
              <a:buFont typeface="+mj-lt"/>
              <a:buAutoNum type="arabicPeriod"/>
            </a:pPr>
            <a:r>
              <a:rPr lang="en-US" sz="2000" dirty="0"/>
              <a:t>After break, filter the precipitate with HTHP Filter Press</a:t>
            </a:r>
            <a:endParaRPr lang="en-ID" sz="2000" dirty="0"/>
          </a:p>
          <a:p>
            <a:pPr marL="514350" lvl="0" indent="-514350">
              <a:buFont typeface="+mj-lt"/>
              <a:buAutoNum type="arabicPeriod"/>
            </a:pPr>
            <a:r>
              <a:rPr lang="en-US" sz="2000" dirty="0"/>
              <a:t>Weight of the wet residue (Figure 2), dried in oven with temperature 105 </a:t>
            </a:r>
            <a:r>
              <a:rPr lang="en-US" sz="2000" baseline="30000" dirty="0"/>
              <a:t>0</a:t>
            </a:r>
            <a:r>
              <a:rPr lang="en-US" sz="2000" dirty="0"/>
              <a:t>C</a:t>
            </a:r>
            <a:endParaRPr lang="en-ID" sz="2000" dirty="0"/>
          </a:p>
          <a:p>
            <a:pPr marL="514350" lvl="0" indent="-514350">
              <a:buFont typeface="+mj-lt"/>
              <a:buAutoNum type="arabicPeriod"/>
            </a:pPr>
            <a:r>
              <a:rPr lang="en-US" sz="2000" dirty="0"/>
              <a:t>Weight of the dried residue in analytical balance</a:t>
            </a:r>
            <a:endParaRPr lang="en-ID" sz="20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mc:AlternateContent xmlns:mc="http://schemas.openxmlformats.org/markup-compatibility/2006" xmlns:a14="http://schemas.microsoft.com/office/drawing/2010/main">
        <mc:Choice Requires="a14">
          <p:sp>
            <p:nvSpPr>
              <p:cNvPr id="10" name="Text Box 6">
                <a:extLst>
                  <a:ext uri="{FF2B5EF4-FFF2-40B4-BE49-F238E27FC236}">
                    <a16:creationId xmlns:a16="http://schemas.microsoft.com/office/drawing/2014/main" id="{639CF43D-07CF-488A-A0A8-C4B8D5980DCA}"/>
                  </a:ext>
                </a:extLst>
              </p:cNvPr>
              <p:cNvSpPr txBox="1"/>
              <p:nvPr/>
            </p:nvSpPr>
            <p:spPr>
              <a:xfrm>
                <a:off x="3545559" y="5991318"/>
                <a:ext cx="5445010" cy="491673"/>
              </a:xfrm>
              <a:prstGeom prst="rect">
                <a:avLst/>
              </a:prstGeom>
              <a:noFill/>
              <a:ln>
                <a:solidFill>
                  <a:schemeClr val="tx1"/>
                </a:solid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ctr">
                  <a:spcAft>
                    <a:spcPts val="0"/>
                  </a:spcAft>
                </a:pPr>
                <a:r>
                  <a:rPr lang="en-US" sz="2000" dirty="0">
                    <a:solidFill>
                      <a:srgbClr val="000000"/>
                    </a:solidFill>
                    <a:effectLst/>
                    <a:latin typeface="Times New Roman" panose="02020603050405020304" pitchFamily="18" charset="0"/>
                    <a:ea typeface="Cambria Math" panose="02040503050406030204" pitchFamily="18" charset="0"/>
                  </a:rPr>
                  <a:t>% Residue </a:t>
                </a:r>
                <a:r>
                  <a:rPr lang="en-US" sz="20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ID" sz="2000" i="1">
                            <a:solidFill>
                              <a:srgbClr val="000000"/>
                            </a:solidFill>
                            <a:effectLst/>
                            <a:latin typeface="Cambria Math" panose="02040503050406030204" pitchFamily="18" charset="0"/>
                            <a:ea typeface="Times New Roman" panose="02020603050405020304" pitchFamily="18" charset="0"/>
                          </a:rPr>
                        </m:ctrlPr>
                      </m:fPr>
                      <m:num>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Dry</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Residue</m:t>
                        </m:r>
                      </m:num>
                      <m:den>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fracturing</m:t>
                        </m:r>
                        <m:r>
                          <a:rPr lang="en-US" sz="2000">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fluid</m:t>
                        </m:r>
                      </m:den>
                    </m:f>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x</m:t>
                    </m:r>
                    <m:r>
                      <a:rPr lang="en-US" sz="2000" i="1">
                        <a:solidFill>
                          <a:srgbClr val="000000"/>
                        </a:solidFill>
                        <a:effectLst/>
                        <a:latin typeface="Cambria Math" panose="02040503050406030204" pitchFamily="18" charset="0"/>
                        <a:ea typeface="Times New Roman" panose="02020603050405020304" pitchFamily="18" charset="0"/>
                      </a:rPr>
                      <m:t> </m:t>
                    </m:r>
                    <m:r>
                      <a:rPr lang="en-US" sz="2000">
                        <a:solidFill>
                          <a:srgbClr val="000000"/>
                        </a:solidFill>
                        <a:effectLst/>
                        <a:latin typeface="Cambria Math" panose="02040503050406030204" pitchFamily="18" charset="0"/>
                        <a:ea typeface="Times New Roman" panose="02020603050405020304" pitchFamily="18" charset="0"/>
                      </a:rPr>
                      <m:t>100%</m:t>
                    </m:r>
                  </m:oMath>
                </a14:m>
                <a:endParaRPr lang="en-ID" sz="3200" dirty="0">
                  <a:effectLst/>
                  <a:latin typeface="Times New Roman" panose="02020603050405020304" pitchFamily="18" charset="0"/>
                  <a:ea typeface="Times New Roman" panose="02020603050405020304" pitchFamily="18" charset="0"/>
                </a:endParaRPr>
              </a:p>
            </p:txBody>
          </p:sp>
        </mc:Choice>
        <mc:Fallback xmlns="">
          <p:sp>
            <p:nvSpPr>
              <p:cNvPr id="10" name="Text Box 6">
                <a:extLst>
                  <a:ext uri="{FF2B5EF4-FFF2-40B4-BE49-F238E27FC236}">
                    <a16:creationId xmlns:a16="http://schemas.microsoft.com/office/drawing/2014/main" id="{639CF43D-07CF-488A-A0A8-C4B8D5980DCA}"/>
                  </a:ext>
                </a:extLst>
              </p:cNvPr>
              <p:cNvSpPr txBox="1">
                <a:spLocks noRot="1" noChangeAspect="1" noMove="1" noResize="1" noEditPoints="1" noAdjustHandles="1" noChangeArrowheads="1" noChangeShapeType="1" noTextEdit="1"/>
              </p:cNvSpPr>
              <p:nvPr/>
            </p:nvSpPr>
            <p:spPr>
              <a:xfrm>
                <a:off x="3545559" y="5991318"/>
                <a:ext cx="5445010" cy="491673"/>
              </a:xfrm>
              <a:prstGeom prst="rect">
                <a:avLst/>
              </a:prstGeom>
              <a:blipFill>
                <a:blip r:embed="rId6"/>
                <a:stretch>
                  <a:fillRect b="-7317"/>
                </a:stretch>
              </a:blipFill>
              <a:ln>
                <a:solidFill>
                  <a:schemeClr val="tx1"/>
                </a:solidFill>
              </a:ln>
            </p:spPr>
            <p:txBody>
              <a:bodyPr/>
              <a:lstStyle/>
              <a:p>
                <a:r>
                  <a:rPr lang="en-ID">
                    <a:noFill/>
                  </a:rPr>
                  <a:t> </a:t>
                </a:r>
              </a:p>
            </p:txBody>
          </p:sp>
        </mc:Fallback>
      </mc:AlternateContent>
    </p:spTree>
    <p:extLst>
      <p:ext uri="{BB962C8B-B14F-4D97-AF65-F5344CB8AC3E}">
        <p14:creationId xmlns:p14="http://schemas.microsoft.com/office/powerpoint/2010/main" val="19458173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p:graphicFrame>
        <p:nvGraphicFramePr>
          <p:cNvPr id="2" name="Table 1">
            <a:extLst>
              <a:ext uri="{FF2B5EF4-FFF2-40B4-BE49-F238E27FC236}">
                <a16:creationId xmlns:a16="http://schemas.microsoft.com/office/drawing/2014/main" id="{5AF5ED8D-ECE2-4A26-A6E1-4605C2B4DEE8}"/>
              </a:ext>
            </a:extLst>
          </p:cNvPr>
          <p:cNvGraphicFramePr>
            <a:graphicFrameLocks noGrp="1"/>
          </p:cNvGraphicFramePr>
          <p:nvPr>
            <p:extLst>
              <p:ext uri="{D42A27DB-BD31-4B8C-83A1-F6EECF244321}">
                <p14:modId xmlns:p14="http://schemas.microsoft.com/office/powerpoint/2010/main" val="1341238625"/>
              </p:ext>
            </p:extLst>
          </p:nvPr>
        </p:nvGraphicFramePr>
        <p:xfrm>
          <a:off x="1503672" y="1311552"/>
          <a:ext cx="9179168" cy="1352743"/>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167640">
                <a:tc rowSpan="2">
                  <a:txBody>
                    <a:bodyPr/>
                    <a:lstStyle/>
                    <a:p>
                      <a:pPr algn="ctr">
                        <a:lnSpc>
                          <a:spcPct val="115000"/>
                        </a:lnSpc>
                        <a:spcAft>
                          <a:spcPts val="0"/>
                        </a:spcAft>
                      </a:pPr>
                      <a:r>
                        <a:rPr lang="en-US" sz="1400" dirty="0">
                          <a:effectLst/>
                        </a:rPr>
                        <a:t>Boron Crosslinker</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rPr>
                        <a:t>Oxidizer Breaker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rPr>
                        <a:t>% Dry Residue</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19050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rPr>
                        <a:t>Wet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Dry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199390">
                <a:tc>
                  <a:txBody>
                    <a:bodyPr/>
                    <a:lstStyle/>
                    <a:p>
                      <a:pPr algn="ctr">
                        <a:lnSpc>
                          <a:spcPct val="115000"/>
                        </a:lnSpc>
                        <a:spcAft>
                          <a:spcPts val="0"/>
                        </a:spcAft>
                      </a:pPr>
                      <a:r>
                        <a:rPr lang="en-US" sz="1400" dirty="0">
                          <a:effectLst/>
                        </a:rPr>
                        <a:t>0.2%</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0.40%</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12.65</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0.59</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12.29 %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170815">
                <a:tc>
                  <a:txBody>
                    <a:bodyPr/>
                    <a:lstStyle/>
                    <a:p>
                      <a:pPr algn="ctr">
                        <a:lnSpc>
                          <a:spcPct val="115000"/>
                        </a:lnSpc>
                        <a:spcAft>
                          <a:spcPts val="0"/>
                        </a:spcAft>
                      </a:pPr>
                      <a:r>
                        <a:rPr lang="en-US" sz="1400" dirty="0">
                          <a:effectLst/>
                        </a:rPr>
                        <a:t>0.4%</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14.68</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31.67 %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165100">
                <a:tc>
                  <a:txBody>
                    <a:bodyPr/>
                    <a:lstStyle/>
                    <a:p>
                      <a:pPr algn="ctr">
                        <a:lnSpc>
                          <a:spcPct val="115000"/>
                        </a:lnSpc>
                        <a:spcAft>
                          <a:spcPts val="0"/>
                        </a:spcAft>
                      </a:pPr>
                      <a:r>
                        <a:rPr lang="en-US" sz="1400" dirty="0">
                          <a:effectLst/>
                        </a:rPr>
                        <a:t>0.6%</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2.69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56.04 %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159385">
                <a:tc gridSpan="4">
                  <a:txBody>
                    <a:bodyPr/>
                    <a:lstStyle/>
                    <a:p>
                      <a:pPr algn="ctr">
                        <a:lnSpc>
                          <a:spcPct val="115000"/>
                        </a:lnSpc>
                        <a:spcAft>
                          <a:spcPts val="0"/>
                        </a:spcAft>
                      </a:pPr>
                      <a:r>
                        <a:rPr lang="en-US" sz="1400" dirty="0">
                          <a:effectLst/>
                        </a:rPr>
                        <a:t>Average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rPr>
                        <a:t>33.33 %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3" name="Rectangle 1">
            <a:extLst>
              <a:ext uri="{FF2B5EF4-FFF2-40B4-BE49-F238E27FC236}">
                <a16:creationId xmlns:a16="http://schemas.microsoft.com/office/drawing/2014/main" id="{3766A2F8-B23A-4990-A777-6F10781545DD}"/>
              </a:ext>
            </a:extLst>
          </p:cNvPr>
          <p:cNvSpPr>
            <a:spLocks noChangeArrowheads="1"/>
          </p:cNvSpPr>
          <p:nvPr/>
        </p:nvSpPr>
        <p:spPr bwMode="auto">
          <a:xfrm>
            <a:off x="3818871" y="954230"/>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a:t>
            </a:r>
            <a:r>
              <a:rPr kumimoji="0" lang="en-US"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Experiment Results with Oxidizer Breaker</a:t>
            </a:r>
            <a:endParaRPr kumimoji="0" lang="en-US" altLang="en-US" sz="1200" b="0" i="0" u="none" strike="noStrike" cap="none" normalizeH="0" baseline="0" dirty="0">
              <a:ln>
                <a:noFill/>
              </a:ln>
              <a:solidFill>
                <a:schemeClr val="tx1"/>
              </a:solidFill>
              <a:effectLst/>
            </a:endParaRPr>
          </a:p>
        </p:txBody>
      </p:sp>
      <p:graphicFrame>
        <p:nvGraphicFramePr>
          <p:cNvPr id="20" name="Table 19">
            <a:extLst>
              <a:ext uri="{FF2B5EF4-FFF2-40B4-BE49-F238E27FC236}">
                <a16:creationId xmlns:a16="http://schemas.microsoft.com/office/drawing/2014/main" id="{B17606EA-2BB1-407A-947F-2A52E6A3D6AA}"/>
              </a:ext>
            </a:extLst>
          </p:cNvPr>
          <p:cNvGraphicFramePr>
            <a:graphicFrameLocks noGrp="1"/>
          </p:cNvGraphicFramePr>
          <p:nvPr>
            <p:extLst>
              <p:ext uri="{D42A27DB-BD31-4B8C-83A1-F6EECF244321}">
                <p14:modId xmlns:p14="http://schemas.microsoft.com/office/powerpoint/2010/main" val="634860672"/>
              </p:ext>
            </p:extLst>
          </p:nvPr>
        </p:nvGraphicFramePr>
        <p:xfrm>
          <a:off x="1506416" y="3119464"/>
          <a:ext cx="9179168" cy="1489437"/>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51011">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latin typeface="+mn-lt"/>
                        </a:rPr>
                        <a:t>Weight of Sample (g)</a:t>
                      </a:r>
                      <a:endParaRPr lang="en-ID" sz="16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92794">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5278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9.34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1.26</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26.25 %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6556">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14.94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2.59</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53.96 %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9310">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14.60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2.65</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55.21 %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8103">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45.14 %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graphicFrame>
        <p:nvGraphicFramePr>
          <p:cNvPr id="21" name="Table 20">
            <a:extLst>
              <a:ext uri="{FF2B5EF4-FFF2-40B4-BE49-F238E27FC236}">
                <a16:creationId xmlns:a16="http://schemas.microsoft.com/office/drawing/2014/main" id="{A5461DD0-D22D-4F42-BE8C-3CB3E76E53B1}"/>
              </a:ext>
            </a:extLst>
          </p:cNvPr>
          <p:cNvGraphicFramePr>
            <a:graphicFrameLocks noGrp="1"/>
          </p:cNvGraphicFramePr>
          <p:nvPr>
            <p:extLst>
              <p:ext uri="{D42A27DB-BD31-4B8C-83A1-F6EECF244321}">
                <p14:modId xmlns:p14="http://schemas.microsoft.com/office/powerpoint/2010/main" val="1578683868"/>
              </p:ext>
            </p:extLst>
          </p:nvPr>
        </p:nvGraphicFramePr>
        <p:xfrm>
          <a:off x="1506416" y="5096869"/>
          <a:ext cx="9179168" cy="1472261"/>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45599">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8648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4733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15.10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1.68</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35.00 %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1886">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14.03</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1.67</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34.79 %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4797">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0.20%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13.42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29.17 %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3616">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32.99 %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22" name="Rectangle 1">
            <a:extLst>
              <a:ext uri="{FF2B5EF4-FFF2-40B4-BE49-F238E27FC236}">
                <a16:creationId xmlns:a16="http://schemas.microsoft.com/office/drawing/2014/main" id="{CE90EEA3-E397-402A-A76F-7FC2C25BDC49}"/>
              </a:ext>
            </a:extLst>
          </p:cNvPr>
          <p:cNvSpPr>
            <a:spLocks noChangeArrowheads="1"/>
          </p:cNvSpPr>
          <p:nvPr/>
        </p:nvSpPr>
        <p:spPr bwMode="auto">
          <a:xfrm>
            <a:off x="3908519" y="2777245"/>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Table 2.</a:t>
            </a:r>
            <a:r>
              <a:rPr lang="en-US" sz="1400" dirty="0">
                <a:latin typeface="Times New Roman" panose="02020603050405020304" pitchFamily="18" charset="0"/>
                <a:cs typeface="Times New Roman" panose="02020603050405020304" pitchFamily="18" charset="0"/>
              </a:rPr>
              <a:t> Experiment Results with Acid Breaker</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2F610074-8373-4116-9FC4-C7B3BEE2AE36}"/>
              </a:ext>
            </a:extLst>
          </p:cNvPr>
          <p:cNvSpPr>
            <a:spLocks noChangeArrowheads="1"/>
          </p:cNvSpPr>
          <p:nvPr/>
        </p:nvSpPr>
        <p:spPr bwMode="auto">
          <a:xfrm>
            <a:off x="3908519" y="4773668"/>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b="1" dirty="0">
                <a:latin typeface="Times New Roman" panose="02020603050405020304" pitchFamily="18" charset="0"/>
                <a:cs typeface="Times New Roman" panose="02020603050405020304" pitchFamily="18" charset="0"/>
              </a:rPr>
              <a:t>Table 3.</a:t>
            </a:r>
            <a:r>
              <a:rPr lang="en-US" sz="1400" dirty="0">
                <a:latin typeface="Times New Roman" panose="02020603050405020304" pitchFamily="18" charset="0"/>
                <a:cs typeface="Times New Roman" panose="02020603050405020304" pitchFamily="18" charset="0"/>
              </a:rPr>
              <a:t> Experiment Results with Encapsulated Breaker</a:t>
            </a:r>
            <a:endParaRPr lang="en-ID"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253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7</a:t>
            </a:fld>
            <a:endParaRPr sz="1600" dirty="0">
              <a:solidFill>
                <a:schemeClr val="tx1"/>
              </a:solidFill>
            </a:endParaRPr>
          </a:p>
        </p:txBody>
      </p:sp>
      <p:pic>
        <p:nvPicPr>
          <p:cNvPr id="15" name="Picture 14">
            <a:extLst>
              <a:ext uri="{FF2B5EF4-FFF2-40B4-BE49-F238E27FC236}">
                <a16:creationId xmlns:a16="http://schemas.microsoft.com/office/drawing/2014/main" id="{8A4DD058-64AE-4CD9-BA1B-86E84B98E936}"/>
              </a:ext>
            </a:extLst>
          </p:cNvPr>
          <p:cNvPicPr/>
          <p:nvPr/>
        </p:nvPicPr>
        <p:blipFill rotWithShape="1">
          <a:blip r:embed="rId6" cstate="print">
            <a:extLst>
              <a:ext uri="{28A0092B-C50C-407E-A947-70E740481C1C}">
                <a14:useLocalDpi xmlns:a14="http://schemas.microsoft.com/office/drawing/2010/main" val="0"/>
              </a:ext>
            </a:extLst>
          </a:blip>
          <a:srcRect t="16333" b="8000"/>
          <a:stretch/>
        </p:blipFill>
        <p:spPr bwMode="auto">
          <a:xfrm>
            <a:off x="7496565" y="1717454"/>
            <a:ext cx="3126306" cy="3153401"/>
          </a:xfrm>
          <a:prstGeom prst="rect">
            <a:avLst/>
          </a:prstGeom>
          <a:noFill/>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C1B1575-38DD-43D7-8E86-55E3ADFF8D3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3871" y="1717454"/>
            <a:ext cx="4203918" cy="3153401"/>
          </a:xfrm>
          <a:prstGeom prst="rect">
            <a:avLst/>
          </a:prstGeom>
          <a:noFill/>
          <a:ln>
            <a:noFill/>
          </a:ln>
        </p:spPr>
      </p:pic>
      <p:sp>
        <p:nvSpPr>
          <p:cNvPr id="17" name="Rectangle 16">
            <a:extLst>
              <a:ext uri="{FF2B5EF4-FFF2-40B4-BE49-F238E27FC236}">
                <a16:creationId xmlns:a16="http://schemas.microsoft.com/office/drawing/2014/main" id="{CCA86BCB-6A29-445A-807D-F9469C1BFC9F}"/>
              </a:ext>
            </a:extLst>
          </p:cNvPr>
          <p:cNvSpPr/>
          <p:nvPr/>
        </p:nvSpPr>
        <p:spPr>
          <a:xfrm>
            <a:off x="822870" y="5122378"/>
            <a:ext cx="4525919" cy="338554"/>
          </a:xfrm>
          <a:prstGeom prst="rect">
            <a:avLst/>
          </a:prstGeom>
        </p:spPr>
        <p:txBody>
          <a:bodyPr wrap="none">
            <a:spAutoFit/>
          </a:bodyPr>
          <a:lstStyle/>
          <a:p>
            <a:r>
              <a:rPr lang="en-US" sz="1600" b="1" dirty="0">
                <a:ea typeface="Calibri" panose="020F0502020204030204" pitchFamily="34" charset="0"/>
              </a:rPr>
              <a:t>Fig. 1.</a:t>
            </a:r>
            <a:r>
              <a:rPr lang="en-US" sz="1600" dirty="0">
                <a:ea typeface="Calibri" panose="020F0502020204030204" pitchFamily="34" charset="0"/>
              </a:rPr>
              <a:t> Aged fracturing fluid in water bath until break</a:t>
            </a:r>
            <a:endParaRPr lang="en-ID" sz="1600" dirty="0"/>
          </a:p>
        </p:txBody>
      </p:sp>
      <p:sp>
        <p:nvSpPr>
          <p:cNvPr id="19" name="Rectangle 18">
            <a:extLst>
              <a:ext uri="{FF2B5EF4-FFF2-40B4-BE49-F238E27FC236}">
                <a16:creationId xmlns:a16="http://schemas.microsoft.com/office/drawing/2014/main" id="{29E9B729-7B31-4D41-A3C7-C0FC0ECC179F}"/>
              </a:ext>
            </a:extLst>
          </p:cNvPr>
          <p:cNvSpPr/>
          <p:nvPr/>
        </p:nvSpPr>
        <p:spPr>
          <a:xfrm>
            <a:off x="6790786" y="5122378"/>
            <a:ext cx="4809544" cy="646331"/>
          </a:xfrm>
          <a:prstGeom prst="rect">
            <a:avLst/>
          </a:prstGeom>
        </p:spPr>
        <p:txBody>
          <a:bodyPr wrap="square">
            <a:spAutoFit/>
          </a:bodyPr>
          <a:lstStyle/>
          <a:p>
            <a:pPr algn="ctr"/>
            <a:r>
              <a:rPr lang="en-US" sz="1600" b="1" dirty="0">
                <a:ea typeface="Calibri" panose="020F0502020204030204" pitchFamily="34" charset="0"/>
              </a:rPr>
              <a:t>Fig. </a:t>
            </a:r>
            <a:r>
              <a:rPr lang="en-US" b="1" dirty="0"/>
              <a:t>2.</a:t>
            </a:r>
            <a:r>
              <a:rPr lang="en-US" dirty="0"/>
              <a:t> Wet Residue of 40 system Guar Gum with 0.2% crosslinker and 0.4% oxidizer breaker</a:t>
            </a:r>
            <a:endParaRPr lang="en-ID" sz="1600" dirty="0"/>
          </a:p>
        </p:txBody>
      </p:sp>
    </p:spTree>
    <p:extLst>
      <p:ext uri="{BB962C8B-B14F-4D97-AF65-F5344CB8AC3E}">
        <p14:creationId xmlns:p14="http://schemas.microsoft.com/office/powerpoint/2010/main" val="10164077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9" y="4734617"/>
            <a:ext cx="5459200"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CONCLUSION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8</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07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1132804" y="1647973"/>
            <a:ext cx="9920904" cy="4799582"/>
          </a:xfrm>
        </p:spPr>
        <p:txBody>
          <a:bodyPr>
            <a:normAutofit/>
          </a:bodyPr>
          <a:lstStyle/>
          <a:p>
            <a:pPr marL="514350" lvl="0" indent="-514350">
              <a:buFont typeface="+mj-lt"/>
              <a:buAutoNum type="alphaLcPeriod"/>
            </a:pPr>
            <a:r>
              <a:rPr lang="en-US" sz="2400" dirty="0"/>
              <a:t>The experiment shows 40 systems Guar Gum fracturing fluid is compatible with 0.2% crosslink boron and 0.4% oxidizer breaker. </a:t>
            </a:r>
          </a:p>
          <a:p>
            <a:pPr marL="514350" lvl="0" indent="-514350">
              <a:buFont typeface="+mj-lt"/>
              <a:buAutoNum type="alphaLcPeriod"/>
            </a:pPr>
            <a:endParaRPr lang="en-ID" sz="2400" dirty="0"/>
          </a:p>
          <a:p>
            <a:pPr marL="514350" lvl="0" indent="-514350">
              <a:buFont typeface="+mj-lt"/>
              <a:buAutoNum type="alphaLcPeriod"/>
            </a:pPr>
            <a:r>
              <a:rPr lang="en-US" sz="2400" dirty="0"/>
              <a:t>The increase in crosslink concentration indicates the amount of polymer content in the fracturing fluid is directly proportional to the amount of residue produced.</a:t>
            </a:r>
          </a:p>
          <a:p>
            <a:pPr marL="514350" lvl="0" indent="-514350">
              <a:buFont typeface="+mj-lt"/>
              <a:buAutoNum type="alphaLcPeriod"/>
            </a:pPr>
            <a:endParaRPr lang="en-ID" sz="2400" dirty="0"/>
          </a:p>
          <a:p>
            <a:pPr marL="514350" lvl="0" indent="-514350">
              <a:buFont typeface="+mj-lt"/>
              <a:buAutoNum type="alphaLcPeriod"/>
            </a:pPr>
            <a:r>
              <a:rPr lang="en-US" sz="2400" dirty="0"/>
              <a:t>Encapsulated breaker has stable performance due to increasing concentration of boron crosslinker.</a:t>
            </a:r>
            <a:endParaRPr lang="en-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CONCLUSION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9</a:t>
            </a:fld>
            <a:endParaRPr sz="1600" dirty="0">
              <a:solidFill>
                <a:schemeClr val="tx1"/>
              </a:solidFill>
            </a:endParaRPr>
          </a:p>
        </p:txBody>
      </p:sp>
    </p:spTree>
    <p:extLst>
      <p:ext uri="{BB962C8B-B14F-4D97-AF65-F5344CB8AC3E}">
        <p14:creationId xmlns:p14="http://schemas.microsoft.com/office/powerpoint/2010/main" val="52354399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77B993D-FE85-4D37-98AA-21C56F89DDC2}"/>
              </a:ext>
            </a:extLst>
          </p:cNvPr>
          <p:cNvSpPr/>
          <p:nvPr/>
        </p:nvSpPr>
        <p:spPr>
          <a:xfrm>
            <a:off x="1624170" y="2703756"/>
            <a:ext cx="8727213" cy="212249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4782571"/>
      </p:ext>
    </p:extLst>
  </p:cSld>
  <p:clrMapOvr>
    <a:masterClrMapping/>
  </p:clrMapOvr>
  <p:transition spd="slow">
    <p:push dir="u"/>
  </p:transition>
</p:sld>
</file>

<file path=ppt/slides/slide_agend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pPr lvl="0"/>
            <a:r>
              <a:rPr lang="en-US" dirty="0"/>
              <a:t>1. Introduction</a:t>
            </a:r>
          </a:p>
          <a:p>
            <a:pPr lvl="0"/>
            <a:r>
              <a:rPr lang="en-US" dirty="0"/>
              <a:t>2. Result and Discussion</a:t>
            </a:r>
          </a:p>
          <a:p>
            <a:pPr lvl="0"/>
            <a:r>
              <a:rPr lang="en-US" dirty="0"/>
              <a:t>3. Conclusion</a:t>
            </a:r>
          </a:p>
        </p:txBody>
      </p:sp>
      <p:sp>
        <p:nvSpPr>
          <p:cNvPr id="4" name="Slide Number Placeholder 3"/>
          <p:cNvSpPr>
            <a:spLocks noGrp="1"/>
          </p:cNvSpPr>
          <p:nvPr>
            <p:ph type="sldNum" sz="quarter" idx="12"/>
          </p:nvPr>
        </p:nvSpPr>
        <p:spPr/>
        <p:txBody>
          <a:bodyPr/>
          <a:lstStyle/>
          <a:p>
            <a:fld id="{00000000-1234-1234-1234-123412341234}" type="slidenum">
              <a:rPr lang="en-US" smtClean="0"/>
              <a:t>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550</Words>
  <Application>Microsoft Macintosh PowerPoint</Application>
  <PresentationFormat>Widescreen</PresentationFormat>
  <Paragraphs>124</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Arvo</vt:lpstr>
      <vt:lpstr>Calibri</vt:lpstr>
      <vt:lpstr>Calibri Light</vt:lpstr>
      <vt:lpstr>Cambria Math</vt:lpstr>
      <vt:lpstr>Roboto Condensed</vt:lpstr>
      <vt:lpstr>Times New Roman</vt:lpstr>
      <vt:lpstr>Office Theme</vt:lpstr>
      <vt:lpstr>PowerPoint Presentation</vt:lpstr>
      <vt:lpstr>INTRODUCTION</vt:lpstr>
      <vt:lpstr>PowerPoint Presentation</vt:lpstr>
      <vt:lpstr>Result and Discussion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Michael Ofengenden</cp:lastModifiedBy>
  <cp:revision>32</cp:revision>
  <dcterms:created xsi:type="dcterms:W3CDTF">2021-09-11T08:55:19Z</dcterms:created>
  <dcterms:modified xsi:type="dcterms:W3CDTF">2025-08-13T00:12:59Z</dcterms:modified>
</cp:coreProperties>
</file>
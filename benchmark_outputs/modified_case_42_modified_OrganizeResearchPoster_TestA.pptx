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256" r:id="rId5"/>
  </p:sldIdLst>
  <p:sldSz cx="43891200" cy="3291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368" userDrawn="1">
          <p15:clr>
            <a:srgbClr val="A4A3A4"/>
          </p15:clr>
        </p15:guide>
        <p15:guide id="2" pos="1382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038"/>
    <p:restoredTop sz="96327"/>
  </p:normalViewPr>
  <p:slideViewPr>
    <p:cSldViewPr snapToGrid="0" snapToObjects="1">
      <p:cViewPr varScale="1">
        <p:scale>
          <a:sx n="26" d="100"/>
          <a:sy n="26" d="100"/>
        </p:scale>
        <p:origin x="2152" y="328"/>
      </p:cViewPr>
      <p:guideLst>
        <p:guide orient="horz" pos="10368"/>
        <p:guide pos="1382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5" Type="http://schemas.openxmlformats.org/officeDocument/2006/relationships/slide" Target="slides/slide1.xml"/><Relationship Id="rId4" Type="http://schemas.openxmlformats.org/officeDocument/2006/relationships/slideMaster" Target="slideMasters/slideMaster1.xml"/><Relationship Id="rId9"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2400" b="1" dirty="0"/>
              <a:t>Chart A - Title</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3099-0D49-A97F-DA88044CDCE9}"/>
            </c:ext>
          </c:extLst>
        </c:ser>
        <c:ser>
          <c:idx val="1"/>
          <c:order val="1"/>
          <c:tx>
            <c:strRef>
              <c:f>Sheet1!$C$1</c:f>
              <c:strCache>
                <c:ptCount val="1"/>
                <c:pt idx="0">
                  <c:v>Series 2</c:v>
                </c:pt>
              </c:strCache>
            </c:strRef>
          </c:tx>
          <c:spPr>
            <a:solidFill>
              <a:schemeClr val="accent2"/>
            </a:solidFill>
            <a:ln>
              <a:noFill/>
            </a:ln>
            <a:effectLst/>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3099-0D49-A97F-DA88044CDCE9}"/>
            </c:ext>
          </c:extLst>
        </c:ser>
        <c:ser>
          <c:idx val="2"/>
          <c:order val="2"/>
          <c:tx>
            <c:strRef>
              <c:f>Sheet1!$D$1</c:f>
              <c:strCache>
                <c:ptCount val="1"/>
                <c:pt idx="0">
                  <c:v>Series 3</c:v>
                </c:pt>
              </c:strCache>
            </c:strRef>
          </c:tx>
          <c:spPr>
            <a:solidFill>
              <a:schemeClr val="accent3"/>
            </a:solidFill>
            <a:ln>
              <a:noFill/>
            </a:ln>
            <a:effectLst/>
          </c:spPr>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3099-0D49-A97F-DA88044CDCE9}"/>
            </c:ext>
          </c:extLst>
        </c:ser>
        <c:dLbls>
          <c:showLegendKey val="0"/>
          <c:showVal val="0"/>
          <c:showCatName val="0"/>
          <c:showSerName val="0"/>
          <c:showPercent val="0"/>
          <c:showBubbleSize val="0"/>
        </c:dLbls>
        <c:gapWidth val="219"/>
        <c:overlap val="-27"/>
        <c:axId val="544612575"/>
        <c:axId val="545201359"/>
      </c:barChart>
      <c:catAx>
        <c:axId val="54461257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crossAx val="545201359"/>
        <c:crosses val="autoZero"/>
        <c:auto val="1"/>
        <c:lblAlgn val="ctr"/>
        <c:lblOffset val="100"/>
        <c:noMultiLvlLbl val="0"/>
      </c:catAx>
      <c:valAx>
        <c:axId val="54520135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en-US"/>
          </a:p>
        </c:txPr>
        <c:crossAx val="54461257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400" b="1" i="0" u="none" strike="noStrike" kern="1200" spc="0" baseline="0">
                <a:solidFill>
                  <a:schemeClr val="tx1">
                    <a:lumMod val="65000"/>
                    <a:lumOff val="35000"/>
                  </a:schemeClr>
                </a:solidFill>
                <a:latin typeface="+mn-lt"/>
                <a:ea typeface="+mn-ea"/>
                <a:cs typeface="+mn-cs"/>
              </a:defRPr>
            </a:pPr>
            <a:r>
              <a:rPr lang="en-US" sz="2400" b="1"/>
              <a:t>Chart B - Title</a:t>
            </a:r>
          </a:p>
        </c:rich>
      </c:tx>
      <c:overlay val="0"/>
      <c:spPr>
        <a:noFill/>
        <a:ln>
          <a:noFill/>
        </a:ln>
        <a:effectLst/>
      </c:spPr>
      <c:txPr>
        <a:bodyPr rot="0" spcFirstLastPara="1" vertOverflow="ellipsis" vert="horz" wrap="square" anchor="ctr" anchorCtr="1"/>
        <a:lstStyle/>
        <a:p>
          <a:pPr>
            <a:defRPr sz="24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doughnut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7F2A-4758-B1BE-D3F716B432A8}"/>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7F2A-4758-B1BE-D3F716B432A8}"/>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7F2A-4758-B1BE-D3F716B432A8}"/>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7F2A-4758-B1BE-D3F716B432A8}"/>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1st Qtr</c:v>
                </c:pt>
                <c:pt idx="1">
                  <c:v>2nd Qtr</c:v>
                </c:pt>
                <c:pt idx="2">
                  <c:v>3rd Qtr</c:v>
                </c:pt>
                <c:pt idx="3">
                  <c:v>4th Qtr</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0-AA9C-1C4A-8FA5-4E949332964B}"/>
            </c:ext>
          </c:extLst>
        </c:ser>
        <c:dLbls>
          <c:showLegendKey val="0"/>
          <c:showVal val="0"/>
          <c:showCatName val="0"/>
          <c:showSerName val="0"/>
          <c:showPercent val="1"/>
          <c:showBubbleSize val="0"/>
          <c:showLeaderLines val="1"/>
        </c:dLbls>
        <c:firstSliceAng val="0"/>
        <c:holeSize val="75"/>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9582665"/>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CA17874-46BD-AC41-AB8E-61755D46643F}"/>
              </a:ext>
            </a:extLst>
          </p:cNvPr>
          <p:cNvCxnSpPr/>
          <p:nvPr userDrawn="1"/>
        </p:nvCxnSpPr>
        <p:spPr>
          <a:xfrm>
            <a:off x="11430000" y="6408280"/>
            <a:ext cx="0" cy="25105863"/>
          </a:xfrm>
          <a:prstGeom prst="line">
            <a:avLst/>
          </a:prstGeom>
          <a:ln w="6350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6089930-D18B-564C-8889-8DBE6DB996B1}"/>
              </a:ext>
            </a:extLst>
          </p:cNvPr>
          <p:cNvCxnSpPr/>
          <p:nvPr userDrawn="1"/>
        </p:nvCxnSpPr>
        <p:spPr>
          <a:xfrm>
            <a:off x="21945600" y="6408280"/>
            <a:ext cx="0" cy="25105863"/>
          </a:xfrm>
          <a:prstGeom prst="line">
            <a:avLst/>
          </a:prstGeom>
          <a:ln w="6350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5DB7503-F134-094A-9605-C620936544C7}"/>
              </a:ext>
            </a:extLst>
          </p:cNvPr>
          <p:cNvCxnSpPr/>
          <p:nvPr userDrawn="1"/>
        </p:nvCxnSpPr>
        <p:spPr>
          <a:xfrm>
            <a:off x="32395886" y="6408280"/>
            <a:ext cx="0" cy="25105863"/>
          </a:xfrm>
          <a:prstGeom prst="line">
            <a:avLst/>
          </a:prstGeom>
          <a:ln w="63500">
            <a:solidFill>
              <a:schemeClr val="bg2"/>
            </a:solidFill>
          </a:ln>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E9B30D0D-A9B9-FC4D-BBDD-CCDABAB276B1}"/>
              </a:ext>
            </a:extLst>
          </p:cNvPr>
          <p:cNvPicPr>
            <a:picLocks noChangeAspect="1"/>
          </p:cNvPicPr>
          <p:nvPr userDrawn="1"/>
        </p:nvPicPr>
        <p:blipFill>
          <a:blip r:embed="rId3"/>
          <a:stretch>
            <a:fillRect/>
          </a:stretch>
        </p:blipFill>
        <p:spPr>
          <a:xfrm>
            <a:off x="37131173" y="29395328"/>
            <a:ext cx="5257799" cy="2118815"/>
          </a:xfrm>
          <a:prstGeom prst="rect">
            <a:avLst/>
          </a:prstGeom>
        </p:spPr>
      </p:pic>
      <p:pic>
        <p:nvPicPr>
          <p:cNvPr id="14" name="Picture 13">
            <a:extLst>
              <a:ext uri="{FF2B5EF4-FFF2-40B4-BE49-F238E27FC236}">
                <a16:creationId xmlns:a16="http://schemas.microsoft.com/office/drawing/2014/main" id="{81D0E847-D97A-8F4B-8D5C-448A35006410}"/>
              </a:ext>
            </a:extLst>
          </p:cNvPr>
          <p:cNvPicPr>
            <a:picLocks noChangeAspect="1"/>
          </p:cNvPicPr>
          <p:nvPr userDrawn="1"/>
        </p:nvPicPr>
        <p:blipFill>
          <a:blip r:embed="rId4"/>
          <a:stretch>
            <a:fillRect/>
          </a:stretch>
        </p:blipFill>
        <p:spPr>
          <a:xfrm>
            <a:off x="0" y="0"/>
            <a:ext cx="43891200" cy="5257800"/>
          </a:xfrm>
          <a:prstGeom prst="rect">
            <a:avLst/>
          </a:prstGeom>
        </p:spPr>
      </p:pic>
      <p:cxnSp>
        <p:nvCxnSpPr>
          <p:cNvPr id="15" name="Straight Connector 14">
            <a:extLst>
              <a:ext uri="{FF2B5EF4-FFF2-40B4-BE49-F238E27FC236}">
                <a16:creationId xmlns:a16="http://schemas.microsoft.com/office/drawing/2014/main" id="{0D936DDC-1373-9246-9A23-BF5051448342}"/>
              </a:ext>
            </a:extLst>
          </p:cNvPr>
          <p:cNvCxnSpPr/>
          <p:nvPr userDrawn="1"/>
        </p:nvCxnSpPr>
        <p:spPr>
          <a:xfrm>
            <a:off x="33144960" y="28590503"/>
            <a:ext cx="9106125" cy="0"/>
          </a:xfrm>
          <a:prstGeom prst="line">
            <a:avLst/>
          </a:prstGeom>
          <a:ln w="6350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6111962"/>
      </p:ext>
    </p:extLst>
  </p:cSld>
  <p:clrMap bg1="lt1" tx1="dk1" bg2="lt2" tx2="dk2" accent1="accent1" accent2="accent2" accent3="accent3" accent4="accent4" accent5="accent5" accent6="accent6" hlink="hlink" folHlink="folHlink"/>
  <p:sldLayoutIdLst>
    <p:sldLayoutId id="2147483661" r:id="rId1"/>
  </p:sldLayoutIdLst>
  <p:txStyles>
    <p:titleStyle>
      <a:lvl1pPr algn="l" defTabSz="4389120" rtl="0" eaLnBrk="1" latinLnBrk="0" hangingPunct="1">
        <a:lnSpc>
          <a:spcPct val="90000"/>
        </a:lnSpc>
        <a:spcBef>
          <a:spcPct val="0"/>
        </a:spcBef>
        <a:buNone/>
        <a:defRPr sz="21120" kern="1200">
          <a:solidFill>
            <a:schemeClr val="tx1"/>
          </a:solidFill>
          <a:latin typeface="+mj-lt"/>
          <a:ea typeface="+mj-ea"/>
          <a:cs typeface="+mj-cs"/>
        </a:defRPr>
      </a:lvl1pPr>
    </p:titleStyle>
    <p:bodyStyle>
      <a:lvl1pPr marL="1097280" indent="-1097280" algn="l" defTabSz="4389120" rtl="0" eaLnBrk="1" latinLnBrk="0" hangingPunct="1">
        <a:lnSpc>
          <a:spcPct val="90000"/>
        </a:lnSpc>
        <a:spcBef>
          <a:spcPts val="4800"/>
        </a:spcBef>
        <a:buFont typeface="Arial" panose="020B0604020202020204" pitchFamily="34" charset="0"/>
        <a:buChar char="•"/>
        <a:defRPr sz="13440" kern="1200">
          <a:solidFill>
            <a:schemeClr val="tx1"/>
          </a:solidFill>
          <a:latin typeface="+mn-lt"/>
          <a:ea typeface="+mn-ea"/>
          <a:cs typeface="+mn-cs"/>
        </a:defRPr>
      </a:lvl1pPr>
      <a:lvl2pPr marL="3291840" indent="-1097280" algn="l" defTabSz="4389120" rtl="0" eaLnBrk="1" latinLnBrk="0" hangingPunct="1">
        <a:lnSpc>
          <a:spcPct val="90000"/>
        </a:lnSpc>
        <a:spcBef>
          <a:spcPts val="2400"/>
        </a:spcBef>
        <a:buFont typeface="Arial" panose="020B0604020202020204" pitchFamily="34" charset="0"/>
        <a:buChar char="•"/>
        <a:defRPr sz="11520" kern="1200">
          <a:solidFill>
            <a:schemeClr val="tx1"/>
          </a:solidFill>
          <a:latin typeface="+mn-lt"/>
          <a:ea typeface="+mn-ea"/>
          <a:cs typeface="+mn-cs"/>
        </a:defRPr>
      </a:lvl2pPr>
      <a:lvl3pPr marL="5486400" indent="-1097280" algn="l" defTabSz="4389120" rtl="0" eaLnBrk="1" latinLnBrk="0" hangingPunct="1">
        <a:lnSpc>
          <a:spcPct val="90000"/>
        </a:lnSpc>
        <a:spcBef>
          <a:spcPts val="2400"/>
        </a:spcBef>
        <a:buFont typeface="Arial" panose="020B0604020202020204" pitchFamily="34" charset="0"/>
        <a:buChar char="•"/>
        <a:defRPr sz="9600" kern="1200">
          <a:solidFill>
            <a:schemeClr val="tx1"/>
          </a:solidFill>
          <a:latin typeface="+mn-lt"/>
          <a:ea typeface="+mn-ea"/>
          <a:cs typeface="+mn-cs"/>
        </a:defRPr>
      </a:lvl3pPr>
      <a:lvl4pPr marL="76809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4pPr>
      <a:lvl5pPr marL="987552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5pPr>
      <a:lvl6pPr marL="1207008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6pPr>
      <a:lvl7pPr marL="1426464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7pPr>
      <a:lvl8pPr marL="1645920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8pPr>
      <a:lvl9pPr marL="186537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9pPr>
    </p:bodyStyle>
    <p:otherStyle>
      <a:defPPr>
        <a:defRPr lang="en-US"/>
      </a:defPPr>
      <a:lvl1pPr marL="0" algn="l" defTabSz="4389120" rtl="0" eaLnBrk="1" latinLnBrk="0" hangingPunct="1">
        <a:defRPr sz="8640" kern="1200">
          <a:solidFill>
            <a:schemeClr val="tx1"/>
          </a:solidFill>
          <a:latin typeface="+mn-lt"/>
          <a:ea typeface="+mn-ea"/>
          <a:cs typeface="+mn-cs"/>
        </a:defRPr>
      </a:lvl1pPr>
      <a:lvl2pPr marL="2194560" algn="l" defTabSz="4389120" rtl="0" eaLnBrk="1" latinLnBrk="0" hangingPunct="1">
        <a:defRPr sz="8640" kern="1200">
          <a:solidFill>
            <a:schemeClr val="tx1"/>
          </a:solidFill>
          <a:latin typeface="+mn-lt"/>
          <a:ea typeface="+mn-ea"/>
          <a:cs typeface="+mn-cs"/>
        </a:defRPr>
      </a:lvl2pPr>
      <a:lvl3pPr marL="4389120" algn="l" defTabSz="4389120" rtl="0" eaLnBrk="1" latinLnBrk="0" hangingPunct="1">
        <a:defRPr sz="8640" kern="1200">
          <a:solidFill>
            <a:schemeClr val="tx1"/>
          </a:solidFill>
          <a:latin typeface="+mn-lt"/>
          <a:ea typeface="+mn-ea"/>
          <a:cs typeface="+mn-cs"/>
        </a:defRPr>
      </a:lvl3pPr>
      <a:lvl4pPr marL="6583680" algn="l" defTabSz="4389120" rtl="0" eaLnBrk="1" latinLnBrk="0" hangingPunct="1">
        <a:defRPr sz="8640" kern="1200">
          <a:solidFill>
            <a:schemeClr val="tx1"/>
          </a:solidFill>
          <a:latin typeface="+mn-lt"/>
          <a:ea typeface="+mn-ea"/>
          <a:cs typeface="+mn-cs"/>
        </a:defRPr>
      </a:lvl4pPr>
      <a:lvl5pPr marL="8778240" algn="l" defTabSz="4389120" rtl="0" eaLnBrk="1" latinLnBrk="0" hangingPunct="1">
        <a:defRPr sz="8640" kern="1200">
          <a:solidFill>
            <a:schemeClr val="tx1"/>
          </a:solidFill>
          <a:latin typeface="+mn-lt"/>
          <a:ea typeface="+mn-ea"/>
          <a:cs typeface="+mn-cs"/>
        </a:defRPr>
      </a:lvl5pPr>
      <a:lvl6pPr marL="10972800" algn="l" defTabSz="4389120" rtl="0" eaLnBrk="1" latinLnBrk="0" hangingPunct="1">
        <a:defRPr sz="8640" kern="1200">
          <a:solidFill>
            <a:schemeClr val="tx1"/>
          </a:solidFill>
          <a:latin typeface="+mn-lt"/>
          <a:ea typeface="+mn-ea"/>
          <a:cs typeface="+mn-cs"/>
        </a:defRPr>
      </a:lvl6pPr>
      <a:lvl7pPr marL="13167360" algn="l" defTabSz="4389120" rtl="0" eaLnBrk="1" latinLnBrk="0" hangingPunct="1">
        <a:defRPr sz="8640" kern="1200">
          <a:solidFill>
            <a:schemeClr val="tx1"/>
          </a:solidFill>
          <a:latin typeface="+mn-lt"/>
          <a:ea typeface="+mn-ea"/>
          <a:cs typeface="+mn-cs"/>
        </a:defRPr>
      </a:lvl7pPr>
      <a:lvl8pPr marL="15361920" algn="l" defTabSz="4389120" rtl="0" eaLnBrk="1" latinLnBrk="0" hangingPunct="1">
        <a:defRPr sz="8640" kern="1200">
          <a:solidFill>
            <a:schemeClr val="tx1"/>
          </a:solidFill>
          <a:latin typeface="+mn-lt"/>
          <a:ea typeface="+mn-ea"/>
          <a:cs typeface="+mn-cs"/>
        </a:defRPr>
      </a:lvl8pPr>
      <a:lvl9pPr marL="17556480" algn="l" defTabSz="4389120" rtl="0" eaLnBrk="1" latinLnBrk="0" hangingPunct="1">
        <a:defRPr sz="86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unomaha.edu/office-of-research-and-creative-activity/compliance-and-policies/institutional-review-board.php" TargetMode="External"/><Relationship Id="rId2" Type="http://schemas.openxmlformats.org/officeDocument/2006/relationships/hyperlink" Target="https://www.unomaha.edu/university-communications/brand/writing-style-guide.php" TargetMode="External"/><Relationship Id="rId1" Type="http://schemas.openxmlformats.org/officeDocument/2006/relationships/slideLayout" Target="../slideLayouts/slideLayout1.xml"/><Relationship Id="rId6" Type="http://schemas.openxmlformats.org/officeDocument/2006/relationships/chart" Target="../charts/chart2.xml"/><Relationship Id="rId5" Type="http://schemas.openxmlformats.org/officeDocument/2006/relationships/chart" Target="../charts/chart1.xml"/><Relationship Id="rId4" Type="http://schemas.openxmlformats.org/officeDocument/2006/relationships/hyperlink" Target="https://www.unomaha.edu/university-communications/online-brand-guide/index.php"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 Header Elements -->
      <p:sp>
        <p:nvSpPr>
          <p:cNvPr id="2" name="Title 1"/>
          <p:cNvSpPr>
            <a:spLocks noGrp="1"/>
          </p:cNvSpPr>
          <p:nvPr>
            <p:ph type="ctrTitle" idx="4294967295"/>
          </p:nvPr>
        </p:nvSpPr>
        <p:spPr>
          <a:xfrm>
            <a:off x="5486400" y="1007849"/>
            <a:ext cx="37307520" cy="1176552"/>
          </a:xfrm>
          <a:prstGeom prst="rect">
            <a:avLst/>
          </a:prstGeom>
        </p:spPr>
        <p:txBody>
          <a:bodyPr/>
          <a:lstStyle/>
          <a:p>
            <a:r>
              <a:rPr lang="en-US" sz="9000" dirty="0">
                <a:solidFill>
                  <a:schemeClr val="bg1"/>
                </a:solidFill>
              </a:rPr>
              <a:t>ACADEMIC RESEARCH POSTER TEMPLATE</a:t>
            </a:r>
          </a:p>
        </p:txBody>
      </p:sp>
      <p:sp>
        <p:nvSpPr>
          <p:cNvPr id="4" name="Title 1"/>
          <p:cNvSpPr txBox="1">
            <a:spLocks/>
          </p:cNvSpPr>
          <p:nvPr/>
        </p:nvSpPr>
        <p:spPr>
          <a:xfrm>
            <a:off x="5486400" y="2481049"/>
            <a:ext cx="37307520" cy="820951"/>
          </a:xfrm>
          <a:prstGeom prst="rect">
            <a:avLst/>
          </a:prstGeom>
        </p:spPr>
        <p:txBody>
          <a:bodyPr/>
          <a:lstStyle/>
          <a:p>
            <a:r>
              <a:rPr lang="en-US" sz="6000" dirty="0">
                <a:solidFill>
                  <a:schemeClr val="bg1"/>
                </a:solidFill>
              </a:rPr>
              <a:t>Subtitle for Academic Research Poster (48x36 inches)</a:t>
            </a:r>
          </a:p>
        </p:txBody>
      </p:sp>
      <p:sp>
        <p:nvSpPr>
          <p:cNvPr id="5" name="Title 1"/>
          <p:cNvSpPr txBox="1">
            <a:spLocks/>
          </p:cNvSpPr>
          <p:nvPr/>
        </p:nvSpPr>
        <p:spPr>
          <a:xfrm>
            <a:off x="33054246" y="1116017"/>
            <a:ext cx="9739674" cy="3240082"/>
          </a:xfrm>
          <a:prstGeom prst="rect">
            <a:avLst/>
          </a:prstGeom>
        </p:spPr>
        <p:txBody>
          <a:bodyPr/>
          <a:lstStyle/>
          <a:p>
            <a:r>
              <a:rPr lang="en-US" sz="4000" b="1" dirty="0">
                <a:solidFill>
                  <a:schemeClr val="bg1"/>
                </a:solidFill>
              </a:rPr>
              <a:t>CONTRIBUTORS:</a:t>
            </a:r>
          </a:p>
          <a:p>
            <a:endParaRPr lang="en-US" sz="4000" b="1" dirty="0">
              <a:solidFill>
                <a:schemeClr val="bg1"/>
              </a:solidFill>
            </a:endParaRPr>
          </a:p>
          <a:p>
            <a:r>
              <a:rPr lang="en-US" sz="4000" dirty="0">
                <a:solidFill>
                  <a:schemeClr val="bg1"/>
                </a:solidFill>
              </a:rPr>
              <a:t>Contributor Name</a:t>
            </a:r>
          </a:p>
          <a:p>
            <a:r>
              <a:rPr lang="en-US" sz="4000" dirty="0">
                <a:solidFill>
                  <a:schemeClr val="bg1"/>
                </a:solidFill>
              </a:rPr>
              <a:t>Contributor Name</a:t>
            </a:r>
          </a:p>
          <a:p>
            <a:r>
              <a:rPr lang="en-US" sz="4000" dirty="0">
                <a:solidFill>
                  <a:schemeClr val="bg1"/>
                </a:solidFill>
              </a:rPr>
              <a:t>Contributor Name</a:t>
            </a:r>
          </a:p>
          <a:p>
            <a:r>
              <a:rPr lang="en-US" sz="4000" dirty="0">
                <a:solidFill>
                  <a:schemeClr val="bg1"/>
                </a:solidFill>
              </a:rPr>
              <a:t>Contributor Name</a:t>
            </a:r>
          </a:p>
        </p:txBody>
      </p:sp>
      <p:sp>
        <p:nvSpPr>
          <p:cNvPr id="39" name="TextBox 18"/>
          <p:cNvSpPr txBox="1"/>
          <p:nvPr/>
        </p:nvSpPr>
        <p:spPr>
          <a:xfrm>
            <a:off x="5486400" y="3648212"/>
            <a:ext cx="9106125" cy="707885"/>
          </a:xfrm>
          <a:prstGeom prst="rect">
            <a:avLst/>
          </a:prstGeom>
        </p:spPr>
        <p:txBody>
          <a:bodyPr wrap="square">
            <a:spAutoFit/>
          </a:bodyPr>
          <a:lstStyle/>
          <a:p>
            <a:r>
              <a:rPr sz="4000"/>
              <a:t>College Name, Department/Unit Name</a:t>
            </a:r>
          </a:p>
        </p:txBody>
      </p:sp>
      <!-- Column 1: Abstract -->
      <p:sp>
        <p:nvSpPr>
          <p:cNvPr id="6" name="TextBox 42"/>
          <p:cNvSpPr txBox="1">
            <a:spLocks noChangeArrowheads="1"/>
          </p:cNvSpPr>
          <p:nvPr/>
        </p:nvSpPr>
        <p:spPr bwMode="auto">
          <a:xfrm>
            <a:off x="1493340" y="5624702"/>
            <a:ext cx="9106125" cy="784830"/>
          </a:xfrm>
          <a:prstGeom prst="rect">
            <a:avLst/>
          </a:prstGeom>
          <a:noFill/>
          <a:ln>
            <a:noFill/>
          </a:ln>
        </p:spPr>
        <p:txBody>
          <a:bodyPr wrap="square">
            <a:spAutoFit/>
          </a:bodyPr>
          <a:lstStyle/>
          <a:p>
            <a:r>
              <a:rPr lang="en-US" sz="4500" b="1" dirty="0">
                <a:solidFill>
                  <a:srgbClr val="D71920"/>
                </a:solidFill>
                <a:latin typeface="+mj-lt"/>
              </a:rPr>
              <a:t>Abstract</a:t>
            </a:r>
          </a:p>
        </p:txBody>
      </p:sp>
      <p:sp>
        <p:nvSpPr>
          <p:cNvPr id="29" name="TextBox 18"/>
          <p:cNvSpPr txBox="1"/>
          <p:nvPr/>
        </p:nvSpPr>
        <p:spPr>
          <a:xfrm>
            <a:off x="1493340" y="6609532"/>
            <a:ext cx="9106125" cy="9325630"/>
          </a:xfrm>
          <a:prstGeom prst="rect">
            <a:avLst/>
          </a:prstGeom>
        </p:spPr>
        <p:txBody>
          <a:bodyPr wrap="square">
            <a:spAutoFit/>
          </a:bodyPr>
          <a:lstStyle/>
          <a:p>
            <a:r>
              <a:rPr sz="3000"/>
              <a:t>This editable template is in the most common poster size (48” x 36”) and orientation (horizontal), check with the conference organizers for specific conference requirements regarding exact poster dimensions. </a:t>
            </a:r>
          </a:p>
          <a:p>
            <a:r>
              <a:rPr sz="3000"/>
              <a:t> </a:t>
            </a:r>
          </a:p>
          <a:p>
            <a:r>
              <a:rPr sz="3000" b="1"/>
              <a:t>Writing Style</a:t>
            </a:r>
          </a:p>
          <a:p/>
          <a:p>
            <a:r>
              <a:rPr sz="3000"/>
              <a:t>The writing style for scientific posters should match the guidelines for your particular research discipline. Use the </a:t>
            </a:r>
            <a:r>
              <a:rPr sz="3000" u="sng">
                <a:hlinkClick r:id="rId2"/>
              </a:rPr>
              <a:t>UNO’s Writing Style Guide</a:t>
            </a:r>
            <a:r>
              <a:rPr sz="3000"/>
              <a:t> for general guidance with academic titles, names of campus buildings, the correct way to refer to the campus, etc.</a:t>
            </a:r>
          </a:p>
          <a:p>
            <a:r>
              <a:rPr sz="3000"/>
              <a:t> </a:t>
            </a:r>
          </a:p>
          <a:p>
            <a:r>
              <a:rPr sz="3000" b="1"/>
              <a:t>Campus Guidelines</a:t>
            </a:r>
          </a:p>
          <a:p/>
          <a:p>
            <a:r>
              <a:rPr sz="3000"/>
              <a:t>Authors should be aware of and follow the guidelines of the </a:t>
            </a:r>
            <a:r>
              <a:rPr sz="3000" u="sng">
                <a:hlinkClick r:id="rId3"/>
              </a:rPr>
              <a:t>Institutional Review Board</a:t>
            </a:r>
            <a:r>
              <a:rPr sz="3000"/>
              <a:t> and the </a:t>
            </a:r>
            <a:r>
              <a:rPr sz="3000" u="sng">
                <a:hlinkClick r:id="rId4"/>
              </a:rPr>
              <a:t>UNO Brand Guidelines</a:t>
            </a:r>
            <a:r>
              <a:rPr sz="3000"/>
              <a:t>.</a:t>
            </a:r>
          </a:p>
        </p:txBody>
      </p:sp>
      <p:sp>
        <p:nvSpPr>
          <p:cNvPr id="31" name="TextBox 18"/>
          <p:cNvSpPr txBox="1"/>
          <p:nvPr/>
        </p:nvSpPr>
        <p:spPr>
          <a:xfrm>
            <a:off x="1493340" y="16135162"/>
            <a:ext cx="9106125" cy="10248960"/>
          </a:xfrm>
          <a:prstGeom prst="rect">
            <a:avLst/>
          </a:prstGeom>
        </p:spPr>
        <p:txBody>
          <a:bodyPr wrap="square">
            <a:spAutoFit/>
          </a:bodyPr>
          <a:lstStyle/>
          <a:p>
            <a:r>
              <a:rPr sz="3000" b="1"/>
              <a:t>Text</a:t>
            </a:r>
          </a:p>
          <a:p/>
          <a:p>
            <a:r>
              <a:rPr sz="3000"/>
              <a:t>Be sure to spell check all text and have trusted colleagues proofread the poster. In general, authors should:</a:t>
            </a:r>
          </a:p>
          <a:p>
            <a:r>
              <a:rPr sz="3000"/>
              <a:t> </a:t>
            </a:r>
          </a:p>
          <a:p>
            <a:r>
              <a:rPr sz="3000"/>
              <a:t>• Use the active tense</a:t>
            </a:r>
          </a:p>
          <a:p>
            <a:r>
              <a:rPr sz="3000"/>
              <a:t>• Simplify text by using bullet points</a:t>
            </a:r>
          </a:p>
          <a:p>
            <a:r>
              <a:rPr sz="3000"/>
              <a:t>• Use colored graphs and charts</a:t>
            </a:r>
          </a:p>
          <a:p>
            <a:r>
              <a:rPr sz="3000"/>
              <a:t>• Use bold to provide emphasis; avoid capitals and underlining</a:t>
            </a:r>
          </a:p>
          <a:p>
            <a:r>
              <a:rPr sz="3000"/>
              <a:t>• Avoid long numerical tables</a:t>
            </a:r>
          </a:p>
          <a:p>
            <a:r>
              <a:rPr sz="3000"/>
              <a:t> </a:t>
            </a:r>
          </a:p>
          <a:p>
            <a:r>
              <a:rPr sz="3000"/>
              <a:t>Authors should re-write their paper so that it is suitable for the brevity of the poster format. Respect your audience–as a general rule, less is more. </a:t>
            </a:r>
          </a:p>
          <a:p/>
          <a:p>
            <a:r>
              <a:rPr sz="3000"/>
              <a:t>Use a generous amount of white space to separate elements and avoid data overkill. </a:t>
            </a:r>
          </a:p>
          <a:p/>
          <a:p>
            <a:r>
              <a:rPr sz="3000"/>
              <a:t>Refer to Web sites or other sources to provide a more in-depth understanding of the research. </a:t>
            </a:r>
          </a:p>
        </p:txBody>
      </p:sp>
      <!-- Column 2: Materials -->
      <p:sp>
        <p:nvSpPr>
          <p:cNvPr id="7" name="TextBox 42"/>
          <p:cNvSpPr txBox="1">
            <a:spLocks noChangeArrowheads="1"/>
          </p:cNvSpPr>
          <p:nvPr/>
        </p:nvSpPr>
        <p:spPr bwMode="auto">
          <a:xfrm>
            <a:off x="12092805" y="5624702"/>
            <a:ext cx="9106125" cy="784830"/>
          </a:xfrm>
          <a:prstGeom prst="rect">
            <a:avLst/>
          </a:prstGeom>
          <a:noFill/>
          <a:ln>
            <a:noFill/>
          </a:ln>
        </p:spPr>
        <p:txBody>
          <a:bodyPr wrap="square">
            <a:spAutoFit/>
          </a:bodyPr>
          <a:lstStyle/>
          <a:p>
            <a:r>
              <a:rPr lang="en-US" sz="4500" b="1" dirty="0">
                <a:solidFill>
                  <a:srgbClr val="D71920"/>
                </a:solidFill>
                <a:latin typeface="+mj-lt"/>
              </a:rPr>
              <a:t>Materials</a:t>
            </a:r>
          </a:p>
        </p:txBody>
      </p:sp>
      <p:sp>
        <p:nvSpPr>
          <p:cNvPr id="37" name="TextBox 18"/>
          <p:cNvSpPr txBox="1"/>
          <p:nvPr/>
        </p:nvSpPr>
        <p:spPr>
          <a:xfrm>
            <a:off x="12092805" y="6609532"/>
            <a:ext cx="9106125" cy="8402300"/>
          </a:xfrm>
          <a:prstGeom prst="rect">
            <a:avLst/>
          </a:prstGeom>
        </p:spPr>
        <p:txBody>
          <a:bodyPr wrap="square">
            <a:spAutoFit/>
          </a:bodyPr>
          <a:lstStyle/>
          <a:p>
            <a:r>
              <a:rPr sz="3000" b="1"/>
              <a:t>Images</a:t>
            </a:r>
          </a:p>
          <a:p/>
          <a:p>
            <a:r>
              <a:rPr sz="3000"/>
              <a:t>TIFFs are the preferred file format for images appearing in printed posters. Avoid the use of low-resolution jpgs, especially those downloaded from the Internet, as they will reproduce poorly.</a:t>
            </a:r>
          </a:p>
          <a:p>
            <a:r>
              <a:rPr sz="3000"/>
              <a:t> </a:t>
            </a:r>
          </a:p>
          <a:p>
            <a:r>
              <a:rPr sz="3000"/>
              <a:t>In order to insert an image, use the menu toolbar at the top of your screen. </a:t>
            </a:r>
          </a:p>
          <a:p/>
          <a:p>
            <a:r>
              <a:rPr sz="3000"/>
              <a:t>Select:</a:t>
            </a:r>
          </a:p>
          <a:p>
            <a:r>
              <a:rPr sz="3000"/>
              <a:t>Insert</a:t>
            </a:r>
          </a:p>
          <a:p>
            <a:r>
              <a:rPr sz="3000"/>
              <a:t>Picture </a:t>
            </a:r>
          </a:p>
          <a:p>
            <a:r>
              <a:rPr sz="3000"/>
              <a:t>Picture From file </a:t>
            </a:r>
          </a:p>
          <a:p>
            <a:r>
              <a:rPr sz="3000"/>
              <a:t>Find and select the correct file on your computer</a:t>
            </a:r>
          </a:p>
          <a:p>
            <a:r>
              <a:rPr sz="3000"/>
              <a:t>Press OK</a:t>
            </a:r>
          </a:p>
          <a:p>
            <a:r>
              <a:rPr sz="3000"/>
              <a:t> </a:t>
            </a:r>
          </a:p>
          <a:p>
            <a:r>
              <a:rPr sz="3000"/>
              <a:t>Be aware of the image size you are importing.  </a:t>
            </a:r>
          </a:p>
        </p:txBody>
      </p:sp>
      <p:sp>
        <p:nvSpPr>
          <p:cNvPr id="46" name="TextBox 18"/>
          <p:cNvSpPr txBox="1"/>
          <p:nvPr/>
        </p:nvSpPr>
        <p:spPr>
          <a:xfrm>
            <a:off x="12092805" y="15211832"/>
            <a:ext cx="9106125" cy="6555641"/>
          </a:xfrm>
          <a:prstGeom prst="rect">
            <a:avLst/>
          </a:prstGeom>
        </p:spPr>
        <p:txBody>
          <a:bodyPr wrap="square">
            <a:spAutoFit/>
          </a:bodyPr>
          <a:lstStyle/>
          <a:p>
            <a:r>
              <a:rPr sz="3000" b="1"/>
              <a:t>Charts</a:t>
            </a:r>
          </a:p>
          <a:p/>
          <a:p>
            <a:r>
              <a:rPr sz="3000"/>
              <a:t>Use Excel spreadsheets to auto-generate branded graphs, charts, and tables.</a:t>
            </a:r>
          </a:p>
          <a:p/>
          <a:p>
            <a:r>
              <a:rPr sz="3000"/>
              <a:t>In order to insert a chart, use the menu toolbar at the top of your screen.</a:t>
            </a:r>
          </a:p>
          <a:p/>
          <a:p>
            <a:r>
              <a:rPr sz="3000"/>
              <a:t>Select:</a:t>
            </a:r>
          </a:p>
          <a:p>
            <a:r>
              <a:rPr sz="3000"/>
              <a:t>Insert</a:t>
            </a:r>
          </a:p>
          <a:p>
            <a:r>
              <a:rPr sz="3000"/>
              <a:t>Chart</a:t>
            </a:r>
          </a:p>
          <a:p>
            <a:r>
              <a:rPr sz="3000"/>
              <a:t>Find and select the preferred chart style</a:t>
            </a:r>
          </a:p>
          <a:p>
            <a:r>
              <a:rPr sz="3000"/>
              <a:t>Input the correct facts and figures</a:t>
            </a:r>
          </a:p>
          <a:p>
            <a:r>
              <a:rPr sz="3000"/>
              <a:t>Save</a:t>
            </a:r>
          </a:p>
        </p:txBody>
      </p:sp>
      <!-- Column 3: Results/Data Analysis -->
      <p:sp>
        <p:nvSpPr>
          <p:cNvPr id="8" name="TextBox 42"/>
          <p:cNvSpPr txBox="1">
            <a:spLocks noChangeArrowheads="1"/>
          </p:cNvSpPr>
          <p:nvPr/>
        </p:nvSpPr>
        <p:spPr bwMode="auto">
          <a:xfrm>
            <a:off x="22692270" y="5624702"/>
            <a:ext cx="9106125" cy="784830"/>
          </a:xfrm>
          <a:prstGeom prst="rect">
            <a:avLst/>
          </a:prstGeom>
          <a:noFill/>
          <a:ln>
            <a:noFill/>
          </a:ln>
        </p:spPr>
        <p:txBody>
          <a:bodyPr wrap="square">
            <a:spAutoFit/>
          </a:bodyPr>
          <a:lstStyle/>
          <a:p>
            <a:r>
              <a:rPr sz="4500" b="1">
                <a:solidFill>
                  <a:srgbClr val="D71920"/>
                </a:solidFill>
              </a:rPr>
              <a:t>Results/Data Analysis</a:t>
            </a:r>
          </a:p>
        </p:txBody>
      </p:sp>
      <p:graphicFrame>
        <p:nvGraphicFramePr>
          <p:cNvPr id="40" name="Chart 39"/>
          <p:cNvGraphicFramePr/>
          <p:nvPr/>
        </p:nvGraphicFramePr>
        <p:xfrm>
          <a:off x="22692270" y="6609532"/>
          <a:ext cx="9106125" cy="4328485"/>
        </p:xfrm>
        <a:graphic>
          <a:graphicData uri="http://schemas.openxmlformats.org/drawingml/2006/chart">
            <c:chart xmlns:c="http://schemas.openxmlformats.org/drawingml/2006/chart" r:id="rId5"/>
          </a:graphicData>
        </a:graphic>
      </p:graphicFrame>
      <p:graphicFrame>
        <p:nvGraphicFramePr>
          <p:cNvPr id="41" name="Chart 40"/>
          <p:cNvGraphicFramePr/>
          <p:nvPr/>
        </p:nvGraphicFramePr>
        <p:xfrm>
          <a:off x="22692270" y="11138017"/>
          <a:ext cx="9106125" cy="5529195"/>
        </p:xfrm>
        <a:graphic>
          <a:graphicData uri="http://schemas.openxmlformats.org/drawingml/2006/chart">
            <c:chart xmlns:c="http://schemas.openxmlformats.org/drawingml/2006/chart" r:id="rId6"/>
          </a:graphicData>
        </a:graphic>
      </p:graphicFrame>
      <p:graphicFrame>
        <p:nvGraphicFramePr>
          <p:cNvPr id="44" name="Table 44"/>
          <p:cNvGraphicFramePr>
            <a:graphicFrameLocks noGrp="1"/>
          </p:cNvGraphicFramePr>
          <p:nvPr/>
        </p:nvGraphicFramePr>
        <p:xfrm>
          <a:off x="22692270" y="16867212"/>
          <a:ext cx="9106125" cy="4562702"/>
        </p:xfrm>
        <a:graphic>
          <a:graphicData uri="http://schemas.openxmlformats.org/drawingml/2006/table">
            <a:tbl>
              <a:tblPr firstRow="1" bandRow="1"/>
              <a:tblGrid>
                <a:gridCol w="2276531"/>
                <a:gridCol w="2276531"/>
                <a:gridCol w="2276531"/>
                <a:gridCol w="2276532"/>
              </a:tblGrid>
              <a:tr h="912540">
                <a:tc>
                  <a:txBody>
                    <a:bodyPr/>
                    <a:lstStyle/>
                    <a:p>
                      <a:r>
                        <a:rPr sz="2400"/>
                        <a:t>Table A - Title</a:t>
                      </a:r>
                    </a:p>
                  </a:txBody>
                </a:tc>
                <a:tc>
                  <a:txBody>
                    <a:bodyPr/>
                    <a:lstStyle/>
                    <a:p/>
                  </a:txBody>
                </a:tc>
                <a:tc>
                  <a:txBody>
                    <a:bodyPr/>
                    <a:lstStyle/>
                    <a:p/>
                  </a:txBody>
                </a:tc>
                <a:tc>
                  <a:txBody>
                    <a:bodyPr/>
                    <a:lstStyle/>
                    <a:p/>
                  </a:txBody>
                </a:tc>
              </a:tr>
              <a:tr h="912540">
                <a:tc>
                  <a:txBody>
                    <a:bodyPr/>
                    <a:lstStyle/>
                    <a:p/>
                  </a:txBody>
                </a:tc>
                <a:tc>
                  <a:txBody>
                    <a:bodyPr/>
                    <a:lstStyle/>
                    <a:p/>
                  </a:txBody>
                </a:tc>
                <a:tc>
                  <a:txBody>
                    <a:bodyPr/>
                    <a:lstStyle/>
                    <a:p/>
                  </a:txBody>
                </a:tc>
                <a:tc>
                  <a:txBody>
                    <a:bodyPr/>
                    <a:lstStyle/>
                    <a:p/>
                  </a:txBody>
                </a:tc>
              </a:tr>
              <a:tr h="912540">
                <a:tc>
                  <a:txBody>
                    <a:bodyPr/>
                    <a:lstStyle/>
                    <a:p/>
                  </a:txBody>
                </a:tc>
                <a:tc>
                  <a:txBody>
                    <a:bodyPr/>
                    <a:lstStyle/>
                    <a:p/>
                  </a:txBody>
                </a:tc>
                <a:tc>
                  <a:txBody>
                    <a:bodyPr/>
                    <a:lstStyle/>
                    <a:p/>
                  </a:txBody>
                </a:tc>
                <a:tc>
                  <a:txBody>
                    <a:bodyPr/>
                    <a:lstStyle/>
                    <a:p/>
                  </a:txBody>
                </a:tc>
              </a:tr>
              <a:tr h="912540">
                <a:tc>
                  <a:txBody>
                    <a:bodyPr/>
                    <a:lstStyle/>
                    <a:p/>
                  </a:txBody>
                </a:tc>
                <a:tc>
                  <a:txBody>
                    <a:bodyPr/>
                    <a:lstStyle/>
                    <a:p/>
                  </a:txBody>
                </a:tc>
                <a:tc>
                  <a:txBody>
                    <a:bodyPr/>
                    <a:lstStyle/>
                    <a:p/>
                  </a:txBody>
                </a:tc>
                <a:tc>
                  <a:txBody>
                    <a:bodyPr/>
                    <a:lstStyle/>
                    <a:p/>
                  </a:txBody>
                </a:tc>
              </a:tr>
              <a:tr h="912540">
                <a:tc>
                  <a:txBody>
                    <a:bodyPr/>
                    <a:lstStyle/>
                    <a:p/>
                  </a:txBody>
                </a:tc>
                <a:tc>
                  <a:txBody>
                    <a:bodyPr/>
                    <a:lstStyle/>
                    <a:p/>
                  </a:txBody>
                </a:tc>
                <a:tc>
                  <a:txBody>
                    <a:bodyPr/>
                    <a:lstStyle/>
                    <a:p/>
                  </a:txBody>
                </a:tc>
                <a:tc>
                  <a:txBody>
                    <a:bodyPr/>
                    <a:lstStyle/>
                    <a:p/>
                  </a:txBody>
                </a:tc>
              </a:tr>
            </a:tbl>
          </a:graphicData>
        </a:graphic>
      </p:graphicFrame>
      <p:sp>
        <p:nvSpPr>
          <p:cNvPr id="36" name="TextBox 35"/>
          <p:cNvSpPr txBox="1"/>
          <p:nvPr/>
        </p:nvSpPr>
        <p:spPr>
          <a:xfrm>
            <a:off x="22692270" y="21629914"/>
            <a:ext cx="9106125" cy="400110"/>
          </a:xfrm>
          <a:prstGeom prst="rect">
            <a:avLst/>
          </a:prstGeom>
        </p:spPr>
        <p:txBody>
          <a:bodyPr wrap="square">
            <a:spAutoFit/>
          </a:bodyPr>
          <a:lstStyle/>
          <a:p>
            <a:r>
              <a:rPr sz="2000" i="1"/>
              <a:t>Captions set in a serif style font such as Arial, 18 to 24 size, italic style.</a:t>
            </a:r>
          </a:p>
        </p:txBody>
      </p:sp>
      <!-- Column 4: Conclusion -->
      <p:sp>
        <p:nvSpPr>
          <p:cNvPr id="9" name="TextBox 42"/>
          <p:cNvSpPr txBox="1">
            <a:spLocks noChangeArrowheads="1"/>
          </p:cNvSpPr>
          <p:nvPr/>
        </p:nvSpPr>
        <p:spPr bwMode="auto">
          <a:xfrm>
            <a:off x="33291735" y="5624702"/>
            <a:ext cx="9106125" cy="784830"/>
          </a:xfrm>
          <a:prstGeom prst="rect">
            <a:avLst/>
          </a:prstGeom>
          <a:noFill/>
          <a:ln>
            <a:noFill/>
          </a:ln>
        </p:spPr>
        <p:txBody>
          <a:bodyPr wrap="square">
            <a:spAutoFit/>
          </a:bodyPr>
          <a:lstStyle/>
          <a:p>
            <a:r>
              <a:rPr sz="4500" b="1">
                <a:solidFill>
                  <a:srgbClr val="D71920"/>
                </a:solidFill>
              </a:rPr>
              <a:t>Conclusion</a:t>
            </a:r>
          </a:p>
        </p:txBody>
      </p:sp>
      <p:sp>
        <p:nvSpPr>
          <p:cNvPr id="59" name="TextBox 42"/>
          <p:cNvSpPr txBox="1">
            <a:spLocks noChangeArrowheads="1"/>
          </p:cNvSpPr>
          <p:nvPr/>
        </p:nvSpPr>
        <p:spPr bwMode="auto">
          <a:xfrm>
            <a:off x="33291735" y="6609532"/>
            <a:ext cx="9106125" cy="784830"/>
          </a:xfrm>
          <a:prstGeom prst="rect">
            <a:avLst/>
          </a:prstGeom>
          <a:noFill/>
          <a:ln>
            <a:noFill/>
          </a:ln>
        </p:spPr>
        <p:txBody>
          <a:bodyPr wrap="square">
            <a:spAutoFit/>
          </a:bodyPr>
          <a:lstStyle/>
          <a:p>
            <a:r>
              <a:rPr sz="4500" b="1">
                <a:solidFill>
                  <a:srgbClr val="D71920"/>
                </a:solidFill>
              </a:rPr>
              <a:t>Callout Box</a:t>
            </a:r>
          </a:p>
        </p:txBody>
      </p:sp>
      <p:sp>
        <p:nvSpPr>
          <p:cNvPr id="56" name="Rectangle 55"/>
          <p:cNvSpPr/>
          <p:nvPr/>
        </p:nvSpPr>
        <p:spPr>
          <a:xfrm>
            <a:off x="33291735" y="7594362"/>
            <a:ext cx="9106125" cy="7470853"/>
          </a:xfrm>
          <a:prstGeom prst="rect">
            <a:avLst/>
          </a:prstGeom>
          <a:solidFill>
            <a:schemeClr val="bg2"/>
          </a:solidFill>
        </p:spPr>
        <p:txBody>
          <a:bodyPr/>
          <a:lstStyle/>
          <a:p/>
        </p:txBody>
      </p:sp>
      <p:sp>
        <p:nvSpPr>
          <p:cNvPr id="57" name="TextBox 18"/>
          <p:cNvSpPr txBox="1"/>
          <p:nvPr/>
        </p:nvSpPr>
        <p:spPr>
          <a:xfrm>
            <a:off x="33291735" y="7794362"/>
            <a:ext cx="9106125" cy="5632311"/>
          </a:xfrm>
          <a:prstGeom prst="rect">
            <a:avLst/>
          </a:prstGeom>
        </p:spPr>
        <p:txBody>
          <a:bodyPr wrap="square">
            <a:spAutoFit/>
          </a:bodyPr>
          <a:lstStyle/>
          <a:p>
            <a:r>
              <a:rPr sz="3000"/>
              <a:t>Use as needed or delete. Quis a consequatia nitati omnimpo rporernat laborro blaborio comnis doles veligniatur? Quia dus, eos eum quam, cum quid minusan turerundis as con cumquis est quibus volestia veles nectem as eos eum imus aut et officat di bereped qui res es sitam, od magnatibus, omnia sinimus et aut as quae conempe rnatiis sunt voluptibus aut ut exernat ut am doluptiisque vel id que illatem porrunt enient asperume nonsectibus aut eum quis sitem labo. Itamendae. To es estium</a:t>
            </a:r>
          </a:p>
        </p:txBody>
      </p:sp>
      <p:sp>
        <p:nvSpPr>
          <p:cNvPr id="38" name="TextBox 18"/>
          <p:cNvSpPr txBox="1"/>
          <p:nvPr/>
        </p:nvSpPr>
        <p:spPr>
          <a:xfrm>
            <a:off x="33291735" y="13426673"/>
            <a:ext cx="9106125" cy="5170646"/>
          </a:xfrm>
          <a:prstGeom prst="rect">
            <a:avLst/>
          </a:prstGeom>
        </p:spPr>
        <p:txBody>
          <a:bodyPr wrap="square">
            <a:spAutoFit/>
          </a:bodyPr>
          <a:lstStyle/>
          <a:p>
            <a:r>
              <a:rPr sz="3000" b="1"/>
              <a:t>Printing</a:t>
            </a:r>
          </a:p>
          <a:p/>
          <a:p>
            <a:r>
              <a:rPr sz="3000"/>
              <a:t>UNMC Printing Services can print posters. </a:t>
            </a:r>
          </a:p>
          <a:p/>
          <a:p>
            <a:r>
              <a:rPr sz="3000"/>
              <a:t>For pricing and other information, contact UNMC Printing Services at 402-559-4282 or send an email to print4u@unmc.edu.</a:t>
            </a:r>
          </a:p>
          <a:p>
            <a:r>
              <a:rPr sz="3000"/>
              <a:t> </a:t>
            </a:r>
          </a:p>
          <a:p>
            <a:r>
              <a:rPr sz="3000" b="1"/>
              <a:t>Plan ahead</a:t>
            </a:r>
          </a:p>
          <a:p/>
          <a:p>
            <a:r>
              <a:rPr sz="3000"/>
              <a:t>Allow five business days to complete the order.</a:t>
            </a:r>
          </a:p>
        </p:txBody>
      </p:sp>
      <p:sp>
        <p:nvSpPr>
          <p:cNvPr id="30" name="TextBox 18"/>
          <p:cNvSpPr txBox="1"/>
          <p:nvPr/>
        </p:nvSpPr>
        <p:spPr>
          <a:xfrm>
            <a:off x="33291735" y="18797319"/>
            <a:ext cx="9106125" cy="7017306"/>
          </a:xfrm>
          <a:prstGeom prst="rect">
            <a:avLst/>
          </a:prstGeom>
        </p:spPr>
        <p:txBody>
          <a:bodyPr wrap="square">
            <a:spAutoFit/>
          </a:bodyPr>
          <a:lstStyle/>
          <a:p>
            <a:r>
              <a:rPr sz="3000" b="1"/>
              <a:t>How to use this template</a:t>
            </a:r>
          </a:p>
          <a:p/>
          <a:p>
            <a:r>
              <a:rPr sz="3000"/>
              <a:t>Highlight this text and replace it with new text from a Microsoft Word document or other text-editing program.</a:t>
            </a:r>
          </a:p>
          <a:p>
            <a:r>
              <a:rPr sz="3000"/>
              <a:t> </a:t>
            </a:r>
          </a:p>
          <a:p>
            <a:r>
              <a:rPr sz="3000"/>
              <a:t>The text size for body copy and headings and the typeface has been set for you in Arial 30 pt.</a:t>
            </a:r>
          </a:p>
          <a:p>
            <a:r>
              <a:rPr sz="3000"/>
              <a:t>If you choose to change typefaces, use common ones such as Times, Arial, or Helvetica and keep the body text between 26 and 32 points.</a:t>
            </a:r>
          </a:p>
          <a:p>
            <a:r>
              <a:rPr sz="3000"/>
              <a:t>The text boxes and photo boxes may be resized, eliminated, or added as necessary.</a:t>
            </a:r>
          </a:p>
          <a:p>
            <a:r>
              <a:rPr sz="3000"/>
              <a:t>The references to the department, college, and university, including the logo, should remain. </a:t>
            </a:r>
          </a:p>
        </p:txBody>
      </p:sp>
      <p:sp>
        <p:nvSpPr>
          <p:cNvPr id="48" name="TextBox 18"/>
          <p:cNvSpPr txBox="1"/>
          <p:nvPr/>
        </p:nvSpPr>
        <p:spPr>
          <a:xfrm>
            <a:off x="33291735" y="26014625"/>
            <a:ext cx="9106125" cy="1477328"/>
          </a:xfrm>
          <a:prstGeom prst="rect">
            <a:avLst/>
          </a:prstGeom>
        </p:spPr>
        <p:txBody>
          <a:bodyPr wrap="square">
            <a:spAutoFit/>
          </a:bodyPr>
          <a:lstStyle/>
          <a:p>
            <a:r>
              <a:rPr sz="3000"/>
              <a:t>Check to make sure you’ve acknowledged all partner and funding agencies, either with text or with their logos. </a:t>
            </a:r>
          </a:p>
        </p:txBody>
      </p:sp>
    </p:spTree>
    <p:extLst>
      <p:ext uri="{BB962C8B-B14F-4D97-AF65-F5344CB8AC3E}">
        <p14:creationId xmlns:p14="http://schemas.microsoft.com/office/powerpoint/2010/main" val="1970999870"/>
      </p:ext>
    </p:extLst>
  </p:cSld>
  <p:clrMapOvr>
    <a:masterClrMapping/>
  </p:clrMapOvr>
</p:sld>
</file>

<file path=ppt/theme/theme1.xml><?xml version="1.0" encoding="utf-8"?>
<a:theme xmlns:a="http://schemas.openxmlformats.org/drawingml/2006/main" name="Office Theme">
  <a:themeElements>
    <a:clrScheme name="UNOMAHA">
      <a:dk1>
        <a:srgbClr val="000000"/>
      </a:dk1>
      <a:lt1>
        <a:srgbClr val="FFFFFF"/>
      </a:lt1>
      <a:dk2>
        <a:srgbClr val="626568"/>
      </a:dk2>
      <a:lt2>
        <a:srgbClr val="E7E6E6"/>
      </a:lt2>
      <a:accent1>
        <a:srgbClr val="FF0000"/>
      </a:accent1>
      <a:accent2>
        <a:srgbClr val="AB0000"/>
      </a:accent2>
      <a:accent3>
        <a:srgbClr val="6A0000"/>
      </a:accent3>
      <a:accent4>
        <a:srgbClr val="370000"/>
      </a:accent4>
      <a:accent5>
        <a:srgbClr val="000000"/>
      </a:accent5>
      <a:accent6>
        <a:srgbClr val="454545"/>
      </a:accent6>
      <a:hlink>
        <a:srgbClr val="D61920"/>
      </a:hlink>
      <a:folHlink>
        <a:srgbClr val="BCBBBA"/>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3B4EE1ED631E14D85A24939D16C8936" ma:contentTypeVersion="13" ma:contentTypeDescription="Create a new document." ma:contentTypeScope="" ma:versionID="6017f67bb77ff6d9be2d221c77aa995f">
  <xsd:schema xmlns:xsd="http://www.w3.org/2001/XMLSchema" xmlns:xs="http://www.w3.org/2001/XMLSchema" xmlns:p="http://schemas.microsoft.com/office/2006/metadata/properties" xmlns:ns2="95982f6c-2172-479f-8b01-dd33fa6fbe04" xmlns:ns3="f6da95f1-0d27-4b84-83fb-450c771ae8a8" targetNamespace="http://schemas.microsoft.com/office/2006/metadata/properties" ma:root="true" ma:fieldsID="a3e421abf5162528b1592d7606c61c29" ns2:_="" ns3:_="">
    <xsd:import namespace="95982f6c-2172-479f-8b01-dd33fa6fbe04"/>
    <xsd:import namespace="f6da95f1-0d27-4b84-83fb-450c771ae8a8"/>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OCR" minOccurs="0"/>
                <xsd:element ref="ns2:MediaServiceLo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5982f6c-2172-479f-8b01-dd33fa6fbe0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f6da95f1-0d27-4b84-83fb-450c771ae8a8"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B962A3D-8F9E-44B6-9A8C-2355DEF091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5982f6c-2172-479f-8b01-dd33fa6fbe04"/>
    <ds:schemaRef ds:uri="f6da95f1-0d27-4b84-83fb-450c771ae8a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240B079-DCDC-4152-8CA1-C79743DC4937}">
  <ds:schemaRefs>
    <ds:schemaRef ds:uri="http://schemas.microsoft.com/sharepoint/v3/contenttype/forms"/>
  </ds:schemaRefs>
</ds:datastoreItem>
</file>

<file path=customXml/itemProps3.xml><?xml version="1.0" encoding="utf-8"?>
<ds:datastoreItem xmlns:ds="http://schemas.openxmlformats.org/officeDocument/2006/customXml" ds:itemID="{41446E62-5977-4265-9915-0DB49DAAE71F}">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Office Theme</Template>
  <TotalTime>139</TotalTime>
  <Words>697</Words>
  <Application>Microsoft Macintosh PowerPoint</Application>
  <PresentationFormat>Custom</PresentationFormat>
  <Paragraphs>90</Paragraphs>
  <Slides>1</Slides>
  <Notes>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vt:i4>
      </vt:variant>
    </vt:vector>
  </HeadingPairs>
  <TitlesOfParts>
    <vt:vector size="3" baseType="lpstr">
      <vt:lpstr>Arial</vt:lpstr>
      <vt:lpstr>Office Theme</vt:lpstr>
      <vt:lpstr>ACADEMIC RESEARCH POSTER TEMPLATE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ACADEMIC RESEARCH POSTER TEMPLATE</dc:title>
  <dc:creator>Angie Kennedy</dc:creator>
  <cp:lastModifiedBy>Michael Ofengenden</cp:lastModifiedBy>
  <cp:revision>11</cp:revision>
  <dcterms:created xsi:type="dcterms:W3CDTF">2020-12-14T23:09:42Z</dcterms:created>
  <dcterms:modified xsi:type="dcterms:W3CDTF">2025-08-25T22:16:57Z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0x01010053B4EE1ED631E14D85A24939D16C8936</vt:lpwstr>
  </property>
</Properties>
</file>